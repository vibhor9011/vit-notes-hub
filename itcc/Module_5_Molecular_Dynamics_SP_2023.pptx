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36"/>
  </p:notesMasterIdLst>
  <p:sldIdLst>
    <p:sldId id="256" r:id="rId2"/>
    <p:sldId id="263" r:id="rId3"/>
    <p:sldId id="264" r:id="rId4"/>
    <p:sldId id="262" r:id="rId5"/>
    <p:sldId id="340" r:id="rId6"/>
    <p:sldId id="341" r:id="rId7"/>
    <p:sldId id="324" r:id="rId8"/>
    <p:sldId id="325" r:id="rId9"/>
    <p:sldId id="266" r:id="rId10"/>
    <p:sldId id="269" r:id="rId11"/>
    <p:sldId id="1074" r:id="rId12"/>
    <p:sldId id="356" r:id="rId13"/>
    <p:sldId id="1083" r:id="rId14"/>
    <p:sldId id="1084" r:id="rId15"/>
    <p:sldId id="1085" r:id="rId16"/>
    <p:sldId id="342" r:id="rId17"/>
    <p:sldId id="343" r:id="rId18"/>
    <p:sldId id="1076" r:id="rId19"/>
    <p:sldId id="344" r:id="rId20"/>
    <p:sldId id="1079" r:id="rId21"/>
    <p:sldId id="345" r:id="rId22"/>
    <p:sldId id="346" r:id="rId23"/>
    <p:sldId id="347" r:id="rId24"/>
    <p:sldId id="348" r:id="rId25"/>
    <p:sldId id="289" r:id="rId26"/>
    <p:sldId id="290" r:id="rId27"/>
    <p:sldId id="349" r:id="rId28"/>
    <p:sldId id="350" r:id="rId29"/>
    <p:sldId id="351" r:id="rId30"/>
    <p:sldId id="1086" r:id="rId31"/>
    <p:sldId id="352" r:id="rId32"/>
    <p:sldId id="331" r:id="rId33"/>
    <p:sldId id="339" r:id="rId34"/>
    <p:sldId id="66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3T06:53:17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2915 1793 506 0,'0'0'28'15,"0"0"39"1,0 0-40-16,0 0 9 0,0 0 1 16,0 0-14-16,0 0-20 15,-21-20-3-15,21 38 0 16,0 7 0-16,0 6 9 16,0-1-1-16,0-4 23 15,0-10 19-15,9-11-20 16,13-5-10-16,20-18 62 15,24-34 13-15,32-37-22 16,35-38-41-16,18-33-26 16,-5-2-3-16,-31 28-1 0,-41 44-2 15,-47 49 3-15,-27 34-3 16,-24 11-10-16,-28 43-106 16,-21 18-84-16,-6 14-195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8837E-26EF-439E-AD27-229DCD85A52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A6E94-84F4-4C90-98E6-0C047018F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1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A855DF-9C9B-8D4D-8A0A-1905142A6F11}" type="slidenum">
              <a:rPr lang="en-US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61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153620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39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22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77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07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09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81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33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6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4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6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5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08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gif"/><Relationship Id="rId3" Type="http://schemas.openxmlformats.org/officeDocument/2006/relationships/image" Target="../media/image10.gif"/><Relationship Id="rId7" Type="http://schemas.openxmlformats.org/officeDocument/2006/relationships/image" Target="../media/image14.em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image" Target="../media/image11.gif"/><Relationship Id="rId9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8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A9E2C-079D-4E24-A59C-EEAF30B57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647324"/>
            <a:ext cx="10909640" cy="1720686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8000" dirty="0"/>
              <a:t>Molecular Dynamics</a:t>
            </a:r>
            <a:br>
              <a:rPr lang="en-US" sz="8000" dirty="0"/>
            </a:br>
            <a:r>
              <a:rPr lang="en-US" sz="3100" dirty="0"/>
              <a:t>Dr. Saurav Prasad</a:t>
            </a:r>
          </a:p>
        </p:txBody>
      </p:sp>
      <p:sp>
        <p:nvSpPr>
          <p:cNvPr id="145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4242A7"/>
          </a:solidFill>
          <a:ln w="38100" cap="rnd">
            <a:solidFill>
              <a:srgbClr val="4242A7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AAA1A-816C-40F3-9CE9-84DB12AB6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763" y="298410"/>
            <a:ext cx="5810089" cy="331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40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78FA6-E2ED-4656-B5F8-9DC7FFA8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Molecular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780F-725F-4C05-9A78-F2A93E00A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Molecular Dynamics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computer simulation of physical movements of atoms and molecules. The trajectories of molecules and atoms are determined by numerically solving the classical equations of motion (Newton’s equations) for a system of interacting particles, where forces between the particles and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energy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defined by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molecular mechanics force fields. 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was first accomplished in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1957 and 1959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 system of hard spheres by Adler. Now is applied mostly in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science and modeling of biomolecules.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90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896A-53AA-4DF7-A7E8-227EC16F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Molecular Dynamics</a:t>
            </a: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B774AE17-368D-4263-A5C9-6CA202525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524" y="5431747"/>
            <a:ext cx="1146855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is a computational microscope. Understanding how things work on a detailed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 ranging from electronic structures to long-time phase behavior of molecules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7A1079AA-B61B-4C5F-A4E2-3BBBD7668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55540" y="2050883"/>
            <a:ext cx="2946400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22" name="Group 3">
            <a:extLst>
              <a:ext uri="{FF2B5EF4-FFF2-40B4-BE49-F238E27FC236}">
                <a16:creationId xmlns:a16="http://schemas.microsoft.com/office/drawing/2014/main" id="{051F372F-1ED0-4DA8-B375-4A15C17B5E15}"/>
              </a:ext>
            </a:extLst>
          </p:cNvPr>
          <p:cNvGrpSpPr>
            <a:grpSpLocks noChangeAspect="1"/>
          </p:cNvGrpSpPr>
          <p:nvPr/>
        </p:nvGrpSpPr>
        <p:grpSpPr bwMode="auto">
          <a:xfrm rot="11226397">
            <a:off x="1570365" y="1396928"/>
            <a:ext cx="5508625" cy="3962400"/>
            <a:chOff x="2653" y="935"/>
            <a:chExt cx="4036" cy="2903"/>
          </a:xfrm>
        </p:grpSpPr>
        <p:pic>
          <p:nvPicPr>
            <p:cNvPr id="23" name="Picture 4" descr="tube2">
              <a:extLst>
                <a:ext uri="{FF2B5EF4-FFF2-40B4-BE49-F238E27FC236}">
                  <a16:creationId xmlns:a16="http://schemas.microsoft.com/office/drawing/2014/main" id="{73FAD907-2A42-4825-8FF8-9EEBBE244A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3" y="1525"/>
              <a:ext cx="1180" cy="1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5" descr="tube1">
              <a:extLst>
                <a:ext uri="{FF2B5EF4-FFF2-40B4-BE49-F238E27FC236}">
                  <a16:creationId xmlns:a16="http://schemas.microsoft.com/office/drawing/2014/main" id="{B37946FA-70D4-4D97-97D9-FCD8FA2325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484615">
              <a:off x="3284" y="1162"/>
              <a:ext cx="1193" cy="1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6" descr="tube1">
              <a:extLst>
                <a:ext uri="{FF2B5EF4-FFF2-40B4-BE49-F238E27FC236}">
                  <a16:creationId xmlns:a16="http://schemas.microsoft.com/office/drawing/2014/main" id="{190968FC-444B-4CAC-A1C9-8E7A1E5027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5240914">
              <a:off x="3132" y="2246"/>
              <a:ext cx="817" cy="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7" descr="tube1">
              <a:extLst>
                <a:ext uri="{FF2B5EF4-FFF2-40B4-BE49-F238E27FC236}">
                  <a16:creationId xmlns:a16="http://schemas.microsoft.com/office/drawing/2014/main" id="{A9B83A01-74BF-478C-8BF8-FBA17AA2A8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4820335">
              <a:off x="2720" y="1683"/>
              <a:ext cx="81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8" descr="tube1">
              <a:extLst>
                <a:ext uri="{FF2B5EF4-FFF2-40B4-BE49-F238E27FC236}">
                  <a16:creationId xmlns:a16="http://schemas.microsoft.com/office/drawing/2014/main" id="{6C8C784B-F525-4CB7-A497-8F77340E66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4820335">
              <a:off x="4376" y="1204"/>
              <a:ext cx="319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Oval 9">
              <a:extLst>
                <a:ext uri="{FF2B5EF4-FFF2-40B4-BE49-F238E27FC236}">
                  <a16:creationId xmlns:a16="http://schemas.microsoft.com/office/drawing/2014/main" id="{A0BF94E0-E481-468B-B3FD-9BC2D795CB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46" y="2885"/>
              <a:ext cx="591" cy="591"/>
            </a:xfrm>
            <a:prstGeom prst="ellipse">
              <a:avLst/>
            </a:prstGeom>
            <a:solidFill>
              <a:sysClr val="window" lastClr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9" name="Oval 10">
              <a:extLst>
                <a:ext uri="{FF2B5EF4-FFF2-40B4-BE49-F238E27FC236}">
                  <a16:creationId xmlns:a16="http://schemas.microsoft.com/office/drawing/2014/main" id="{70C78E01-C470-4769-90E2-157C01CA33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33" y="2746"/>
              <a:ext cx="590" cy="590"/>
            </a:xfrm>
            <a:prstGeom prst="ellipse">
              <a:avLst/>
            </a:prstGeom>
            <a:solidFill>
              <a:sysClr val="window" lastClr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0" name="Oval 11">
              <a:extLst>
                <a:ext uri="{FF2B5EF4-FFF2-40B4-BE49-F238E27FC236}">
                  <a16:creationId xmlns:a16="http://schemas.microsoft.com/office/drawing/2014/main" id="{FD239E7E-5090-4B34-9815-59052C0F11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50" y="1295"/>
              <a:ext cx="591" cy="592"/>
            </a:xfrm>
            <a:prstGeom prst="ellipse">
              <a:avLst/>
            </a:prstGeom>
            <a:solidFill>
              <a:sysClr val="window" lastClr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1" name="Oval 12">
              <a:extLst>
                <a:ext uri="{FF2B5EF4-FFF2-40B4-BE49-F238E27FC236}">
                  <a16:creationId xmlns:a16="http://schemas.microsoft.com/office/drawing/2014/main" id="{641C3126-938F-4D47-914E-8E20ECA024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5" y="935"/>
              <a:ext cx="590" cy="590"/>
            </a:xfrm>
            <a:prstGeom prst="ellipse">
              <a:avLst/>
            </a:prstGeom>
            <a:solidFill>
              <a:sysClr val="window" lastClr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pic>
          <p:nvPicPr>
            <p:cNvPr id="32" name="Picture 13">
              <a:extLst>
                <a:ext uri="{FF2B5EF4-FFF2-40B4-BE49-F238E27FC236}">
                  <a16:creationId xmlns:a16="http://schemas.microsoft.com/office/drawing/2014/main" id="{FC619873-2015-4498-9CAA-5A2E564308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24444990">
              <a:off x="3439" y="588"/>
              <a:ext cx="2736" cy="37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3" name="Oval 14">
            <a:extLst>
              <a:ext uri="{FF2B5EF4-FFF2-40B4-BE49-F238E27FC236}">
                <a16:creationId xmlns:a16="http://schemas.microsoft.com/office/drawing/2014/main" id="{B3ACBFD3-2615-43A3-AA58-3EDF81A1A1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6710" y="4650603"/>
            <a:ext cx="193675" cy="195263"/>
          </a:xfrm>
          <a:prstGeom prst="ellipse">
            <a:avLst/>
          </a:prstGeom>
          <a:noFill/>
          <a:ln w="381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7B73D9F-9472-484E-9014-4C081FBE1A69}"/>
              </a:ext>
            </a:extLst>
          </p:cNvPr>
          <p:cNvCxnSpPr>
            <a:cxnSpLocks/>
            <a:endCxn id="32" idx="1"/>
          </p:cNvCxnSpPr>
          <p:nvPr/>
        </p:nvCxnSpPr>
        <p:spPr>
          <a:xfrm flipH="1" flipV="1">
            <a:off x="5578448" y="2034117"/>
            <a:ext cx="2330916" cy="2637172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F30CF7-B109-4A51-ACCB-9417EEA6D319}"/>
              </a:ext>
            </a:extLst>
          </p:cNvPr>
          <p:cNvCxnSpPr/>
          <p:nvPr/>
        </p:nvCxnSpPr>
        <p:spPr>
          <a:xfrm rot="10800000" flipV="1">
            <a:off x="4456283" y="4835357"/>
            <a:ext cx="3453079" cy="585787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827565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AE05-CAD5-46AC-A216-A3506E6B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021"/>
            <a:ext cx="10515600" cy="1325563"/>
          </a:xfrm>
        </p:spPr>
        <p:txBody>
          <a:bodyPr/>
          <a:lstStyle/>
          <a:p>
            <a:r>
              <a:rPr lang="en-US" dirty="0"/>
              <a:t>                                  MD Systems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D8C18F-6FCA-4C5C-A135-6B10029CF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" y="-15156"/>
            <a:ext cx="3048000" cy="365674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F0F07D-1682-4CED-B0B6-9C635A95B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902" y="3734877"/>
            <a:ext cx="2857500" cy="2990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8D96E9-276D-4E9E-B37E-3A25EB5628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0" t="-7280" r="21902" b="7280"/>
          <a:stretch/>
        </p:blipFill>
        <p:spPr>
          <a:xfrm>
            <a:off x="18711" y="3545697"/>
            <a:ext cx="3212722" cy="31157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63673-29D9-498D-8564-D876A6FCC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774" y="188709"/>
            <a:ext cx="2813628" cy="30598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4796DE-EB5C-4B2F-94F8-C269F4AC7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083" y="1860761"/>
            <a:ext cx="2961641" cy="25322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16A798-A7B2-442E-9272-59F4DA4532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2098" y="1787191"/>
            <a:ext cx="2644048" cy="2644048"/>
          </a:xfrm>
          <a:prstGeom prst="rect">
            <a:avLst/>
          </a:prstGeom>
        </p:spPr>
      </p:pic>
      <p:pic>
        <p:nvPicPr>
          <p:cNvPr id="10" name="Picture 9" descr="traj-l2.gif">
            <a:extLst>
              <a:ext uri="{FF2B5EF4-FFF2-40B4-BE49-F238E27FC236}">
                <a16:creationId xmlns:a16="http://schemas.microsoft.com/office/drawing/2014/main" id="{4F8B21E9-A80D-4AA1-8FE0-81BE27624DE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6" r="23334"/>
          <a:stretch/>
        </p:blipFill>
        <p:spPr>
          <a:xfrm rot="16200000">
            <a:off x="6497323" y="3838332"/>
            <a:ext cx="2364633" cy="342881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1434E4-E904-4F88-8937-E80568541E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7425" y="4393019"/>
            <a:ext cx="2556361" cy="236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3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74B9-141C-4A6D-930C-9E13B688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Molecular dynamics -Motivation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C5531-1580-40EC-8FC0-B4924E7F2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T</a:t>
            </a: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he </a:t>
            </a:r>
            <a:r>
              <a:rPr kumimoji="0" lang="en-GB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computer experiment</a:t>
            </a: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/>
              <a:ea typeface="+mn-ea"/>
              <a:cs typeface="Century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In a computer experiment, a model is still provided by theorists, but the calculations are carried out by the machine by following a recipe (the </a:t>
            </a:r>
            <a:r>
              <a:rPr kumimoji="0" lang="en-GB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algorithm</a:t>
            </a: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, implemented in a suitable </a:t>
            </a:r>
            <a:r>
              <a:rPr kumimoji="0" lang="en-GB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programming language</a:t>
            </a: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).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/>
              <a:ea typeface="+mn-ea"/>
              <a:cs typeface="Century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In this way, complexity can be introduced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(</a:t>
            </a: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/>
                <a:ea typeface="+mn-ea"/>
                <a:cs typeface="Century"/>
              </a:rPr>
              <a:t>with caution!) and more realistic systems can be investigated, opening a road towards a better understanding of real experiments.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63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D6EB-8D09-429B-A6DB-6594D4F4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Molecular Dynamics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C6E61-E6CA-4138-AB53-A0D64385C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charset="0"/>
              </a:rPr>
              <a:t>Build realistic atomistic model of the system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charset="0"/>
              </a:rPr>
              <a:t>Simulate the behavior of your system over time using specific conditions (temperature, pressure, volume, etc.)</a:t>
            </a:r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D9370C7-0FD7-41DB-94A2-E63E0CB31F7C}"/>
              </a:ext>
            </a:extLst>
          </p:cNvPr>
          <p:cNvSpPr txBox="1">
            <a:spLocks noChangeArrowheads="1"/>
          </p:cNvSpPr>
          <p:nvPr/>
        </p:nvSpPr>
        <p:spPr>
          <a:xfrm>
            <a:off x="388883" y="556642"/>
            <a:ext cx="9593317" cy="650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FA2D0-CFEA-4B11-A2DA-72FE8267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259" y="3855660"/>
            <a:ext cx="5943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14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5100"/>
            <a:ext cx="10515599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MD simulations model the motion of some group of particles by solving the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classical equations of motion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spcBef>
                <a:spcPct val="50000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Atoms and molecules will ‘move’ in the computer, bumping into each other, vibrating about a mean position or wandering around, oscillating in waves in concert with their neighbours, perhaps evaporating away from the system if there is a free surface, and so on, in a way similar to what real atoms and molecules would do. 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Tz5qiN3 - Imgur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029" y="4652251"/>
            <a:ext cx="3510999" cy="197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178" y="741254"/>
            <a:ext cx="5585593" cy="72052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Equation of 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09297" y="1808473"/>
            <a:ext cx="1053136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Newton’s second law or the equation of motion, </a:t>
            </a:r>
            <a:r>
              <a:rPr lang="en-US" sz="2000" b="1" dirty="0">
                <a:solidFill>
                  <a:srgbClr val="FF0000"/>
                </a:solidFill>
                <a:latin typeface="Century" charset="0"/>
                <a:ea typeface="Century" charset="0"/>
                <a:cs typeface="Century" charset="0"/>
              </a:rPr>
              <a:t>F</a:t>
            </a:r>
            <a:r>
              <a:rPr lang="en-US" sz="2000" dirty="0">
                <a:solidFill>
                  <a:srgbClr val="FF0000"/>
                </a:solidFill>
                <a:latin typeface="Century" charset="0"/>
                <a:ea typeface="Century" charset="0"/>
                <a:cs typeface="Century" charset="0"/>
              </a:rPr>
              <a:t> = m </a:t>
            </a:r>
            <a:r>
              <a:rPr lang="en-US" sz="2000" b="1" dirty="0">
                <a:solidFill>
                  <a:srgbClr val="FF0000"/>
                </a:solidFill>
                <a:latin typeface="Century" charset="0"/>
                <a:ea typeface="Century" charset="0"/>
                <a:cs typeface="Century" charset="0"/>
              </a:rPr>
              <a:t>a</a:t>
            </a:r>
            <a:r>
              <a:rPr lang="en-US" sz="2000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, where </a:t>
            </a:r>
            <a:r>
              <a:rPr lang="en-US" sz="2000" b="1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F</a:t>
            </a:r>
            <a:r>
              <a:rPr lang="en-US" sz="2000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 is the force exerted on the particle, m is its mass and </a:t>
            </a:r>
            <a:r>
              <a:rPr lang="en-US" sz="2000" b="1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a</a:t>
            </a:r>
            <a:r>
              <a:rPr lang="en-US" sz="2000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 is its acceleration. </a:t>
            </a:r>
          </a:p>
          <a:p>
            <a:pPr marL="342900" indent="-342900" algn="just">
              <a:buFont typeface="Arial" charset="0"/>
              <a:buChar char="•"/>
            </a:pPr>
            <a:endParaRPr lang="en-US" sz="2000" dirty="0">
              <a:solidFill>
                <a:srgbClr val="000000"/>
              </a:solidFill>
              <a:latin typeface="Century" charset="0"/>
              <a:ea typeface="Century" charset="0"/>
              <a:cs typeface="Century" charset="0"/>
            </a:endParaRPr>
          </a:p>
          <a:p>
            <a:pPr marL="342900" indent="-342900" algn="just">
              <a:buFont typeface="Arial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From a knowledge of the force on each atom, it is possible to determine the acceleration of each atom in the system. </a:t>
            </a:r>
          </a:p>
          <a:p>
            <a:pPr marL="342900" indent="-342900" algn="just">
              <a:buFont typeface="Arial" charset="0"/>
              <a:buChar char="•"/>
            </a:pPr>
            <a:endParaRPr lang="en-US" sz="2000" dirty="0">
              <a:solidFill>
                <a:srgbClr val="000000"/>
              </a:solidFill>
              <a:latin typeface="Century" charset="0"/>
              <a:ea typeface="Century" charset="0"/>
              <a:cs typeface="Century" charset="0"/>
            </a:endParaRPr>
          </a:p>
          <a:p>
            <a:pPr marL="342900" indent="-342900" algn="just">
              <a:buFont typeface="Arial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Integration of the equations of motion then yields a trajectory that describes the positions, velocities and accelerations of the particles as they vary with time. </a:t>
            </a:r>
          </a:p>
          <a:p>
            <a:pPr marL="342900" indent="-342900" algn="just">
              <a:buFont typeface="Arial" charset="0"/>
              <a:buChar char="•"/>
            </a:pPr>
            <a:endParaRPr lang="en-US" sz="2000" dirty="0">
              <a:solidFill>
                <a:srgbClr val="000000"/>
              </a:solidFill>
              <a:latin typeface="Century" charset="0"/>
              <a:ea typeface="Century" charset="0"/>
              <a:cs typeface="Century" charset="0"/>
            </a:endParaRPr>
          </a:p>
          <a:p>
            <a:pPr marL="342900" indent="-342900" algn="just">
              <a:buFont typeface="Arial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From this trajectory, the average values of properties can be determined. </a:t>
            </a:r>
          </a:p>
          <a:p>
            <a:pPr marL="342900" indent="-342900" algn="just">
              <a:buFont typeface="Arial" charset="0"/>
              <a:buChar char="•"/>
            </a:pPr>
            <a:endParaRPr lang="en-US" sz="2000" dirty="0">
              <a:solidFill>
                <a:srgbClr val="000000"/>
              </a:solidFill>
              <a:latin typeface="Century" charset="0"/>
              <a:ea typeface="Century" charset="0"/>
              <a:cs typeface="Century" charset="0"/>
            </a:endParaRPr>
          </a:p>
          <a:p>
            <a:pPr marL="342900" indent="-342900" algn="just">
              <a:buFont typeface="Arial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The method is deterministic; once the positions and velocities of each atom are known, the state of the system can be predicted at any time in the future or the past.</a:t>
            </a:r>
            <a:endParaRPr lang="en-US" sz="2000" dirty="0">
              <a:solidFill>
                <a:prstClr val="black"/>
              </a:solidFill>
              <a:latin typeface="Century" charset="0"/>
              <a:ea typeface="Century" charset="0"/>
              <a:cs typeface="Centu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46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 descr="https://upload.wikimedia.org/wikipedia/commons/thumb/9/98/Kinematics.svg/1920px-Kinematic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19" y="2182367"/>
            <a:ext cx="7138037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790116" y="776151"/>
            <a:ext cx="7886700" cy="72052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Equation of Motion</a:t>
            </a:r>
          </a:p>
        </p:txBody>
      </p:sp>
    </p:spTree>
    <p:extLst>
      <p:ext uri="{BB962C8B-B14F-4D97-AF65-F5344CB8AC3E}">
        <p14:creationId xmlns:p14="http://schemas.microsoft.com/office/powerpoint/2010/main" val="237232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Potential to Movement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6443" y="1928647"/>
            <a:ext cx="4240924" cy="46482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To run the simulation, we need the force on each particle.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We use the gradient of the potential energy function.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Now we can find the acceleration.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8067676" y="5773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102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168249"/>
              </p:ext>
            </p:extLst>
          </p:nvPr>
        </p:nvGraphicFramePr>
        <p:xfrm>
          <a:off x="6629400" y="1797268"/>
          <a:ext cx="28194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" imgH="228600" progId="Equation.3">
                  <p:embed/>
                </p:oleObj>
              </mc:Choice>
              <mc:Fallback>
                <p:oleObj name="Equation" r:id="rId3" imgW="609600" imgH="228600" progId="Equation.3">
                  <p:embed/>
                  <p:pic>
                    <p:nvPicPr>
                      <p:cNvPr id="102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797268"/>
                        <a:ext cx="2819400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8967789" y="5301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102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104374"/>
              </p:ext>
            </p:extLst>
          </p:nvPr>
        </p:nvGraphicFramePr>
        <p:xfrm>
          <a:off x="6705600" y="3564155"/>
          <a:ext cx="297180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500" imgH="228600" progId="Equation.3">
                  <p:embed/>
                </p:oleObj>
              </mc:Choice>
              <mc:Fallback>
                <p:oleObj name="Equation" r:id="rId5" imgW="698500" imgH="228600" progId="Equation.3">
                  <p:embed/>
                  <p:pic>
                    <p:nvPicPr>
                      <p:cNvPr id="102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564155"/>
                        <a:ext cx="2971800" cy="976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9053514" y="5944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10258" name="Object 18"/>
          <p:cNvGraphicFramePr>
            <a:graphicFrameLocks noChangeAspect="1"/>
          </p:cNvGraphicFramePr>
          <p:nvPr/>
        </p:nvGraphicFramePr>
        <p:xfrm>
          <a:off x="6096000" y="4702176"/>
          <a:ext cx="3886200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02865" imgH="457002" progId="Equation.3">
                  <p:embed/>
                </p:oleObj>
              </mc:Choice>
              <mc:Fallback>
                <p:oleObj name="Equation" r:id="rId7" imgW="1002865" imgH="457002" progId="Equation.3">
                  <p:embed/>
                  <p:pic>
                    <p:nvPicPr>
                      <p:cNvPr id="102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702176"/>
                        <a:ext cx="3886200" cy="177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495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>
            <a:extLst>
              <a:ext uri="{FF2B5EF4-FFF2-40B4-BE49-F238E27FC236}">
                <a16:creationId xmlns:a16="http://schemas.microsoft.com/office/drawing/2014/main" id="{30F5A8F3-F581-44BD-9F59-2467417FA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3241" y="365282"/>
            <a:ext cx="10326280" cy="942945"/>
          </a:xfrm>
          <a:ln/>
        </p:spPr>
        <p:txBody>
          <a:bodyPr vert="horz" lIns="121920" tIns="46936" rIns="121920" bIns="60960" rtlCol="0" anchor="ctr">
            <a:normAutofit/>
          </a:bodyPr>
          <a:lstStyle/>
          <a:p>
            <a:pPr>
              <a:tabLst>
                <a:tab pos="875511" algn="l"/>
                <a:tab pos="1751022" algn="l"/>
                <a:tab pos="2626533" algn="l"/>
                <a:tab pos="3502044" algn="l"/>
                <a:tab pos="4377555" algn="l"/>
                <a:tab pos="5253066" algn="l"/>
                <a:tab pos="6128577" algn="l"/>
                <a:tab pos="7004089" algn="l"/>
                <a:tab pos="7879599" algn="l"/>
                <a:tab pos="8755110" algn="l"/>
                <a:tab pos="9630622" algn="l"/>
                <a:tab pos="10506132" algn="l"/>
              </a:tabLst>
            </a:pPr>
            <a:r>
              <a:rPr lang="en-US" altLang="x-non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algorithm</a:t>
            </a:r>
            <a:r>
              <a:rPr lang="en-US" altLang="x-none" dirty="0"/>
              <a:t>	</a:t>
            </a:r>
          </a:p>
        </p:txBody>
      </p:sp>
      <p:sp>
        <p:nvSpPr>
          <p:cNvPr id="24" name="AutoShape 2">
            <a:extLst>
              <a:ext uri="{FF2B5EF4-FFF2-40B4-BE49-F238E27FC236}">
                <a16:creationId xmlns:a16="http://schemas.microsoft.com/office/drawing/2014/main" id="{9A889B91-7CD2-4F4F-A3CA-77AF93476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34" y="1800669"/>
            <a:ext cx="3387711" cy="19274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 cap="flat">
            <a:solidFill>
              <a:srgbClr val="AEA79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131491" tIns="93523" rIns="131491" bIns="77067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>
              <a:lnSpc>
                <a:spcPct val="94000"/>
              </a:lnSpc>
            </a:pPr>
            <a:r>
              <a:rPr lang="en-US" altLang="x-none" sz="2177" dirty="0">
                <a:latin typeface="FreeMono" charset="0"/>
              </a:rPr>
              <a:t>1. </a:t>
            </a:r>
            <a:r>
              <a:rPr lang="en-US" altLang="x-none" sz="2661" u="sng" dirty="0">
                <a:latin typeface="FreeMono" charset="0"/>
              </a:rPr>
              <a:t>Input</a:t>
            </a:r>
            <a:r>
              <a:rPr lang="en-US" altLang="x-none" sz="2177" dirty="0">
                <a:latin typeface="FreeMono" charset="0"/>
              </a:rPr>
              <a:t>:</a:t>
            </a:r>
          </a:p>
          <a:p>
            <a:pPr>
              <a:lnSpc>
                <a:spcPct val="94000"/>
              </a:lnSpc>
            </a:pPr>
            <a:r>
              <a:rPr lang="en-US" altLang="x-none" sz="2177" dirty="0">
                <a:latin typeface="FreeMono" charset="0"/>
              </a:rPr>
              <a:t>a) </a:t>
            </a:r>
            <a:r>
              <a:rPr lang="en-US" altLang="x-none" sz="2177" b="1" dirty="0">
                <a:latin typeface="FreeMono" charset="0"/>
              </a:rPr>
              <a:t>r</a:t>
            </a:r>
            <a:r>
              <a:rPr lang="en-US" altLang="x-none" sz="2177" b="1" baseline="-25000" dirty="0">
                <a:latin typeface="FreeMono" charset="0"/>
              </a:rPr>
              <a:t>0</a:t>
            </a:r>
            <a:r>
              <a:rPr lang="en-US" altLang="x-none" sz="2177" dirty="0">
                <a:latin typeface="FreeMono" charset="0"/>
              </a:rPr>
              <a:t> → positions of all </a:t>
            </a:r>
          </a:p>
          <a:p>
            <a:pPr>
              <a:lnSpc>
                <a:spcPct val="94000"/>
              </a:lnSpc>
            </a:pPr>
            <a:r>
              <a:rPr lang="en-US" altLang="x-none" sz="2177" dirty="0">
                <a:latin typeface="FreeMono" charset="0"/>
              </a:rPr>
              <a:t>	atoms in the system.</a:t>
            </a:r>
          </a:p>
          <a:p>
            <a:pPr>
              <a:lnSpc>
                <a:spcPct val="94000"/>
              </a:lnSpc>
            </a:pPr>
            <a:r>
              <a:rPr lang="en-US" altLang="x-none" sz="2177" dirty="0">
                <a:latin typeface="FreeMono" charset="0"/>
              </a:rPr>
              <a:t>b)</a:t>
            </a:r>
            <a:r>
              <a:rPr lang="en-US" altLang="x-none" sz="2177" b="1" dirty="0">
                <a:latin typeface="FreeMono" charset="0"/>
              </a:rPr>
              <a:t> v</a:t>
            </a:r>
            <a:r>
              <a:rPr lang="en-US" altLang="x-none" sz="2177" b="1" baseline="-25000" dirty="0">
                <a:latin typeface="FreeMono" charset="0"/>
              </a:rPr>
              <a:t>0</a:t>
            </a:r>
            <a:r>
              <a:rPr lang="en-US" altLang="x-none" sz="2177" dirty="0">
                <a:latin typeface="FreeMono" charset="0"/>
              </a:rPr>
              <a:t> → velocities of all</a:t>
            </a:r>
          </a:p>
          <a:p>
            <a:pPr>
              <a:lnSpc>
                <a:spcPct val="94000"/>
              </a:lnSpc>
            </a:pPr>
            <a:r>
              <a:rPr lang="en-US" altLang="x-none" sz="2177" dirty="0">
                <a:latin typeface="FreeMono" charset="0"/>
              </a:rPr>
              <a:t>	atoms in the system.  </a:t>
            </a: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94A38A53-5C2F-4B7A-8561-B82CBD9AF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889" y="1823798"/>
            <a:ext cx="3814344" cy="18811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 cap="flat">
            <a:solidFill>
              <a:srgbClr val="AEA79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131491" tIns="97181" rIns="131491" bIns="77067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>
              <a:lnSpc>
                <a:spcPct val="94000"/>
              </a:lnSpc>
            </a:pPr>
            <a:endParaRPr lang="en-US" altLang="x-none" sz="2661" dirty="0">
              <a:latin typeface="FreeMono" charset="0"/>
            </a:endParaRPr>
          </a:p>
          <a:p>
            <a:pPr algn="ctr">
              <a:lnSpc>
                <a:spcPct val="94000"/>
              </a:lnSpc>
            </a:pPr>
            <a:endParaRPr lang="en-US" altLang="x-none" sz="2661" dirty="0">
              <a:latin typeface="FreeMono" charset="0"/>
            </a:endParaRPr>
          </a:p>
          <a:p>
            <a:pPr algn="ctr">
              <a:lnSpc>
                <a:spcPct val="94000"/>
              </a:lnSpc>
            </a:pPr>
            <a:endParaRPr lang="en-US" altLang="x-none" sz="2661" dirty="0">
              <a:latin typeface="FreeMono" charset="0"/>
            </a:endParaRPr>
          </a:p>
          <a:p>
            <a:pPr algn="ctr">
              <a:lnSpc>
                <a:spcPct val="94000"/>
              </a:lnSpc>
            </a:pPr>
            <a:r>
              <a:rPr lang="en-US" altLang="x-none" sz="2661" dirty="0">
                <a:latin typeface="FreeMono" charset="0"/>
              </a:rPr>
              <a:t>2. </a:t>
            </a:r>
            <a:r>
              <a:rPr lang="en-US" altLang="x-none" sz="2661" u="sng" dirty="0">
                <a:latin typeface="FreeMono" charset="0"/>
              </a:rPr>
              <a:t>Computation of forces:</a:t>
            </a:r>
          </a:p>
          <a:p>
            <a:pPr algn="ctr">
              <a:lnSpc>
                <a:spcPct val="94000"/>
              </a:lnSpc>
            </a:pPr>
            <a:endParaRPr lang="en-US" altLang="x-none" sz="2661" u="sng" dirty="0">
              <a:latin typeface="FreeMono" charset="0"/>
            </a:endParaRPr>
          </a:p>
          <a:p>
            <a:pPr algn="ctr">
              <a:lnSpc>
                <a:spcPct val="94000"/>
              </a:lnSpc>
            </a:pPr>
            <a:endParaRPr lang="en-US" altLang="x-none" sz="2661" u="sng" dirty="0">
              <a:latin typeface="FreeMono" charset="0"/>
            </a:endParaRPr>
          </a:p>
          <a:p>
            <a:pPr algn="ctr">
              <a:lnSpc>
                <a:spcPct val="94000"/>
              </a:lnSpc>
            </a:pPr>
            <a:endParaRPr lang="en-US" altLang="x-none" sz="2661" u="sng" dirty="0">
              <a:latin typeface="FreeMono" charset="0"/>
            </a:endParaRPr>
          </a:p>
          <a:p>
            <a:pPr algn="ctr">
              <a:lnSpc>
                <a:spcPct val="94000"/>
              </a:lnSpc>
            </a:pPr>
            <a:endParaRPr lang="en-US" altLang="x-none" sz="2661" u="sng" dirty="0">
              <a:latin typeface="FreeMono" charset="0"/>
            </a:endParaRPr>
          </a:p>
          <a:p>
            <a:pPr algn="ctr">
              <a:lnSpc>
                <a:spcPct val="94000"/>
              </a:lnSpc>
            </a:pPr>
            <a:endParaRPr lang="en-US" altLang="x-none" sz="2661" u="sng" dirty="0">
              <a:latin typeface="FreeMono" charset="0"/>
            </a:endParaRPr>
          </a:p>
          <a:p>
            <a:pPr algn="ctr">
              <a:lnSpc>
                <a:spcPct val="94000"/>
              </a:lnSpc>
            </a:pPr>
            <a:endParaRPr lang="en-US" altLang="x-none" sz="2661" u="sng" dirty="0">
              <a:latin typeface="FreeMono" charset="0"/>
            </a:endParaRPr>
          </a:p>
          <a:p>
            <a:pPr algn="ctr">
              <a:lnSpc>
                <a:spcPct val="94000"/>
              </a:lnSpc>
            </a:pPr>
            <a:endParaRPr lang="en-US" altLang="x-none" sz="2661" u="sng" dirty="0">
              <a:latin typeface="FreeMono" charset="0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43A0A465-4B16-4DDF-8DA1-B7EAB6871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5388" y="1823798"/>
            <a:ext cx="3699589" cy="191317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 cap="flat">
            <a:solidFill>
              <a:srgbClr val="AEA79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131491" tIns="97181" rIns="131491" bIns="77067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>
              <a:lnSpc>
                <a:spcPct val="94000"/>
              </a:lnSpc>
            </a:pPr>
            <a:endParaRPr lang="en-US" altLang="x-none" sz="2661" dirty="0">
              <a:latin typeface="FreeMono" charset="0"/>
            </a:endParaRPr>
          </a:p>
          <a:p>
            <a:pPr>
              <a:lnSpc>
                <a:spcPct val="94000"/>
              </a:lnSpc>
            </a:pPr>
            <a:r>
              <a:rPr lang="en-US" altLang="x-none" sz="2661" dirty="0">
                <a:latin typeface="FreeMono" charset="0"/>
              </a:rPr>
              <a:t>3.</a:t>
            </a:r>
            <a:r>
              <a:rPr lang="en-US" altLang="x-none" sz="2661" u="sng" dirty="0">
                <a:latin typeface="FreeMono" charset="0"/>
              </a:rPr>
              <a:t>Update configuration:</a:t>
            </a:r>
            <a:endParaRPr lang="en-US" altLang="x-none" sz="2661" dirty="0">
              <a:latin typeface="FreeMono" charset="0"/>
            </a:endParaRPr>
          </a:p>
          <a:p>
            <a:pPr>
              <a:lnSpc>
                <a:spcPct val="94000"/>
              </a:lnSpc>
            </a:pPr>
            <a:r>
              <a:rPr lang="en-US" altLang="x-none" sz="2661" dirty="0">
                <a:latin typeface="FreeMono" charset="0"/>
              </a:rPr>
              <a:t>a) velocity-</a:t>
            </a:r>
            <a:r>
              <a:rPr lang="en-US" altLang="x-none" sz="2661" dirty="0" err="1">
                <a:latin typeface="FreeMono" charset="0"/>
              </a:rPr>
              <a:t>verlet</a:t>
            </a:r>
            <a:endParaRPr lang="en-US" altLang="x-none" sz="2661" dirty="0">
              <a:latin typeface="FreeMono" charset="0"/>
            </a:endParaRPr>
          </a:p>
          <a:p>
            <a:pPr>
              <a:lnSpc>
                <a:spcPct val="94000"/>
              </a:lnSpc>
            </a:pPr>
            <a:r>
              <a:rPr lang="en-US" altLang="x-none" sz="2661" dirty="0">
                <a:latin typeface="FreeMono" charset="0"/>
              </a:rPr>
              <a:t>b) leap-frog</a:t>
            </a:r>
          </a:p>
          <a:p>
            <a:pPr>
              <a:lnSpc>
                <a:spcPct val="94000"/>
              </a:lnSpc>
            </a:pPr>
            <a:endParaRPr lang="en-US" altLang="x-none" sz="2661" dirty="0">
              <a:latin typeface="FreeMono" charset="0"/>
            </a:endParaRPr>
          </a:p>
        </p:txBody>
      </p:sp>
      <p:sp>
        <p:nvSpPr>
          <p:cNvPr id="27" name="AutoShape 5">
            <a:extLst>
              <a:ext uri="{FF2B5EF4-FFF2-40B4-BE49-F238E27FC236}">
                <a16:creationId xmlns:a16="http://schemas.microsoft.com/office/drawing/2014/main" id="{25FF5FBE-EC91-4D05-B47F-327B59CEC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0214" y="4035348"/>
            <a:ext cx="3504652" cy="13599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 cap="flat">
            <a:solidFill>
              <a:srgbClr val="AEA79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131491" tIns="93523" rIns="131491" bIns="77067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>
              <a:lnSpc>
                <a:spcPct val="94000"/>
              </a:lnSpc>
            </a:pPr>
            <a:r>
              <a:rPr lang="en-US" altLang="x-none" sz="2177" dirty="0">
                <a:latin typeface="FreeMono" charset="0"/>
              </a:rPr>
              <a:t>4. </a:t>
            </a:r>
            <a:r>
              <a:rPr lang="en-US" altLang="x-none" sz="2661" u="sng" dirty="0">
                <a:latin typeface="FreeMono" charset="0"/>
              </a:rPr>
              <a:t>Output</a:t>
            </a:r>
            <a:r>
              <a:rPr lang="en-US" altLang="x-none" sz="2177" dirty="0">
                <a:latin typeface="FreeMono" charset="0"/>
              </a:rPr>
              <a:t>:</a:t>
            </a:r>
          </a:p>
          <a:p>
            <a:pPr>
              <a:lnSpc>
                <a:spcPct val="94000"/>
              </a:lnSpc>
            </a:pPr>
            <a:r>
              <a:rPr lang="en-US" altLang="x-none" sz="2177" b="1" dirty="0">
                <a:latin typeface="FreeMono" charset="0"/>
              </a:rPr>
              <a:t>r</a:t>
            </a:r>
            <a:r>
              <a:rPr lang="en-US" altLang="x-none" sz="2177" b="1" baseline="-33000" dirty="0">
                <a:latin typeface="FreeMono" charset="0"/>
              </a:rPr>
              <a:t>t</a:t>
            </a:r>
            <a:r>
              <a:rPr lang="en-US" altLang="x-none" sz="2177" dirty="0">
                <a:latin typeface="FreeMono" charset="0"/>
              </a:rPr>
              <a:t>, </a:t>
            </a:r>
            <a:r>
              <a:rPr lang="en-US" altLang="x-none" sz="2177" b="1" dirty="0" err="1">
                <a:latin typeface="FreeMono" charset="0"/>
              </a:rPr>
              <a:t>v</a:t>
            </a:r>
            <a:r>
              <a:rPr lang="en-US" altLang="x-none" sz="2177" b="1" baseline="-33000" dirty="0" err="1">
                <a:latin typeface="FreeMono" charset="0"/>
              </a:rPr>
              <a:t>t</a:t>
            </a:r>
            <a:r>
              <a:rPr lang="en-US" altLang="x-none" sz="2177" dirty="0">
                <a:latin typeface="FreeMono" charset="0"/>
              </a:rPr>
              <a:t>, </a:t>
            </a:r>
            <a:r>
              <a:rPr lang="en-US" altLang="x-none" sz="2177" b="1" dirty="0">
                <a:latin typeface="FreeMono" charset="0"/>
              </a:rPr>
              <a:t>F</a:t>
            </a:r>
            <a:r>
              <a:rPr lang="en-US" altLang="x-none" sz="2177" b="1" baseline="-33000" dirty="0">
                <a:latin typeface="FreeMono" charset="0"/>
              </a:rPr>
              <a:t>t</a:t>
            </a:r>
            <a:r>
              <a:rPr lang="en-US" altLang="x-none" sz="2177" dirty="0">
                <a:latin typeface="FreeMono" charset="0"/>
              </a:rPr>
              <a:t>, P</a:t>
            </a:r>
            <a:r>
              <a:rPr lang="en-US" altLang="x-none" sz="2177" baseline="-33000" dirty="0">
                <a:latin typeface="FreeMono" charset="0"/>
              </a:rPr>
              <a:t>t</a:t>
            </a:r>
            <a:r>
              <a:rPr lang="en-US" altLang="x-none" sz="2177" dirty="0">
                <a:latin typeface="FreeMono" charset="0"/>
              </a:rPr>
              <a:t>, T</a:t>
            </a:r>
            <a:r>
              <a:rPr lang="en-US" altLang="x-none" sz="2177" baseline="-33000" dirty="0">
                <a:latin typeface="FreeMono" charset="0"/>
              </a:rPr>
              <a:t>t</a:t>
            </a:r>
            <a:r>
              <a:rPr lang="en-US" altLang="x-none" sz="2177" dirty="0">
                <a:latin typeface="FreeMono" charset="0"/>
              </a:rPr>
              <a:t> </a:t>
            </a:r>
            <a:r>
              <a:rPr lang="en-US" altLang="x-none" sz="2177" dirty="0" err="1">
                <a:latin typeface="FreeMono" charset="0"/>
              </a:rPr>
              <a:t>etc</a:t>
            </a:r>
            <a:endParaRPr lang="en-US" altLang="x-none" sz="2177" dirty="0">
              <a:latin typeface="FreeMono" charset="0"/>
            </a:endParaRPr>
          </a:p>
          <a:p>
            <a:endParaRPr lang="en-US" altLang="x-none" sz="2177" dirty="0"/>
          </a:p>
        </p:txBody>
      </p:sp>
      <p:sp>
        <p:nvSpPr>
          <p:cNvPr id="29" name="AutoShape 9">
            <a:extLst>
              <a:ext uri="{FF2B5EF4-FFF2-40B4-BE49-F238E27FC236}">
                <a16:creationId xmlns:a16="http://schemas.microsoft.com/office/drawing/2014/main" id="{57773743-3358-4BF7-A86E-663DA1371BB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752884" y="2648743"/>
            <a:ext cx="415653" cy="410389"/>
          </a:xfrm>
          <a:prstGeom prst="downArrow">
            <a:avLst>
              <a:gd name="adj1" fmla="val 50000"/>
              <a:gd name="adj2" fmla="val 37609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177">
              <a:solidFill>
                <a:prstClr val="black"/>
              </a:solidFill>
            </a:endParaRPr>
          </a:p>
        </p:txBody>
      </p:sp>
      <p:graphicFrame>
        <p:nvGraphicFramePr>
          <p:cNvPr id="31" name="Object 6">
            <a:extLst>
              <a:ext uri="{FF2B5EF4-FFF2-40B4-BE49-F238E27FC236}">
                <a16:creationId xmlns:a16="http://schemas.microsoft.com/office/drawing/2014/main" id="{9926E96A-0E87-4B02-A928-A9BEC6B853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1181" y="2166289"/>
          <a:ext cx="1658880" cy="752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63920" imgH="379800" progId="">
                  <p:embed/>
                </p:oleObj>
              </mc:Choice>
              <mc:Fallback>
                <p:oleObj r:id="rId2" imgW="763920" imgH="379800" progId="">
                  <p:embed/>
                  <p:pic>
                    <p:nvPicPr>
                      <p:cNvPr id="31" name="Object 6">
                        <a:extLst>
                          <a:ext uri="{FF2B5EF4-FFF2-40B4-BE49-F238E27FC236}">
                            <a16:creationId xmlns:a16="http://schemas.microsoft.com/office/drawing/2014/main" id="{9926E96A-0E87-4B02-A928-A9BEC6B853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181" y="2166289"/>
                        <a:ext cx="1658880" cy="75264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7">
            <a:extLst>
              <a:ext uri="{FF2B5EF4-FFF2-40B4-BE49-F238E27FC236}">
                <a16:creationId xmlns:a16="http://schemas.microsoft.com/office/drawing/2014/main" id="{62C39B51-FE66-4903-A7B6-7E3BA9CD16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1181" y="2920240"/>
          <a:ext cx="1868160" cy="42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52040" imgH="185040" progId="">
                  <p:embed/>
                </p:oleObj>
              </mc:Choice>
              <mc:Fallback>
                <p:oleObj r:id="rId4" imgW="752040" imgH="185040" progId="">
                  <p:embed/>
                  <p:pic>
                    <p:nvPicPr>
                      <p:cNvPr id="32" name="Object 7">
                        <a:extLst>
                          <a:ext uri="{FF2B5EF4-FFF2-40B4-BE49-F238E27FC236}">
                            <a16:creationId xmlns:a16="http://schemas.microsoft.com/office/drawing/2014/main" id="{62C39B51-FE66-4903-A7B6-7E3BA9CD16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181" y="2920240"/>
                        <a:ext cx="1868160" cy="42816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46FB7D-43E2-4CBD-9147-ECBB8BF0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8093D-5291-44B0-8DB9-4AF41784AD11}" type="slidenum">
              <a:rPr lang="en-IN" smtClean="0"/>
              <a:t>11</a:t>
            </a:fld>
            <a:endParaRPr lang="en-IN"/>
          </a:p>
        </p:txBody>
      </p:sp>
      <p:sp>
        <p:nvSpPr>
          <p:cNvPr id="34" name="AutoShape 9">
            <a:extLst>
              <a:ext uri="{FF2B5EF4-FFF2-40B4-BE49-F238E27FC236}">
                <a16:creationId xmlns:a16="http://schemas.microsoft.com/office/drawing/2014/main" id="{5659FA9F-FBCA-45A1-8739-55909D93565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06390" y="2716907"/>
            <a:ext cx="415653" cy="410389"/>
          </a:xfrm>
          <a:prstGeom prst="downArrow">
            <a:avLst>
              <a:gd name="adj1" fmla="val 50000"/>
              <a:gd name="adj2" fmla="val 37609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177">
              <a:solidFill>
                <a:prstClr val="black"/>
              </a:solidFill>
            </a:endParaRPr>
          </a:p>
        </p:txBody>
      </p:sp>
      <p:sp>
        <p:nvSpPr>
          <p:cNvPr id="35" name="AutoShape 9">
            <a:extLst>
              <a:ext uri="{FF2B5EF4-FFF2-40B4-BE49-F238E27FC236}">
                <a16:creationId xmlns:a16="http://schemas.microsoft.com/office/drawing/2014/main" id="{6E927EC2-FBB8-486B-B2A0-C74E696C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887" y="3624959"/>
            <a:ext cx="415653" cy="410389"/>
          </a:xfrm>
          <a:prstGeom prst="downArrow">
            <a:avLst>
              <a:gd name="adj1" fmla="val 50000"/>
              <a:gd name="adj2" fmla="val 37609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177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57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47E7-B3DC-4F56-93AB-1A967C11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structure of a simple MD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3C1FA7-5EFF-4B5E-8572-67E082AF6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391" y="1786758"/>
            <a:ext cx="9341952" cy="5071241"/>
          </a:xfrm>
        </p:spPr>
      </p:pic>
    </p:spTree>
    <p:extLst>
      <p:ext uri="{BB962C8B-B14F-4D97-AF65-F5344CB8AC3E}">
        <p14:creationId xmlns:p14="http://schemas.microsoft.com/office/powerpoint/2010/main" val="1318145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AB6FBAD-C1A4-4B7A-A251-38F9EF94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71" y="67401"/>
            <a:ext cx="10972800" cy="1524000"/>
          </a:xfrm>
        </p:spPr>
        <p:txBody>
          <a:bodyPr>
            <a:normAutofit/>
          </a:bodyPr>
          <a:lstStyle/>
          <a:p>
            <a:pPr algn="ctr"/>
            <a:r>
              <a:rPr lang="en-US" sz="5333" b="1" dirty="0"/>
              <a:t>Initialization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C71336-FB84-4620-B005-4CAFA20AB830}"/>
              </a:ext>
            </a:extLst>
          </p:cNvPr>
          <p:cNvSpPr/>
          <p:nvPr/>
        </p:nvSpPr>
        <p:spPr>
          <a:xfrm>
            <a:off x="721957" y="2489527"/>
            <a:ext cx="10958036" cy="2712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each atom in every molecule, we need: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Position (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) :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X-ray, NMR, predicted models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Velocities: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Maxwell distribution at certain 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Charge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: QM based, parameterization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7D1A0B-D04D-4C1A-B19B-6238359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8093D-5291-44B0-8DB9-4AF41784AD1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969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8BF2C300-40E0-4DF7-99A5-56C110400191}"/>
              </a:ext>
            </a:extLst>
          </p:cNvPr>
          <p:cNvSpPr txBox="1">
            <a:spLocks noChangeArrowheads="1"/>
          </p:cNvSpPr>
          <p:nvPr/>
        </p:nvSpPr>
        <p:spPr>
          <a:xfrm>
            <a:off x="496823" y="-86991"/>
            <a:ext cx="10515600" cy="5801784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zh-CN" sz="37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</a:p>
          <a:p>
            <a:pPr lvl="1"/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X-ray, NMR, simulation or analytical calculation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629AC9-7516-4A7F-B76A-A33998EF901A}"/>
              </a:ext>
            </a:extLst>
          </p:cNvPr>
          <p:cNvGrpSpPr/>
          <p:nvPr/>
        </p:nvGrpSpPr>
        <p:grpSpPr>
          <a:xfrm>
            <a:off x="496823" y="1495558"/>
            <a:ext cx="7818119" cy="5632703"/>
            <a:chOff x="681268" y="1335022"/>
            <a:chExt cx="7578049" cy="543153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D2500AA-2BCA-4BF6-80DD-C97773F9C7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39200"/>
            <a:stretch/>
          </p:blipFill>
          <p:spPr>
            <a:xfrm>
              <a:off x="681268" y="1335023"/>
              <a:ext cx="7578049" cy="5336967"/>
            </a:xfrm>
            <a:prstGeom prst="rect">
              <a:avLst/>
            </a:prstGeom>
          </p:spPr>
        </p:pic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12F69959-D5AA-44AF-8ECF-0473D4AC8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376" y="1335022"/>
              <a:ext cx="2651760" cy="543153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28575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110593" tIns="55297" rIns="110593" bIns="55297" anchor="ctr"/>
            <a:lstStyle/>
            <a:p>
              <a:endParaRPr lang="en-US" sz="2400"/>
            </a:p>
          </p:txBody>
        </p:sp>
      </p:grpSp>
      <p:pic>
        <p:nvPicPr>
          <p:cNvPr id="27" name="Picture 4">
            <a:extLst>
              <a:ext uri="{FF2B5EF4-FFF2-40B4-BE49-F238E27FC236}">
                <a16:creationId xmlns:a16="http://schemas.microsoft.com/office/drawing/2014/main" id="{32CF0F04-71C3-4DC4-8CD6-5F97C6BA8B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2" t="15229" r="23594" b="19425"/>
          <a:stretch/>
        </p:blipFill>
        <p:spPr bwMode="auto">
          <a:xfrm>
            <a:off x="9015807" y="3080517"/>
            <a:ext cx="2731008" cy="3584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 l="13121" t="11913" r="11244" b="1226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FD5F90-2729-40E1-B09F-506440C4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8093D-5291-44B0-8DB9-4AF41784AD1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205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6EAB153E-C610-4D71-88BD-19560C4B6C28}"/>
              </a:ext>
            </a:extLst>
          </p:cNvPr>
          <p:cNvSpPr txBox="1">
            <a:spLocks noChangeArrowheads="1"/>
          </p:cNvSpPr>
          <p:nvPr/>
        </p:nvSpPr>
        <p:spPr>
          <a:xfrm>
            <a:off x="480060" y="875303"/>
            <a:ext cx="11231880" cy="5801784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0"/>
              </a:spcBef>
              <a:spcAft>
                <a:spcPct val="30000"/>
              </a:spcAft>
              <a:buNone/>
            </a:pPr>
            <a:r>
              <a:rPr lang="en-US" sz="37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Bef>
                <a:spcPct val="50000"/>
              </a:spcBef>
              <a:spcAft>
                <a:spcPct val="30000"/>
              </a:spcAft>
            </a:pPr>
            <a:r>
              <a:rPr lang="en-US" sz="3200" dirty="0">
                <a:solidFill>
                  <a:srgbClr val="000000"/>
                </a:solidFill>
                <a:latin typeface="Times" charset="0"/>
                <a:ea typeface="Times" charset="0"/>
                <a:cs typeface="Times" charset="0"/>
              </a:rPr>
              <a:t>T</a:t>
            </a:r>
            <a:r>
              <a:rPr lang="en-GB" altLang="zh-CN" sz="3200" dirty="0">
                <a:solidFill>
                  <a:srgbClr val="000000"/>
                </a:solidFill>
                <a:latin typeface="Times" charset="0"/>
                <a:ea typeface="Times" charset="0"/>
                <a:cs typeface="Times" charset="0"/>
              </a:rPr>
              <a:t>he initial velocities are assigned taking them from a </a:t>
            </a:r>
            <a:r>
              <a:rPr lang="en-GB" altLang="zh-CN" sz="3200" dirty="0">
                <a:solidFill>
                  <a:srgbClr val="0070C0"/>
                </a:solidFill>
                <a:latin typeface="Times" charset="0"/>
                <a:ea typeface="Times" charset="0"/>
                <a:cs typeface="Times" charset="0"/>
              </a:rPr>
              <a:t>Maxwell distribution</a:t>
            </a:r>
            <a:r>
              <a:rPr lang="en-GB" altLang="zh-CN" sz="3200" dirty="0">
                <a:solidFill>
                  <a:srgbClr val="000000"/>
                </a:solidFill>
                <a:latin typeface="Times" charset="0"/>
                <a:ea typeface="Times" charset="0"/>
                <a:cs typeface="Times" charset="0"/>
              </a:rPr>
              <a:t> at a certain temperature </a:t>
            </a:r>
            <a:endParaRPr lang="en-US" altLang="zh-CN" sz="3200" dirty="0">
              <a:solidFill>
                <a:srgbClr val="00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pic>
        <p:nvPicPr>
          <p:cNvPr id="24" name="Picture 5">
            <a:extLst>
              <a:ext uri="{FF2B5EF4-FFF2-40B4-BE49-F238E27FC236}">
                <a16:creationId xmlns:a16="http://schemas.microsoft.com/office/drawing/2014/main" id="{E372793C-7FE1-4474-8292-0AFD6792D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189" y="3628824"/>
            <a:ext cx="5019732" cy="3229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graphicFrame>
        <p:nvGraphicFramePr>
          <p:cNvPr id="25" name="Object 6">
            <a:extLst>
              <a:ext uri="{FF2B5EF4-FFF2-40B4-BE49-F238E27FC236}">
                <a16:creationId xmlns:a16="http://schemas.microsoft.com/office/drawing/2014/main" id="{8BC55CB3-E4B8-4149-BE77-836A261A4D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2059" y="2623118"/>
          <a:ext cx="6741365" cy="121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643480" imgH="468360" progId="">
                  <p:embed/>
                </p:oleObj>
              </mc:Choice>
              <mc:Fallback>
                <p:oleObj r:id="rId3" imgW="2643480" imgH="468360" progId="">
                  <p:embed/>
                  <p:pic>
                    <p:nvPicPr>
                      <p:cNvPr id="25" name="Object 6">
                        <a:extLst>
                          <a:ext uri="{FF2B5EF4-FFF2-40B4-BE49-F238E27FC236}">
                            <a16:creationId xmlns:a16="http://schemas.microsoft.com/office/drawing/2014/main" id="{8BC55CB3-E4B8-4149-BE77-836A261A4D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059" y="2623118"/>
                        <a:ext cx="6741365" cy="121211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71692B-58A1-454B-AD3B-C31F9063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8093D-5291-44B0-8DB9-4AF41784AD1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34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3939-C73A-40E8-8D6A-91376C70A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Atoms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5EDD70-1BBE-41FD-BD15-CAA8A8F3D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54" y="1839310"/>
            <a:ext cx="8219091" cy="4893182"/>
          </a:xfrm>
        </p:spPr>
      </p:pic>
    </p:spTree>
    <p:extLst>
      <p:ext uri="{BB962C8B-B14F-4D97-AF65-F5344CB8AC3E}">
        <p14:creationId xmlns:p14="http://schemas.microsoft.com/office/powerpoint/2010/main" val="1625503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569F-1BAF-44BB-BEE4-974BF962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in time</a:t>
            </a:r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249D325F-FB2D-4336-8B49-C955877C1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738" y="1833425"/>
            <a:ext cx="8303172" cy="4982836"/>
          </a:xfrm>
        </p:spPr>
      </p:pic>
    </p:spTree>
    <p:extLst>
      <p:ext uri="{BB962C8B-B14F-4D97-AF65-F5344CB8AC3E}">
        <p14:creationId xmlns:p14="http://schemas.microsoft.com/office/powerpoint/2010/main" val="3433451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05588" y="245103"/>
            <a:ext cx="41979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Integration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5168" y="1104197"/>
            <a:ext cx="8942832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The potential energy is a function of the atomic positions (3N) of all the atoms in the system. </a:t>
            </a:r>
          </a:p>
          <a:p>
            <a:pPr marL="285750" indent="-285750" algn="just">
              <a:lnSpc>
                <a:spcPct val="150000"/>
              </a:lnSpc>
              <a:buFont typeface="Arial" charset="0"/>
              <a:buChar char="•"/>
            </a:pPr>
            <a:endParaRPr lang="en-US" dirty="0">
              <a:solidFill>
                <a:srgbClr val="000000"/>
              </a:solidFill>
              <a:latin typeface="Century" charset="0"/>
              <a:ea typeface="Century" charset="0"/>
              <a:cs typeface="Century" charset="0"/>
            </a:endParaRPr>
          </a:p>
          <a:p>
            <a:pPr marL="285750" indent="-285750" algn="just"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Due to the complicated nature of this function, there is </a:t>
            </a:r>
            <a:r>
              <a:rPr lang="en-US" i="1" u="sng" dirty="0">
                <a:solidFill>
                  <a:srgbClr val="FF0000"/>
                </a:solidFill>
                <a:latin typeface="Century" charset="0"/>
                <a:ea typeface="Century" charset="0"/>
                <a:cs typeface="Century" charset="0"/>
              </a:rPr>
              <a:t>no analytical solution</a:t>
            </a:r>
            <a:r>
              <a:rPr lang="en-US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 to the equations of motion; they must be solved numerically.</a:t>
            </a:r>
          </a:p>
          <a:p>
            <a:pPr marL="285750" indent="-285750" algn="just">
              <a:lnSpc>
                <a:spcPct val="150000"/>
              </a:lnSpc>
              <a:buFont typeface="Arial" charset="0"/>
              <a:buChar char="•"/>
            </a:pPr>
            <a:endParaRPr lang="en-US" dirty="0">
              <a:solidFill>
                <a:srgbClr val="000000"/>
              </a:solidFill>
              <a:latin typeface="Century" charset="0"/>
              <a:ea typeface="Century" charset="0"/>
              <a:cs typeface="Century" charset="0"/>
            </a:endParaRPr>
          </a:p>
          <a:p>
            <a:pPr marL="285750" indent="-285750" algn="just"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Numerous </a:t>
            </a:r>
            <a:r>
              <a:rPr lang="en-US" dirty="0">
                <a:solidFill>
                  <a:srgbClr val="FF0000"/>
                </a:solidFill>
                <a:latin typeface="Century" charset="0"/>
                <a:ea typeface="Century" charset="0"/>
                <a:cs typeface="Century" charset="0"/>
              </a:rPr>
              <a:t>numerical algorithms</a:t>
            </a:r>
            <a:r>
              <a:rPr lang="en-US" dirty="0">
                <a:solidFill>
                  <a:srgbClr val="000000"/>
                </a:solidFill>
                <a:latin typeface="Century" charset="0"/>
                <a:ea typeface="Century" charset="0"/>
                <a:cs typeface="Century" charset="0"/>
              </a:rPr>
              <a:t> have been developed for integrating the equations of motion, such as</a:t>
            </a:r>
            <a:endParaRPr lang="en-US" sz="2200" dirty="0">
              <a:solidFill>
                <a:srgbClr val="0070C0"/>
              </a:solidFill>
              <a:latin typeface="Century" charset="0"/>
              <a:ea typeface="Century" charset="0"/>
              <a:cs typeface="Century" charset="0"/>
            </a:endParaRPr>
          </a:p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0070C0"/>
                </a:solidFill>
                <a:latin typeface="Century" charset="0"/>
                <a:ea typeface="Century" charset="0"/>
                <a:cs typeface="Century" charset="0"/>
              </a:rPr>
              <a:t>Verlet algorithm</a:t>
            </a:r>
          </a:p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0070C0"/>
                </a:solidFill>
                <a:latin typeface="Century" charset="0"/>
                <a:ea typeface="Century" charset="0"/>
                <a:cs typeface="Century" charset="0"/>
              </a:rPr>
              <a:t>Velocity Verlet</a:t>
            </a:r>
          </a:p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0070C0"/>
                </a:solidFill>
                <a:latin typeface="Century" charset="0"/>
                <a:ea typeface="Century" charset="0"/>
                <a:cs typeface="Century" charset="0"/>
              </a:rPr>
              <a:t>Leap-frog algorithm</a:t>
            </a:r>
          </a:p>
        </p:txBody>
      </p:sp>
    </p:spTree>
    <p:extLst>
      <p:ext uri="{BB962C8B-B14F-4D97-AF65-F5344CB8AC3E}">
        <p14:creationId xmlns:p14="http://schemas.microsoft.com/office/powerpoint/2010/main" val="54828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7BC35-D498-45B9-AFF0-8B6289145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Verlet</a:t>
            </a:r>
            <a:r>
              <a:rPr lang="en-US" dirty="0"/>
              <a:t> Scheme: A good integrator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B5E6E5-799F-4059-A697-A0074C560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635" y="1835249"/>
            <a:ext cx="8586952" cy="490124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46BF52D-6E0B-4450-B15F-662E3DE67FD0}"/>
                  </a:ext>
                </a:extLst>
              </p14:cNvPr>
              <p14:cNvContentPartPr/>
              <p14:nvPr/>
            </p14:nvContentPartPr>
            <p14:xfrm>
              <a:off x="1041840" y="375840"/>
              <a:ext cx="318240" cy="317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46BF52D-6E0B-4450-B15F-662E3DE67F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2480" y="366480"/>
                <a:ext cx="336960" cy="33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9090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767CC08-29E4-41FC-91FC-C83859643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Verlet</a:t>
            </a:r>
            <a:r>
              <a:rPr lang="en-US" altLang="en-US" dirty="0"/>
              <a:t> Algorithm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C6AEC5F-C998-4424-BF37-2853341E1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89760" y="1874203"/>
            <a:ext cx="8412480" cy="464820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Tx/>
              <a:buNone/>
            </a:pPr>
            <a:r>
              <a:rPr lang="en-US" altLang="en-US" sz="2000" b="1" dirty="0">
                <a:latin typeface="Century" charset="0"/>
                <a:ea typeface="Century" charset="0"/>
                <a:cs typeface="Century" charset="0"/>
              </a:rPr>
              <a:t>Pros:</a:t>
            </a: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Century" charset="0"/>
                <a:ea typeface="Century" charset="0"/>
                <a:cs typeface="Century" charset="0"/>
              </a:rPr>
              <a:t>Simple &amp; Effective</a:t>
            </a: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Century" charset="0"/>
                <a:ea typeface="Century" charset="0"/>
                <a:cs typeface="Century" charset="0"/>
              </a:rPr>
              <a:t>Low Memory &amp; CPU Requirements (don’t need to store velocities or perform multiple force calculations)</a:t>
            </a: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Century" charset="0"/>
                <a:ea typeface="Century" charset="0"/>
                <a:cs typeface="Century" charset="0"/>
              </a:rPr>
              <a:t>Time Reversible</a:t>
            </a: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Century" charset="0"/>
                <a:ea typeface="Century" charset="0"/>
                <a:cs typeface="Century" charset="0"/>
              </a:rPr>
              <a:t>Very stable even with large numbers of interacting particles</a:t>
            </a:r>
          </a:p>
          <a:p>
            <a:pPr algn="just">
              <a:lnSpc>
                <a:spcPct val="100000"/>
              </a:lnSpc>
              <a:buFontTx/>
              <a:buNone/>
            </a:pPr>
            <a:endParaRPr lang="en-US" altLang="en-US" sz="2000" dirty="0">
              <a:latin typeface="Century" charset="0"/>
              <a:ea typeface="Century" charset="0"/>
              <a:cs typeface="Century" charset="0"/>
            </a:endParaRPr>
          </a:p>
          <a:p>
            <a:pPr algn="just">
              <a:lnSpc>
                <a:spcPct val="100000"/>
              </a:lnSpc>
              <a:buFontTx/>
              <a:buNone/>
            </a:pPr>
            <a:r>
              <a:rPr lang="en-US" altLang="en-US" sz="2000" b="1" dirty="0">
                <a:latin typeface="Century" charset="0"/>
                <a:ea typeface="Century" charset="0"/>
                <a:cs typeface="Century" charset="0"/>
              </a:rPr>
              <a:t>Cons:</a:t>
            </a: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Century" charset="0"/>
                <a:ea typeface="Century" charset="0"/>
                <a:cs typeface="Century" charset="0"/>
              </a:rPr>
              <a:t>Moderate precision</a:t>
            </a:r>
          </a:p>
        </p:txBody>
      </p:sp>
    </p:spTree>
    <p:extLst>
      <p:ext uri="{BB962C8B-B14F-4D97-AF65-F5344CB8AC3E}">
        <p14:creationId xmlns:p14="http://schemas.microsoft.com/office/powerpoint/2010/main" val="753604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3A539-FDDB-4EB2-B945-3367AE86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Atoms move forward in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04FAF5-C6FA-44D6-AEDB-B830B7C6D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182" y="1770895"/>
            <a:ext cx="8347770" cy="5087105"/>
          </a:xfrm>
        </p:spPr>
      </p:pic>
    </p:spTree>
    <p:extLst>
      <p:ext uri="{BB962C8B-B14F-4D97-AF65-F5344CB8AC3E}">
        <p14:creationId xmlns:p14="http://schemas.microsoft.com/office/powerpoint/2010/main" val="498272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C51C-CB5C-40BA-B14F-4A975EA02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7E3FB5-87A0-468D-AE49-ABD71D5B1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647" y="1786760"/>
            <a:ext cx="9333187" cy="5026414"/>
          </a:xfrm>
        </p:spPr>
      </p:pic>
    </p:spTree>
    <p:extLst>
      <p:ext uri="{BB962C8B-B14F-4D97-AF65-F5344CB8AC3E}">
        <p14:creationId xmlns:p14="http://schemas.microsoft.com/office/powerpoint/2010/main" val="2637054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FB77-3A96-48D2-A8D6-E7107568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Interatomic Potentials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BD93DC-E3F9-49FA-9E3D-5D692A638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779" y="1739752"/>
            <a:ext cx="8166538" cy="5102334"/>
          </a:xfrm>
        </p:spPr>
      </p:pic>
    </p:spTree>
    <p:extLst>
      <p:ext uri="{BB962C8B-B14F-4D97-AF65-F5344CB8AC3E}">
        <p14:creationId xmlns:p14="http://schemas.microsoft.com/office/powerpoint/2010/main" val="3255973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791E0-784C-4987-80E0-888C3986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Lennard-Jones Potential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3B75C5-373E-4943-8289-4CD64E7AD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754" y="1799080"/>
            <a:ext cx="8140115" cy="5101639"/>
          </a:xfrm>
        </p:spPr>
      </p:pic>
    </p:spTree>
    <p:extLst>
      <p:ext uri="{BB962C8B-B14F-4D97-AF65-F5344CB8AC3E}">
        <p14:creationId xmlns:p14="http://schemas.microsoft.com/office/powerpoint/2010/main" val="2475997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TextBox 10"/>
          <p:cNvSpPr txBox="1">
            <a:spLocks noChangeArrowheads="1"/>
          </p:cNvSpPr>
          <p:nvPr/>
        </p:nvSpPr>
        <p:spPr bwMode="auto">
          <a:xfrm>
            <a:off x="180975" y="919222"/>
            <a:ext cx="11906250" cy="2345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x-none" sz="2000" dirty="0">
                <a:latin typeface="Times" charset="0"/>
                <a:ea typeface="Times" charset="0"/>
                <a:cs typeface="Times" charset="0"/>
              </a:rPr>
              <a:t>Most simulations probe the structural and thermodynamic properties of a system of a few thousand particles. </a:t>
            </a:r>
          </a:p>
          <a:p>
            <a:pPr marL="342900" indent="-342900" ea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x-none" sz="2000" dirty="0">
                <a:latin typeface="Times" charset="0"/>
                <a:ea typeface="Times" charset="0"/>
                <a:cs typeface="Times" charset="0"/>
              </a:rPr>
              <a:t>For such small systems the choice of boundary conditions can strongly affect the measured properties.</a:t>
            </a:r>
            <a:endParaRPr lang="en-US" altLang="x-none" sz="2000" dirty="0">
              <a:solidFill>
                <a:srgbClr val="0000FF"/>
              </a:solidFill>
              <a:latin typeface="Times" charset="0"/>
              <a:ea typeface="Times" charset="0"/>
              <a:cs typeface="Times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x-none" sz="2000" dirty="0">
                <a:solidFill>
                  <a:srgbClr val="0000FF"/>
                </a:solidFill>
                <a:latin typeface="Times" charset="0"/>
                <a:ea typeface="Times" charset="0"/>
                <a:cs typeface="Times" charset="0"/>
              </a:rPr>
              <a:t>For example, in a cubic crystal of 1000 atoms, 49% of the atoms are at the surface. For a crystal of 1,000,000 atoms, only 6% of them are at the surface. </a:t>
            </a:r>
          </a:p>
          <a:p>
            <a:pPr marL="342900" indent="-342900" eaLnBrk="1" hangingPunct="1">
              <a:lnSpc>
                <a:spcPct val="150000"/>
              </a:lnSpc>
              <a:buFont typeface="Arial" charset="0"/>
              <a:buChar char="•"/>
            </a:pPr>
            <a:endParaRPr lang="en-US" altLang="x-none" sz="2000" dirty="0">
              <a:latin typeface="Times" charset="0"/>
              <a:ea typeface="Times" charset="0"/>
              <a:cs typeface="Times" charset="0"/>
            </a:endParaRPr>
          </a:p>
        </p:txBody>
      </p:sp>
      <p:pic>
        <p:nvPicPr>
          <p:cNvPr id="13319" name="Picture 14" descr="http://www.corporate.basf.com/basfcorp/copsfiles/pressefotodb/1208_wassertropfen-water_droplet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1" t="29272" r="19469" b="20857"/>
          <a:stretch>
            <a:fillRect/>
          </a:stretch>
        </p:blipFill>
        <p:spPr bwMode="auto">
          <a:xfrm>
            <a:off x="640841" y="3593457"/>
            <a:ext cx="4607434" cy="3140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7" descr="water-225_tcm18-86280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"/>
          <a:stretch>
            <a:fillRect/>
          </a:stretch>
        </p:blipFill>
        <p:spPr bwMode="auto">
          <a:xfrm>
            <a:off x="5840359" y="3593456"/>
            <a:ext cx="3065516" cy="3150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905000" y="180631"/>
            <a:ext cx="8686800" cy="551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solidFill>
                  <a:srgbClr val="FF0000"/>
                </a:solidFill>
              </a:rPr>
              <a:t>Geometry and boundary conditions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51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6675" y="675931"/>
            <a:ext cx="8686800" cy="55188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Geometry and boundary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189" y="2025908"/>
            <a:ext cx="1115758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charset="0"/>
              <a:buChar char="•"/>
            </a:pPr>
            <a:r>
              <a:rPr lang="en-GB" altLang="x-none" sz="2200" dirty="0">
                <a:latin typeface="Times" charset="0"/>
                <a:ea typeface="Times" charset="0"/>
                <a:cs typeface="Times" charset="0"/>
              </a:rPr>
              <a:t>What should we do at the boundaries of our simulated system? </a:t>
            </a:r>
            <a:endParaRPr lang="en-US" altLang="x-none" sz="2200" dirty="0">
              <a:latin typeface="Times" charset="0"/>
              <a:ea typeface="Times" charset="0"/>
              <a:cs typeface="Times" charset="0"/>
            </a:endParaRPr>
          </a:p>
          <a:p>
            <a:pPr marL="342900" indent="-342900" algn="just">
              <a:buFont typeface="Arial" charset="0"/>
              <a:buChar char="•"/>
            </a:pPr>
            <a:endParaRPr lang="en-US" altLang="x-none" sz="2200" dirty="0">
              <a:latin typeface="Times" charset="0"/>
              <a:ea typeface="Times" charset="0"/>
              <a:cs typeface="Times" charset="0"/>
            </a:endParaRPr>
          </a:p>
          <a:p>
            <a:pPr marL="342900" indent="-342900" algn="just">
              <a:buFont typeface="Arial" charset="0"/>
              <a:buChar char="•"/>
            </a:pPr>
            <a:r>
              <a:rPr lang="en-US" altLang="x-none" sz="2200" dirty="0">
                <a:latin typeface="Times" charset="0"/>
                <a:ea typeface="Times" charset="0"/>
                <a:cs typeface="Times" charset="0"/>
              </a:rPr>
              <a:t>If </a:t>
            </a:r>
            <a:r>
              <a:rPr lang="en-GB" altLang="x-none" sz="2200" dirty="0">
                <a:latin typeface="Times" charset="0"/>
                <a:ea typeface="Times" charset="0"/>
                <a:cs typeface="Times" charset="0"/>
              </a:rPr>
              <a:t>nothing special</a:t>
            </a:r>
            <a:r>
              <a:rPr lang="en-US" altLang="x-none" sz="2200" dirty="0">
                <a:latin typeface="Times" charset="0"/>
                <a:ea typeface="Times" charset="0"/>
                <a:cs typeface="Times" charset="0"/>
              </a:rPr>
              <a:t> is done, </a:t>
            </a:r>
            <a:r>
              <a:rPr lang="en-GB" altLang="x-none" sz="2200" dirty="0">
                <a:latin typeface="Times" charset="0"/>
                <a:ea typeface="Times" charset="0"/>
                <a:cs typeface="Times" charset="0"/>
              </a:rPr>
              <a:t>atoms near the boundary would have less neighbours than atoms inside.  </a:t>
            </a:r>
            <a:endParaRPr lang="en-US" altLang="x-none" sz="2200" dirty="0">
              <a:latin typeface="Times" charset="0"/>
              <a:ea typeface="Times" charset="0"/>
              <a:cs typeface="Times" charset="0"/>
            </a:endParaRPr>
          </a:p>
          <a:p>
            <a:pPr marL="342900" indent="-342900" algn="just">
              <a:buFont typeface="Arial" charset="0"/>
              <a:buChar char="•"/>
            </a:pPr>
            <a:endParaRPr lang="en-US" altLang="x-none" sz="2200" dirty="0">
              <a:latin typeface="Times" charset="0"/>
              <a:ea typeface="Times" charset="0"/>
              <a:cs typeface="Times" charset="0"/>
            </a:endParaRPr>
          </a:p>
          <a:p>
            <a:pPr marL="342900" indent="-342900" algn="just">
              <a:buFont typeface="Arial" charset="0"/>
              <a:buChar char="•"/>
            </a:pPr>
            <a:r>
              <a:rPr lang="en-US" altLang="x-none" sz="2200" dirty="0">
                <a:latin typeface="Times" charset="0"/>
                <a:ea typeface="Times" charset="0"/>
                <a:cs typeface="Times" charset="0"/>
              </a:rPr>
              <a:t>This causes </a:t>
            </a:r>
            <a:r>
              <a:rPr lang="en-GB" altLang="x-none" sz="2200" dirty="0">
                <a:latin typeface="Times" charset="0"/>
                <a:ea typeface="Times" charset="0"/>
                <a:cs typeface="Times" charset="0"/>
              </a:rPr>
              <a:t>surface effects</a:t>
            </a:r>
            <a:r>
              <a:rPr lang="en-US" altLang="x-none" sz="2200" dirty="0">
                <a:latin typeface="Times" charset="0"/>
                <a:ea typeface="Times" charset="0"/>
                <a:cs typeface="Times" charset="0"/>
              </a:rPr>
              <a:t> in the simulation</a:t>
            </a:r>
            <a:r>
              <a:rPr lang="en-GB" altLang="x-none" sz="2200" dirty="0">
                <a:latin typeface="Times" charset="0"/>
                <a:ea typeface="Times" charset="0"/>
                <a:cs typeface="Times" charset="0"/>
              </a:rPr>
              <a:t> to be much more important than they</a:t>
            </a:r>
            <a:r>
              <a:rPr lang="en-US" altLang="x-none" sz="2200" dirty="0">
                <a:latin typeface="Times" charset="0"/>
                <a:ea typeface="Times" charset="0"/>
                <a:cs typeface="Times" charset="0"/>
              </a:rPr>
              <a:t> are in the real system.</a:t>
            </a:r>
          </a:p>
          <a:p>
            <a:pPr marL="342900" indent="-342900" algn="just">
              <a:buFont typeface="Arial" charset="0"/>
              <a:buChar char="•"/>
            </a:pPr>
            <a:endParaRPr lang="en-US" sz="2200" dirty="0">
              <a:latin typeface="Times" charset="0"/>
              <a:ea typeface="Times" charset="0"/>
              <a:cs typeface="Times" charset="0"/>
            </a:endParaRPr>
          </a:p>
          <a:p>
            <a:pPr marL="342900" indent="-342900" algn="just">
              <a:buFont typeface="Arial" charset="0"/>
              <a:buChar char="•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" charset="0"/>
                <a:ea typeface="Times" charset="0"/>
                <a:cs typeface="Times" charset="0"/>
              </a:rPr>
              <a:t>Finite systems</a:t>
            </a:r>
            <a:r>
              <a:rPr lang="en-US" sz="2200" dirty="0">
                <a:latin typeface="Times" charset="0"/>
                <a:ea typeface="Times" charset="0"/>
                <a:cs typeface="Times" charset="0"/>
              </a:rPr>
              <a:t>: use open boundary conditions, i.e. no boundaries at all, just N particles in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2">
                  <a:lumMod val="60000"/>
                  <a:lumOff val="40000"/>
                </a:schemeClr>
              </a:solidFill>
              <a:latin typeface="Times" charset="0"/>
              <a:ea typeface="Times" charset="0"/>
              <a:cs typeface="Times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" charset="0"/>
                <a:ea typeface="Times" charset="0"/>
                <a:cs typeface="Times" charset="0"/>
              </a:rPr>
              <a:t>Macroscopic systems</a:t>
            </a:r>
            <a:r>
              <a:rPr lang="en-US" sz="2200" dirty="0">
                <a:latin typeface="Times" charset="0"/>
                <a:ea typeface="Times" charset="0"/>
                <a:cs typeface="Times" charset="0"/>
              </a:rPr>
              <a:t>: real macroscopic systems have a much larger number of particles (∼10</a:t>
            </a:r>
            <a:r>
              <a:rPr lang="en-US" sz="2200" baseline="30000" dirty="0">
                <a:latin typeface="Times" charset="0"/>
                <a:ea typeface="Times" charset="0"/>
                <a:cs typeface="Times" charset="0"/>
              </a:rPr>
              <a:t>23</a:t>
            </a:r>
            <a:r>
              <a:rPr lang="en-US" sz="2200" dirty="0">
                <a:latin typeface="Times" charset="0"/>
                <a:ea typeface="Times" charset="0"/>
                <a:cs typeface="Times" charset="0"/>
              </a:rPr>
              <a:t>) than can be handled in a simulation</a:t>
            </a:r>
          </a:p>
          <a:p>
            <a:pPr marL="342900" indent="-342900" algn="just">
              <a:buFont typeface="Arial" charset="0"/>
              <a:buChar char="•"/>
            </a:pPr>
            <a:endParaRPr lang="en-US" sz="2200" dirty="0">
              <a:latin typeface="Times" charset="0"/>
              <a:ea typeface="Times" charset="0"/>
              <a:cs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958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7F92-7041-4C2B-A7CF-358ADAE02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Length and time scales: MD Simulations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019A67-E000-4BB4-A1B6-FF5D68C4A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434" y="1824155"/>
            <a:ext cx="8103476" cy="5033845"/>
          </a:xfrm>
        </p:spPr>
      </p:pic>
    </p:spTree>
    <p:extLst>
      <p:ext uri="{BB962C8B-B14F-4D97-AF65-F5344CB8AC3E}">
        <p14:creationId xmlns:p14="http://schemas.microsoft.com/office/powerpoint/2010/main" val="565181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924D-E33F-485A-B629-CD755542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Simulation Cell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31BEE6-830E-4300-94BA-7A13316C4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743" y="1782013"/>
            <a:ext cx="8988513" cy="5075987"/>
          </a:xfrm>
        </p:spPr>
      </p:pic>
    </p:spTree>
    <p:extLst>
      <p:ext uri="{BB962C8B-B14F-4D97-AF65-F5344CB8AC3E}">
        <p14:creationId xmlns:p14="http://schemas.microsoft.com/office/powerpoint/2010/main" val="944757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CEC6-A0C4-459D-A784-AC518BCF3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Periodic Boundary Conditions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05B4D9-C8EB-434C-AC82-80D21B79A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186" y="1781125"/>
            <a:ext cx="8565931" cy="5076875"/>
          </a:xfrm>
        </p:spPr>
      </p:pic>
    </p:spTree>
    <p:extLst>
      <p:ext uri="{BB962C8B-B14F-4D97-AF65-F5344CB8AC3E}">
        <p14:creationId xmlns:p14="http://schemas.microsoft.com/office/powerpoint/2010/main" val="868113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CEC6-A0C4-459D-A784-AC518BCF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70" y="365125"/>
            <a:ext cx="10581860" cy="1325563"/>
          </a:xfrm>
        </p:spPr>
        <p:txBody>
          <a:bodyPr/>
          <a:lstStyle/>
          <a:p>
            <a:r>
              <a:rPr lang="en-US" dirty="0"/>
              <a:t>Periodic Boundary Conditions</a:t>
            </a:r>
          </a:p>
        </p:txBody>
      </p:sp>
      <p:sp>
        <p:nvSpPr>
          <p:cNvPr id="65" name="Text Box 60">
            <a:extLst>
              <a:ext uri="{FF2B5EF4-FFF2-40B4-BE49-F238E27FC236}">
                <a16:creationId xmlns:a16="http://schemas.microsoft.com/office/drawing/2014/main" id="{12DF5A82-189C-4509-8817-0B3A65D55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68" y="1918249"/>
            <a:ext cx="5505530" cy="5162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39" tIns="58421" rIns="81639" bIns="40820"/>
          <a:lstStyle>
            <a:lvl1pPr marL="2159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pPr>
              <a:buSzPct val="45000"/>
              <a:buFont typeface="Wingdings" charset="0"/>
              <a:buChar char=""/>
            </a:pPr>
            <a:r>
              <a:rPr lang="en-US" sz="2000" dirty="0"/>
              <a:t>Simulation box replicated to form an infinite lattice.</a:t>
            </a:r>
          </a:p>
          <a:p>
            <a:pPr>
              <a:buSzPct val="45000"/>
              <a:buFont typeface="Wingdings" charset="0"/>
              <a:buNone/>
            </a:pPr>
            <a:endParaRPr lang="en-US" sz="2000" dirty="0"/>
          </a:p>
          <a:p>
            <a:pPr>
              <a:buSzPct val="45000"/>
              <a:buFont typeface="Wingdings" charset="0"/>
              <a:buChar char=""/>
            </a:pPr>
            <a:r>
              <a:rPr lang="en-US" sz="2000" dirty="0"/>
              <a:t>Periodic images of a particle in the simulation box move with the same orientation. </a:t>
            </a:r>
          </a:p>
          <a:p>
            <a:pPr>
              <a:buSzPct val="45000"/>
              <a:buFont typeface="Wingdings" charset="0"/>
              <a:buNone/>
            </a:pPr>
            <a:endParaRPr lang="en-US" sz="2000" u="sng" dirty="0"/>
          </a:p>
          <a:p>
            <a:pPr>
              <a:buSzPct val="45000"/>
              <a:buFont typeface="Wingdings" charset="0"/>
              <a:buChar char=""/>
            </a:pPr>
            <a:r>
              <a:rPr lang="en-US" sz="2000" dirty="0"/>
              <a:t>Nullify the surface effects and study the bulk properties of the system with small number of particles.</a:t>
            </a:r>
          </a:p>
          <a:p>
            <a:pPr>
              <a:buSzPct val="45000"/>
              <a:buFont typeface="Wingdings" charset="0"/>
              <a:buChar char=""/>
            </a:pPr>
            <a:endParaRPr lang="en-US" sz="2000" dirty="0"/>
          </a:p>
          <a:p>
            <a:pPr>
              <a:buSzPct val="45000"/>
              <a:buFont typeface="Wingdings" charset="0"/>
              <a:buChar char=""/>
            </a:pPr>
            <a:r>
              <a:rPr lang="en-US" sz="2000" dirty="0"/>
              <a:t>Linear momentum of the system under PBC is conserved.</a:t>
            </a:r>
          </a:p>
          <a:p>
            <a:pPr>
              <a:buSzPct val="45000"/>
              <a:buFont typeface="Wingdings" charset="0"/>
              <a:buNone/>
            </a:pPr>
            <a:endParaRPr lang="en-US" sz="2000" u="sng" dirty="0"/>
          </a:p>
          <a:p>
            <a:pPr>
              <a:buSzPct val="45000"/>
              <a:buFont typeface="Wingdings" charset="0"/>
              <a:buChar char=""/>
            </a:pPr>
            <a:r>
              <a:rPr lang="en-US" sz="2000" i="1" dirty="0">
                <a:solidFill>
                  <a:srgbClr val="FF0000"/>
                </a:solidFill>
              </a:rPr>
              <a:t>Minimum image convention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is adopted in order to prevent particles interacting with their own images during the simulation.  </a:t>
            </a:r>
            <a:endParaRPr lang="en-US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443E4C01-75D6-4524-B33C-5C3A8FE776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862"/>
          <a:stretch/>
        </p:blipFill>
        <p:spPr>
          <a:xfrm>
            <a:off x="6749623" y="1565657"/>
            <a:ext cx="4637307" cy="50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91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A7CF-4B34-4ABD-9A02-F36AB246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Image Convention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9489F7-15D8-454B-825F-B44ECB844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447" y="1772335"/>
            <a:ext cx="8161319" cy="5085665"/>
          </a:xfrm>
        </p:spPr>
      </p:pic>
    </p:spTree>
    <p:extLst>
      <p:ext uri="{BB962C8B-B14F-4D97-AF65-F5344CB8AC3E}">
        <p14:creationId xmlns:p14="http://schemas.microsoft.com/office/powerpoint/2010/main" val="698521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365126"/>
            <a:ext cx="7886700" cy="585851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200">
                <a:solidFill>
                  <a:srgbClr val="FF0000"/>
                </a:solidFill>
              </a:rPr>
              <a:t>Simulation Procedures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0762" y="1739075"/>
            <a:ext cx="11135487" cy="538676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buNone/>
              <a:defRPr/>
            </a:pPr>
            <a:r>
              <a:rPr lang="en-US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Minimization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sz="2200" dirty="0">
                <a:latin typeface="Times" charset="0"/>
                <a:ea typeface="Times" charset="0"/>
                <a:cs typeface="Times" charset="0"/>
              </a:rPr>
              <a:t>Minimize the energy of the system in order to reach the most favorable configuration</a:t>
            </a:r>
            <a:endParaRPr lang="en-US" dirty="0">
              <a:latin typeface="Times" charset="0"/>
              <a:ea typeface="Times" charset="0"/>
              <a:cs typeface="Times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en-US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Equilibration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sz="2200" dirty="0">
                <a:latin typeface="Times" charset="0"/>
                <a:ea typeface="Times" charset="0"/>
                <a:cs typeface="Times" charset="0"/>
              </a:rPr>
              <a:t>The point of the equilibration phase is to run the simulation until the structure, pressure, temperature and energy become stable with respect to time. </a:t>
            </a:r>
            <a:endParaRPr lang="en-US" dirty="0">
              <a:latin typeface="Times" charset="0"/>
              <a:ea typeface="Times" charset="0"/>
              <a:cs typeface="Times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en-US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Dynamics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en-US" dirty="0">
                <a:latin typeface="Times" charset="0"/>
                <a:ea typeface="Times" charset="0"/>
                <a:cs typeface="Times" charset="0"/>
              </a:rPr>
              <a:t>Normal/Periodic boundary condition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en-US" dirty="0">
                <a:latin typeface="Times" charset="0"/>
                <a:ea typeface="Times" charset="0"/>
                <a:cs typeface="Times" charset="0"/>
              </a:rPr>
              <a:t>Single/Multiple time stepping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en-US" dirty="0">
                <a:latin typeface="Times" charset="0"/>
                <a:ea typeface="Times" charset="0"/>
                <a:cs typeface="Times" charset="0"/>
              </a:rPr>
              <a:t>Integrators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en-US" dirty="0">
                <a:latin typeface="Times" charset="0"/>
                <a:ea typeface="Times" charset="0"/>
                <a:cs typeface="Times" charset="0"/>
              </a:rPr>
              <a:t>Electrostatics</a:t>
            </a: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en-US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Analyses</a:t>
            </a:r>
          </a:p>
        </p:txBody>
      </p:sp>
    </p:spTree>
    <p:extLst>
      <p:ext uri="{BB962C8B-B14F-4D97-AF65-F5344CB8AC3E}">
        <p14:creationId xmlns:p14="http://schemas.microsoft.com/office/powerpoint/2010/main" val="667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1524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MD – Shortcomings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1828800" y="1120776"/>
            <a:ext cx="8610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buFontTx/>
              <a:buChar char="•"/>
              <a:defRPr/>
            </a:pPr>
            <a:r>
              <a:rPr lang="en-US" sz="2400" dirty="0">
                <a:latin typeface="Times New Roman" charset="0"/>
              </a:rPr>
              <a:t> Quality of </a:t>
            </a:r>
            <a:r>
              <a:rPr lang="en-US" sz="2400">
                <a:latin typeface="Times New Roman" charset="0"/>
              </a:rPr>
              <a:t>the force-field </a:t>
            </a:r>
            <a:endParaRPr lang="en-US" sz="2400" dirty="0">
              <a:latin typeface="Times New Roman" charset="0"/>
            </a:endParaRPr>
          </a:p>
          <a:p>
            <a:pPr algn="just" eaLnBrk="1" hangingPunct="1">
              <a:buFontTx/>
              <a:buChar char="•"/>
              <a:defRPr/>
            </a:pPr>
            <a:endParaRPr lang="en-US" sz="2400" dirty="0">
              <a:latin typeface="Times New Roman" charset="0"/>
            </a:endParaRPr>
          </a:p>
          <a:p>
            <a:pPr algn="just" eaLnBrk="1" hangingPunct="1">
              <a:buFontTx/>
              <a:buChar char="•"/>
              <a:defRPr/>
            </a:pPr>
            <a:r>
              <a:rPr lang="en-US" sz="2400" dirty="0">
                <a:latin typeface="Times New Roman" charset="0"/>
              </a:rPr>
              <a:t> Size and Time – atomistic simulations can be performed only for systems of a few tenths of angstroms on the length scale and for a few nanoseconds on the time scale</a:t>
            </a:r>
          </a:p>
          <a:p>
            <a:pPr algn="just" eaLnBrk="1" hangingPunct="1">
              <a:buFontTx/>
              <a:buChar char="•"/>
              <a:defRPr/>
            </a:pPr>
            <a:endParaRPr lang="en-US" sz="2400" dirty="0">
              <a:latin typeface="Times New Roman" charset="0"/>
            </a:endParaRPr>
          </a:p>
          <a:p>
            <a:pPr algn="just" eaLnBrk="1" hangingPunct="1">
              <a:buFontTx/>
              <a:buChar char="•"/>
              <a:defRPr/>
            </a:pPr>
            <a:r>
              <a:rPr lang="en-US" sz="2400" dirty="0">
                <a:latin typeface="Times New Roman" charset="0"/>
              </a:rPr>
              <a:t> Conformational freedom of the molecule – the number of possible conformations a molecule can adopt is enormous, growing exponentially with the number or rotatable bonds.</a:t>
            </a:r>
          </a:p>
          <a:p>
            <a:pPr algn="just" eaLnBrk="1" hangingPunct="1">
              <a:buFontTx/>
              <a:buChar char="•"/>
              <a:defRPr/>
            </a:pPr>
            <a:endParaRPr lang="en-US" sz="2400" dirty="0">
              <a:latin typeface="Times New Roman" charset="0"/>
            </a:endParaRPr>
          </a:p>
          <a:p>
            <a:pPr algn="just" eaLnBrk="1" hangingPunct="1">
              <a:buFontTx/>
              <a:buChar char="•"/>
              <a:defRPr/>
            </a:pPr>
            <a:r>
              <a:rPr lang="en-US" sz="2400" dirty="0">
                <a:latin typeface="Times New Roman" charset="0"/>
              </a:rPr>
              <a:t> Only applicable to systems that have been parameterized</a:t>
            </a:r>
          </a:p>
          <a:p>
            <a:pPr algn="just" eaLnBrk="1" hangingPunct="1">
              <a:defRPr/>
            </a:pPr>
            <a:endParaRPr lang="en-US" sz="2400" dirty="0">
              <a:latin typeface="Times New Roman" charset="0"/>
            </a:endParaRPr>
          </a:p>
          <a:p>
            <a:pPr algn="just" eaLnBrk="1" hangingPunct="1">
              <a:buFontTx/>
              <a:buChar char="•"/>
              <a:defRPr/>
            </a:pPr>
            <a:r>
              <a:rPr lang="en-US" sz="2400" dirty="0">
                <a:latin typeface="Times New Roman" charset="0"/>
              </a:rPr>
              <a:t> Connectivity of atoms cannot change during dynamics – no chemical reactions.</a:t>
            </a:r>
          </a:p>
        </p:txBody>
      </p:sp>
    </p:spTree>
    <p:extLst>
      <p:ext uri="{BB962C8B-B14F-4D97-AF65-F5344CB8AC3E}">
        <p14:creationId xmlns:p14="http://schemas.microsoft.com/office/powerpoint/2010/main" val="70681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Content Placeholder 3">
            <a:extLst>
              <a:ext uri="{FF2B5EF4-FFF2-40B4-BE49-F238E27FC236}">
                <a16:creationId xmlns:a16="http://schemas.microsoft.com/office/drawing/2014/main" id="{1AD1A9AA-989E-47D0-8A4E-D6F5DBF9E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5166" y="274321"/>
            <a:ext cx="11345918" cy="6295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F2253-353D-4135-BE29-F45A67AB9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C8093D-5291-44B0-8DB9-4AF41784AD11}" type="slidenum">
              <a:rPr kumimoji="0" lang="en-I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2407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17031</TotalTime>
  <Words>1178</Words>
  <Application>Microsoft Office PowerPoint</Application>
  <PresentationFormat>Widescreen</PresentationFormat>
  <Paragraphs>147</Paragraphs>
  <Slides>34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Calibri</vt:lpstr>
      <vt:lpstr>Cambria Math</vt:lpstr>
      <vt:lpstr>Century</vt:lpstr>
      <vt:lpstr>FreeMono</vt:lpstr>
      <vt:lpstr>Modern Love</vt:lpstr>
      <vt:lpstr>The Hand</vt:lpstr>
      <vt:lpstr>Times</vt:lpstr>
      <vt:lpstr>Times New Roman</vt:lpstr>
      <vt:lpstr>Wingdings</vt:lpstr>
      <vt:lpstr>SketchyVTI</vt:lpstr>
      <vt:lpstr>Equation</vt:lpstr>
      <vt:lpstr>Molecular Dynamics Dr. Saurav Prasad</vt:lpstr>
      <vt:lpstr>Molecular Dynamics</vt:lpstr>
      <vt:lpstr>Molecular Dynamics</vt:lpstr>
      <vt:lpstr>                                  MD Systems</vt:lpstr>
      <vt:lpstr>Molecular dynamics -Motivation</vt:lpstr>
      <vt:lpstr>Molecular Dynamics Simulations</vt:lpstr>
      <vt:lpstr>How?</vt:lpstr>
      <vt:lpstr>Equation of Motion</vt:lpstr>
      <vt:lpstr>Equation of Motion</vt:lpstr>
      <vt:lpstr>From Potential to Movement</vt:lpstr>
      <vt:lpstr>MD algorithm </vt:lpstr>
      <vt:lpstr>The structure of a simple MD code</vt:lpstr>
      <vt:lpstr>Initialization</vt:lpstr>
      <vt:lpstr>PowerPoint Presentation</vt:lpstr>
      <vt:lpstr>PowerPoint Presentation</vt:lpstr>
      <vt:lpstr>Three Atoms</vt:lpstr>
      <vt:lpstr>Progress in time</vt:lpstr>
      <vt:lpstr>PowerPoint Presentation</vt:lpstr>
      <vt:lpstr>Verlet Scheme: A good integrator</vt:lpstr>
      <vt:lpstr>Verlet Algorithm</vt:lpstr>
      <vt:lpstr>Atoms move forward in time</vt:lpstr>
      <vt:lpstr>Forces</vt:lpstr>
      <vt:lpstr>Simple Interatomic Potentials</vt:lpstr>
      <vt:lpstr>Lennard-Jones Potential</vt:lpstr>
      <vt:lpstr>PowerPoint Presentation</vt:lpstr>
      <vt:lpstr>Geometry and boundary conditions</vt:lpstr>
      <vt:lpstr>Length and time scales: MD Simulations</vt:lpstr>
      <vt:lpstr>The Simulation Cell</vt:lpstr>
      <vt:lpstr>Periodic Boundary Conditions</vt:lpstr>
      <vt:lpstr>Periodic Boundary Conditions</vt:lpstr>
      <vt:lpstr>Minimum Image Convention</vt:lpstr>
      <vt:lpstr>Simulation Procedures</vt:lpstr>
      <vt:lpstr>MD – Shortcomings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Dynamics</dc:title>
  <dc:creator>Saurav Prasad</dc:creator>
  <cp:lastModifiedBy>Author</cp:lastModifiedBy>
  <cp:revision>37</cp:revision>
  <dcterms:created xsi:type="dcterms:W3CDTF">2021-01-28T18:39:07Z</dcterms:created>
  <dcterms:modified xsi:type="dcterms:W3CDTF">2023-12-20T05:58:19Z</dcterms:modified>
</cp:coreProperties>
</file>