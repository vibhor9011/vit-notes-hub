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84" r:id="rId2"/>
  </p:sldMasterIdLst>
  <p:notesMasterIdLst>
    <p:notesMasterId r:id="rId53"/>
  </p:notesMasterIdLst>
  <p:sldIdLst>
    <p:sldId id="266" r:id="rId3"/>
    <p:sldId id="259" r:id="rId4"/>
    <p:sldId id="258" r:id="rId5"/>
    <p:sldId id="352" r:id="rId6"/>
    <p:sldId id="256" r:id="rId7"/>
    <p:sldId id="261" r:id="rId8"/>
    <p:sldId id="353" r:id="rId9"/>
    <p:sldId id="268" r:id="rId10"/>
    <p:sldId id="354" r:id="rId11"/>
    <p:sldId id="356" r:id="rId12"/>
    <p:sldId id="267" r:id="rId13"/>
    <p:sldId id="1276" r:id="rId14"/>
    <p:sldId id="275" r:id="rId15"/>
    <p:sldId id="357" r:id="rId16"/>
    <p:sldId id="277" r:id="rId17"/>
    <p:sldId id="358" r:id="rId18"/>
    <p:sldId id="265" r:id="rId19"/>
    <p:sldId id="279" r:id="rId20"/>
    <p:sldId id="359" r:id="rId21"/>
    <p:sldId id="281" r:id="rId22"/>
    <p:sldId id="282" r:id="rId23"/>
    <p:sldId id="361" r:id="rId24"/>
    <p:sldId id="360" r:id="rId25"/>
    <p:sldId id="387" r:id="rId26"/>
    <p:sldId id="388" r:id="rId27"/>
    <p:sldId id="389" r:id="rId28"/>
    <p:sldId id="490" r:id="rId29"/>
    <p:sldId id="491" r:id="rId30"/>
    <p:sldId id="278" r:id="rId31"/>
    <p:sldId id="492" r:id="rId32"/>
    <p:sldId id="426" r:id="rId33"/>
    <p:sldId id="484" r:id="rId34"/>
    <p:sldId id="435" r:id="rId35"/>
    <p:sldId id="483" r:id="rId36"/>
    <p:sldId id="489" r:id="rId37"/>
    <p:sldId id="429" r:id="rId38"/>
    <p:sldId id="1270" r:id="rId39"/>
    <p:sldId id="1250" r:id="rId40"/>
    <p:sldId id="263" r:id="rId41"/>
    <p:sldId id="283" r:id="rId42"/>
    <p:sldId id="286" r:id="rId43"/>
    <p:sldId id="269" r:id="rId44"/>
    <p:sldId id="1272" r:id="rId45"/>
    <p:sldId id="1254" r:id="rId46"/>
    <p:sldId id="273" r:id="rId47"/>
    <p:sldId id="274" r:id="rId48"/>
    <p:sldId id="1273" r:id="rId49"/>
    <p:sldId id="276" r:id="rId50"/>
    <p:sldId id="1275" r:id="rId51"/>
    <p:sldId id="300"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1" autoAdjust="0"/>
    <p:restoredTop sz="84952" autoAdjust="0"/>
  </p:normalViewPr>
  <p:slideViewPr>
    <p:cSldViewPr snapToGrid="0">
      <p:cViewPr varScale="1">
        <p:scale>
          <a:sx n="53" d="100"/>
          <a:sy n="53" d="100"/>
        </p:scale>
        <p:origin x="161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7C413A-FE74-4465-80CB-B1C3210CC79F}" type="datetimeFigureOut">
              <a:rPr lang="en-US" smtClean="0"/>
              <a:t>12/13/2023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A95FCC-B4BF-4C6A-88F1-054798897BD7}" type="slidenum">
              <a:rPr lang="en-US" smtClean="0"/>
              <a:t>‹#›</a:t>
            </a:fld>
            <a:endParaRPr lang="en-US"/>
          </a:p>
        </p:txBody>
      </p:sp>
    </p:spTree>
    <p:extLst>
      <p:ext uri="{BB962C8B-B14F-4D97-AF65-F5344CB8AC3E}">
        <p14:creationId xmlns:p14="http://schemas.microsoft.com/office/powerpoint/2010/main" val="73823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98D93C4C-C7A0-4AC7-A490-7E45FB2B3D6F}" type="slidenum">
              <a:rPr lang="en-US" altLang="en-US" sz="1200" smtClean="0"/>
              <a:pPr/>
              <a:t>2</a:t>
            </a:fld>
            <a:endParaRPr lang="en-US" altLang="en-US" sz="1200"/>
          </a:p>
        </p:txBody>
      </p:sp>
      <p:sp>
        <p:nvSpPr>
          <p:cNvPr id="41987" name="Rectangle 2"/>
          <p:cNvSpPr>
            <a:spLocks noGrp="1" noRot="1" noChangeAspect="1" noChangeArrowheads="1" noTextEdit="1"/>
          </p:cNvSpPr>
          <p:nvPr>
            <p:ph type="sldImg"/>
          </p:nvPr>
        </p:nvSpPr>
        <p:spPr>
          <a:xfrm>
            <a:off x="1371600" y="1143000"/>
            <a:ext cx="4114800" cy="3086100"/>
          </a:xfrm>
          <a:ln/>
        </p:spPr>
      </p:sp>
      <p:sp>
        <p:nvSpPr>
          <p:cNvPr id="41988"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5F37E936-5C0E-4BDA-845B-F4FAB2FFB0D1}" type="slidenum">
              <a:rPr lang="en-US" altLang="en-US" sz="1200" smtClean="0"/>
              <a:pPr/>
              <a:t>3</a:t>
            </a:fld>
            <a:endParaRPr lang="en-US" altLang="en-US" sz="1200"/>
          </a:p>
        </p:txBody>
      </p:sp>
      <p:sp>
        <p:nvSpPr>
          <p:cNvPr id="43011" name="Rectangle 2"/>
          <p:cNvSpPr>
            <a:spLocks noGrp="1" noRot="1" noChangeAspect="1" noChangeArrowheads="1" noTextEdit="1"/>
          </p:cNvSpPr>
          <p:nvPr>
            <p:ph type="sldImg"/>
          </p:nvPr>
        </p:nvSpPr>
        <p:spPr>
          <a:xfrm>
            <a:off x="1371600" y="1143000"/>
            <a:ext cx="4114800" cy="3086100"/>
          </a:xfrm>
          <a:ln/>
        </p:spPr>
      </p:sp>
      <p:sp>
        <p:nvSpPr>
          <p:cNvPr id="43012"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42F84E05-69DC-469E-9DF3-917F4D2B0783}" type="slidenum">
              <a:rPr lang="en-US" altLang="en-US" sz="1200" smtClean="0"/>
              <a:pPr/>
              <a:t>6</a:t>
            </a:fld>
            <a:endParaRPr lang="en-US" altLang="en-US" sz="1200"/>
          </a:p>
        </p:txBody>
      </p:sp>
      <p:sp>
        <p:nvSpPr>
          <p:cNvPr id="44035" name="Rectangle 2"/>
          <p:cNvSpPr>
            <a:spLocks noGrp="1" noRot="1" noChangeAspect="1" noChangeArrowheads="1" noTextEdit="1"/>
          </p:cNvSpPr>
          <p:nvPr>
            <p:ph type="sldImg"/>
          </p:nvPr>
        </p:nvSpPr>
        <p:spPr>
          <a:xfrm>
            <a:off x="1371600" y="1143000"/>
            <a:ext cx="4114800" cy="3086100"/>
          </a:xfrm>
          <a:ln/>
        </p:spPr>
      </p:sp>
      <p:sp>
        <p:nvSpPr>
          <p:cNvPr id="44036"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0ADF44BD-BEB0-4FE8-A2E3-2E524B7A7B3F}" type="slidenum">
              <a:rPr lang="en-US" altLang="en-US" sz="1200" smtClean="0"/>
              <a:pPr/>
              <a:t>8</a:t>
            </a:fld>
            <a:endParaRPr lang="en-US" altLang="en-US" sz="1200"/>
          </a:p>
        </p:txBody>
      </p:sp>
      <p:sp>
        <p:nvSpPr>
          <p:cNvPr id="45059" name="Rectangle 2"/>
          <p:cNvSpPr>
            <a:spLocks noGrp="1" noRot="1" noChangeAspect="1" noChangeArrowheads="1" noTextEdit="1"/>
          </p:cNvSpPr>
          <p:nvPr>
            <p:ph type="sldImg"/>
          </p:nvPr>
        </p:nvSpPr>
        <p:spPr>
          <a:xfrm>
            <a:off x="1371600" y="1143000"/>
            <a:ext cx="4114800" cy="3086100"/>
          </a:xfrm>
          <a:ln/>
        </p:spPr>
      </p:sp>
      <p:sp>
        <p:nvSpPr>
          <p:cNvPr id="4506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D2BDDF66-ABDD-4A9F-8A37-8B277094BBB2}" type="slidenum">
              <a:rPr lang="en-US" altLang="en-US" sz="1200" smtClean="0"/>
              <a:pPr/>
              <a:t>11</a:t>
            </a:fld>
            <a:endParaRPr lang="en-US" altLang="en-US" sz="1200"/>
          </a:p>
        </p:txBody>
      </p:sp>
      <p:sp>
        <p:nvSpPr>
          <p:cNvPr id="46083" name="Rectangle 2"/>
          <p:cNvSpPr>
            <a:spLocks noGrp="1" noRot="1" noChangeAspect="1" noChangeArrowheads="1" noTextEdit="1"/>
          </p:cNvSpPr>
          <p:nvPr>
            <p:ph type="sldImg"/>
          </p:nvPr>
        </p:nvSpPr>
        <p:spPr>
          <a:xfrm>
            <a:off x="1371600" y="1143000"/>
            <a:ext cx="4114800" cy="3086100"/>
          </a:xfrm>
          <a:ln/>
        </p:spPr>
      </p:sp>
      <p:sp>
        <p:nvSpPr>
          <p:cNvPr id="46084"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78D53D36-C443-48D3-AC0E-FFAA47A7E36E}" type="slidenum">
              <a:rPr lang="en-US" altLang="en-US" sz="1200" smtClean="0"/>
              <a:pPr/>
              <a:t>13</a:t>
            </a:fld>
            <a:endParaRPr lang="en-US" altLang="en-US" sz="1200"/>
          </a:p>
        </p:txBody>
      </p:sp>
      <p:sp>
        <p:nvSpPr>
          <p:cNvPr id="47107" name="Rectangle 2"/>
          <p:cNvSpPr>
            <a:spLocks noGrp="1" noRot="1" noChangeAspect="1" noChangeArrowheads="1" noTextEdit="1"/>
          </p:cNvSpPr>
          <p:nvPr>
            <p:ph type="sldImg"/>
          </p:nvPr>
        </p:nvSpPr>
        <p:spPr>
          <a:xfrm>
            <a:off x="1371600" y="1143000"/>
            <a:ext cx="4114800" cy="3086100"/>
          </a:xfrm>
          <a:ln/>
        </p:spPr>
      </p:sp>
      <p:sp>
        <p:nvSpPr>
          <p:cNvPr id="47108"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BAB690FE-8427-4F8A-9CFD-67BE24AEEA99}" type="slidenum">
              <a:rPr lang="en-US" altLang="en-US" sz="1200" smtClean="0"/>
              <a:pPr/>
              <a:t>15</a:t>
            </a:fld>
            <a:endParaRPr lang="en-US" altLang="en-US" sz="1200"/>
          </a:p>
        </p:txBody>
      </p:sp>
      <p:sp>
        <p:nvSpPr>
          <p:cNvPr id="48131" name="Rectangle 2"/>
          <p:cNvSpPr>
            <a:spLocks noGrp="1" noRot="1" noChangeAspect="1" noChangeArrowheads="1" noTextEdit="1"/>
          </p:cNvSpPr>
          <p:nvPr>
            <p:ph type="sldImg"/>
          </p:nvPr>
        </p:nvSpPr>
        <p:spPr>
          <a:xfrm>
            <a:off x="1371600" y="1143000"/>
            <a:ext cx="4114800" cy="3086100"/>
          </a:xfrm>
          <a:ln/>
        </p:spPr>
      </p:sp>
      <p:sp>
        <p:nvSpPr>
          <p:cNvPr id="48132"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83E42F36-9D10-437E-BAE1-9092BCCB6119}" type="slidenum">
              <a:rPr lang="en-US" altLang="en-US" sz="1200" smtClean="0"/>
              <a:pPr/>
              <a:t>17</a:t>
            </a:fld>
            <a:endParaRPr lang="en-US" altLang="en-US" sz="1200"/>
          </a:p>
        </p:txBody>
      </p:sp>
      <p:sp>
        <p:nvSpPr>
          <p:cNvPr id="49155" name="Rectangle 2"/>
          <p:cNvSpPr>
            <a:spLocks noGrp="1" noRot="1" noChangeAspect="1" noChangeArrowheads="1" noTextEdit="1"/>
          </p:cNvSpPr>
          <p:nvPr>
            <p:ph type="sldImg"/>
          </p:nvPr>
        </p:nvSpPr>
        <p:spPr>
          <a:xfrm>
            <a:off x="1371600" y="1143000"/>
            <a:ext cx="4114800" cy="3086100"/>
          </a:xfrm>
          <a:ln/>
        </p:spPr>
      </p:sp>
      <p:sp>
        <p:nvSpPr>
          <p:cNvPr id="49156"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45A9E054-108B-432D-B61B-691921D639A7}" type="slidenum">
              <a:rPr lang="en-US" altLang="en-US" sz="1200" smtClean="0"/>
              <a:pPr/>
              <a:t>18</a:t>
            </a:fld>
            <a:endParaRPr lang="en-US" altLang="en-US" sz="1200"/>
          </a:p>
        </p:txBody>
      </p:sp>
      <p:sp>
        <p:nvSpPr>
          <p:cNvPr id="50179" name="Rectangle 2"/>
          <p:cNvSpPr>
            <a:spLocks noGrp="1" noRot="1" noChangeAspect="1" noChangeArrowheads="1" noTextEdit="1"/>
          </p:cNvSpPr>
          <p:nvPr>
            <p:ph type="sldImg"/>
          </p:nvPr>
        </p:nvSpPr>
        <p:spPr>
          <a:xfrm>
            <a:off x="1371600" y="1143000"/>
            <a:ext cx="4114800" cy="3086100"/>
          </a:xfrm>
          <a:ln/>
        </p:spPr>
      </p:sp>
      <p:sp>
        <p:nvSpPr>
          <p:cNvPr id="5018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6B03BA21-E779-4FEC-8D5E-83628717C4EF}" type="slidenum">
              <a:rPr lang="en-US" altLang="en-US" sz="1200" smtClean="0"/>
              <a:pPr/>
              <a:t>20</a:t>
            </a:fld>
            <a:endParaRPr lang="en-US" altLang="en-US" sz="1200"/>
          </a:p>
        </p:txBody>
      </p:sp>
      <p:sp>
        <p:nvSpPr>
          <p:cNvPr id="51203" name="Rectangle 2"/>
          <p:cNvSpPr>
            <a:spLocks noGrp="1" noRot="1" noChangeAspect="1" noChangeArrowheads="1" noTextEdit="1"/>
          </p:cNvSpPr>
          <p:nvPr>
            <p:ph type="sldImg"/>
          </p:nvPr>
        </p:nvSpPr>
        <p:spPr>
          <a:xfrm>
            <a:off x="1371600" y="1143000"/>
            <a:ext cx="4114800" cy="3086100"/>
          </a:xfrm>
          <a:ln/>
        </p:spPr>
      </p:sp>
      <p:sp>
        <p:nvSpPr>
          <p:cNvPr id="51204"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pitchFamily="48" charset="-128"/>
              </a:defRPr>
            </a:lvl1pPr>
            <a:lvl2pPr marL="742950" indent="-285750">
              <a:defRPr sz="2400">
                <a:solidFill>
                  <a:schemeClr val="tx1"/>
                </a:solidFill>
                <a:latin typeface="Arial" charset="0"/>
                <a:ea typeface="ＭＳ Ｐゴシック" pitchFamily="48" charset="-128"/>
              </a:defRPr>
            </a:lvl2pPr>
            <a:lvl3pPr marL="1143000" indent="-228600">
              <a:defRPr sz="2400">
                <a:solidFill>
                  <a:schemeClr val="tx1"/>
                </a:solidFill>
                <a:latin typeface="Arial" charset="0"/>
                <a:ea typeface="ＭＳ Ｐゴシック" pitchFamily="48" charset="-128"/>
              </a:defRPr>
            </a:lvl3pPr>
            <a:lvl4pPr marL="1600200" indent="-228600">
              <a:defRPr sz="2400">
                <a:solidFill>
                  <a:schemeClr val="tx1"/>
                </a:solidFill>
                <a:latin typeface="Arial" charset="0"/>
                <a:ea typeface="ＭＳ Ｐゴシック" pitchFamily="48" charset="-128"/>
              </a:defRPr>
            </a:lvl4pPr>
            <a:lvl5pPr marL="2057400" indent="-228600">
              <a:defRPr sz="2400">
                <a:solidFill>
                  <a:schemeClr val="tx1"/>
                </a:solidFill>
                <a:latin typeface="Arial" charset="0"/>
                <a:ea typeface="ＭＳ Ｐゴシック" pitchFamily="48"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48"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48"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48"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48" charset="-128"/>
              </a:defRPr>
            </a:lvl9pPr>
          </a:lstStyle>
          <a:p>
            <a:fld id="{E0AB47B8-4309-4172-8D3D-19450A922252}" type="slidenum">
              <a:rPr lang="en-US" altLang="en-US" sz="1200" smtClean="0"/>
              <a:pPr/>
              <a:t>21</a:t>
            </a:fld>
            <a:endParaRPr lang="en-US" altLang="en-US" sz="1200"/>
          </a:p>
        </p:txBody>
      </p:sp>
      <p:sp>
        <p:nvSpPr>
          <p:cNvPr id="52227" name="Rectangle 2"/>
          <p:cNvSpPr>
            <a:spLocks noGrp="1" noRot="1" noChangeAspect="1" noChangeArrowheads="1" noTextEdit="1"/>
          </p:cNvSpPr>
          <p:nvPr>
            <p:ph type="sldImg"/>
          </p:nvPr>
        </p:nvSpPr>
        <p:spPr>
          <a:xfrm>
            <a:off x="1371600" y="1143000"/>
            <a:ext cx="4114800" cy="3086100"/>
          </a:xfrm>
          <a:ln/>
        </p:spPr>
      </p:sp>
      <p:sp>
        <p:nvSpPr>
          <p:cNvPr id="52228"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83D8AF4E-1D36-47FF-92BD-AF2F2CA8B7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2233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2233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2233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2233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461299BA-C621-407B-B9AC-6379EBFEFD0A}" type="slidenum">
              <a:rPr lang="en-US" altLang="en-US">
                <a:latin typeface="Times" panose="02020603050405020304" pitchFamily="18" charset="0"/>
                <a:ea typeface="MS PGothic" panose="020B0600070205080204" pitchFamily="34" charset="-128"/>
              </a:rPr>
              <a:pPr eaLnBrk="0" hangingPunct="0">
                <a:spcBef>
                  <a:spcPct val="0"/>
                </a:spcBef>
              </a:pPr>
              <a:t>24</a:t>
            </a:fld>
            <a:endParaRPr lang="en-US" altLang="en-US">
              <a:latin typeface="Times" panose="02020603050405020304" pitchFamily="18" charset="0"/>
              <a:ea typeface="MS PGothic" panose="020B0600070205080204" pitchFamily="34" charset="-128"/>
            </a:endParaRPr>
          </a:p>
        </p:txBody>
      </p:sp>
      <p:sp>
        <p:nvSpPr>
          <p:cNvPr id="38915" name="Rectangle 2">
            <a:extLst>
              <a:ext uri="{FF2B5EF4-FFF2-40B4-BE49-F238E27FC236}">
                <a16:creationId xmlns:a16="http://schemas.microsoft.com/office/drawing/2014/main" id="{B1CB9244-483D-403A-A644-46277E1934A9}"/>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20F2856F-17B6-46F3-A357-698C8DFC9C5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cs typeface="Arial" panose="020B0604020202020204" pitchFamily="34" charset="0"/>
              </a:rPr>
              <a:t>H</a:t>
            </a:r>
            <a:r>
              <a:rPr lang="en-US" altLang="en-US" baseline="-25000">
                <a:latin typeface="Times" panose="02020603050405020304" pitchFamily="18" charset="0"/>
                <a:cs typeface="Arial" panose="020B0604020202020204" pitchFamily="34" charset="0"/>
              </a:rPr>
              <a:t>2</a:t>
            </a:r>
            <a:r>
              <a:rPr lang="en-US" altLang="en-US">
                <a:latin typeface="Times" panose="02020603050405020304" pitchFamily="18" charset="0"/>
                <a:cs typeface="Arial" panose="020B0604020202020204" pitchFamily="34" charset="0"/>
              </a:rPr>
              <a:t>O has the stronger intermolecular forces because it exhibits hydrogen bonding, whereas N</a:t>
            </a:r>
            <a:r>
              <a:rPr lang="en-US" altLang="en-US" baseline="-25000">
                <a:latin typeface="Times" panose="02020603050405020304" pitchFamily="18" charset="0"/>
                <a:cs typeface="Arial" panose="020B0604020202020204" pitchFamily="34" charset="0"/>
              </a:rPr>
              <a:t>2</a:t>
            </a:r>
            <a:r>
              <a:rPr lang="en-US" altLang="en-US">
                <a:latin typeface="Times" panose="02020603050405020304" pitchFamily="18" charset="0"/>
                <a:cs typeface="Arial" panose="020B0604020202020204" pitchFamily="34" charset="0"/>
              </a:rPr>
              <a:t> only exhibits London dispersion forces.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5542D6A7-2A61-411E-A178-C05676612D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2233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2233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2233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2233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C540103D-1557-4E2D-A781-28A2B1106B3C}" type="slidenum">
              <a:rPr lang="en-US" altLang="en-US">
                <a:latin typeface="Times" panose="02020603050405020304" pitchFamily="18" charset="0"/>
                <a:ea typeface="MS PGothic" panose="020B0600070205080204" pitchFamily="34" charset="-128"/>
              </a:rPr>
              <a:pPr eaLnBrk="0" hangingPunct="0">
                <a:spcBef>
                  <a:spcPct val="0"/>
                </a:spcBef>
              </a:pPr>
              <a:t>25</a:t>
            </a:fld>
            <a:endParaRPr lang="en-US" altLang="en-US">
              <a:latin typeface="Times" panose="02020603050405020304" pitchFamily="18" charset="0"/>
              <a:ea typeface="MS PGothic" panose="020B0600070205080204" pitchFamily="34" charset="-128"/>
            </a:endParaRPr>
          </a:p>
        </p:txBody>
      </p:sp>
      <p:sp>
        <p:nvSpPr>
          <p:cNvPr id="40963" name="Rectangle 2">
            <a:extLst>
              <a:ext uri="{FF2B5EF4-FFF2-40B4-BE49-F238E27FC236}">
                <a16:creationId xmlns:a16="http://schemas.microsoft.com/office/drawing/2014/main" id="{CAACD91A-9ECA-4839-B4C0-159DC7F9A51D}"/>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7B142C6E-909E-4D5B-B82C-4392C7B3D30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panose="02020603050405020304" pitchFamily="18" charset="0"/>
                <a:cs typeface="Arial" panose="020B0604020202020204" pitchFamily="34" charset="0"/>
              </a:rPr>
              <a:t>One Lewis structure could be ethanol and one Lewis structure could be dimethyl ether. Ethanol will have a higher boiling point than dimethyl ether because ethanol exhibits hydrogen bonding and dimethyl ether exhibits dipole-dipole interactions.  Hydrogen bonding is an especially strong type of dipole-dipole interaction and will thus raise the boiling point of ethanol.</a:t>
            </a:r>
          </a:p>
          <a:p>
            <a:pPr eaLnBrk="1" hangingPunct="1"/>
            <a:endParaRPr lang="en-US" altLang="en-US" dirty="0">
              <a:latin typeface="Times" panose="02020603050405020304" pitchFamily="18"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0691C501-5618-4C83-A546-CF6B6130FF2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2233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2233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2233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2233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2233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0" hangingPunct="0">
              <a:spcBef>
                <a:spcPct val="0"/>
              </a:spcBef>
            </a:pPr>
            <a:fld id="{5CAB5778-0B7F-40F9-B248-42B26A1D9BAE}" type="slidenum">
              <a:rPr lang="en-US" altLang="en-US">
                <a:latin typeface="Times" panose="02020603050405020304" pitchFamily="18" charset="0"/>
                <a:ea typeface="MS PGothic" panose="020B0600070205080204" pitchFamily="34" charset="-128"/>
              </a:rPr>
              <a:pPr eaLnBrk="0" hangingPunct="0">
                <a:spcBef>
                  <a:spcPct val="0"/>
                </a:spcBef>
              </a:pPr>
              <a:t>26</a:t>
            </a:fld>
            <a:endParaRPr lang="en-US" altLang="en-US">
              <a:latin typeface="Times" panose="02020603050405020304" pitchFamily="18" charset="0"/>
              <a:ea typeface="MS PGothic" panose="020B0600070205080204" pitchFamily="34" charset="-128"/>
            </a:endParaRPr>
          </a:p>
        </p:txBody>
      </p:sp>
      <p:sp>
        <p:nvSpPr>
          <p:cNvPr id="43011" name="Rectangle 2">
            <a:extLst>
              <a:ext uri="{FF2B5EF4-FFF2-40B4-BE49-F238E27FC236}">
                <a16:creationId xmlns:a16="http://schemas.microsoft.com/office/drawing/2014/main" id="{859EFA8B-FD2E-4AA1-ACEA-1307C28D955E}"/>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4336141D-1A1F-4D93-B7FD-32F58D27448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panose="02020603050405020304" pitchFamily="18" charset="0"/>
                <a:cs typeface="Arial" panose="020B0604020202020204" pitchFamily="34" charset="0"/>
              </a:rPr>
              <a:t>N</a:t>
            </a:r>
            <a:r>
              <a:rPr lang="en-US" altLang="en-US" baseline="-25000" dirty="0">
                <a:latin typeface="Times" panose="02020603050405020304" pitchFamily="18" charset="0"/>
                <a:cs typeface="Arial" panose="020B0604020202020204" pitchFamily="34" charset="0"/>
              </a:rPr>
              <a:t>2</a:t>
            </a:r>
            <a:r>
              <a:rPr lang="en-US" altLang="en-US" dirty="0">
                <a:latin typeface="Times" panose="02020603050405020304" pitchFamily="18" charset="0"/>
                <a:cs typeface="Arial" panose="020B0604020202020204" pitchFamily="34" charset="0"/>
              </a:rPr>
              <a:t> would behave more ideally because it is nonpolar and only exhibits London dispersion forces, therefore the intermolecular forces between N</a:t>
            </a:r>
            <a:r>
              <a:rPr lang="en-US" altLang="en-US" baseline="-25000" dirty="0">
                <a:latin typeface="Times" panose="02020603050405020304" pitchFamily="18" charset="0"/>
                <a:cs typeface="Arial" panose="020B0604020202020204" pitchFamily="34" charset="0"/>
              </a:rPr>
              <a:t>2</a:t>
            </a:r>
            <a:r>
              <a:rPr lang="en-US" altLang="en-US" dirty="0">
                <a:latin typeface="Times" panose="02020603050405020304" pitchFamily="18" charset="0"/>
                <a:cs typeface="Arial" panose="020B0604020202020204" pitchFamily="34" charset="0"/>
              </a:rPr>
              <a:t> molecules are weak (and thus the collisions will be more </a:t>
            </a:r>
            <a:r>
              <a:rPr lang="ja-JP" altLang="en-US" dirty="0">
                <a:latin typeface="Times" panose="02020603050405020304" pitchFamily="18" charset="0"/>
                <a:cs typeface="Arial" panose="020B0604020202020204" pitchFamily="34" charset="0"/>
              </a:rPr>
              <a:t>“</a:t>
            </a:r>
            <a:r>
              <a:rPr lang="en-US" altLang="ja-JP" dirty="0">
                <a:latin typeface="Times" panose="02020603050405020304" pitchFamily="18" charset="0"/>
                <a:cs typeface="Arial" panose="020B0604020202020204" pitchFamily="34" charset="0"/>
              </a:rPr>
              <a:t>elastic</a:t>
            </a:r>
            <a:r>
              <a:rPr lang="ja-JP" altLang="en-US" dirty="0">
                <a:latin typeface="Times" panose="02020603050405020304" pitchFamily="18" charset="0"/>
                <a:cs typeface="Arial" panose="020B0604020202020204" pitchFamily="34" charset="0"/>
              </a:rPr>
              <a:t>”</a:t>
            </a:r>
            <a:r>
              <a:rPr lang="en-US" altLang="ja-JP" dirty="0">
                <a:latin typeface="Times" panose="02020603050405020304" pitchFamily="18" charset="0"/>
                <a:cs typeface="Arial" panose="020B0604020202020204" pitchFamily="34" charset="0"/>
              </a:rPr>
              <a:t>). CO also exhibits dipole-dipole interactions.</a:t>
            </a:r>
          </a:p>
          <a:p>
            <a:pPr eaLnBrk="1" hangingPunct="1"/>
            <a:endParaRPr lang="en-US" altLang="en-US" dirty="0">
              <a:latin typeface="Times" panose="02020603050405020304" pitchFamily="18"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41B0FC8-4664-41A5-8383-69B475D22B27}"/>
              </a:ext>
            </a:extLst>
          </p:cNvPr>
          <p:cNvSpPr>
            <a:spLocks noGrp="1" noChangeArrowheads="1"/>
          </p:cNvSpPr>
          <p:nvPr>
            <p:ph type="sldNum" sz="quarter" idx="5"/>
          </p:nvPr>
        </p:nvSpPr>
        <p:spPr>
          <a:ln/>
        </p:spPr>
        <p:txBody>
          <a:bodyPr/>
          <a:lstStyle/>
          <a:p>
            <a:fld id="{299E3276-5BA1-49AB-85ED-76DDD1B22461}" type="slidenum">
              <a:rPr lang="en-US" altLang="en-US"/>
              <a:pPr/>
              <a:t>29</a:t>
            </a:fld>
            <a:endParaRPr lang="en-US" altLang="en-US"/>
          </a:p>
        </p:txBody>
      </p:sp>
      <p:sp>
        <p:nvSpPr>
          <p:cNvPr id="51202" name="Rectangle 2">
            <a:extLst>
              <a:ext uri="{FF2B5EF4-FFF2-40B4-BE49-F238E27FC236}">
                <a16:creationId xmlns:a16="http://schemas.microsoft.com/office/drawing/2014/main" id="{5F634FBD-DF7D-47F5-89AE-116498F9C97D}"/>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CB7F9ED1-E9C8-4B80-94E5-67B6696F65A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B233E16-D61C-4997-B1CB-AB772C3B0461}"/>
              </a:ext>
            </a:extLst>
          </p:cNvPr>
          <p:cNvSpPr>
            <a:spLocks noGrp="1" noChangeArrowheads="1"/>
          </p:cNvSpPr>
          <p:nvPr>
            <p:ph type="sldNum" sz="quarter" idx="5"/>
          </p:nvPr>
        </p:nvSpPr>
        <p:spPr>
          <a:ln/>
        </p:spPr>
        <p:txBody>
          <a:bodyPr/>
          <a:lstStyle/>
          <a:p>
            <a:fld id="{67FEEE5A-D0FC-46F6-A410-A42E2FDA8917}" type="slidenum">
              <a:rPr lang="en-US" altLang="en-US"/>
              <a:pPr/>
              <a:t>39</a:t>
            </a:fld>
            <a:endParaRPr lang="en-US" altLang="en-US"/>
          </a:p>
        </p:txBody>
      </p:sp>
      <p:sp>
        <p:nvSpPr>
          <p:cNvPr id="30722" name="Rectangle 2">
            <a:extLst>
              <a:ext uri="{FF2B5EF4-FFF2-40B4-BE49-F238E27FC236}">
                <a16:creationId xmlns:a16="http://schemas.microsoft.com/office/drawing/2014/main" id="{8DAED4A5-AC6F-44F8-B733-E107CBDB9D4D}"/>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4FA1AAEB-FDBC-40B3-A778-E0E27D5D880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4557CE3-0077-410E-9ABE-D47C9E1FEA8A}"/>
              </a:ext>
            </a:extLst>
          </p:cNvPr>
          <p:cNvSpPr>
            <a:spLocks noGrp="1" noChangeArrowheads="1"/>
          </p:cNvSpPr>
          <p:nvPr>
            <p:ph type="sldNum" sz="quarter" idx="5"/>
          </p:nvPr>
        </p:nvSpPr>
        <p:spPr>
          <a:ln/>
        </p:spPr>
        <p:txBody>
          <a:bodyPr/>
          <a:lstStyle/>
          <a:p>
            <a:fld id="{E1D22DFB-7E70-43F3-AE08-293688E2B572}" type="slidenum">
              <a:rPr lang="en-US" altLang="en-US"/>
              <a:pPr/>
              <a:t>42</a:t>
            </a:fld>
            <a:endParaRPr lang="en-US" altLang="en-US"/>
          </a:p>
        </p:txBody>
      </p:sp>
      <p:sp>
        <p:nvSpPr>
          <p:cNvPr id="35842" name="Rectangle 2">
            <a:extLst>
              <a:ext uri="{FF2B5EF4-FFF2-40B4-BE49-F238E27FC236}">
                <a16:creationId xmlns:a16="http://schemas.microsoft.com/office/drawing/2014/main" id="{ED522B32-5E43-41BB-9C5B-EA7F120BD280}"/>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59315A0E-3F3E-43ED-BC20-CB7C69E15746}"/>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7792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F5C4286-99E8-4E5B-AC1C-8A16AF09A5A4}"/>
              </a:ext>
            </a:extLst>
          </p:cNvPr>
          <p:cNvSpPr>
            <a:spLocks noGrp="1" noChangeArrowheads="1"/>
          </p:cNvSpPr>
          <p:nvPr>
            <p:ph type="sldNum" sz="quarter" idx="5"/>
          </p:nvPr>
        </p:nvSpPr>
        <p:spPr>
          <a:ln/>
        </p:spPr>
        <p:txBody>
          <a:bodyPr/>
          <a:lstStyle/>
          <a:p>
            <a:fld id="{F0C65707-B208-4AC2-A45E-B7CD4BC8B338}" type="slidenum">
              <a:rPr lang="en-US" altLang="en-US"/>
              <a:pPr/>
              <a:t>43</a:t>
            </a:fld>
            <a:endParaRPr lang="en-US" altLang="en-US"/>
          </a:p>
        </p:txBody>
      </p:sp>
      <p:sp>
        <p:nvSpPr>
          <p:cNvPr id="32770" name="Rectangle 2">
            <a:extLst>
              <a:ext uri="{FF2B5EF4-FFF2-40B4-BE49-F238E27FC236}">
                <a16:creationId xmlns:a16="http://schemas.microsoft.com/office/drawing/2014/main" id="{340EF7AB-54D2-4F58-9CDB-FD9365AF4C82}"/>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8B96340C-F22C-4D05-9C0D-D0D4C0AB1379}"/>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FA1227-3272-4C78-AD2F-F2564C31FC40}"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3688555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FA1227-3272-4C78-AD2F-F2564C31FC40}"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1080259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A1227-3272-4C78-AD2F-F2564C31FC40}"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301026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FA1227-3272-4C78-AD2F-F2564C31FC40}" type="datetimeFigureOut">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3294281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FA1227-3272-4C78-AD2F-F2564C31FC40}" type="datetimeFigureOut">
              <a:rPr lang="en-US" smtClean="0"/>
              <a:t>12/13/2023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77261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FA1227-3272-4C78-AD2F-F2564C31FC40}" type="datetimeFigureOut">
              <a:rPr lang="en-US" smtClean="0"/>
              <a:t>12/13/2023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965110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FA1227-3272-4C78-AD2F-F2564C31FC40}" type="datetimeFigureOut">
              <a:rPr lang="en-US" smtClean="0"/>
              <a:t>12/13/2023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2316808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FA1227-3272-4C78-AD2F-F2564C31FC40}" type="datetimeFigureOut">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2119398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FA1227-3272-4C78-AD2F-F2564C31FC40}" type="datetimeFigureOut">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3990904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FA1227-3272-4C78-AD2F-F2564C31FC40}"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3714023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FA1227-3272-4C78-AD2F-F2564C31FC40}"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A5D37-64DF-4E8B-8761-62C8832EA6FE}" type="slidenum">
              <a:rPr lang="en-US" smtClean="0"/>
              <a:t>‹#›</a:t>
            </a:fld>
            <a:endParaRPr lang="en-US"/>
          </a:p>
        </p:txBody>
      </p:sp>
    </p:spTree>
    <p:extLst>
      <p:ext uri="{BB962C8B-B14F-4D97-AF65-F5344CB8AC3E}">
        <p14:creationId xmlns:p14="http://schemas.microsoft.com/office/powerpoint/2010/main" val="2395374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6082923"/>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76995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8484657"/>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003119"/>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937401"/>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F9770-60C3-417F-84F0-84CAB3AB904B}"/>
              </a:ext>
            </a:extLst>
          </p:cNvPr>
          <p:cNvSpPr>
            <a:spLocks noGrp="1"/>
          </p:cNvSpPr>
          <p:nvPr>
            <p:ph type="title"/>
          </p:nvPr>
        </p:nvSpPr>
        <p:spPr>
          <a:xfrm>
            <a:off x="457200" y="274638"/>
            <a:ext cx="7543800" cy="1096962"/>
          </a:xfr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ED4735-261C-423A-8FAB-896E68502E49}"/>
              </a:ext>
            </a:extLst>
          </p:cNvPr>
          <p:cNvSpPr>
            <a:spLocks noGrp="1"/>
          </p:cNvSpPr>
          <p:nvPr>
            <p:ph sz="half" idx="1"/>
          </p:nvPr>
        </p:nvSpPr>
        <p:spPr>
          <a:xfrm>
            <a:off x="457200" y="1676400"/>
            <a:ext cx="3429000" cy="422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FB8A16-97DB-4097-8677-7D373F181CE4}"/>
              </a:ext>
            </a:extLst>
          </p:cNvPr>
          <p:cNvSpPr>
            <a:spLocks noGrp="1"/>
          </p:cNvSpPr>
          <p:nvPr>
            <p:ph sz="quarter" idx="2"/>
          </p:nvPr>
        </p:nvSpPr>
        <p:spPr>
          <a:xfrm>
            <a:off x="4038600" y="1676400"/>
            <a:ext cx="3429000" cy="2033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67314DC6-D348-4362-818E-47B78B9E3C48}"/>
              </a:ext>
            </a:extLst>
          </p:cNvPr>
          <p:cNvSpPr>
            <a:spLocks noGrp="1"/>
          </p:cNvSpPr>
          <p:nvPr>
            <p:ph sz="quarter" idx="3"/>
          </p:nvPr>
        </p:nvSpPr>
        <p:spPr>
          <a:xfrm>
            <a:off x="4038600" y="3862388"/>
            <a:ext cx="3429000" cy="2035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5">
            <a:extLst>
              <a:ext uri="{FF2B5EF4-FFF2-40B4-BE49-F238E27FC236}">
                <a16:creationId xmlns:a16="http://schemas.microsoft.com/office/drawing/2014/main" id="{E7973147-9ED8-46BB-84CA-A71328359AA9}"/>
              </a:ext>
            </a:extLst>
          </p:cNvPr>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7" name="Footer Placeholder 6">
            <a:extLst>
              <a:ext uri="{FF2B5EF4-FFF2-40B4-BE49-F238E27FC236}">
                <a16:creationId xmlns:a16="http://schemas.microsoft.com/office/drawing/2014/main" id="{B17A14CE-D7F9-458B-B3C8-56F6FF1F476E}"/>
              </a:ext>
            </a:extLst>
          </p:cNvPr>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4BC70B0C-D6E9-4F01-9B4F-6639A6137891}"/>
              </a:ext>
            </a:extLst>
          </p:cNvPr>
          <p:cNvSpPr>
            <a:spLocks noGrp="1"/>
          </p:cNvSpPr>
          <p:nvPr>
            <p:ph type="sldNum" sz="quarter" idx="12"/>
          </p:nvPr>
        </p:nvSpPr>
        <p:spPr>
          <a:xfrm>
            <a:off x="6553200" y="6245225"/>
            <a:ext cx="2133600" cy="476250"/>
          </a:xfrm>
        </p:spPr>
        <p:txBody>
          <a:bodyPr/>
          <a:lstStyle>
            <a:lvl1pPr>
              <a:defRPr/>
            </a:lvl1pPr>
          </a:lstStyle>
          <a:p>
            <a:fld id="{092BE76C-CA2E-4BFD-92B1-9ACDA155524E}" type="slidenum">
              <a:rPr lang="en-US" altLang="en-US"/>
              <a:pPr/>
              <a:t>‹#›</a:t>
            </a:fld>
            <a:endParaRPr lang="en-US" altLang="en-US"/>
          </a:p>
        </p:txBody>
      </p:sp>
    </p:spTree>
    <p:extLst>
      <p:ext uri="{BB962C8B-B14F-4D97-AF65-F5344CB8AC3E}">
        <p14:creationId xmlns:p14="http://schemas.microsoft.com/office/powerpoint/2010/main" val="16774386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628650" y="4736883"/>
            <a:ext cx="3182692"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custGeom>
                    <a:avLst/>
                    <a:gdLst>
                      <a:gd name="connsiteX0" fmla="*/ 0 w 3182692"/>
                      <a:gd name="connsiteY0" fmla="*/ 0 h 27432"/>
                      <a:gd name="connsiteX1" fmla="*/ 604711 w 3182692"/>
                      <a:gd name="connsiteY1" fmla="*/ 0 h 27432"/>
                      <a:gd name="connsiteX2" fmla="*/ 1241250 w 3182692"/>
                      <a:gd name="connsiteY2" fmla="*/ 0 h 27432"/>
                      <a:gd name="connsiteX3" fmla="*/ 1909615 w 3182692"/>
                      <a:gd name="connsiteY3" fmla="*/ 0 h 27432"/>
                      <a:gd name="connsiteX4" fmla="*/ 2577981 w 3182692"/>
                      <a:gd name="connsiteY4" fmla="*/ 0 h 27432"/>
                      <a:gd name="connsiteX5" fmla="*/ 3182692 w 3182692"/>
                      <a:gd name="connsiteY5" fmla="*/ 0 h 27432"/>
                      <a:gd name="connsiteX6" fmla="*/ 3182692 w 3182692"/>
                      <a:gd name="connsiteY6" fmla="*/ 27432 h 27432"/>
                      <a:gd name="connsiteX7" fmla="*/ 2482500 w 3182692"/>
                      <a:gd name="connsiteY7" fmla="*/ 27432 h 27432"/>
                      <a:gd name="connsiteX8" fmla="*/ 1782308 w 3182692"/>
                      <a:gd name="connsiteY8" fmla="*/ 27432 h 27432"/>
                      <a:gd name="connsiteX9" fmla="*/ 1145769 w 3182692"/>
                      <a:gd name="connsiteY9" fmla="*/ 27432 h 27432"/>
                      <a:gd name="connsiteX10" fmla="*/ 0 w 3182692"/>
                      <a:gd name="connsiteY10" fmla="*/ 27432 h 27432"/>
                      <a:gd name="connsiteX11" fmla="*/ 0 w 3182692"/>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27432"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526" y="7395"/>
                          <a:pt x="3182737" y="21864"/>
                          <a:pt x="3182692" y="27432"/>
                        </a:cubicBezTo>
                        <a:cubicBezTo>
                          <a:pt x="2998421" y="30886"/>
                          <a:pt x="2675038" y="28158"/>
                          <a:pt x="2482500" y="27432"/>
                        </a:cubicBezTo>
                        <a:cubicBezTo>
                          <a:pt x="2289962" y="26706"/>
                          <a:pt x="1930644" y="15978"/>
                          <a:pt x="1782308" y="27432"/>
                        </a:cubicBezTo>
                        <a:cubicBezTo>
                          <a:pt x="1633972" y="38886"/>
                          <a:pt x="1287388" y="7152"/>
                          <a:pt x="1145769" y="27432"/>
                        </a:cubicBezTo>
                        <a:cubicBezTo>
                          <a:pt x="1004150" y="47712"/>
                          <a:pt x="256377" y="-28294"/>
                          <a:pt x="0" y="27432"/>
                        </a:cubicBezTo>
                        <a:cubicBezTo>
                          <a:pt x="-503" y="20663"/>
                          <a:pt x="1168" y="5855"/>
                          <a:pt x="0" y="0"/>
                        </a:cubicBezTo>
                        <a:close/>
                      </a:path>
                      <a:path w="3182692" h="27432"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885" y="12649"/>
                          <a:pt x="3181704" y="17989"/>
                          <a:pt x="3182692" y="27432"/>
                        </a:cubicBezTo>
                        <a:cubicBezTo>
                          <a:pt x="3039109" y="-3557"/>
                          <a:pt x="2823860" y="22992"/>
                          <a:pt x="2546154" y="27432"/>
                        </a:cubicBezTo>
                        <a:cubicBezTo>
                          <a:pt x="2268448" y="31872"/>
                          <a:pt x="2098674" y="14435"/>
                          <a:pt x="1845961" y="27432"/>
                        </a:cubicBezTo>
                        <a:cubicBezTo>
                          <a:pt x="1593248" y="40429"/>
                          <a:pt x="1456743" y="36704"/>
                          <a:pt x="1304904" y="27432"/>
                        </a:cubicBezTo>
                        <a:cubicBezTo>
                          <a:pt x="1153065" y="18160"/>
                          <a:pt x="947204" y="20270"/>
                          <a:pt x="668365" y="27432"/>
                        </a:cubicBezTo>
                        <a:cubicBezTo>
                          <a:pt x="389526" y="34594"/>
                          <a:pt x="288244" y="4516"/>
                          <a:pt x="0" y="27432"/>
                        </a:cubicBezTo>
                        <a:cubicBezTo>
                          <a:pt x="1300" y="19678"/>
                          <a:pt x="-86" y="12044"/>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630936" y="448056"/>
            <a:ext cx="7886700" cy="4069080"/>
          </a:xfrm>
        </p:spPr>
        <p:txBody>
          <a:bodyPr anchor="b">
            <a:no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630936" y="4983480"/>
            <a:ext cx="7886700" cy="1124712"/>
          </a:xfrm>
        </p:spPr>
        <p:txBody>
          <a:bodyPr>
            <a:normAutofit/>
          </a:bodyPr>
          <a:lstStyle>
            <a:lvl1pPr marL="0" indent="0" algn="l">
              <a:buNone/>
              <a:defRPr sz="21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A69EF322-E785-4A08-A76C-2FE55AF734D3}" type="datetime2">
              <a:rPr lang="en-US" smtClean="0"/>
              <a:t>Wednesday, December 13, 2023</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r>
              <a:rPr lang="en-US"/>
              <a:t>Dr. Saurav Prasad</a:t>
            </a:r>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6189246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28650" y="1929384"/>
            <a:ext cx="7886700" cy="4251960"/>
          </a:xfrm>
        </p:spPr>
        <p:txBody>
          <a:bodyPr>
            <a:normAutofit/>
          </a:bodyPr>
          <a:lstStyle>
            <a:lvl1pPr>
              <a:defRPr sz="2100"/>
            </a:lvl1pPr>
            <a:lvl2pPr>
              <a:defRPr sz="1800"/>
            </a:lvl2pPr>
            <a:lvl3pPr>
              <a:defRPr sz="1500"/>
            </a:lvl3pPr>
            <a:lvl4pPr>
              <a:defRPr sz="1350"/>
            </a:lvl4pPr>
            <a:lvl5pPr>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AE45CCC4-2C95-41B1-8E9F-8A9A11E4C63A}" type="datetime2">
              <a:rPr lang="en-US" smtClean="0"/>
              <a:t>Wednesday, December 13, 2023</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a:t>Dr. Saurav Prasad</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628649" y="1709928"/>
            <a:ext cx="78867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custGeom>
                    <a:avLst/>
                    <a:gdLst>
                      <a:gd name="connsiteX0" fmla="*/ 0 w 7886700"/>
                      <a:gd name="connsiteY0" fmla="*/ 0 h 27432"/>
                      <a:gd name="connsiteX1" fmla="*/ 420624 w 7886700"/>
                      <a:gd name="connsiteY1" fmla="*/ 0 h 27432"/>
                      <a:gd name="connsiteX2" fmla="*/ 1156716 w 7886700"/>
                      <a:gd name="connsiteY2" fmla="*/ 0 h 27432"/>
                      <a:gd name="connsiteX3" fmla="*/ 1577340 w 7886700"/>
                      <a:gd name="connsiteY3" fmla="*/ 0 h 27432"/>
                      <a:gd name="connsiteX4" fmla="*/ 2155698 w 7886700"/>
                      <a:gd name="connsiteY4" fmla="*/ 0 h 27432"/>
                      <a:gd name="connsiteX5" fmla="*/ 2970657 w 7886700"/>
                      <a:gd name="connsiteY5" fmla="*/ 0 h 27432"/>
                      <a:gd name="connsiteX6" fmla="*/ 3627882 w 7886700"/>
                      <a:gd name="connsiteY6" fmla="*/ 0 h 27432"/>
                      <a:gd name="connsiteX7" fmla="*/ 4363974 w 7886700"/>
                      <a:gd name="connsiteY7" fmla="*/ 0 h 27432"/>
                      <a:gd name="connsiteX8" fmla="*/ 4942332 w 7886700"/>
                      <a:gd name="connsiteY8" fmla="*/ 0 h 27432"/>
                      <a:gd name="connsiteX9" fmla="*/ 5599557 w 7886700"/>
                      <a:gd name="connsiteY9" fmla="*/ 0 h 27432"/>
                      <a:gd name="connsiteX10" fmla="*/ 6414516 w 7886700"/>
                      <a:gd name="connsiteY10" fmla="*/ 0 h 27432"/>
                      <a:gd name="connsiteX11" fmla="*/ 6914007 w 7886700"/>
                      <a:gd name="connsiteY11" fmla="*/ 0 h 27432"/>
                      <a:gd name="connsiteX12" fmla="*/ 7886700 w 7886700"/>
                      <a:gd name="connsiteY12" fmla="*/ 0 h 27432"/>
                      <a:gd name="connsiteX13" fmla="*/ 7886700 w 7886700"/>
                      <a:gd name="connsiteY13" fmla="*/ 27432 h 27432"/>
                      <a:gd name="connsiteX14" fmla="*/ 7308342 w 7886700"/>
                      <a:gd name="connsiteY14" fmla="*/ 27432 h 27432"/>
                      <a:gd name="connsiteX15" fmla="*/ 6887718 w 7886700"/>
                      <a:gd name="connsiteY15" fmla="*/ 27432 h 27432"/>
                      <a:gd name="connsiteX16" fmla="*/ 6230493 w 7886700"/>
                      <a:gd name="connsiteY16" fmla="*/ 27432 h 27432"/>
                      <a:gd name="connsiteX17" fmla="*/ 5731002 w 7886700"/>
                      <a:gd name="connsiteY17" fmla="*/ 27432 h 27432"/>
                      <a:gd name="connsiteX18" fmla="*/ 5073777 w 7886700"/>
                      <a:gd name="connsiteY18" fmla="*/ 27432 h 27432"/>
                      <a:gd name="connsiteX19" fmla="*/ 4416552 w 7886700"/>
                      <a:gd name="connsiteY19" fmla="*/ 27432 h 27432"/>
                      <a:gd name="connsiteX20" fmla="*/ 3759327 w 7886700"/>
                      <a:gd name="connsiteY20" fmla="*/ 27432 h 27432"/>
                      <a:gd name="connsiteX21" fmla="*/ 3102102 w 7886700"/>
                      <a:gd name="connsiteY21" fmla="*/ 27432 h 27432"/>
                      <a:gd name="connsiteX22" fmla="*/ 2523744 w 7886700"/>
                      <a:gd name="connsiteY22" fmla="*/ 27432 h 27432"/>
                      <a:gd name="connsiteX23" fmla="*/ 1787652 w 7886700"/>
                      <a:gd name="connsiteY23" fmla="*/ 27432 h 27432"/>
                      <a:gd name="connsiteX24" fmla="*/ 1130427 w 7886700"/>
                      <a:gd name="connsiteY24" fmla="*/ 27432 h 27432"/>
                      <a:gd name="connsiteX25" fmla="*/ 0 w 7886700"/>
                      <a:gd name="connsiteY25" fmla="*/ 27432 h 27432"/>
                      <a:gd name="connsiteX26" fmla="*/ 0 w 7886700"/>
                      <a:gd name="connsiteY2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86700" h="27432" fill="none" extrusionOk="0">
                        <a:moveTo>
                          <a:pt x="0" y="0"/>
                        </a:moveTo>
                        <a:cubicBezTo>
                          <a:pt x="157525" y="2723"/>
                          <a:pt x="287389" y="-6453"/>
                          <a:pt x="420624" y="0"/>
                        </a:cubicBezTo>
                        <a:cubicBezTo>
                          <a:pt x="553859" y="6453"/>
                          <a:pt x="825625" y="29874"/>
                          <a:pt x="1156716" y="0"/>
                        </a:cubicBezTo>
                        <a:cubicBezTo>
                          <a:pt x="1487807" y="-29874"/>
                          <a:pt x="1467015" y="9632"/>
                          <a:pt x="1577340" y="0"/>
                        </a:cubicBezTo>
                        <a:cubicBezTo>
                          <a:pt x="1687665" y="-9632"/>
                          <a:pt x="2024250" y="19395"/>
                          <a:pt x="2155698" y="0"/>
                        </a:cubicBezTo>
                        <a:cubicBezTo>
                          <a:pt x="2287146" y="-19395"/>
                          <a:pt x="2775210" y="-36481"/>
                          <a:pt x="2970657" y="0"/>
                        </a:cubicBezTo>
                        <a:cubicBezTo>
                          <a:pt x="3166104" y="36481"/>
                          <a:pt x="3456933" y="2822"/>
                          <a:pt x="3627882" y="0"/>
                        </a:cubicBezTo>
                        <a:cubicBezTo>
                          <a:pt x="3798831" y="-2822"/>
                          <a:pt x="4063535" y="23706"/>
                          <a:pt x="4363974" y="0"/>
                        </a:cubicBezTo>
                        <a:cubicBezTo>
                          <a:pt x="4664413" y="-23706"/>
                          <a:pt x="4721338" y="-85"/>
                          <a:pt x="4942332" y="0"/>
                        </a:cubicBezTo>
                        <a:cubicBezTo>
                          <a:pt x="5163326" y="85"/>
                          <a:pt x="5298512" y="10710"/>
                          <a:pt x="5599557" y="0"/>
                        </a:cubicBezTo>
                        <a:cubicBezTo>
                          <a:pt x="5900603" y="-10710"/>
                          <a:pt x="6095214" y="3467"/>
                          <a:pt x="6414516" y="0"/>
                        </a:cubicBezTo>
                        <a:cubicBezTo>
                          <a:pt x="6733818" y="-3467"/>
                          <a:pt x="6803711" y="5617"/>
                          <a:pt x="6914007" y="0"/>
                        </a:cubicBezTo>
                        <a:cubicBezTo>
                          <a:pt x="7024303" y="-5617"/>
                          <a:pt x="7602090" y="-33929"/>
                          <a:pt x="7886700" y="0"/>
                        </a:cubicBezTo>
                        <a:cubicBezTo>
                          <a:pt x="7886111" y="10802"/>
                          <a:pt x="7886030" y="18406"/>
                          <a:pt x="7886700" y="27432"/>
                        </a:cubicBezTo>
                        <a:cubicBezTo>
                          <a:pt x="7637258" y="17142"/>
                          <a:pt x="7575695" y="16729"/>
                          <a:pt x="7308342" y="27432"/>
                        </a:cubicBezTo>
                        <a:cubicBezTo>
                          <a:pt x="7040989" y="38135"/>
                          <a:pt x="7003134" y="44021"/>
                          <a:pt x="6887718" y="27432"/>
                        </a:cubicBezTo>
                        <a:cubicBezTo>
                          <a:pt x="6772302" y="10843"/>
                          <a:pt x="6488136" y="58247"/>
                          <a:pt x="6230493" y="27432"/>
                        </a:cubicBezTo>
                        <a:cubicBezTo>
                          <a:pt x="5972851" y="-3383"/>
                          <a:pt x="5929971" y="35622"/>
                          <a:pt x="5731002" y="27432"/>
                        </a:cubicBezTo>
                        <a:cubicBezTo>
                          <a:pt x="5532033" y="19242"/>
                          <a:pt x="5381360" y="28708"/>
                          <a:pt x="5073777" y="27432"/>
                        </a:cubicBezTo>
                        <a:cubicBezTo>
                          <a:pt x="4766194" y="26156"/>
                          <a:pt x="4713365" y="29311"/>
                          <a:pt x="4416552" y="27432"/>
                        </a:cubicBezTo>
                        <a:cubicBezTo>
                          <a:pt x="4119740" y="25553"/>
                          <a:pt x="3915304" y="28418"/>
                          <a:pt x="3759327" y="27432"/>
                        </a:cubicBezTo>
                        <a:cubicBezTo>
                          <a:pt x="3603351" y="26446"/>
                          <a:pt x="3375414" y="21218"/>
                          <a:pt x="3102102" y="27432"/>
                        </a:cubicBezTo>
                        <a:cubicBezTo>
                          <a:pt x="2828791" y="33646"/>
                          <a:pt x="2795766" y="19461"/>
                          <a:pt x="2523744" y="27432"/>
                        </a:cubicBezTo>
                        <a:cubicBezTo>
                          <a:pt x="2251722" y="35403"/>
                          <a:pt x="1947642" y="32293"/>
                          <a:pt x="1787652" y="27432"/>
                        </a:cubicBezTo>
                        <a:cubicBezTo>
                          <a:pt x="1627662" y="22571"/>
                          <a:pt x="1413335" y="29665"/>
                          <a:pt x="1130427" y="27432"/>
                        </a:cubicBezTo>
                        <a:cubicBezTo>
                          <a:pt x="847520" y="25199"/>
                          <a:pt x="292942" y="-13628"/>
                          <a:pt x="0" y="27432"/>
                        </a:cubicBezTo>
                        <a:cubicBezTo>
                          <a:pt x="586" y="19291"/>
                          <a:pt x="-218" y="13009"/>
                          <a:pt x="0" y="0"/>
                        </a:cubicBezTo>
                        <a:close/>
                      </a:path>
                      <a:path w="7886700" h="27432" stroke="0"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885340" y="10164"/>
                          <a:pt x="7886783" y="19377"/>
                          <a:pt x="7886700" y="27432"/>
                        </a:cubicBezTo>
                        <a:cubicBezTo>
                          <a:pt x="7752936" y="37838"/>
                          <a:pt x="7671143" y="22240"/>
                          <a:pt x="7466076" y="27432"/>
                        </a:cubicBezTo>
                        <a:cubicBezTo>
                          <a:pt x="7261009" y="32624"/>
                          <a:pt x="7039949" y="45892"/>
                          <a:pt x="6651117" y="27432"/>
                        </a:cubicBezTo>
                        <a:cubicBezTo>
                          <a:pt x="6262285" y="8972"/>
                          <a:pt x="6379660" y="21432"/>
                          <a:pt x="6151626" y="27432"/>
                        </a:cubicBezTo>
                        <a:cubicBezTo>
                          <a:pt x="5923592" y="33432"/>
                          <a:pt x="5816137" y="49453"/>
                          <a:pt x="5494401" y="27432"/>
                        </a:cubicBezTo>
                        <a:cubicBezTo>
                          <a:pt x="5172665" y="5411"/>
                          <a:pt x="5022009" y="14146"/>
                          <a:pt x="4679442" y="27432"/>
                        </a:cubicBezTo>
                        <a:cubicBezTo>
                          <a:pt x="4336875" y="40718"/>
                          <a:pt x="4169241" y="-4552"/>
                          <a:pt x="4022217" y="27432"/>
                        </a:cubicBezTo>
                        <a:cubicBezTo>
                          <a:pt x="3875193" y="59416"/>
                          <a:pt x="3723776" y="46198"/>
                          <a:pt x="3601593" y="27432"/>
                        </a:cubicBezTo>
                        <a:cubicBezTo>
                          <a:pt x="3479410" y="8666"/>
                          <a:pt x="3283834" y="20447"/>
                          <a:pt x="3102102" y="27432"/>
                        </a:cubicBezTo>
                        <a:cubicBezTo>
                          <a:pt x="2920370" y="34417"/>
                          <a:pt x="2467386" y="35404"/>
                          <a:pt x="2287143" y="27432"/>
                        </a:cubicBezTo>
                        <a:cubicBezTo>
                          <a:pt x="2106900" y="19460"/>
                          <a:pt x="1798848" y="59556"/>
                          <a:pt x="1629918" y="27432"/>
                        </a:cubicBezTo>
                        <a:cubicBezTo>
                          <a:pt x="1460989" y="-4692"/>
                          <a:pt x="1324115" y="34913"/>
                          <a:pt x="1130427" y="27432"/>
                        </a:cubicBezTo>
                        <a:cubicBezTo>
                          <a:pt x="936739" y="19951"/>
                          <a:pt x="302034" y="30143"/>
                          <a:pt x="0" y="27432"/>
                        </a:cubicBezTo>
                        <a:cubicBezTo>
                          <a:pt x="-383" y="21019"/>
                          <a:pt x="-503" y="12434"/>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Tree>
    <p:extLst>
      <p:ext uri="{BB962C8B-B14F-4D97-AF65-F5344CB8AC3E}">
        <p14:creationId xmlns:p14="http://schemas.microsoft.com/office/powerpoint/2010/main" val="8874693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630936" y="448056"/>
            <a:ext cx="7886700" cy="4069080"/>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630936" y="4983480"/>
            <a:ext cx="7886700" cy="1124712"/>
          </a:xfrm>
        </p:spPr>
        <p:txBody>
          <a:bodyPr>
            <a:normAutofit/>
          </a:bodyPr>
          <a:lstStyle>
            <a:lvl1pPr marL="0" indent="0">
              <a:buNone/>
              <a:defRPr sz="21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A860FC6F-68C3-4EDF-80E8-F72323475786}" type="datetime2">
              <a:rPr lang="en-US" smtClean="0"/>
              <a:t>Wednesday, December 13, 2023</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r>
              <a:rPr lang="en-US"/>
              <a:t>Dr. Saurav Prasad</a:t>
            </a:r>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628650" y="4736883"/>
            <a:ext cx="3182692"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custGeom>
                    <a:avLst/>
                    <a:gdLst>
                      <a:gd name="connsiteX0" fmla="*/ 0 w 3182692"/>
                      <a:gd name="connsiteY0" fmla="*/ 0 h 27432"/>
                      <a:gd name="connsiteX1" fmla="*/ 604711 w 3182692"/>
                      <a:gd name="connsiteY1" fmla="*/ 0 h 27432"/>
                      <a:gd name="connsiteX2" fmla="*/ 1241250 w 3182692"/>
                      <a:gd name="connsiteY2" fmla="*/ 0 h 27432"/>
                      <a:gd name="connsiteX3" fmla="*/ 1909615 w 3182692"/>
                      <a:gd name="connsiteY3" fmla="*/ 0 h 27432"/>
                      <a:gd name="connsiteX4" fmla="*/ 2577981 w 3182692"/>
                      <a:gd name="connsiteY4" fmla="*/ 0 h 27432"/>
                      <a:gd name="connsiteX5" fmla="*/ 3182692 w 3182692"/>
                      <a:gd name="connsiteY5" fmla="*/ 0 h 27432"/>
                      <a:gd name="connsiteX6" fmla="*/ 3182692 w 3182692"/>
                      <a:gd name="connsiteY6" fmla="*/ 27432 h 27432"/>
                      <a:gd name="connsiteX7" fmla="*/ 2482500 w 3182692"/>
                      <a:gd name="connsiteY7" fmla="*/ 27432 h 27432"/>
                      <a:gd name="connsiteX8" fmla="*/ 1782308 w 3182692"/>
                      <a:gd name="connsiteY8" fmla="*/ 27432 h 27432"/>
                      <a:gd name="connsiteX9" fmla="*/ 1145769 w 3182692"/>
                      <a:gd name="connsiteY9" fmla="*/ 27432 h 27432"/>
                      <a:gd name="connsiteX10" fmla="*/ 0 w 3182692"/>
                      <a:gd name="connsiteY10" fmla="*/ 27432 h 27432"/>
                      <a:gd name="connsiteX11" fmla="*/ 0 w 3182692"/>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27432"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526" y="7395"/>
                          <a:pt x="3182737" y="21864"/>
                          <a:pt x="3182692" y="27432"/>
                        </a:cubicBezTo>
                        <a:cubicBezTo>
                          <a:pt x="2998421" y="30886"/>
                          <a:pt x="2675038" y="28158"/>
                          <a:pt x="2482500" y="27432"/>
                        </a:cubicBezTo>
                        <a:cubicBezTo>
                          <a:pt x="2289962" y="26706"/>
                          <a:pt x="1930644" y="15978"/>
                          <a:pt x="1782308" y="27432"/>
                        </a:cubicBezTo>
                        <a:cubicBezTo>
                          <a:pt x="1633972" y="38886"/>
                          <a:pt x="1287388" y="7152"/>
                          <a:pt x="1145769" y="27432"/>
                        </a:cubicBezTo>
                        <a:cubicBezTo>
                          <a:pt x="1004150" y="47712"/>
                          <a:pt x="256377" y="-28294"/>
                          <a:pt x="0" y="27432"/>
                        </a:cubicBezTo>
                        <a:cubicBezTo>
                          <a:pt x="-503" y="20663"/>
                          <a:pt x="1168" y="5855"/>
                          <a:pt x="0" y="0"/>
                        </a:cubicBezTo>
                        <a:close/>
                      </a:path>
                      <a:path w="3182692" h="27432"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885" y="12649"/>
                          <a:pt x="3181704" y="17989"/>
                          <a:pt x="3182692" y="27432"/>
                        </a:cubicBezTo>
                        <a:cubicBezTo>
                          <a:pt x="3039109" y="-3557"/>
                          <a:pt x="2823860" y="22992"/>
                          <a:pt x="2546154" y="27432"/>
                        </a:cubicBezTo>
                        <a:cubicBezTo>
                          <a:pt x="2268448" y="31872"/>
                          <a:pt x="2098674" y="14435"/>
                          <a:pt x="1845961" y="27432"/>
                        </a:cubicBezTo>
                        <a:cubicBezTo>
                          <a:pt x="1593248" y="40429"/>
                          <a:pt x="1456743" y="36704"/>
                          <a:pt x="1304904" y="27432"/>
                        </a:cubicBezTo>
                        <a:cubicBezTo>
                          <a:pt x="1153065" y="18160"/>
                          <a:pt x="947204" y="20270"/>
                          <a:pt x="668365" y="27432"/>
                        </a:cubicBezTo>
                        <a:cubicBezTo>
                          <a:pt x="389526" y="34594"/>
                          <a:pt x="288244" y="4516"/>
                          <a:pt x="0" y="27432"/>
                        </a:cubicBezTo>
                        <a:cubicBezTo>
                          <a:pt x="1300" y="19678"/>
                          <a:pt x="-86" y="12044"/>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Tree>
    <p:extLst>
      <p:ext uri="{BB962C8B-B14F-4D97-AF65-F5344CB8AC3E}">
        <p14:creationId xmlns:p14="http://schemas.microsoft.com/office/powerpoint/2010/main" val="2594261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628650" y="1929384"/>
            <a:ext cx="38862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4629150" y="1929384"/>
            <a:ext cx="38862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AB493982-C8E7-4C91-8425-A3A3E16E4DD3}" type="datetime2">
              <a:rPr lang="en-US" smtClean="0"/>
              <a:t>Wednesday, December 13, 2023</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r>
              <a:rPr lang="en-US"/>
              <a:t>Dr. Saurav Prasad</a:t>
            </a:r>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628649" y="1709928"/>
            <a:ext cx="78867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custGeom>
                    <a:avLst/>
                    <a:gdLst>
                      <a:gd name="connsiteX0" fmla="*/ 0 w 7886700"/>
                      <a:gd name="connsiteY0" fmla="*/ 0 h 27432"/>
                      <a:gd name="connsiteX1" fmla="*/ 420624 w 7886700"/>
                      <a:gd name="connsiteY1" fmla="*/ 0 h 27432"/>
                      <a:gd name="connsiteX2" fmla="*/ 1156716 w 7886700"/>
                      <a:gd name="connsiteY2" fmla="*/ 0 h 27432"/>
                      <a:gd name="connsiteX3" fmla="*/ 1577340 w 7886700"/>
                      <a:gd name="connsiteY3" fmla="*/ 0 h 27432"/>
                      <a:gd name="connsiteX4" fmla="*/ 2155698 w 7886700"/>
                      <a:gd name="connsiteY4" fmla="*/ 0 h 27432"/>
                      <a:gd name="connsiteX5" fmla="*/ 2970657 w 7886700"/>
                      <a:gd name="connsiteY5" fmla="*/ 0 h 27432"/>
                      <a:gd name="connsiteX6" fmla="*/ 3627882 w 7886700"/>
                      <a:gd name="connsiteY6" fmla="*/ 0 h 27432"/>
                      <a:gd name="connsiteX7" fmla="*/ 4363974 w 7886700"/>
                      <a:gd name="connsiteY7" fmla="*/ 0 h 27432"/>
                      <a:gd name="connsiteX8" fmla="*/ 4942332 w 7886700"/>
                      <a:gd name="connsiteY8" fmla="*/ 0 h 27432"/>
                      <a:gd name="connsiteX9" fmla="*/ 5599557 w 7886700"/>
                      <a:gd name="connsiteY9" fmla="*/ 0 h 27432"/>
                      <a:gd name="connsiteX10" fmla="*/ 6414516 w 7886700"/>
                      <a:gd name="connsiteY10" fmla="*/ 0 h 27432"/>
                      <a:gd name="connsiteX11" fmla="*/ 6914007 w 7886700"/>
                      <a:gd name="connsiteY11" fmla="*/ 0 h 27432"/>
                      <a:gd name="connsiteX12" fmla="*/ 7886700 w 7886700"/>
                      <a:gd name="connsiteY12" fmla="*/ 0 h 27432"/>
                      <a:gd name="connsiteX13" fmla="*/ 7886700 w 7886700"/>
                      <a:gd name="connsiteY13" fmla="*/ 27432 h 27432"/>
                      <a:gd name="connsiteX14" fmla="*/ 7308342 w 7886700"/>
                      <a:gd name="connsiteY14" fmla="*/ 27432 h 27432"/>
                      <a:gd name="connsiteX15" fmla="*/ 6887718 w 7886700"/>
                      <a:gd name="connsiteY15" fmla="*/ 27432 h 27432"/>
                      <a:gd name="connsiteX16" fmla="*/ 6230493 w 7886700"/>
                      <a:gd name="connsiteY16" fmla="*/ 27432 h 27432"/>
                      <a:gd name="connsiteX17" fmla="*/ 5731002 w 7886700"/>
                      <a:gd name="connsiteY17" fmla="*/ 27432 h 27432"/>
                      <a:gd name="connsiteX18" fmla="*/ 5073777 w 7886700"/>
                      <a:gd name="connsiteY18" fmla="*/ 27432 h 27432"/>
                      <a:gd name="connsiteX19" fmla="*/ 4416552 w 7886700"/>
                      <a:gd name="connsiteY19" fmla="*/ 27432 h 27432"/>
                      <a:gd name="connsiteX20" fmla="*/ 3759327 w 7886700"/>
                      <a:gd name="connsiteY20" fmla="*/ 27432 h 27432"/>
                      <a:gd name="connsiteX21" fmla="*/ 3102102 w 7886700"/>
                      <a:gd name="connsiteY21" fmla="*/ 27432 h 27432"/>
                      <a:gd name="connsiteX22" fmla="*/ 2523744 w 7886700"/>
                      <a:gd name="connsiteY22" fmla="*/ 27432 h 27432"/>
                      <a:gd name="connsiteX23" fmla="*/ 1787652 w 7886700"/>
                      <a:gd name="connsiteY23" fmla="*/ 27432 h 27432"/>
                      <a:gd name="connsiteX24" fmla="*/ 1130427 w 7886700"/>
                      <a:gd name="connsiteY24" fmla="*/ 27432 h 27432"/>
                      <a:gd name="connsiteX25" fmla="*/ 0 w 7886700"/>
                      <a:gd name="connsiteY25" fmla="*/ 27432 h 27432"/>
                      <a:gd name="connsiteX26" fmla="*/ 0 w 7886700"/>
                      <a:gd name="connsiteY2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86700" h="27432" fill="none" extrusionOk="0">
                        <a:moveTo>
                          <a:pt x="0" y="0"/>
                        </a:moveTo>
                        <a:cubicBezTo>
                          <a:pt x="157525" y="2723"/>
                          <a:pt x="287389" y="-6453"/>
                          <a:pt x="420624" y="0"/>
                        </a:cubicBezTo>
                        <a:cubicBezTo>
                          <a:pt x="553859" y="6453"/>
                          <a:pt x="825625" y="29874"/>
                          <a:pt x="1156716" y="0"/>
                        </a:cubicBezTo>
                        <a:cubicBezTo>
                          <a:pt x="1487807" y="-29874"/>
                          <a:pt x="1467015" y="9632"/>
                          <a:pt x="1577340" y="0"/>
                        </a:cubicBezTo>
                        <a:cubicBezTo>
                          <a:pt x="1687665" y="-9632"/>
                          <a:pt x="2024250" y="19395"/>
                          <a:pt x="2155698" y="0"/>
                        </a:cubicBezTo>
                        <a:cubicBezTo>
                          <a:pt x="2287146" y="-19395"/>
                          <a:pt x="2775210" y="-36481"/>
                          <a:pt x="2970657" y="0"/>
                        </a:cubicBezTo>
                        <a:cubicBezTo>
                          <a:pt x="3166104" y="36481"/>
                          <a:pt x="3456933" y="2822"/>
                          <a:pt x="3627882" y="0"/>
                        </a:cubicBezTo>
                        <a:cubicBezTo>
                          <a:pt x="3798831" y="-2822"/>
                          <a:pt x="4063535" y="23706"/>
                          <a:pt x="4363974" y="0"/>
                        </a:cubicBezTo>
                        <a:cubicBezTo>
                          <a:pt x="4664413" y="-23706"/>
                          <a:pt x="4721338" y="-85"/>
                          <a:pt x="4942332" y="0"/>
                        </a:cubicBezTo>
                        <a:cubicBezTo>
                          <a:pt x="5163326" y="85"/>
                          <a:pt x="5298512" y="10710"/>
                          <a:pt x="5599557" y="0"/>
                        </a:cubicBezTo>
                        <a:cubicBezTo>
                          <a:pt x="5900603" y="-10710"/>
                          <a:pt x="6095214" y="3467"/>
                          <a:pt x="6414516" y="0"/>
                        </a:cubicBezTo>
                        <a:cubicBezTo>
                          <a:pt x="6733818" y="-3467"/>
                          <a:pt x="6803711" y="5617"/>
                          <a:pt x="6914007" y="0"/>
                        </a:cubicBezTo>
                        <a:cubicBezTo>
                          <a:pt x="7024303" y="-5617"/>
                          <a:pt x="7602090" y="-33929"/>
                          <a:pt x="7886700" y="0"/>
                        </a:cubicBezTo>
                        <a:cubicBezTo>
                          <a:pt x="7886111" y="10802"/>
                          <a:pt x="7886030" y="18406"/>
                          <a:pt x="7886700" y="27432"/>
                        </a:cubicBezTo>
                        <a:cubicBezTo>
                          <a:pt x="7637258" y="17142"/>
                          <a:pt x="7575695" y="16729"/>
                          <a:pt x="7308342" y="27432"/>
                        </a:cubicBezTo>
                        <a:cubicBezTo>
                          <a:pt x="7040989" y="38135"/>
                          <a:pt x="7003134" y="44021"/>
                          <a:pt x="6887718" y="27432"/>
                        </a:cubicBezTo>
                        <a:cubicBezTo>
                          <a:pt x="6772302" y="10843"/>
                          <a:pt x="6488136" y="58247"/>
                          <a:pt x="6230493" y="27432"/>
                        </a:cubicBezTo>
                        <a:cubicBezTo>
                          <a:pt x="5972851" y="-3383"/>
                          <a:pt x="5929971" y="35622"/>
                          <a:pt x="5731002" y="27432"/>
                        </a:cubicBezTo>
                        <a:cubicBezTo>
                          <a:pt x="5532033" y="19242"/>
                          <a:pt x="5381360" y="28708"/>
                          <a:pt x="5073777" y="27432"/>
                        </a:cubicBezTo>
                        <a:cubicBezTo>
                          <a:pt x="4766194" y="26156"/>
                          <a:pt x="4713365" y="29311"/>
                          <a:pt x="4416552" y="27432"/>
                        </a:cubicBezTo>
                        <a:cubicBezTo>
                          <a:pt x="4119740" y="25553"/>
                          <a:pt x="3915304" y="28418"/>
                          <a:pt x="3759327" y="27432"/>
                        </a:cubicBezTo>
                        <a:cubicBezTo>
                          <a:pt x="3603351" y="26446"/>
                          <a:pt x="3375414" y="21218"/>
                          <a:pt x="3102102" y="27432"/>
                        </a:cubicBezTo>
                        <a:cubicBezTo>
                          <a:pt x="2828791" y="33646"/>
                          <a:pt x="2795766" y="19461"/>
                          <a:pt x="2523744" y="27432"/>
                        </a:cubicBezTo>
                        <a:cubicBezTo>
                          <a:pt x="2251722" y="35403"/>
                          <a:pt x="1947642" y="32293"/>
                          <a:pt x="1787652" y="27432"/>
                        </a:cubicBezTo>
                        <a:cubicBezTo>
                          <a:pt x="1627662" y="22571"/>
                          <a:pt x="1413335" y="29665"/>
                          <a:pt x="1130427" y="27432"/>
                        </a:cubicBezTo>
                        <a:cubicBezTo>
                          <a:pt x="847520" y="25199"/>
                          <a:pt x="292942" y="-13628"/>
                          <a:pt x="0" y="27432"/>
                        </a:cubicBezTo>
                        <a:cubicBezTo>
                          <a:pt x="586" y="19291"/>
                          <a:pt x="-218" y="13009"/>
                          <a:pt x="0" y="0"/>
                        </a:cubicBezTo>
                        <a:close/>
                      </a:path>
                      <a:path w="7886700" h="27432" stroke="0"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885340" y="10164"/>
                          <a:pt x="7886783" y="19377"/>
                          <a:pt x="7886700" y="27432"/>
                        </a:cubicBezTo>
                        <a:cubicBezTo>
                          <a:pt x="7752936" y="37838"/>
                          <a:pt x="7671143" y="22240"/>
                          <a:pt x="7466076" y="27432"/>
                        </a:cubicBezTo>
                        <a:cubicBezTo>
                          <a:pt x="7261009" y="32624"/>
                          <a:pt x="7039949" y="45892"/>
                          <a:pt x="6651117" y="27432"/>
                        </a:cubicBezTo>
                        <a:cubicBezTo>
                          <a:pt x="6262285" y="8972"/>
                          <a:pt x="6379660" y="21432"/>
                          <a:pt x="6151626" y="27432"/>
                        </a:cubicBezTo>
                        <a:cubicBezTo>
                          <a:pt x="5923592" y="33432"/>
                          <a:pt x="5816137" y="49453"/>
                          <a:pt x="5494401" y="27432"/>
                        </a:cubicBezTo>
                        <a:cubicBezTo>
                          <a:pt x="5172665" y="5411"/>
                          <a:pt x="5022009" y="14146"/>
                          <a:pt x="4679442" y="27432"/>
                        </a:cubicBezTo>
                        <a:cubicBezTo>
                          <a:pt x="4336875" y="40718"/>
                          <a:pt x="4169241" y="-4552"/>
                          <a:pt x="4022217" y="27432"/>
                        </a:cubicBezTo>
                        <a:cubicBezTo>
                          <a:pt x="3875193" y="59416"/>
                          <a:pt x="3723776" y="46198"/>
                          <a:pt x="3601593" y="27432"/>
                        </a:cubicBezTo>
                        <a:cubicBezTo>
                          <a:pt x="3479410" y="8666"/>
                          <a:pt x="3283834" y="20447"/>
                          <a:pt x="3102102" y="27432"/>
                        </a:cubicBezTo>
                        <a:cubicBezTo>
                          <a:pt x="2920370" y="34417"/>
                          <a:pt x="2467386" y="35404"/>
                          <a:pt x="2287143" y="27432"/>
                        </a:cubicBezTo>
                        <a:cubicBezTo>
                          <a:pt x="2106900" y="19460"/>
                          <a:pt x="1798848" y="59556"/>
                          <a:pt x="1629918" y="27432"/>
                        </a:cubicBezTo>
                        <a:cubicBezTo>
                          <a:pt x="1460989" y="-4692"/>
                          <a:pt x="1324115" y="34913"/>
                          <a:pt x="1130427" y="27432"/>
                        </a:cubicBezTo>
                        <a:cubicBezTo>
                          <a:pt x="936739" y="19951"/>
                          <a:pt x="302034" y="30143"/>
                          <a:pt x="0" y="27432"/>
                        </a:cubicBezTo>
                        <a:cubicBezTo>
                          <a:pt x="-383" y="21019"/>
                          <a:pt x="-503" y="12434"/>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Tree>
    <p:extLst>
      <p:ext uri="{BB962C8B-B14F-4D97-AF65-F5344CB8AC3E}">
        <p14:creationId xmlns:p14="http://schemas.microsoft.com/office/powerpoint/2010/main" val="548290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629842" y="1938528"/>
            <a:ext cx="3868340" cy="823912"/>
          </a:xfrm>
        </p:spPr>
        <p:txBody>
          <a:bodyPr anchor="b">
            <a:normAutofit/>
          </a:bodyPr>
          <a:lstStyle>
            <a:lvl1pPr marL="0" indent="0">
              <a:buNone/>
              <a:defRPr sz="27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629842" y="2926080"/>
            <a:ext cx="3868340"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4629150" y="1938528"/>
            <a:ext cx="3887391" cy="823912"/>
          </a:xfrm>
        </p:spPr>
        <p:txBody>
          <a:bodyPr anchor="b">
            <a:normAutofit/>
          </a:bodyPr>
          <a:lstStyle>
            <a:lvl1pPr marL="0" indent="0">
              <a:buNone/>
              <a:defRPr sz="27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4629150" y="2926080"/>
            <a:ext cx="3887391"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374B14CB-6CA2-492F-B0CC-0A62828107B1}" type="datetime2">
              <a:rPr lang="en-US" smtClean="0"/>
              <a:t>Wednesday, December 13, 2023</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a:t>Dr. Saurav Prasad</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628649" y="1709928"/>
            <a:ext cx="78867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custGeom>
                    <a:avLst/>
                    <a:gdLst>
                      <a:gd name="connsiteX0" fmla="*/ 0 w 7886700"/>
                      <a:gd name="connsiteY0" fmla="*/ 0 h 27432"/>
                      <a:gd name="connsiteX1" fmla="*/ 420624 w 7886700"/>
                      <a:gd name="connsiteY1" fmla="*/ 0 h 27432"/>
                      <a:gd name="connsiteX2" fmla="*/ 1156716 w 7886700"/>
                      <a:gd name="connsiteY2" fmla="*/ 0 h 27432"/>
                      <a:gd name="connsiteX3" fmla="*/ 1577340 w 7886700"/>
                      <a:gd name="connsiteY3" fmla="*/ 0 h 27432"/>
                      <a:gd name="connsiteX4" fmla="*/ 2155698 w 7886700"/>
                      <a:gd name="connsiteY4" fmla="*/ 0 h 27432"/>
                      <a:gd name="connsiteX5" fmla="*/ 2970657 w 7886700"/>
                      <a:gd name="connsiteY5" fmla="*/ 0 h 27432"/>
                      <a:gd name="connsiteX6" fmla="*/ 3627882 w 7886700"/>
                      <a:gd name="connsiteY6" fmla="*/ 0 h 27432"/>
                      <a:gd name="connsiteX7" fmla="*/ 4363974 w 7886700"/>
                      <a:gd name="connsiteY7" fmla="*/ 0 h 27432"/>
                      <a:gd name="connsiteX8" fmla="*/ 4942332 w 7886700"/>
                      <a:gd name="connsiteY8" fmla="*/ 0 h 27432"/>
                      <a:gd name="connsiteX9" fmla="*/ 5599557 w 7886700"/>
                      <a:gd name="connsiteY9" fmla="*/ 0 h 27432"/>
                      <a:gd name="connsiteX10" fmla="*/ 6414516 w 7886700"/>
                      <a:gd name="connsiteY10" fmla="*/ 0 h 27432"/>
                      <a:gd name="connsiteX11" fmla="*/ 6914007 w 7886700"/>
                      <a:gd name="connsiteY11" fmla="*/ 0 h 27432"/>
                      <a:gd name="connsiteX12" fmla="*/ 7886700 w 7886700"/>
                      <a:gd name="connsiteY12" fmla="*/ 0 h 27432"/>
                      <a:gd name="connsiteX13" fmla="*/ 7886700 w 7886700"/>
                      <a:gd name="connsiteY13" fmla="*/ 27432 h 27432"/>
                      <a:gd name="connsiteX14" fmla="*/ 7308342 w 7886700"/>
                      <a:gd name="connsiteY14" fmla="*/ 27432 h 27432"/>
                      <a:gd name="connsiteX15" fmla="*/ 6887718 w 7886700"/>
                      <a:gd name="connsiteY15" fmla="*/ 27432 h 27432"/>
                      <a:gd name="connsiteX16" fmla="*/ 6230493 w 7886700"/>
                      <a:gd name="connsiteY16" fmla="*/ 27432 h 27432"/>
                      <a:gd name="connsiteX17" fmla="*/ 5731002 w 7886700"/>
                      <a:gd name="connsiteY17" fmla="*/ 27432 h 27432"/>
                      <a:gd name="connsiteX18" fmla="*/ 5073777 w 7886700"/>
                      <a:gd name="connsiteY18" fmla="*/ 27432 h 27432"/>
                      <a:gd name="connsiteX19" fmla="*/ 4416552 w 7886700"/>
                      <a:gd name="connsiteY19" fmla="*/ 27432 h 27432"/>
                      <a:gd name="connsiteX20" fmla="*/ 3759327 w 7886700"/>
                      <a:gd name="connsiteY20" fmla="*/ 27432 h 27432"/>
                      <a:gd name="connsiteX21" fmla="*/ 3102102 w 7886700"/>
                      <a:gd name="connsiteY21" fmla="*/ 27432 h 27432"/>
                      <a:gd name="connsiteX22" fmla="*/ 2523744 w 7886700"/>
                      <a:gd name="connsiteY22" fmla="*/ 27432 h 27432"/>
                      <a:gd name="connsiteX23" fmla="*/ 1787652 w 7886700"/>
                      <a:gd name="connsiteY23" fmla="*/ 27432 h 27432"/>
                      <a:gd name="connsiteX24" fmla="*/ 1130427 w 7886700"/>
                      <a:gd name="connsiteY24" fmla="*/ 27432 h 27432"/>
                      <a:gd name="connsiteX25" fmla="*/ 0 w 7886700"/>
                      <a:gd name="connsiteY25" fmla="*/ 27432 h 27432"/>
                      <a:gd name="connsiteX26" fmla="*/ 0 w 7886700"/>
                      <a:gd name="connsiteY2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86700" h="27432" fill="none" extrusionOk="0">
                        <a:moveTo>
                          <a:pt x="0" y="0"/>
                        </a:moveTo>
                        <a:cubicBezTo>
                          <a:pt x="157525" y="2723"/>
                          <a:pt x="287389" y="-6453"/>
                          <a:pt x="420624" y="0"/>
                        </a:cubicBezTo>
                        <a:cubicBezTo>
                          <a:pt x="553859" y="6453"/>
                          <a:pt x="825625" y="29874"/>
                          <a:pt x="1156716" y="0"/>
                        </a:cubicBezTo>
                        <a:cubicBezTo>
                          <a:pt x="1487807" y="-29874"/>
                          <a:pt x="1467015" y="9632"/>
                          <a:pt x="1577340" y="0"/>
                        </a:cubicBezTo>
                        <a:cubicBezTo>
                          <a:pt x="1687665" y="-9632"/>
                          <a:pt x="2024250" y="19395"/>
                          <a:pt x="2155698" y="0"/>
                        </a:cubicBezTo>
                        <a:cubicBezTo>
                          <a:pt x="2287146" y="-19395"/>
                          <a:pt x="2775210" y="-36481"/>
                          <a:pt x="2970657" y="0"/>
                        </a:cubicBezTo>
                        <a:cubicBezTo>
                          <a:pt x="3166104" y="36481"/>
                          <a:pt x="3456933" y="2822"/>
                          <a:pt x="3627882" y="0"/>
                        </a:cubicBezTo>
                        <a:cubicBezTo>
                          <a:pt x="3798831" y="-2822"/>
                          <a:pt x="4063535" y="23706"/>
                          <a:pt x="4363974" y="0"/>
                        </a:cubicBezTo>
                        <a:cubicBezTo>
                          <a:pt x="4664413" y="-23706"/>
                          <a:pt x="4721338" y="-85"/>
                          <a:pt x="4942332" y="0"/>
                        </a:cubicBezTo>
                        <a:cubicBezTo>
                          <a:pt x="5163326" y="85"/>
                          <a:pt x="5298512" y="10710"/>
                          <a:pt x="5599557" y="0"/>
                        </a:cubicBezTo>
                        <a:cubicBezTo>
                          <a:pt x="5900603" y="-10710"/>
                          <a:pt x="6095214" y="3467"/>
                          <a:pt x="6414516" y="0"/>
                        </a:cubicBezTo>
                        <a:cubicBezTo>
                          <a:pt x="6733818" y="-3467"/>
                          <a:pt x="6803711" y="5617"/>
                          <a:pt x="6914007" y="0"/>
                        </a:cubicBezTo>
                        <a:cubicBezTo>
                          <a:pt x="7024303" y="-5617"/>
                          <a:pt x="7602090" y="-33929"/>
                          <a:pt x="7886700" y="0"/>
                        </a:cubicBezTo>
                        <a:cubicBezTo>
                          <a:pt x="7886111" y="10802"/>
                          <a:pt x="7886030" y="18406"/>
                          <a:pt x="7886700" y="27432"/>
                        </a:cubicBezTo>
                        <a:cubicBezTo>
                          <a:pt x="7637258" y="17142"/>
                          <a:pt x="7575695" y="16729"/>
                          <a:pt x="7308342" y="27432"/>
                        </a:cubicBezTo>
                        <a:cubicBezTo>
                          <a:pt x="7040989" y="38135"/>
                          <a:pt x="7003134" y="44021"/>
                          <a:pt x="6887718" y="27432"/>
                        </a:cubicBezTo>
                        <a:cubicBezTo>
                          <a:pt x="6772302" y="10843"/>
                          <a:pt x="6488136" y="58247"/>
                          <a:pt x="6230493" y="27432"/>
                        </a:cubicBezTo>
                        <a:cubicBezTo>
                          <a:pt x="5972851" y="-3383"/>
                          <a:pt x="5929971" y="35622"/>
                          <a:pt x="5731002" y="27432"/>
                        </a:cubicBezTo>
                        <a:cubicBezTo>
                          <a:pt x="5532033" y="19242"/>
                          <a:pt x="5381360" y="28708"/>
                          <a:pt x="5073777" y="27432"/>
                        </a:cubicBezTo>
                        <a:cubicBezTo>
                          <a:pt x="4766194" y="26156"/>
                          <a:pt x="4713365" y="29311"/>
                          <a:pt x="4416552" y="27432"/>
                        </a:cubicBezTo>
                        <a:cubicBezTo>
                          <a:pt x="4119740" y="25553"/>
                          <a:pt x="3915304" y="28418"/>
                          <a:pt x="3759327" y="27432"/>
                        </a:cubicBezTo>
                        <a:cubicBezTo>
                          <a:pt x="3603351" y="26446"/>
                          <a:pt x="3375414" y="21218"/>
                          <a:pt x="3102102" y="27432"/>
                        </a:cubicBezTo>
                        <a:cubicBezTo>
                          <a:pt x="2828791" y="33646"/>
                          <a:pt x="2795766" y="19461"/>
                          <a:pt x="2523744" y="27432"/>
                        </a:cubicBezTo>
                        <a:cubicBezTo>
                          <a:pt x="2251722" y="35403"/>
                          <a:pt x="1947642" y="32293"/>
                          <a:pt x="1787652" y="27432"/>
                        </a:cubicBezTo>
                        <a:cubicBezTo>
                          <a:pt x="1627662" y="22571"/>
                          <a:pt x="1413335" y="29665"/>
                          <a:pt x="1130427" y="27432"/>
                        </a:cubicBezTo>
                        <a:cubicBezTo>
                          <a:pt x="847520" y="25199"/>
                          <a:pt x="292942" y="-13628"/>
                          <a:pt x="0" y="27432"/>
                        </a:cubicBezTo>
                        <a:cubicBezTo>
                          <a:pt x="586" y="19291"/>
                          <a:pt x="-218" y="13009"/>
                          <a:pt x="0" y="0"/>
                        </a:cubicBezTo>
                        <a:close/>
                      </a:path>
                      <a:path w="7886700" h="27432" stroke="0"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885340" y="10164"/>
                          <a:pt x="7886783" y="19377"/>
                          <a:pt x="7886700" y="27432"/>
                        </a:cubicBezTo>
                        <a:cubicBezTo>
                          <a:pt x="7752936" y="37838"/>
                          <a:pt x="7671143" y="22240"/>
                          <a:pt x="7466076" y="27432"/>
                        </a:cubicBezTo>
                        <a:cubicBezTo>
                          <a:pt x="7261009" y="32624"/>
                          <a:pt x="7039949" y="45892"/>
                          <a:pt x="6651117" y="27432"/>
                        </a:cubicBezTo>
                        <a:cubicBezTo>
                          <a:pt x="6262285" y="8972"/>
                          <a:pt x="6379660" y="21432"/>
                          <a:pt x="6151626" y="27432"/>
                        </a:cubicBezTo>
                        <a:cubicBezTo>
                          <a:pt x="5923592" y="33432"/>
                          <a:pt x="5816137" y="49453"/>
                          <a:pt x="5494401" y="27432"/>
                        </a:cubicBezTo>
                        <a:cubicBezTo>
                          <a:pt x="5172665" y="5411"/>
                          <a:pt x="5022009" y="14146"/>
                          <a:pt x="4679442" y="27432"/>
                        </a:cubicBezTo>
                        <a:cubicBezTo>
                          <a:pt x="4336875" y="40718"/>
                          <a:pt x="4169241" y="-4552"/>
                          <a:pt x="4022217" y="27432"/>
                        </a:cubicBezTo>
                        <a:cubicBezTo>
                          <a:pt x="3875193" y="59416"/>
                          <a:pt x="3723776" y="46198"/>
                          <a:pt x="3601593" y="27432"/>
                        </a:cubicBezTo>
                        <a:cubicBezTo>
                          <a:pt x="3479410" y="8666"/>
                          <a:pt x="3283834" y="20447"/>
                          <a:pt x="3102102" y="27432"/>
                        </a:cubicBezTo>
                        <a:cubicBezTo>
                          <a:pt x="2920370" y="34417"/>
                          <a:pt x="2467386" y="35404"/>
                          <a:pt x="2287143" y="27432"/>
                        </a:cubicBezTo>
                        <a:cubicBezTo>
                          <a:pt x="2106900" y="19460"/>
                          <a:pt x="1798848" y="59556"/>
                          <a:pt x="1629918" y="27432"/>
                        </a:cubicBezTo>
                        <a:cubicBezTo>
                          <a:pt x="1460989" y="-4692"/>
                          <a:pt x="1324115" y="34913"/>
                          <a:pt x="1130427" y="27432"/>
                        </a:cubicBezTo>
                        <a:cubicBezTo>
                          <a:pt x="936739" y="19951"/>
                          <a:pt x="302034" y="30143"/>
                          <a:pt x="0" y="27432"/>
                        </a:cubicBezTo>
                        <a:cubicBezTo>
                          <a:pt x="-383" y="21019"/>
                          <a:pt x="-503" y="12434"/>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Tree>
    <p:extLst>
      <p:ext uri="{BB962C8B-B14F-4D97-AF65-F5344CB8AC3E}">
        <p14:creationId xmlns:p14="http://schemas.microsoft.com/office/powerpoint/2010/main" val="10521429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1652778" y="1728216"/>
            <a:ext cx="5836158" cy="3392424"/>
          </a:xfrm>
        </p:spPr>
        <p:txBody>
          <a:bodyPr>
            <a:normAutofit/>
          </a:bodyPr>
          <a:lstStyle>
            <a:lvl1pPr algn="ctr">
              <a:defRPr sz="585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2C98E500-7A72-4DDB-9FE3-A1694FEB585E}" type="datetime2">
              <a:rPr lang="en-US" smtClean="0"/>
              <a:t>Wednesday, December 13, 2023</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r>
              <a:rPr lang="en-US"/>
              <a:t>Dr. Saurav Prasad</a:t>
            </a:r>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2980655" y="5126892"/>
            <a:ext cx="3182692"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custGeom>
                    <a:avLst/>
                    <a:gdLst>
                      <a:gd name="connsiteX0" fmla="*/ 0 w 3182692"/>
                      <a:gd name="connsiteY0" fmla="*/ 0 h 27432"/>
                      <a:gd name="connsiteX1" fmla="*/ 604711 w 3182692"/>
                      <a:gd name="connsiteY1" fmla="*/ 0 h 27432"/>
                      <a:gd name="connsiteX2" fmla="*/ 1241250 w 3182692"/>
                      <a:gd name="connsiteY2" fmla="*/ 0 h 27432"/>
                      <a:gd name="connsiteX3" fmla="*/ 1909615 w 3182692"/>
                      <a:gd name="connsiteY3" fmla="*/ 0 h 27432"/>
                      <a:gd name="connsiteX4" fmla="*/ 2577981 w 3182692"/>
                      <a:gd name="connsiteY4" fmla="*/ 0 h 27432"/>
                      <a:gd name="connsiteX5" fmla="*/ 3182692 w 3182692"/>
                      <a:gd name="connsiteY5" fmla="*/ 0 h 27432"/>
                      <a:gd name="connsiteX6" fmla="*/ 3182692 w 3182692"/>
                      <a:gd name="connsiteY6" fmla="*/ 27432 h 27432"/>
                      <a:gd name="connsiteX7" fmla="*/ 2482500 w 3182692"/>
                      <a:gd name="connsiteY7" fmla="*/ 27432 h 27432"/>
                      <a:gd name="connsiteX8" fmla="*/ 1782308 w 3182692"/>
                      <a:gd name="connsiteY8" fmla="*/ 27432 h 27432"/>
                      <a:gd name="connsiteX9" fmla="*/ 1145769 w 3182692"/>
                      <a:gd name="connsiteY9" fmla="*/ 27432 h 27432"/>
                      <a:gd name="connsiteX10" fmla="*/ 0 w 3182692"/>
                      <a:gd name="connsiteY10" fmla="*/ 27432 h 27432"/>
                      <a:gd name="connsiteX11" fmla="*/ 0 w 3182692"/>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27432"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526" y="7395"/>
                          <a:pt x="3182737" y="21864"/>
                          <a:pt x="3182692" y="27432"/>
                        </a:cubicBezTo>
                        <a:cubicBezTo>
                          <a:pt x="2998421" y="30886"/>
                          <a:pt x="2675038" y="28158"/>
                          <a:pt x="2482500" y="27432"/>
                        </a:cubicBezTo>
                        <a:cubicBezTo>
                          <a:pt x="2289962" y="26706"/>
                          <a:pt x="1930644" y="15978"/>
                          <a:pt x="1782308" y="27432"/>
                        </a:cubicBezTo>
                        <a:cubicBezTo>
                          <a:pt x="1633972" y="38886"/>
                          <a:pt x="1287388" y="7152"/>
                          <a:pt x="1145769" y="27432"/>
                        </a:cubicBezTo>
                        <a:cubicBezTo>
                          <a:pt x="1004150" y="47712"/>
                          <a:pt x="256377" y="-28294"/>
                          <a:pt x="0" y="27432"/>
                        </a:cubicBezTo>
                        <a:cubicBezTo>
                          <a:pt x="-503" y="20663"/>
                          <a:pt x="1168" y="5855"/>
                          <a:pt x="0" y="0"/>
                        </a:cubicBezTo>
                        <a:close/>
                      </a:path>
                      <a:path w="3182692" h="27432"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885" y="12649"/>
                          <a:pt x="3181704" y="17989"/>
                          <a:pt x="3182692" y="27432"/>
                        </a:cubicBezTo>
                        <a:cubicBezTo>
                          <a:pt x="3039109" y="-3557"/>
                          <a:pt x="2823860" y="22992"/>
                          <a:pt x="2546154" y="27432"/>
                        </a:cubicBezTo>
                        <a:cubicBezTo>
                          <a:pt x="2268448" y="31872"/>
                          <a:pt x="2098674" y="14435"/>
                          <a:pt x="1845961" y="27432"/>
                        </a:cubicBezTo>
                        <a:cubicBezTo>
                          <a:pt x="1593248" y="40429"/>
                          <a:pt x="1456743" y="36704"/>
                          <a:pt x="1304904" y="27432"/>
                        </a:cubicBezTo>
                        <a:cubicBezTo>
                          <a:pt x="1153065" y="18160"/>
                          <a:pt x="947204" y="20270"/>
                          <a:pt x="668365" y="27432"/>
                        </a:cubicBezTo>
                        <a:cubicBezTo>
                          <a:pt x="389526" y="34594"/>
                          <a:pt x="288244" y="4516"/>
                          <a:pt x="0" y="27432"/>
                        </a:cubicBezTo>
                        <a:cubicBezTo>
                          <a:pt x="1300" y="19678"/>
                          <a:pt x="-86" y="12044"/>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Tree>
    <p:extLst>
      <p:ext uri="{BB962C8B-B14F-4D97-AF65-F5344CB8AC3E}">
        <p14:creationId xmlns:p14="http://schemas.microsoft.com/office/powerpoint/2010/main" val="3065419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47674432-6BE7-4D58-AF85-70092D415FD4}" type="datetime2">
              <a:rPr lang="en-US" smtClean="0"/>
              <a:t>Wednesday, December 13, 2023</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r>
              <a:rPr lang="en-US"/>
              <a:t>Dr. Saurav Prasad</a:t>
            </a:r>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495602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629841" y="457200"/>
            <a:ext cx="2949178" cy="3429000"/>
          </a:xfrm>
        </p:spPr>
        <p:txBody>
          <a:bodyPr anchor="b">
            <a:normAutofit/>
          </a:bodyPr>
          <a:lstStyle>
            <a:lvl1pPr>
              <a:defRPr sz="45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3977640" y="548640"/>
            <a:ext cx="4539996" cy="5431536"/>
          </a:xfrm>
        </p:spPr>
        <p:txBody>
          <a:bodyPr anchor="ct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629841" y="3977640"/>
            <a:ext cx="2949178" cy="2002536"/>
          </a:xfrm>
        </p:spPr>
        <p:txBody>
          <a:bodyPr>
            <a:normAutofit/>
          </a:bodyPr>
          <a:lstStyle>
            <a:lvl1pPr marL="0" indent="0">
              <a:buNone/>
              <a:defRPr sz="2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11265D60-7456-4F11-A71C-BF7A3D02EC66}" type="datetime2">
              <a:rPr lang="en-US" smtClean="0"/>
              <a:t>Wednesday, December 13, 2023</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r>
              <a:rPr lang="en-US"/>
              <a:t>Dr. Saurav Prasad</a:t>
            </a:r>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1538049" y="3257572"/>
            <a:ext cx="4480560" cy="20574"/>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custGeom>
                    <a:avLst/>
                    <a:gdLst>
                      <a:gd name="connsiteX0" fmla="*/ 0 w 4480560"/>
                      <a:gd name="connsiteY0" fmla="*/ 0 h 20574"/>
                      <a:gd name="connsiteX1" fmla="*/ 595274 w 4480560"/>
                      <a:gd name="connsiteY1" fmla="*/ 0 h 20574"/>
                      <a:gd name="connsiteX2" fmla="*/ 1100938 w 4480560"/>
                      <a:gd name="connsiteY2" fmla="*/ 0 h 20574"/>
                      <a:gd name="connsiteX3" fmla="*/ 1651406 w 4480560"/>
                      <a:gd name="connsiteY3" fmla="*/ 0 h 20574"/>
                      <a:gd name="connsiteX4" fmla="*/ 2336292 w 4480560"/>
                      <a:gd name="connsiteY4" fmla="*/ 0 h 20574"/>
                      <a:gd name="connsiteX5" fmla="*/ 2931566 w 4480560"/>
                      <a:gd name="connsiteY5" fmla="*/ 0 h 20574"/>
                      <a:gd name="connsiteX6" fmla="*/ 3482035 w 4480560"/>
                      <a:gd name="connsiteY6" fmla="*/ 0 h 20574"/>
                      <a:gd name="connsiteX7" fmla="*/ 4480560 w 4480560"/>
                      <a:gd name="connsiteY7" fmla="*/ 0 h 20574"/>
                      <a:gd name="connsiteX8" fmla="*/ 4480560 w 4480560"/>
                      <a:gd name="connsiteY8" fmla="*/ 20574 h 20574"/>
                      <a:gd name="connsiteX9" fmla="*/ 3840480 w 4480560"/>
                      <a:gd name="connsiteY9" fmla="*/ 20574 h 20574"/>
                      <a:gd name="connsiteX10" fmla="*/ 3290011 w 4480560"/>
                      <a:gd name="connsiteY10" fmla="*/ 20574 h 20574"/>
                      <a:gd name="connsiteX11" fmla="*/ 2560320 w 4480560"/>
                      <a:gd name="connsiteY11" fmla="*/ 20574 h 20574"/>
                      <a:gd name="connsiteX12" fmla="*/ 1965046 w 4480560"/>
                      <a:gd name="connsiteY12" fmla="*/ 20574 h 20574"/>
                      <a:gd name="connsiteX13" fmla="*/ 1459382 w 4480560"/>
                      <a:gd name="connsiteY13" fmla="*/ 20574 h 20574"/>
                      <a:gd name="connsiteX14" fmla="*/ 774497 w 4480560"/>
                      <a:gd name="connsiteY14" fmla="*/ 20574 h 20574"/>
                      <a:gd name="connsiteX15" fmla="*/ 0 w 4480560"/>
                      <a:gd name="connsiteY15" fmla="*/ 20574 h 20574"/>
                      <a:gd name="connsiteX16" fmla="*/ 0 w 4480560"/>
                      <a:gd name="connsiteY16" fmla="*/ 0 h 20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0574"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616" y="4822"/>
                          <a:pt x="4479740" y="14232"/>
                          <a:pt x="4480560" y="20574"/>
                        </a:cubicBezTo>
                        <a:cubicBezTo>
                          <a:pt x="4314132" y="17210"/>
                          <a:pt x="4028383" y="38918"/>
                          <a:pt x="3840480" y="20574"/>
                        </a:cubicBezTo>
                        <a:cubicBezTo>
                          <a:pt x="3652577" y="2230"/>
                          <a:pt x="3547615" y="5134"/>
                          <a:pt x="3290011" y="20574"/>
                        </a:cubicBezTo>
                        <a:cubicBezTo>
                          <a:pt x="3032407" y="36014"/>
                          <a:pt x="2830268" y="11005"/>
                          <a:pt x="2560320" y="20574"/>
                        </a:cubicBezTo>
                        <a:cubicBezTo>
                          <a:pt x="2290372" y="30143"/>
                          <a:pt x="2147422" y="9014"/>
                          <a:pt x="1965046" y="20574"/>
                        </a:cubicBezTo>
                        <a:cubicBezTo>
                          <a:pt x="1782670" y="32134"/>
                          <a:pt x="1689791" y="42966"/>
                          <a:pt x="1459382" y="20574"/>
                        </a:cubicBezTo>
                        <a:cubicBezTo>
                          <a:pt x="1228973" y="-1818"/>
                          <a:pt x="915486" y="38787"/>
                          <a:pt x="774497" y="20574"/>
                        </a:cubicBezTo>
                        <a:cubicBezTo>
                          <a:pt x="633508" y="2361"/>
                          <a:pt x="361442" y="-8821"/>
                          <a:pt x="0" y="20574"/>
                        </a:cubicBezTo>
                        <a:cubicBezTo>
                          <a:pt x="666" y="15709"/>
                          <a:pt x="595" y="5181"/>
                          <a:pt x="0" y="0"/>
                        </a:cubicBezTo>
                        <a:close/>
                      </a:path>
                      <a:path w="4480560" h="20574"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388" y="4289"/>
                          <a:pt x="4480809" y="12348"/>
                          <a:pt x="4480560" y="20574"/>
                        </a:cubicBezTo>
                        <a:cubicBezTo>
                          <a:pt x="4279652" y="-4564"/>
                          <a:pt x="4200762" y="43852"/>
                          <a:pt x="3930091" y="20574"/>
                        </a:cubicBezTo>
                        <a:cubicBezTo>
                          <a:pt x="3659420" y="-2704"/>
                          <a:pt x="3456052" y="24580"/>
                          <a:pt x="3290011" y="20574"/>
                        </a:cubicBezTo>
                        <a:cubicBezTo>
                          <a:pt x="3123970" y="16568"/>
                          <a:pt x="2882392" y="35104"/>
                          <a:pt x="2649931" y="20574"/>
                        </a:cubicBezTo>
                        <a:cubicBezTo>
                          <a:pt x="2417470" y="6044"/>
                          <a:pt x="2238426" y="9623"/>
                          <a:pt x="2054657" y="20574"/>
                        </a:cubicBezTo>
                        <a:cubicBezTo>
                          <a:pt x="1870888" y="31525"/>
                          <a:pt x="1566368" y="47326"/>
                          <a:pt x="1324966" y="20574"/>
                        </a:cubicBezTo>
                        <a:cubicBezTo>
                          <a:pt x="1083564" y="-6178"/>
                          <a:pt x="787410" y="13232"/>
                          <a:pt x="595274" y="20574"/>
                        </a:cubicBezTo>
                        <a:cubicBezTo>
                          <a:pt x="403138" y="27916"/>
                          <a:pt x="169622" y="12785"/>
                          <a:pt x="0" y="20574"/>
                        </a:cubicBezTo>
                        <a:cubicBezTo>
                          <a:pt x="553" y="10436"/>
                          <a:pt x="-908" y="8764"/>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7281698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629841" y="457200"/>
            <a:ext cx="2948940" cy="3429000"/>
          </a:xfrm>
        </p:spPr>
        <p:txBody>
          <a:bodyPr anchor="b">
            <a:normAutofit/>
          </a:bodyPr>
          <a:lstStyle>
            <a:lvl1pPr>
              <a:defRPr sz="45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3977640" y="548640"/>
            <a:ext cx="4539996" cy="5431536"/>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629841" y="3977640"/>
            <a:ext cx="2948940" cy="2002536"/>
          </a:xfrm>
        </p:spPr>
        <p:txBody>
          <a:bodyPr>
            <a:normAutofit/>
          </a:bodyPr>
          <a:lstStyle>
            <a:lvl1pPr marL="0" indent="0">
              <a:buNone/>
              <a:defRPr sz="2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F442F8A9-92BA-4B1A-9C66-F05D2D465879}" type="datetime2">
              <a:rPr lang="en-US" smtClean="0"/>
              <a:t>Wednesday, December 13, 2023</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r>
              <a:rPr lang="en-US"/>
              <a:t>Dr. Saurav Prasad</a:t>
            </a:r>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1538478" y="3257572"/>
            <a:ext cx="4480560" cy="20574"/>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custGeom>
                    <a:avLst/>
                    <a:gdLst>
                      <a:gd name="connsiteX0" fmla="*/ 0 w 4480560"/>
                      <a:gd name="connsiteY0" fmla="*/ 0 h 20574"/>
                      <a:gd name="connsiteX1" fmla="*/ 595274 w 4480560"/>
                      <a:gd name="connsiteY1" fmla="*/ 0 h 20574"/>
                      <a:gd name="connsiteX2" fmla="*/ 1100938 w 4480560"/>
                      <a:gd name="connsiteY2" fmla="*/ 0 h 20574"/>
                      <a:gd name="connsiteX3" fmla="*/ 1651406 w 4480560"/>
                      <a:gd name="connsiteY3" fmla="*/ 0 h 20574"/>
                      <a:gd name="connsiteX4" fmla="*/ 2336292 w 4480560"/>
                      <a:gd name="connsiteY4" fmla="*/ 0 h 20574"/>
                      <a:gd name="connsiteX5" fmla="*/ 2931566 w 4480560"/>
                      <a:gd name="connsiteY5" fmla="*/ 0 h 20574"/>
                      <a:gd name="connsiteX6" fmla="*/ 3482035 w 4480560"/>
                      <a:gd name="connsiteY6" fmla="*/ 0 h 20574"/>
                      <a:gd name="connsiteX7" fmla="*/ 4480560 w 4480560"/>
                      <a:gd name="connsiteY7" fmla="*/ 0 h 20574"/>
                      <a:gd name="connsiteX8" fmla="*/ 4480560 w 4480560"/>
                      <a:gd name="connsiteY8" fmla="*/ 20574 h 20574"/>
                      <a:gd name="connsiteX9" fmla="*/ 3840480 w 4480560"/>
                      <a:gd name="connsiteY9" fmla="*/ 20574 h 20574"/>
                      <a:gd name="connsiteX10" fmla="*/ 3290011 w 4480560"/>
                      <a:gd name="connsiteY10" fmla="*/ 20574 h 20574"/>
                      <a:gd name="connsiteX11" fmla="*/ 2560320 w 4480560"/>
                      <a:gd name="connsiteY11" fmla="*/ 20574 h 20574"/>
                      <a:gd name="connsiteX12" fmla="*/ 1965046 w 4480560"/>
                      <a:gd name="connsiteY12" fmla="*/ 20574 h 20574"/>
                      <a:gd name="connsiteX13" fmla="*/ 1459382 w 4480560"/>
                      <a:gd name="connsiteY13" fmla="*/ 20574 h 20574"/>
                      <a:gd name="connsiteX14" fmla="*/ 774497 w 4480560"/>
                      <a:gd name="connsiteY14" fmla="*/ 20574 h 20574"/>
                      <a:gd name="connsiteX15" fmla="*/ 0 w 4480560"/>
                      <a:gd name="connsiteY15" fmla="*/ 20574 h 20574"/>
                      <a:gd name="connsiteX16" fmla="*/ 0 w 4480560"/>
                      <a:gd name="connsiteY16" fmla="*/ 0 h 20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0574"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616" y="4822"/>
                          <a:pt x="4479740" y="14232"/>
                          <a:pt x="4480560" y="20574"/>
                        </a:cubicBezTo>
                        <a:cubicBezTo>
                          <a:pt x="4314132" y="17210"/>
                          <a:pt x="4028383" y="38918"/>
                          <a:pt x="3840480" y="20574"/>
                        </a:cubicBezTo>
                        <a:cubicBezTo>
                          <a:pt x="3652577" y="2230"/>
                          <a:pt x="3547615" y="5134"/>
                          <a:pt x="3290011" y="20574"/>
                        </a:cubicBezTo>
                        <a:cubicBezTo>
                          <a:pt x="3032407" y="36014"/>
                          <a:pt x="2830268" y="11005"/>
                          <a:pt x="2560320" y="20574"/>
                        </a:cubicBezTo>
                        <a:cubicBezTo>
                          <a:pt x="2290372" y="30143"/>
                          <a:pt x="2147422" y="9014"/>
                          <a:pt x="1965046" y="20574"/>
                        </a:cubicBezTo>
                        <a:cubicBezTo>
                          <a:pt x="1782670" y="32134"/>
                          <a:pt x="1689791" y="42966"/>
                          <a:pt x="1459382" y="20574"/>
                        </a:cubicBezTo>
                        <a:cubicBezTo>
                          <a:pt x="1228973" y="-1818"/>
                          <a:pt x="915486" y="38787"/>
                          <a:pt x="774497" y="20574"/>
                        </a:cubicBezTo>
                        <a:cubicBezTo>
                          <a:pt x="633508" y="2361"/>
                          <a:pt x="361442" y="-8821"/>
                          <a:pt x="0" y="20574"/>
                        </a:cubicBezTo>
                        <a:cubicBezTo>
                          <a:pt x="666" y="15709"/>
                          <a:pt x="595" y="5181"/>
                          <a:pt x="0" y="0"/>
                        </a:cubicBezTo>
                        <a:close/>
                      </a:path>
                      <a:path w="4480560" h="20574"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388" y="4289"/>
                          <a:pt x="4480809" y="12348"/>
                          <a:pt x="4480560" y="20574"/>
                        </a:cubicBezTo>
                        <a:cubicBezTo>
                          <a:pt x="4279652" y="-4564"/>
                          <a:pt x="4200762" y="43852"/>
                          <a:pt x="3930091" y="20574"/>
                        </a:cubicBezTo>
                        <a:cubicBezTo>
                          <a:pt x="3659420" y="-2704"/>
                          <a:pt x="3456052" y="24580"/>
                          <a:pt x="3290011" y="20574"/>
                        </a:cubicBezTo>
                        <a:cubicBezTo>
                          <a:pt x="3123970" y="16568"/>
                          <a:pt x="2882392" y="35104"/>
                          <a:pt x="2649931" y="20574"/>
                        </a:cubicBezTo>
                        <a:cubicBezTo>
                          <a:pt x="2417470" y="6044"/>
                          <a:pt x="2238426" y="9623"/>
                          <a:pt x="2054657" y="20574"/>
                        </a:cubicBezTo>
                        <a:cubicBezTo>
                          <a:pt x="1870888" y="31525"/>
                          <a:pt x="1566368" y="47326"/>
                          <a:pt x="1324966" y="20574"/>
                        </a:cubicBezTo>
                        <a:cubicBezTo>
                          <a:pt x="1083564" y="-6178"/>
                          <a:pt x="787410" y="13232"/>
                          <a:pt x="595274" y="20574"/>
                        </a:cubicBezTo>
                        <a:cubicBezTo>
                          <a:pt x="403138" y="27916"/>
                          <a:pt x="169622" y="12785"/>
                          <a:pt x="0" y="20574"/>
                        </a:cubicBezTo>
                        <a:cubicBezTo>
                          <a:pt x="553" y="10436"/>
                          <a:pt x="-908" y="8764"/>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8074007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CAEE608A-2DFA-4039-860A-A1A49F003D55}" type="datetime2">
              <a:rPr lang="en-US" smtClean="0"/>
              <a:t>Wednesday, December 13, 2023</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r>
              <a:rPr lang="en-US"/>
              <a:t>Dr. Saurav Prasad</a:t>
            </a:r>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7097938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628650" y="365125"/>
            <a:ext cx="5800725"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4BEC3C5C-F291-4348-8BE2-C052912A9EF8}" type="datetime2">
              <a:rPr lang="en-US" smtClean="0"/>
              <a:t>Wednesday, December 13, 2023</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r>
              <a:rPr lang="en-US"/>
              <a:t>Dr. Saurav Prasad</a:t>
            </a:r>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7376101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90"/>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fld id="{B8311F34-7403-473A-A1F0-A692ECD17D72}" type="datetime2">
              <a:rPr lang="en-US" altLang="zh-CN" smtClean="0">
                <a:solidFill>
                  <a:prstClr val="black">
                    <a:tint val="75000"/>
                  </a:prstClr>
                </a:solidFill>
              </a:rPr>
              <a:t>Wednesday, December 13, 2023</a:t>
            </a:fld>
            <a:endParaRPr lang="en-US" altLang="zh-CN">
              <a:solidFill>
                <a:prstClr val="black">
                  <a:tint val="75000"/>
                </a:prstClr>
              </a:solidFill>
            </a:endParaRPr>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r>
              <a:rPr lang="en-US" altLang="zh-CN">
                <a:solidFill>
                  <a:prstClr val="black">
                    <a:tint val="75000"/>
                  </a:prstClr>
                </a:solidFill>
              </a:rPr>
              <a:t>Dr. Saurav Prasad</a:t>
            </a:r>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250B6346-900B-6247-A13F-CFA21336E5A4}" type="slidenum">
              <a:rPr lang="en-US" altLang="zh-CN">
                <a:solidFill>
                  <a:prstClr val="black">
                    <a:tint val="75000"/>
                  </a:prstClr>
                </a:solidFill>
              </a:rPr>
              <a:pPr/>
              <a:t>‹#›</a:t>
            </a:fld>
            <a:endParaRPr lang="en-US" altLang="zh-CN">
              <a:solidFill>
                <a:prstClr val="black">
                  <a:tint val="75000"/>
                </a:prstClr>
              </a:solidFill>
            </a:endParaRPr>
          </a:p>
        </p:txBody>
      </p:sp>
    </p:spTree>
    <p:extLst>
      <p:ext uri="{BB962C8B-B14F-4D97-AF65-F5344CB8AC3E}">
        <p14:creationId xmlns:p14="http://schemas.microsoft.com/office/powerpoint/2010/main" val="5988581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6481" y="273629"/>
            <a:ext cx="8226720" cy="1143480"/>
          </a:xfrm>
        </p:spPr>
        <p:txBody>
          <a:bodyPr/>
          <a:lstStyle/>
          <a:p>
            <a:r>
              <a:rPr lang="en-US"/>
              <a:t>Click to edit Master title style</a:t>
            </a:r>
          </a:p>
        </p:txBody>
      </p:sp>
      <p:sp>
        <p:nvSpPr>
          <p:cNvPr id="3" name="Date Placeholder 2"/>
          <p:cNvSpPr>
            <a:spLocks noGrp="1"/>
          </p:cNvSpPr>
          <p:nvPr>
            <p:ph type="dt" idx="10"/>
          </p:nvPr>
        </p:nvSpPr>
        <p:spPr>
          <a:xfrm>
            <a:off x="456481" y="6247376"/>
            <a:ext cx="2128320" cy="470930"/>
          </a:xfrm>
        </p:spPr>
        <p:txBody>
          <a:bodyPr/>
          <a:lstStyle>
            <a:lvl1pPr>
              <a:defRPr/>
            </a:lvl1pPr>
          </a:lstStyle>
          <a:p>
            <a:fld id="{F78DD1BC-F3A0-4D5F-A4D1-FEE2A5453FE0}" type="datetime2">
              <a:rPr lang="en-US" altLang="x-none" smtClean="0">
                <a:solidFill>
                  <a:prstClr val="black">
                    <a:tint val="75000"/>
                  </a:prstClr>
                </a:solidFill>
              </a:rPr>
              <a:t>Wednesday, December 13, 2023</a:t>
            </a:fld>
            <a:endParaRPr lang="en-US" altLang="x-none">
              <a:solidFill>
                <a:prstClr val="black">
                  <a:tint val="75000"/>
                </a:prstClr>
              </a:solidFill>
            </a:endParaRPr>
          </a:p>
        </p:txBody>
      </p:sp>
      <p:sp>
        <p:nvSpPr>
          <p:cNvPr id="4" name="Footer Placeholder 3"/>
          <p:cNvSpPr>
            <a:spLocks noGrp="1"/>
          </p:cNvSpPr>
          <p:nvPr>
            <p:ph type="ftr" idx="11"/>
          </p:nvPr>
        </p:nvSpPr>
        <p:spPr>
          <a:xfrm>
            <a:off x="3127680" y="6247376"/>
            <a:ext cx="2897280" cy="470930"/>
          </a:xfrm>
        </p:spPr>
        <p:txBody>
          <a:bodyPr/>
          <a:lstStyle>
            <a:lvl1pPr>
              <a:defRPr/>
            </a:lvl1pPr>
          </a:lstStyle>
          <a:p>
            <a:r>
              <a:rPr lang="en-US" altLang="x-none">
                <a:solidFill>
                  <a:prstClr val="black">
                    <a:tint val="75000"/>
                  </a:prstClr>
                </a:solidFill>
              </a:rPr>
              <a:t>Dr. Saurav Prasad</a:t>
            </a:r>
          </a:p>
        </p:txBody>
      </p:sp>
      <p:sp>
        <p:nvSpPr>
          <p:cNvPr id="5" name="Slide Number Placeholder 4"/>
          <p:cNvSpPr>
            <a:spLocks noGrp="1"/>
          </p:cNvSpPr>
          <p:nvPr>
            <p:ph type="sldNum" idx="12"/>
          </p:nvPr>
        </p:nvSpPr>
        <p:spPr>
          <a:xfrm>
            <a:off x="6556321" y="6247376"/>
            <a:ext cx="2128320" cy="470930"/>
          </a:xfrm>
        </p:spPr>
        <p:txBody>
          <a:bodyPr/>
          <a:lstStyle>
            <a:lvl1pPr>
              <a:defRPr/>
            </a:lvl1pPr>
          </a:lstStyle>
          <a:p>
            <a:fld id="{2C4BE03E-BE5B-D74E-93AA-D77FF87E4E71}" type="slidenum">
              <a:rPr lang="en-US" altLang="x-none">
                <a:solidFill>
                  <a:prstClr val="black">
                    <a:tint val="75000"/>
                  </a:prstClr>
                </a:solidFill>
              </a:rPr>
              <a:pPr/>
              <a:t>‹#›</a:t>
            </a:fld>
            <a:endParaRPr lang="en-US" altLang="x-none">
              <a:solidFill>
                <a:prstClr val="black">
                  <a:tint val="75000"/>
                </a:prstClr>
              </a:solidFill>
            </a:endParaRPr>
          </a:p>
        </p:txBody>
      </p:sp>
    </p:spTree>
    <p:extLst>
      <p:ext uri="{BB962C8B-B14F-4D97-AF65-F5344CB8AC3E}">
        <p14:creationId xmlns:p14="http://schemas.microsoft.com/office/powerpoint/2010/main" val="2928324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FA1227-3272-4C78-AD2F-F2564C31FC40}" type="datetimeFigureOut">
              <a:rPr lang="en-US" smtClean="0"/>
              <a:t>12/13/2023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BA5D37-64DF-4E8B-8761-62C8832EA6FE}" type="slidenum">
              <a:rPr lang="en-US" smtClean="0"/>
              <a:t>‹#›</a:t>
            </a:fld>
            <a:endParaRPr lang="en-US"/>
          </a:p>
        </p:txBody>
      </p:sp>
    </p:spTree>
    <p:extLst>
      <p:ext uri="{BB962C8B-B14F-4D97-AF65-F5344CB8AC3E}">
        <p14:creationId xmlns:p14="http://schemas.microsoft.com/office/powerpoint/2010/main" val="198275789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98"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F1C50C-0EAD-4235-8BC0-4FD7E602E67E}" type="datetime2">
              <a:rPr lang="en-US" smtClean="0"/>
              <a:t>Wednesday, December 13, 2023</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Saurav Prasad</a:t>
            </a:r>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30252349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Lst>
  <p:hf sldNum="0" hdr="0" ftr="0" dt="0"/>
  <p:txStyles>
    <p:titleStyle>
      <a:lvl1pPr algn="l" defTabSz="685800" rtl="0" eaLnBrk="1" latinLnBrk="0" hangingPunct="1">
        <a:lnSpc>
          <a:spcPct val="10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1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10000"/>
        </a:lnSpc>
        <a:spcBef>
          <a:spcPts val="375"/>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lnSpc>
          <a:spcPct val="11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1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lnSpc>
          <a:spcPct val="11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media.pearson.com.au/schools/cw/au_sch_derry_ibcsl_1/int/hydrogenBonding/1112.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oleObject" Target="../embeddings/oleObject2.bin"/><Relationship Id="rId4" Type="http://schemas.openxmlformats.org/officeDocument/2006/relationships/image" Target="../media/image18.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hyperlink" Target="https://www.wisc-online.com/learn/natural-science/chemistry/gch6804/intermolecular-forces" TargetMode="External"/><Relationship Id="rId2" Type="http://schemas.openxmlformats.org/officeDocument/2006/relationships/hyperlink" Target="https://www.labxchange.org/library/pathway/lx-pathway:d434428e-91c2-4aac-9d4d-9e110fb97734/items/lx-pb:d434428e-91c2-4aac-9d4d-9e110fb97734:video:e8f4301c" TargetMode="External"/><Relationship Id="rId1" Type="http://schemas.openxmlformats.org/officeDocument/2006/relationships/slideLayout" Target="../slideLayouts/slideLayout7.xml"/><Relationship Id="rId4" Type="http://schemas.openxmlformats.org/officeDocument/2006/relationships/hyperlink" Target="https://courses.lumenlearning.com/trident-boundless-chemistry/chapter/intermolecular-force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en.wikipedia.org/wiki/Monte_Carlo_method" TargetMode="External"/><Relationship Id="rId13" Type="http://schemas.openxmlformats.org/officeDocument/2006/relationships/hyperlink" Target="https://en.wikipedia.org/wiki/Force_field_(physics)" TargetMode="External"/><Relationship Id="rId3" Type="http://schemas.openxmlformats.org/officeDocument/2006/relationships/hyperlink" Target="https://en.wikipedia.org/wiki/Function_(mathematics)" TargetMode="External"/><Relationship Id="rId7" Type="http://schemas.openxmlformats.org/officeDocument/2006/relationships/hyperlink" Target="https://en.wikipedia.org/wiki/Molecular_dynamics" TargetMode="External"/><Relationship Id="rId12" Type="http://schemas.openxmlformats.org/officeDocument/2006/relationships/hyperlink" Target="https://en.wikipedia.org/wiki/Interatomic_potential" TargetMode="External"/><Relationship Id="rId2" Type="http://schemas.openxmlformats.org/officeDocument/2006/relationships/hyperlink" Target="https://en.wikipedia.org/wiki/Computational_chemistry" TargetMode="External"/><Relationship Id="rId1" Type="http://schemas.openxmlformats.org/officeDocument/2006/relationships/slideLayout" Target="../slideLayouts/slideLayout2.xml"/><Relationship Id="rId6" Type="http://schemas.openxmlformats.org/officeDocument/2006/relationships/hyperlink" Target="https://en.wikipedia.org/wiki/Molecular_mechanics" TargetMode="External"/><Relationship Id="rId11" Type="http://schemas.openxmlformats.org/officeDocument/2006/relationships/hyperlink" Target="https://en.wikipedia.org/wiki/Quantum_mechanics" TargetMode="External"/><Relationship Id="rId5" Type="http://schemas.openxmlformats.org/officeDocument/2006/relationships/hyperlink" Target="https://en.wikipedia.org/wiki/Potential_energy" TargetMode="External"/><Relationship Id="rId15" Type="http://schemas.openxmlformats.org/officeDocument/2006/relationships/hyperlink" Target="https://en.wikipedia.org/wiki/Gradient" TargetMode="External"/><Relationship Id="rId10" Type="http://schemas.openxmlformats.org/officeDocument/2006/relationships/hyperlink" Target="https://en.wikipedia.org/wiki/Chemistry" TargetMode="External"/><Relationship Id="rId4" Type="http://schemas.openxmlformats.org/officeDocument/2006/relationships/hyperlink" Target="https://en.wikipedia.org/wiki/Parameter" TargetMode="External"/><Relationship Id="rId9" Type="http://schemas.openxmlformats.org/officeDocument/2006/relationships/hyperlink" Target="https://en.wikipedia.org/wiki/Physics" TargetMode="External"/><Relationship Id="rId14" Type="http://schemas.openxmlformats.org/officeDocument/2006/relationships/hyperlink" Target="https://en.wikipedia.org/wiki/Classical_physics"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emf"/><Relationship Id="rId7" Type="http://schemas.openxmlformats.org/officeDocument/2006/relationships/image" Target="../media/image31.e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30.emf"/><Relationship Id="rId4" Type="http://schemas.openxmlformats.org/officeDocument/2006/relationships/oleObject" Target="../embeddings/oleObject4.bin"/></Relationships>
</file>

<file path=ppt/slides/_rels/slide41.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image" Target="../media/image32.gif"/><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oleObject" Target="../embeddings/oleObject7.bin"/><Relationship Id="rId10" Type="http://schemas.openxmlformats.org/officeDocument/2006/relationships/image" Target="../media/image36.emf"/><Relationship Id="rId4" Type="http://schemas.openxmlformats.org/officeDocument/2006/relationships/image" Target="../media/image33.emf"/><Relationship Id="rId9" Type="http://schemas.openxmlformats.org/officeDocument/2006/relationships/oleObject" Target="../embeddings/oleObject9.bin"/></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2.gif"/><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8.gif"/><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9.gif"/><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0.gif"/><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4" name="Rectangle 8">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The Hand"/>
            </a:endParaRPr>
          </a:p>
        </p:txBody>
      </p:sp>
      <p:sp>
        <p:nvSpPr>
          <p:cNvPr id="2" name="Title 1">
            <a:extLst>
              <a:ext uri="{FF2B5EF4-FFF2-40B4-BE49-F238E27FC236}">
                <a16:creationId xmlns:a16="http://schemas.microsoft.com/office/drawing/2014/main" id="{8C3A9E2C-079D-4E24-A59C-EEAF30B570C6}"/>
              </a:ext>
            </a:extLst>
          </p:cNvPr>
          <p:cNvSpPr>
            <a:spLocks noGrp="1"/>
          </p:cNvSpPr>
          <p:nvPr>
            <p:ph type="ctrTitle"/>
          </p:nvPr>
        </p:nvSpPr>
        <p:spPr>
          <a:xfrm>
            <a:off x="479162" y="3741828"/>
            <a:ext cx="8182230" cy="1290515"/>
          </a:xfrm>
        </p:spPr>
        <p:txBody>
          <a:bodyPr anchor="b">
            <a:normAutofit fontScale="90000"/>
          </a:bodyPr>
          <a:lstStyle/>
          <a:p>
            <a:pPr algn="ctr"/>
            <a:r>
              <a:rPr lang="en-US" sz="4000" dirty="0"/>
              <a:t>Intermolecular Forces and Potential Energy Surfaces </a:t>
            </a:r>
            <a:br>
              <a:rPr lang="en-US" sz="6000" dirty="0"/>
            </a:br>
            <a:r>
              <a:rPr lang="en-US" sz="2325" dirty="0"/>
              <a:t>Dr. Saurav Prasad</a:t>
            </a:r>
          </a:p>
        </p:txBody>
      </p:sp>
      <p:sp>
        <p:nvSpPr>
          <p:cNvPr id="145"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7" y="4989039"/>
            <a:ext cx="3429000" cy="20574"/>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4242A7"/>
          </a:solidFill>
          <a:ln w="38100" cap="rnd">
            <a:solidFill>
              <a:srgbClr val="4242A7"/>
            </a:solidFill>
            <a:round/>
            <a:extLst>
              <a:ext uri="{C807C97D-BFC1-408E-A445-0C87EB9F89A2}">
                <ask:lineSketchStyleProps xmlns:ask="http://schemas.microsoft.com/office/drawing/2018/sketchyshapes" sd="1219033472">
                  <a:custGeom>
                    <a:avLst/>
                    <a:gdLst>
                      <a:gd name="connsiteX0" fmla="*/ 0 w 3429000"/>
                      <a:gd name="connsiteY0" fmla="*/ 0 h 20574"/>
                      <a:gd name="connsiteX1" fmla="*/ 651510 w 3429000"/>
                      <a:gd name="connsiteY1" fmla="*/ 0 h 20574"/>
                      <a:gd name="connsiteX2" fmla="*/ 1337310 w 3429000"/>
                      <a:gd name="connsiteY2" fmla="*/ 0 h 20574"/>
                      <a:gd name="connsiteX3" fmla="*/ 2057400 w 3429000"/>
                      <a:gd name="connsiteY3" fmla="*/ 0 h 20574"/>
                      <a:gd name="connsiteX4" fmla="*/ 2777490 w 3429000"/>
                      <a:gd name="connsiteY4" fmla="*/ 0 h 20574"/>
                      <a:gd name="connsiteX5" fmla="*/ 3429000 w 3429000"/>
                      <a:gd name="connsiteY5" fmla="*/ 0 h 20574"/>
                      <a:gd name="connsiteX6" fmla="*/ 3429000 w 3429000"/>
                      <a:gd name="connsiteY6" fmla="*/ 20574 h 20574"/>
                      <a:gd name="connsiteX7" fmla="*/ 2674620 w 3429000"/>
                      <a:gd name="connsiteY7" fmla="*/ 20574 h 20574"/>
                      <a:gd name="connsiteX8" fmla="*/ 1920240 w 3429000"/>
                      <a:gd name="connsiteY8" fmla="*/ 20574 h 20574"/>
                      <a:gd name="connsiteX9" fmla="*/ 1234440 w 3429000"/>
                      <a:gd name="connsiteY9" fmla="*/ 20574 h 20574"/>
                      <a:gd name="connsiteX10" fmla="*/ 0 w 3429000"/>
                      <a:gd name="connsiteY10" fmla="*/ 20574 h 20574"/>
                      <a:gd name="connsiteX11" fmla="*/ 0 w 3429000"/>
                      <a:gd name="connsiteY11" fmla="*/ 0 h 20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9000" h="20574" fill="none" extrusionOk="0">
                        <a:moveTo>
                          <a:pt x="0" y="0"/>
                        </a:moveTo>
                        <a:cubicBezTo>
                          <a:pt x="134033" y="-6176"/>
                          <a:pt x="393312" y="-724"/>
                          <a:pt x="651510" y="0"/>
                        </a:cubicBezTo>
                        <a:cubicBezTo>
                          <a:pt x="909708" y="724"/>
                          <a:pt x="1063218" y="-2211"/>
                          <a:pt x="1337310" y="0"/>
                        </a:cubicBezTo>
                        <a:cubicBezTo>
                          <a:pt x="1611402" y="2211"/>
                          <a:pt x="1767318" y="-34251"/>
                          <a:pt x="2057400" y="0"/>
                        </a:cubicBezTo>
                        <a:cubicBezTo>
                          <a:pt x="2347482" y="34251"/>
                          <a:pt x="2520601" y="14672"/>
                          <a:pt x="2777490" y="0"/>
                        </a:cubicBezTo>
                        <a:cubicBezTo>
                          <a:pt x="3034379" y="-14672"/>
                          <a:pt x="3208225" y="22331"/>
                          <a:pt x="3429000" y="0"/>
                        </a:cubicBezTo>
                        <a:cubicBezTo>
                          <a:pt x="3428177" y="8892"/>
                          <a:pt x="3429388" y="12703"/>
                          <a:pt x="3429000" y="20574"/>
                        </a:cubicBezTo>
                        <a:cubicBezTo>
                          <a:pt x="3254513" y="-3629"/>
                          <a:pt x="2996008" y="-3143"/>
                          <a:pt x="2674620" y="20574"/>
                        </a:cubicBezTo>
                        <a:cubicBezTo>
                          <a:pt x="2353232" y="44291"/>
                          <a:pt x="2172773" y="-16000"/>
                          <a:pt x="1920240" y="20574"/>
                        </a:cubicBezTo>
                        <a:cubicBezTo>
                          <a:pt x="1667707" y="57148"/>
                          <a:pt x="1571981" y="52040"/>
                          <a:pt x="1234440" y="20574"/>
                        </a:cubicBezTo>
                        <a:cubicBezTo>
                          <a:pt x="896899" y="-10892"/>
                          <a:pt x="605178" y="66897"/>
                          <a:pt x="0" y="20574"/>
                        </a:cubicBezTo>
                        <a:cubicBezTo>
                          <a:pt x="-161" y="11630"/>
                          <a:pt x="139" y="4527"/>
                          <a:pt x="0" y="0"/>
                        </a:cubicBezTo>
                        <a:close/>
                      </a:path>
                      <a:path w="3429000" h="20574" stroke="0" extrusionOk="0">
                        <a:moveTo>
                          <a:pt x="0" y="0"/>
                        </a:moveTo>
                        <a:cubicBezTo>
                          <a:pt x="296065" y="-25938"/>
                          <a:pt x="508101" y="15049"/>
                          <a:pt x="651510" y="0"/>
                        </a:cubicBezTo>
                        <a:cubicBezTo>
                          <a:pt x="794919" y="-15049"/>
                          <a:pt x="977878" y="13267"/>
                          <a:pt x="1234440" y="0"/>
                        </a:cubicBezTo>
                        <a:cubicBezTo>
                          <a:pt x="1491002" y="-13267"/>
                          <a:pt x="1758685" y="-13612"/>
                          <a:pt x="1988820" y="0"/>
                        </a:cubicBezTo>
                        <a:cubicBezTo>
                          <a:pt x="2218955" y="13612"/>
                          <a:pt x="2387946" y="-27527"/>
                          <a:pt x="2640330" y="0"/>
                        </a:cubicBezTo>
                        <a:cubicBezTo>
                          <a:pt x="2892714" y="27527"/>
                          <a:pt x="3237953" y="9759"/>
                          <a:pt x="3429000" y="0"/>
                        </a:cubicBezTo>
                        <a:cubicBezTo>
                          <a:pt x="3429536" y="8886"/>
                          <a:pt x="3428355" y="10327"/>
                          <a:pt x="3429000" y="20574"/>
                        </a:cubicBezTo>
                        <a:cubicBezTo>
                          <a:pt x="3086957" y="22115"/>
                          <a:pt x="3046990" y="41209"/>
                          <a:pt x="2743200" y="20574"/>
                        </a:cubicBezTo>
                        <a:cubicBezTo>
                          <a:pt x="2439410" y="-61"/>
                          <a:pt x="2155452" y="43848"/>
                          <a:pt x="1988820" y="20574"/>
                        </a:cubicBezTo>
                        <a:cubicBezTo>
                          <a:pt x="1822188" y="-2700"/>
                          <a:pt x="1528974" y="-3574"/>
                          <a:pt x="1405890" y="20574"/>
                        </a:cubicBezTo>
                        <a:cubicBezTo>
                          <a:pt x="1282806" y="44722"/>
                          <a:pt x="990983" y="26866"/>
                          <a:pt x="720090" y="20574"/>
                        </a:cubicBezTo>
                        <a:cubicBezTo>
                          <a:pt x="449197" y="14282"/>
                          <a:pt x="296143" y="23103"/>
                          <a:pt x="0" y="20574"/>
                        </a:cubicBezTo>
                        <a:cubicBezTo>
                          <a:pt x="271" y="13936"/>
                          <a:pt x="-429" y="8006"/>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The Hand"/>
            </a:endParaRPr>
          </a:p>
        </p:txBody>
      </p:sp>
      <p:sp>
        <p:nvSpPr>
          <p:cNvPr id="146"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5624513"/>
            <a:ext cx="2057400" cy="273844"/>
          </a:xfrm>
          <a:prstGeom prst="rect">
            <a:avLst/>
          </a:prstGeom>
        </p:spPr>
        <p:txBody>
          <a:bodyPr vert="horz" lIns="68580" tIns="34290" rIns="68580" bIns="3429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200" dirty="0">
              <a:solidFill>
                <a:prstClr val="black"/>
              </a:solidFill>
              <a:latin typeface="The Hand"/>
            </a:endParaRPr>
          </a:p>
        </p:txBody>
      </p:sp>
      <p:sp>
        <p:nvSpPr>
          <p:cNvPr id="15"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8950" y="5624513"/>
            <a:ext cx="3086100" cy="273844"/>
          </a:xfrm>
          <a:prstGeom prst="rect">
            <a:avLst/>
          </a:prstGeom>
        </p:spPr>
        <p:txBody>
          <a:bodyPr vert="horz" lIns="68580" tIns="34290" rIns="68580" bIns="3429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200" dirty="0">
              <a:solidFill>
                <a:prstClr val="black"/>
              </a:solidFill>
              <a:latin typeface="The Hand"/>
            </a:endParaRPr>
          </a:p>
        </p:txBody>
      </p:sp>
      <p:sp>
        <p:nvSpPr>
          <p:cNvPr id="17"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7950" y="562451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200" dirty="0">
              <a:solidFill>
                <a:prstClr val="black"/>
              </a:solidFill>
              <a:latin typeface="The Hand"/>
            </a:endParaRPr>
          </a:p>
        </p:txBody>
      </p:sp>
      <p:pic>
        <p:nvPicPr>
          <p:cNvPr id="6" name="Picture 5">
            <a:extLst>
              <a:ext uri="{FF2B5EF4-FFF2-40B4-BE49-F238E27FC236}">
                <a16:creationId xmlns:a16="http://schemas.microsoft.com/office/drawing/2014/main" id="{73DAAA1A-816C-40F3-9CE9-84DB12AB6E34}"/>
              </a:ext>
            </a:extLst>
          </p:cNvPr>
          <p:cNvPicPr>
            <a:picLocks noChangeAspect="1"/>
          </p:cNvPicPr>
          <p:nvPr/>
        </p:nvPicPr>
        <p:blipFill>
          <a:blip r:embed="rId2"/>
          <a:stretch>
            <a:fillRect/>
          </a:stretch>
        </p:blipFill>
        <p:spPr>
          <a:xfrm>
            <a:off x="2409573" y="1081058"/>
            <a:ext cx="4357567" cy="2486826"/>
          </a:xfrm>
          <a:prstGeom prst="rect">
            <a:avLst/>
          </a:prstGeom>
        </p:spPr>
      </p:pic>
    </p:spTree>
    <p:extLst>
      <p:ext uri="{BB962C8B-B14F-4D97-AF65-F5344CB8AC3E}">
        <p14:creationId xmlns:p14="http://schemas.microsoft.com/office/powerpoint/2010/main" val="1619340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6750" y="0"/>
            <a:ext cx="7772400" cy="1143000"/>
          </a:xfrm>
        </p:spPr>
        <p:txBody>
          <a:bodyPr>
            <a:normAutofit/>
          </a:bodyPr>
          <a:lstStyle/>
          <a:p>
            <a:pPr eaLnBrk="1" hangingPunct="1"/>
            <a:r>
              <a:rPr lang="en-US" altLang="en-US" sz="5400" dirty="0">
                <a:latin typeface="Modern Love" panose="04090805081005020601" pitchFamily="82" charset="0"/>
              </a:rPr>
              <a:t>States of Matter</a:t>
            </a:r>
          </a:p>
        </p:txBody>
      </p:sp>
      <p:sp>
        <p:nvSpPr>
          <p:cNvPr id="4099" name="Rectangle 3"/>
          <p:cNvSpPr>
            <a:spLocks noGrp="1" noChangeArrowheads="1"/>
          </p:cNvSpPr>
          <p:nvPr>
            <p:ph type="body" sz="half" idx="1"/>
          </p:nvPr>
        </p:nvSpPr>
        <p:spPr>
          <a:xfrm>
            <a:off x="9939" y="1351721"/>
            <a:ext cx="3933827" cy="5062331"/>
          </a:xfrm>
        </p:spPr>
        <p:txBody>
          <a:bodyPr>
            <a:normAutofit/>
          </a:bodyPr>
          <a:lstStyle/>
          <a:p>
            <a:pPr eaLnBrk="1" hangingPunct="1">
              <a:buFont typeface="Wingdings" pitchFamily="2" charset="2"/>
              <a:buChar char="§"/>
            </a:pPr>
            <a:r>
              <a:rPr lang="en-US" altLang="en-US" dirty="0">
                <a:latin typeface="Times New Roman" panose="02020603050405020304" pitchFamily="18" charset="0"/>
                <a:cs typeface="Times New Roman" panose="02020603050405020304" pitchFamily="18" charset="0"/>
              </a:rPr>
              <a:t>The fundamental difference between states of matter is the strength of the intermolecular forces of attraction.</a:t>
            </a:r>
          </a:p>
          <a:p>
            <a:pPr eaLnBrk="1" hangingPunct="1">
              <a:buFont typeface="Wingdings" pitchFamily="2" charset="2"/>
              <a:buChar char="§"/>
            </a:pPr>
            <a:r>
              <a:rPr lang="en-US" altLang="en-US" dirty="0">
                <a:latin typeface="Times New Roman" panose="02020603050405020304" pitchFamily="18" charset="0"/>
                <a:cs typeface="Times New Roman" panose="02020603050405020304" pitchFamily="18" charset="0"/>
              </a:rPr>
              <a:t>Stronger forces bring molecules closer together.</a:t>
            </a:r>
          </a:p>
          <a:p>
            <a:pPr eaLnBrk="1" hangingPunct="1">
              <a:buFont typeface="Wingdings" pitchFamily="2" charset="2"/>
              <a:buChar char="§"/>
            </a:pPr>
            <a:r>
              <a:rPr lang="en-US" altLang="en-US" dirty="0">
                <a:latin typeface="Times New Roman" panose="02020603050405020304" pitchFamily="18" charset="0"/>
                <a:cs typeface="Times New Roman" panose="02020603050405020304" pitchFamily="18" charset="0"/>
              </a:rPr>
              <a:t>Solids and liquids are referred to as the </a:t>
            </a:r>
            <a:r>
              <a:rPr lang="en-US" altLang="en-US" i="1" dirty="0">
                <a:latin typeface="Times New Roman" panose="02020603050405020304" pitchFamily="18" charset="0"/>
                <a:cs typeface="Times New Roman" panose="02020603050405020304" pitchFamily="18" charset="0"/>
              </a:rPr>
              <a:t>condensed phases</a:t>
            </a:r>
            <a:r>
              <a:rPr lang="en-US" altLang="en-US" dirty="0">
                <a:latin typeface="Times New Roman" panose="02020603050405020304" pitchFamily="18" charset="0"/>
                <a:cs typeface="Times New Roman" panose="02020603050405020304" pitchFamily="18" charset="0"/>
              </a:rPr>
              <a:t>.</a:t>
            </a:r>
          </a:p>
        </p:txBody>
      </p:sp>
      <p:sp>
        <p:nvSpPr>
          <p:cNvPr id="4100" name="Rectangle 10"/>
          <p:cNvSpPr>
            <a:spLocks noChangeArrowheads="1"/>
          </p:cNvSpPr>
          <p:nvPr/>
        </p:nvSpPr>
        <p:spPr bwMode="auto">
          <a:xfrm>
            <a:off x="3933827" y="3209925"/>
            <a:ext cx="184731"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endParaRPr lang="en-US" altLang="en-US"/>
          </a:p>
        </p:txBody>
      </p:sp>
      <p:pic>
        <p:nvPicPr>
          <p:cNvPr id="6" name="Picture 5" descr="11_02_Figure.jpg"/>
          <p:cNvPicPr>
            <a:picLocks noChangeAspect="1"/>
          </p:cNvPicPr>
          <p:nvPr/>
        </p:nvPicPr>
        <p:blipFill>
          <a:blip r:embed="rId3"/>
          <a:srcRect b="2546"/>
          <a:stretch>
            <a:fillRect/>
          </a:stretch>
        </p:blipFill>
        <p:spPr>
          <a:xfrm>
            <a:off x="4343400" y="1523999"/>
            <a:ext cx="4800600" cy="4739805"/>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9391" y="365126"/>
            <a:ext cx="8577470" cy="1325563"/>
          </a:xfrm>
        </p:spPr>
        <p:txBody>
          <a:bodyPr/>
          <a:lstStyle/>
          <a:p>
            <a:pPr eaLnBrk="1" hangingPunct="1"/>
            <a:r>
              <a:rPr lang="en-US" altLang="en-US" dirty="0">
                <a:latin typeface="Modern Love" panose="04090805081005020601" pitchFamily="82" charset="0"/>
              </a:rPr>
              <a:t>Differences in the States of Matter</a:t>
            </a:r>
          </a:p>
        </p:txBody>
      </p:sp>
      <p:pic>
        <p:nvPicPr>
          <p:cNvPr id="4" name="Picture 3" descr="11_01_Table.jpg"/>
          <p:cNvPicPr>
            <a:picLocks noChangeAspect="1"/>
          </p:cNvPicPr>
          <p:nvPr/>
        </p:nvPicPr>
        <p:blipFill rotWithShape="1">
          <a:blip r:embed="rId3"/>
          <a:srcRect b="2546"/>
          <a:stretch/>
        </p:blipFill>
        <p:spPr>
          <a:xfrm>
            <a:off x="1681471" y="1690689"/>
            <a:ext cx="5781058" cy="4962939"/>
          </a:xfrm>
          <a:prstGeom prst="rect">
            <a:avLst/>
          </a:prstGeom>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4"/>
          <p:cNvSpPr>
            <a:spLocks noGrp="1"/>
          </p:cNvSpPr>
          <p:nvPr>
            <p:ph type="title"/>
          </p:nvPr>
        </p:nvSpPr>
        <p:spPr/>
        <p:txBody>
          <a:bodyPr/>
          <a:lstStyle/>
          <a:p>
            <a:r>
              <a:rPr lang="en-US" altLang="en-US" dirty="0">
                <a:latin typeface="Modern Love" panose="04090805081005020601" pitchFamily="82" charset="0"/>
              </a:rPr>
              <a:t>Which State of Matter?</a:t>
            </a:r>
          </a:p>
        </p:txBody>
      </p:sp>
      <p:sp>
        <p:nvSpPr>
          <p:cNvPr id="6147" name="Content Placeholder 5"/>
          <p:cNvSpPr>
            <a:spLocks noGrp="1"/>
          </p:cNvSpPr>
          <p:nvPr>
            <p:ph idx="1"/>
          </p:nvPr>
        </p:nvSpPr>
        <p:spPr>
          <a:xfrm>
            <a:off x="496959" y="1868557"/>
            <a:ext cx="4343400" cy="4853609"/>
          </a:xfrm>
        </p:spPr>
        <p:txBody>
          <a:bodyPr>
            <a:normAutofit/>
          </a:bodyPr>
          <a:lstStyle/>
          <a:p>
            <a:r>
              <a:rPr lang="en-US" altLang="en-US" sz="3200" dirty="0">
                <a:latin typeface="Times New Roman" panose="02020603050405020304" pitchFamily="18" charset="0"/>
                <a:cs typeface="Times New Roman" panose="02020603050405020304" pitchFamily="18" charset="0"/>
              </a:rPr>
              <a:t>The answer to this question largely relies on the</a:t>
            </a:r>
          </a:p>
          <a:p>
            <a:pPr>
              <a:buClr>
                <a:srgbClr val="7030A0"/>
              </a:buClr>
              <a:buFont typeface="Wingdings" pitchFamily="2" charset="2"/>
              <a:buChar char="Ø"/>
            </a:pPr>
            <a:r>
              <a:rPr lang="en-US" altLang="en-US" sz="3200" dirty="0">
                <a:latin typeface="Times New Roman" panose="02020603050405020304" pitchFamily="18" charset="0"/>
                <a:cs typeface="Times New Roman" panose="02020603050405020304" pitchFamily="18" charset="0"/>
              </a:rPr>
              <a:t>balance between the kinetic energies of the particles.</a:t>
            </a:r>
          </a:p>
          <a:p>
            <a:pPr>
              <a:buClr>
                <a:srgbClr val="7030A0"/>
              </a:buClr>
              <a:buFont typeface="Wingdings" pitchFamily="2" charset="2"/>
              <a:buChar char="Ø"/>
            </a:pPr>
            <a:r>
              <a:rPr lang="en-US" altLang="en-US" sz="3200" dirty="0">
                <a:latin typeface="Times New Roman" panose="02020603050405020304" pitchFamily="18" charset="0"/>
                <a:cs typeface="Times New Roman" panose="02020603050405020304" pitchFamily="18" charset="0"/>
              </a:rPr>
              <a:t>interparticle energies of attraction.</a:t>
            </a:r>
          </a:p>
        </p:txBody>
      </p:sp>
      <p:pic>
        <p:nvPicPr>
          <p:cNvPr id="5" name="Picture 4" descr="11_02_Table.jpg"/>
          <p:cNvPicPr>
            <a:picLocks noChangeAspect="1"/>
          </p:cNvPicPr>
          <p:nvPr/>
        </p:nvPicPr>
        <p:blipFill>
          <a:blip r:embed="rId2"/>
          <a:srcRect b="2546"/>
          <a:stretch>
            <a:fillRect/>
          </a:stretch>
        </p:blipFill>
        <p:spPr>
          <a:xfrm>
            <a:off x="4499217" y="1758752"/>
            <a:ext cx="4450428" cy="3369838"/>
          </a:xfrm>
          <a:prstGeom prst="rect">
            <a:avLst/>
          </a:prstGeom>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EE46861-E2B8-4DFF-8065-97BBE12843A4}"/>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ABEB60B-B9DF-4C19-B243-267F1ECF286F}" type="slidenum">
              <a:rPr lang="en-US" altLang="en-US" sz="1400"/>
              <a:pPr>
                <a:spcBef>
                  <a:spcPct val="0"/>
                </a:spcBef>
                <a:buFontTx/>
                <a:buNone/>
              </a:pPr>
              <a:t>5</a:t>
            </a:fld>
            <a:endParaRPr lang="en-US" altLang="en-US" sz="1400"/>
          </a:p>
        </p:txBody>
      </p:sp>
      <p:sp>
        <p:nvSpPr>
          <p:cNvPr id="7171" name="Rectangle 4">
            <a:extLst>
              <a:ext uri="{FF2B5EF4-FFF2-40B4-BE49-F238E27FC236}">
                <a16:creationId xmlns:a16="http://schemas.microsoft.com/office/drawing/2014/main" id="{9911ABD1-BF8B-4464-9A1A-244566076CD5}"/>
              </a:ext>
            </a:extLst>
          </p:cNvPr>
          <p:cNvSpPr>
            <a:spLocks noGrp="1" noChangeArrowheads="1"/>
          </p:cNvSpPr>
          <p:nvPr>
            <p:ph type="title"/>
          </p:nvPr>
        </p:nvSpPr>
        <p:spPr/>
        <p:txBody>
          <a:bodyPr/>
          <a:lstStyle/>
          <a:p>
            <a:pPr eaLnBrk="1" hangingPunct="1"/>
            <a:r>
              <a:rPr lang="en-US" altLang="en-US" sz="4000" b="1" dirty="0" err="1">
                <a:latin typeface="Modern Love" panose="04090805081005020601" pitchFamily="82" charset="0"/>
                <a:hlinkClick r:id="rId2"/>
              </a:rPr>
              <a:t>intER</a:t>
            </a:r>
            <a:r>
              <a:rPr lang="en-US" altLang="en-US" sz="4000" b="1" dirty="0">
                <a:latin typeface="Modern Love" panose="04090805081005020601" pitchFamily="82" charset="0"/>
                <a:hlinkClick r:id="rId2"/>
              </a:rPr>
              <a:t> vs. </a:t>
            </a:r>
            <a:r>
              <a:rPr lang="en-US" altLang="en-US" sz="4000" b="1" dirty="0" err="1">
                <a:latin typeface="Modern Love" panose="04090805081005020601" pitchFamily="82" charset="0"/>
                <a:hlinkClick r:id="rId2"/>
              </a:rPr>
              <a:t>intRA</a:t>
            </a:r>
            <a:r>
              <a:rPr lang="en-US" altLang="en-US" sz="4000" b="1" dirty="0">
                <a:latin typeface="Modern Love" panose="04090805081005020601" pitchFamily="82" charset="0"/>
                <a:hlinkClick r:id="rId2"/>
              </a:rPr>
              <a:t> molecular forces </a:t>
            </a:r>
            <a:endParaRPr lang="en-US" altLang="en-US" sz="4000" b="1" dirty="0">
              <a:latin typeface="Modern Love" panose="04090805081005020601" pitchFamily="82" charset="0"/>
            </a:endParaRPr>
          </a:p>
        </p:txBody>
      </p:sp>
      <p:sp>
        <p:nvSpPr>
          <p:cNvPr id="2053" name="Rectangle 5">
            <a:extLst>
              <a:ext uri="{FF2B5EF4-FFF2-40B4-BE49-F238E27FC236}">
                <a16:creationId xmlns:a16="http://schemas.microsoft.com/office/drawing/2014/main" id="{6F2DAAE7-A8BA-4429-9A9D-BEDB75887630}"/>
              </a:ext>
            </a:extLst>
          </p:cNvPr>
          <p:cNvSpPr>
            <a:spLocks noGrp="1" noChangeArrowheads="1"/>
          </p:cNvSpPr>
          <p:nvPr>
            <p:ph type="body" idx="1"/>
          </p:nvPr>
        </p:nvSpPr>
        <p:spPr>
          <a:xfrm>
            <a:off x="454025" y="1865313"/>
            <a:ext cx="8382000" cy="5257800"/>
          </a:xfrm>
        </p:spPr>
        <p:txBody>
          <a:bodyPr>
            <a:normAutofit fontScale="92500" lnSpcReduction="10000"/>
          </a:bodyPr>
          <a:lstStyle/>
          <a:p>
            <a:pPr eaLnBrk="1" hangingPunct="1">
              <a:lnSpc>
                <a:spcPct val="90000"/>
              </a:lnSpc>
            </a:pPr>
            <a:r>
              <a:rPr lang="en-US" altLang="en-US" b="1" u="sng" dirty="0">
                <a:solidFill>
                  <a:srgbClr val="FF0000"/>
                </a:solidFill>
                <a:latin typeface="Times New Roman" panose="02020603050405020304" pitchFamily="18" charset="0"/>
                <a:cs typeface="Times New Roman" panose="02020603050405020304" pitchFamily="18" charset="0"/>
              </a:rPr>
              <a:t>Intra</a:t>
            </a:r>
            <a:r>
              <a:rPr lang="en-US" altLang="en-US" b="1" u="sng" dirty="0">
                <a:latin typeface="Times New Roman" panose="02020603050405020304" pitchFamily="18" charset="0"/>
                <a:cs typeface="Times New Roman" panose="02020603050405020304" pitchFamily="18" charset="0"/>
              </a:rPr>
              <a:t>molecular forces</a:t>
            </a:r>
            <a:r>
              <a:rPr lang="en-US" altLang="en-US" dirty="0">
                <a:latin typeface="Times New Roman" panose="02020603050405020304" pitchFamily="18" charset="0"/>
                <a:cs typeface="Times New Roman" panose="02020603050405020304" pitchFamily="18" charset="0"/>
              </a:rPr>
              <a:t> are the forces </a:t>
            </a:r>
            <a:r>
              <a:rPr lang="en-US" altLang="en-US" i="1" dirty="0">
                <a:latin typeface="Times New Roman" panose="02020603050405020304" pitchFamily="18" charset="0"/>
                <a:cs typeface="Times New Roman" panose="02020603050405020304" pitchFamily="18" charset="0"/>
              </a:rPr>
              <a:t>within</a:t>
            </a:r>
            <a:r>
              <a:rPr lang="en-US" altLang="en-US" dirty="0">
                <a:latin typeface="Times New Roman" panose="02020603050405020304" pitchFamily="18" charset="0"/>
                <a:cs typeface="Times New Roman" panose="02020603050405020304" pitchFamily="18" charset="0"/>
              </a:rPr>
              <a:t> a molecule or ionic compound</a:t>
            </a:r>
          </a:p>
          <a:p>
            <a:pPr lvl="1" eaLnBrk="1" hangingPunct="1">
              <a:lnSpc>
                <a:spcPct val="90000"/>
              </a:lnSpc>
              <a:buFontTx/>
              <a:buNone/>
            </a:pPr>
            <a:endParaRPr lang="en-US" altLang="en-US" dirty="0">
              <a:latin typeface="Times New Roman" panose="02020603050405020304" pitchFamily="18" charset="0"/>
              <a:cs typeface="Times New Roman" panose="02020603050405020304" pitchFamily="18" charset="0"/>
            </a:endParaRPr>
          </a:p>
          <a:p>
            <a:pPr lvl="1" eaLnBrk="1" hangingPunct="1">
              <a:lnSpc>
                <a:spcPct val="90000"/>
              </a:lnSpc>
              <a:buFontTx/>
              <a:buNone/>
            </a:pPr>
            <a:r>
              <a:rPr lang="en-US" altLang="en-US" sz="2600" dirty="0">
                <a:latin typeface="Times New Roman" panose="02020603050405020304" pitchFamily="18" charset="0"/>
                <a:cs typeface="Times New Roman" panose="02020603050405020304" pitchFamily="18" charset="0"/>
              </a:rPr>
              <a:t>Example: Individual therapy </a:t>
            </a:r>
          </a:p>
          <a:p>
            <a:pPr lvl="1" eaLnBrk="1" hangingPunct="1">
              <a:lnSpc>
                <a:spcPct val="90000"/>
              </a:lnSpc>
              <a:buFontTx/>
              <a:buNone/>
            </a:pPr>
            <a:r>
              <a:rPr lang="en-US" altLang="en-US" sz="2600" dirty="0">
                <a:latin typeface="Times New Roman" panose="02020603050405020304" pitchFamily="18" charset="0"/>
                <a:cs typeface="Times New Roman" panose="02020603050405020304" pitchFamily="18" charset="0"/>
              </a:rPr>
              <a:t>NaCl  Ionic bond between atom of Na and atom of Cl</a:t>
            </a:r>
          </a:p>
          <a:p>
            <a:pPr eaLnBrk="1" hangingPunct="1">
              <a:lnSpc>
                <a:spcPct val="90000"/>
              </a:lnSpc>
            </a:pPr>
            <a:endParaRPr lang="en-US" altLang="en-US" dirty="0">
              <a:latin typeface="Times New Roman" panose="02020603050405020304" pitchFamily="18" charset="0"/>
              <a:cs typeface="Times New Roman" panose="02020603050405020304" pitchFamily="18" charset="0"/>
            </a:endParaRPr>
          </a:p>
          <a:p>
            <a:pPr eaLnBrk="1" hangingPunct="1">
              <a:lnSpc>
                <a:spcPct val="90000"/>
              </a:lnSpc>
            </a:pPr>
            <a:r>
              <a:rPr lang="en-US" altLang="en-US" b="1" i="1" u="sng" dirty="0">
                <a:solidFill>
                  <a:srgbClr val="33CC33"/>
                </a:solidFill>
                <a:latin typeface="Times New Roman" panose="02020603050405020304" pitchFamily="18" charset="0"/>
                <a:cs typeface="Times New Roman" panose="02020603050405020304" pitchFamily="18" charset="0"/>
              </a:rPr>
              <a:t>Inter</a:t>
            </a:r>
            <a:r>
              <a:rPr lang="en-US" altLang="en-US" b="1" i="1" u="sng" dirty="0">
                <a:latin typeface="Times New Roman" panose="02020603050405020304" pitchFamily="18" charset="0"/>
                <a:cs typeface="Times New Roman" panose="02020603050405020304" pitchFamily="18" charset="0"/>
              </a:rPr>
              <a:t>molecular forces</a:t>
            </a:r>
            <a:r>
              <a:rPr lang="en-US" altLang="en-US" dirty="0">
                <a:latin typeface="Times New Roman" panose="02020603050405020304" pitchFamily="18" charset="0"/>
                <a:cs typeface="Times New Roman" panose="02020603050405020304" pitchFamily="18" charset="0"/>
              </a:rPr>
              <a:t> are the forces </a:t>
            </a:r>
            <a:r>
              <a:rPr lang="en-US" altLang="en-US" i="1" dirty="0">
                <a:latin typeface="Times New Roman" panose="02020603050405020304" pitchFamily="18" charset="0"/>
                <a:cs typeface="Times New Roman" panose="02020603050405020304" pitchFamily="18" charset="0"/>
              </a:rPr>
              <a:t>between</a:t>
            </a:r>
            <a:r>
              <a:rPr lang="en-US" altLang="en-US" dirty="0">
                <a:latin typeface="Times New Roman" panose="02020603050405020304" pitchFamily="18" charset="0"/>
                <a:cs typeface="Times New Roman" panose="02020603050405020304" pitchFamily="18" charset="0"/>
              </a:rPr>
              <a:t> molecules or ions and molecules</a:t>
            </a:r>
          </a:p>
          <a:p>
            <a:pPr eaLnBrk="1" hangingPunct="1">
              <a:lnSpc>
                <a:spcPct val="90000"/>
              </a:lnSpc>
              <a:buFontTx/>
              <a:buNone/>
            </a:pPr>
            <a:r>
              <a:rPr lang="en-US" altLang="en-US" sz="2600" dirty="0">
                <a:latin typeface="Times New Roman" panose="02020603050405020304" pitchFamily="18" charset="0"/>
                <a:cs typeface="Times New Roman" panose="02020603050405020304" pitchFamily="18" charset="0"/>
              </a:rPr>
              <a:t>     Example: couples therapy </a:t>
            </a:r>
          </a:p>
          <a:p>
            <a:pPr eaLnBrk="1" hangingPunct="1">
              <a:lnSpc>
                <a:spcPct val="90000"/>
              </a:lnSpc>
              <a:buFontTx/>
              <a:buNone/>
            </a:pPr>
            <a:r>
              <a:rPr lang="en-US" altLang="en-US" sz="2600" dirty="0">
                <a:latin typeface="Times New Roman" panose="02020603050405020304" pitchFamily="18" charset="0"/>
                <a:cs typeface="Times New Roman" panose="02020603050405020304" pitchFamily="18" charset="0"/>
              </a:rPr>
              <a:t>                     Solid liquid gas</a:t>
            </a:r>
          </a:p>
          <a:p>
            <a:pPr eaLnBrk="1" hangingPunct="1">
              <a:lnSpc>
                <a:spcPct val="90000"/>
              </a:lnSpc>
              <a:buFontTx/>
              <a:buNone/>
            </a:pPr>
            <a:endParaRPr lang="en-US" altLang="en-US" sz="2600" dirty="0"/>
          </a:p>
          <a:p>
            <a:pPr eaLnBrk="1" hangingPunct="1">
              <a:lnSpc>
                <a:spcPct val="90000"/>
              </a:lnSpc>
              <a:buFontTx/>
              <a:buNone/>
            </a:pPr>
            <a:r>
              <a:rPr lang="en-US" altLang="en-US" sz="2600" dirty="0"/>
              <a:t>    </a:t>
            </a:r>
          </a:p>
          <a:p>
            <a:pPr eaLnBrk="1" hangingPunct="1">
              <a:lnSpc>
                <a:spcPct val="90000"/>
              </a:lnSpc>
              <a:buFontTx/>
              <a:buNone/>
            </a:pPr>
            <a:r>
              <a:rPr lang="en-US" altLang="en-US" sz="3000" dirty="0"/>
              <a:t>.</a:t>
            </a:r>
            <a:r>
              <a:rPr lang="en-US" altLang="en-US" sz="2800" dirty="0"/>
              <a:t> </a:t>
            </a:r>
          </a:p>
        </p:txBody>
      </p:sp>
      <p:sp>
        <p:nvSpPr>
          <p:cNvPr id="7173" name="AutoShape 6" descr="Image result for individual therapy vs couples therapy">
            <a:extLst>
              <a:ext uri="{FF2B5EF4-FFF2-40B4-BE49-F238E27FC236}">
                <a16:creationId xmlns:a16="http://schemas.microsoft.com/office/drawing/2014/main" id="{4CDB56AA-59AF-4972-A484-F4B39A7DBE2F}"/>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7174" name="AutoShape 8" descr="Image result for individual therapy vs couples therapy">
            <a:extLst>
              <a:ext uri="{FF2B5EF4-FFF2-40B4-BE49-F238E27FC236}">
                <a16:creationId xmlns:a16="http://schemas.microsoft.com/office/drawing/2014/main" id="{CDFFE9EF-4086-4C71-96B3-95449B8D8353}"/>
              </a:ext>
            </a:extLst>
          </p:cNvPr>
          <p:cNvSpPr>
            <a:spLocks noChangeAspect="1" noChangeArrowheads="1"/>
          </p:cNvSpPr>
          <p:nvPr/>
        </p:nvSpPr>
        <p:spPr bwMode="auto">
          <a:xfrm>
            <a:off x="304800" y="27305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7175" name="AutoShape 10" descr="Image result for individual therapy vs couples therapy">
            <a:extLst>
              <a:ext uri="{FF2B5EF4-FFF2-40B4-BE49-F238E27FC236}">
                <a16:creationId xmlns:a16="http://schemas.microsoft.com/office/drawing/2014/main" id="{E0CAE5FE-E45D-4491-B7E3-4F724B7CA251}"/>
              </a:ext>
            </a:extLst>
          </p:cNvPr>
          <p:cNvSpPr>
            <a:spLocks noChangeAspect="1" noChangeArrowheads="1"/>
          </p:cNvSpPr>
          <p:nvPr/>
        </p:nvSpPr>
        <p:spPr bwMode="auto">
          <a:xfrm>
            <a:off x="155575" y="-2286000"/>
            <a:ext cx="714375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05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205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5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5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53">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53">
                                            <p:txEl>
                                              <p:pRg st="9" end="9"/>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05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47700" y="0"/>
            <a:ext cx="7772400" cy="1143000"/>
          </a:xfrm>
        </p:spPr>
        <p:txBody>
          <a:bodyPr/>
          <a:lstStyle/>
          <a:p>
            <a:pPr eaLnBrk="1" hangingPunct="1"/>
            <a:r>
              <a:rPr lang="en-US" altLang="en-US" dirty="0">
                <a:latin typeface="Modern Love" panose="04090805081005020601" pitchFamily="82" charset="0"/>
              </a:rPr>
              <a:t>Intermolecular Forces</a:t>
            </a:r>
          </a:p>
        </p:txBody>
      </p:sp>
      <p:sp>
        <p:nvSpPr>
          <p:cNvPr id="7171" name="Rectangle 3"/>
          <p:cNvSpPr>
            <a:spLocks noGrp="1" noChangeArrowheads="1"/>
          </p:cNvSpPr>
          <p:nvPr>
            <p:ph type="body" sz="half" idx="2"/>
          </p:nvPr>
        </p:nvSpPr>
        <p:spPr>
          <a:xfrm>
            <a:off x="150813" y="3581402"/>
            <a:ext cx="8915400" cy="2644775"/>
          </a:xfrm>
        </p:spPr>
        <p:txBody>
          <a:bodyPr/>
          <a:lstStyle/>
          <a:p>
            <a:pPr eaLnBrk="1" hangingPunct="1"/>
            <a:r>
              <a:rPr lang="en-US" altLang="en-US" dirty="0">
                <a:latin typeface="Times New Roman" panose="02020603050405020304" pitchFamily="18" charset="0"/>
                <a:cs typeface="Times New Roman" panose="02020603050405020304" pitchFamily="18" charset="0"/>
              </a:rPr>
              <a:t>The attractions between molecules are not nearly as strong as the intramolecular attractions (bonds) that hold compounds together.</a:t>
            </a:r>
          </a:p>
          <a:p>
            <a:pPr eaLnBrk="1" hangingPunct="1"/>
            <a:r>
              <a:rPr lang="en-US" altLang="en-US" dirty="0">
                <a:latin typeface="Times New Roman" panose="02020603050405020304" pitchFamily="18" charset="0"/>
                <a:cs typeface="Times New Roman" panose="02020603050405020304" pitchFamily="18" charset="0"/>
              </a:rPr>
              <a:t>Many physical properties reflect intermolecular forces, like boiling points, melting points, viscosity, surface tension, and capillary action.</a:t>
            </a:r>
          </a:p>
        </p:txBody>
      </p:sp>
      <p:pic>
        <p:nvPicPr>
          <p:cNvPr id="5" name="Picture 4" descr="11_03_Figure.jpg"/>
          <p:cNvPicPr>
            <a:picLocks noChangeAspect="1"/>
          </p:cNvPicPr>
          <p:nvPr/>
        </p:nvPicPr>
        <p:blipFill>
          <a:blip r:embed="rId3"/>
          <a:srcRect b="3450"/>
          <a:stretch>
            <a:fillRect/>
          </a:stretch>
        </p:blipFill>
        <p:spPr>
          <a:xfrm>
            <a:off x="2590802" y="990600"/>
            <a:ext cx="3993693" cy="2514600"/>
          </a:xfrm>
          <a:prstGeom prst="rect">
            <a:avLst/>
          </a:prstGeom>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4"/>
          <p:cNvSpPr>
            <a:spLocks noGrp="1"/>
          </p:cNvSpPr>
          <p:nvPr>
            <p:ph type="title"/>
          </p:nvPr>
        </p:nvSpPr>
        <p:spPr>
          <a:xfrm>
            <a:off x="304800" y="9525"/>
            <a:ext cx="8153400" cy="1143000"/>
          </a:xfrm>
        </p:spPr>
        <p:txBody>
          <a:bodyPr>
            <a:noAutofit/>
          </a:bodyPr>
          <a:lstStyle/>
          <a:p>
            <a:r>
              <a:rPr lang="en-US" altLang="en-US" dirty="0">
                <a:latin typeface="Modern Love" panose="04090805081005020601" pitchFamily="82" charset="0"/>
              </a:rPr>
              <a:t>Types of Intermolecular Force</a:t>
            </a:r>
          </a:p>
        </p:txBody>
      </p:sp>
      <p:sp>
        <p:nvSpPr>
          <p:cNvPr id="8195" name="Content Placeholder 5"/>
          <p:cNvSpPr>
            <a:spLocks noGrp="1"/>
          </p:cNvSpPr>
          <p:nvPr>
            <p:ph idx="1"/>
          </p:nvPr>
        </p:nvSpPr>
        <p:spPr>
          <a:xfrm>
            <a:off x="457200" y="990600"/>
            <a:ext cx="8153400" cy="5105400"/>
          </a:xfrm>
        </p:spPr>
        <p:txBody>
          <a:bodyPr>
            <a:noAutofit/>
          </a:bodyPr>
          <a:lstStyle/>
          <a:p>
            <a:r>
              <a:rPr lang="en-US" altLang="en-US" sz="3600" dirty="0">
                <a:latin typeface="Times New Roman" panose="02020603050405020304" pitchFamily="18" charset="0"/>
                <a:cs typeface="Times New Roman" panose="02020603050405020304" pitchFamily="18" charset="0"/>
              </a:rPr>
              <a:t>Weakest to strongest forces:</a:t>
            </a:r>
          </a:p>
          <a:p>
            <a:pPr>
              <a:buClr>
                <a:srgbClr val="003300"/>
              </a:buClr>
              <a:buFont typeface="Wingdings" pitchFamily="2" charset="2"/>
              <a:buChar char="Ø"/>
            </a:pPr>
            <a:r>
              <a:rPr lang="en-US" altLang="en-US" sz="3600" dirty="0">
                <a:latin typeface="Times New Roman" panose="02020603050405020304" pitchFamily="18" charset="0"/>
                <a:cs typeface="Times New Roman" panose="02020603050405020304" pitchFamily="18" charset="0"/>
              </a:rPr>
              <a:t>dispersion forces (or London dispersion forces)</a:t>
            </a:r>
          </a:p>
          <a:p>
            <a:pPr>
              <a:buClr>
                <a:srgbClr val="003300"/>
              </a:buClr>
              <a:buFont typeface="Wingdings" pitchFamily="2" charset="2"/>
              <a:buChar char="Ø"/>
            </a:pPr>
            <a:r>
              <a:rPr lang="en-US" altLang="en-US" sz="3600" dirty="0">
                <a:latin typeface="Times New Roman" panose="02020603050405020304" pitchFamily="18" charset="0"/>
                <a:cs typeface="Times New Roman" panose="02020603050405020304" pitchFamily="18" charset="0"/>
              </a:rPr>
              <a:t>dipole–dipole forces</a:t>
            </a:r>
          </a:p>
          <a:p>
            <a:pPr>
              <a:buClr>
                <a:srgbClr val="003300"/>
              </a:buClr>
              <a:buFont typeface="Wingdings" pitchFamily="2" charset="2"/>
              <a:buChar char="Ø"/>
            </a:pPr>
            <a:r>
              <a:rPr lang="en-US" altLang="en-US" sz="3600" dirty="0">
                <a:latin typeface="Times New Roman" panose="02020603050405020304" pitchFamily="18" charset="0"/>
                <a:cs typeface="Times New Roman" panose="02020603050405020304" pitchFamily="18" charset="0"/>
              </a:rPr>
              <a:t>hydrogen bonding (a special dipole–dipole force)</a:t>
            </a:r>
          </a:p>
          <a:p>
            <a:pPr>
              <a:buClr>
                <a:srgbClr val="003300"/>
              </a:buClr>
              <a:buFont typeface="Wingdings" pitchFamily="2" charset="2"/>
              <a:buChar char="Ø"/>
            </a:pPr>
            <a:r>
              <a:rPr lang="en-US" altLang="en-US" sz="3600" dirty="0">
                <a:latin typeface="Times New Roman" panose="02020603050405020304" pitchFamily="18" charset="0"/>
                <a:cs typeface="Times New Roman" panose="02020603050405020304" pitchFamily="18" charset="0"/>
              </a:rPr>
              <a:t>ion–dipole forces</a:t>
            </a:r>
          </a:p>
          <a:p>
            <a:pPr>
              <a:buClr>
                <a:srgbClr val="C00000"/>
              </a:buClr>
              <a:buFont typeface="Courier New" pitchFamily="49" charset="0"/>
              <a:buChar char="o"/>
            </a:pPr>
            <a:r>
              <a:rPr lang="en-US" altLang="en-US" sz="3600" dirty="0">
                <a:latin typeface="Times New Roman" panose="02020603050405020304" pitchFamily="18" charset="0"/>
                <a:cs typeface="Times New Roman" panose="02020603050405020304" pitchFamily="18" charset="0"/>
              </a:rPr>
              <a:t>Note: The first two types are also referred to collectively as </a:t>
            </a:r>
            <a:r>
              <a:rPr lang="en-US" altLang="en-US" sz="3600" i="1" dirty="0">
                <a:latin typeface="Times New Roman" panose="02020603050405020304" pitchFamily="18" charset="0"/>
                <a:cs typeface="Times New Roman" panose="02020603050405020304" pitchFamily="18" charset="0"/>
              </a:rPr>
              <a:t>van der Waals forces</a:t>
            </a:r>
            <a:r>
              <a:rPr lang="en-US" altLang="en-US" sz="3600" dirty="0">
                <a:latin typeface="Times New Roman" panose="02020603050405020304" pitchFamily="18" charset="0"/>
                <a:cs typeface="Times New Roman" panose="02020603050405020304" pitchFamily="18" charset="0"/>
              </a:rPr>
              <a:t>.</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3962400" y="3429000"/>
            <a:ext cx="304800" cy="30480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ltLang="en-US"/>
          </a:p>
        </p:txBody>
      </p:sp>
      <p:sp>
        <p:nvSpPr>
          <p:cNvPr id="9219" name="Rectangle 7"/>
          <p:cNvSpPr>
            <a:spLocks noChangeArrowheads="1"/>
          </p:cNvSpPr>
          <p:nvPr/>
        </p:nvSpPr>
        <p:spPr bwMode="auto">
          <a:xfrm>
            <a:off x="2590800" y="1905000"/>
            <a:ext cx="304800" cy="30480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ltLang="en-US"/>
          </a:p>
        </p:txBody>
      </p:sp>
      <p:sp>
        <p:nvSpPr>
          <p:cNvPr id="9220" name="Oval 8"/>
          <p:cNvSpPr>
            <a:spLocks noChangeArrowheads="1"/>
          </p:cNvSpPr>
          <p:nvPr/>
        </p:nvSpPr>
        <p:spPr bwMode="auto">
          <a:xfrm>
            <a:off x="2495550" y="2409825"/>
            <a:ext cx="304800" cy="152400"/>
          </a:xfrm>
          <a:prstGeom prst="ellipse">
            <a:avLst/>
          </a:prstGeom>
          <a:solidFill>
            <a:schemeClr val="bg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ltLang="en-US"/>
          </a:p>
        </p:txBody>
      </p:sp>
      <p:sp>
        <p:nvSpPr>
          <p:cNvPr id="9221" name="Oval 9"/>
          <p:cNvSpPr>
            <a:spLocks noChangeArrowheads="1"/>
          </p:cNvSpPr>
          <p:nvPr/>
        </p:nvSpPr>
        <p:spPr bwMode="auto">
          <a:xfrm>
            <a:off x="2481263" y="2986088"/>
            <a:ext cx="304800" cy="152400"/>
          </a:xfrm>
          <a:prstGeom prst="ellipse">
            <a:avLst/>
          </a:prstGeom>
          <a:solidFill>
            <a:schemeClr val="bg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ltLang="en-US"/>
          </a:p>
        </p:txBody>
      </p:sp>
      <p:sp>
        <p:nvSpPr>
          <p:cNvPr id="9222" name="Rectangle 14"/>
          <p:cNvSpPr>
            <a:spLocks noGrp="1" noChangeArrowheads="1"/>
          </p:cNvSpPr>
          <p:nvPr>
            <p:ph type="title"/>
          </p:nvPr>
        </p:nvSpPr>
        <p:spPr>
          <a:xfrm>
            <a:off x="685800" y="9525"/>
            <a:ext cx="7772400" cy="1143000"/>
          </a:xfrm>
        </p:spPr>
        <p:txBody>
          <a:bodyPr/>
          <a:lstStyle/>
          <a:p>
            <a:pPr eaLnBrk="1" hangingPunct="1"/>
            <a:r>
              <a:rPr lang="en-US" altLang="en-US" dirty="0">
                <a:latin typeface="Modern Love" panose="04090805081005020601" pitchFamily="82" charset="0"/>
              </a:rPr>
              <a:t>Dispersion Forces</a:t>
            </a:r>
          </a:p>
        </p:txBody>
      </p:sp>
      <p:sp>
        <p:nvSpPr>
          <p:cNvPr id="9223" name="Rectangle 16"/>
          <p:cNvSpPr>
            <a:spLocks noGrp="1" noChangeArrowheads="1"/>
          </p:cNvSpPr>
          <p:nvPr>
            <p:ph idx="1"/>
          </p:nvPr>
        </p:nvSpPr>
        <p:spPr>
          <a:xfrm>
            <a:off x="304800" y="1066800"/>
            <a:ext cx="8763000" cy="2071688"/>
          </a:xfrm>
        </p:spPr>
        <p:txBody>
          <a:bodyPr>
            <a:normAutofit lnSpcReduction="10000"/>
          </a:bodyPr>
          <a:lstStyle/>
          <a:p>
            <a:pPr eaLnBrk="1" hangingPunct="1">
              <a:lnSpc>
                <a:spcPct val="90000"/>
              </a:lnSpc>
            </a:pPr>
            <a:r>
              <a:rPr lang="en-US" altLang="en-US" dirty="0">
                <a:latin typeface="Times New Roman" panose="02020603050405020304" pitchFamily="18" charset="0"/>
                <a:cs typeface="Times New Roman" panose="02020603050405020304" pitchFamily="18" charset="0"/>
              </a:rPr>
              <a:t>The figure below shows how a nonpolar particle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(in this case a helium atom) can be temporarily polarized to allow dispersion force to form.</a:t>
            </a:r>
          </a:p>
          <a:p>
            <a:pPr eaLnBrk="1" hangingPunct="1">
              <a:lnSpc>
                <a:spcPct val="90000"/>
              </a:lnSpc>
            </a:pPr>
            <a:r>
              <a:rPr lang="en-US" altLang="en-US" dirty="0">
                <a:latin typeface="Times New Roman" panose="02020603050405020304" pitchFamily="18" charset="0"/>
                <a:cs typeface="Times New Roman" panose="02020603050405020304" pitchFamily="18" charset="0"/>
              </a:rPr>
              <a:t>The tendency of an electron cloud to distort is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called its </a:t>
            </a:r>
            <a:r>
              <a:rPr lang="en-US" altLang="en-US" b="1" dirty="0">
                <a:latin typeface="Times New Roman" panose="02020603050405020304" pitchFamily="18" charset="0"/>
                <a:cs typeface="Times New Roman" panose="02020603050405020304" pitchFamily="18" charset="0"/>
              </a:rPr>
              <a:t>polarizability</a:t>
            </a:r>
            <a:r>
              <a:rPr lang="en-US" altLang="en-US" dirty="0">
                <a:latin typeface="Times New Roman" panose="02020603050405020304" pitchFamily="18" charset="0"/>
                <a:cs typeface="Times New Roman" panose="02020603050405020304" pitchFamily="18" charset="0"/>
              </a:rPr>
              <a:t>.</a:t>
            </a:r>
          </a:p>
        </p:txBody>
      </p:sp>
      <p:pic>
        <p:nvPicPr>
          <p:cNvPr id="9" name="Picture 8" descr="11_04_Figure.jpg"/>
          <p:cNvPicPr>
            <a:picLocks noChangeAspect="1"/>
          </p:cNvPicPr>
          <p:nvPr/>
        </p:nvPicPr>
        <p:blipFill>
          <a:blip r:embed="rId3"/>
          <a:srcRect b="3966"/>
          <a:stretch>
            <a:fillRect/>
          </a:stretch>
        </p:blipFill>
        <p:spPr>
          <a:xfrm>
            <a:off x="1447800" y="3276600"/>
            <a:ext cx="6400800" cy="3099816"/>
          </a:xfrm>
          <a:prstGeom prst="rect">
            <a:avLst/>
          </a:prstGeom>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381000" y="0"/>
            <a:ext cx="8458200" cy="1371600"/>
          </a:xfrm>
        </p:spPr>
        <p:txBody>
          <a:bodyPr/>
          <a:lstStyle/>
          <a:p>
            <a:r>
              <a:rPr lang="en-US" altLang="en-US" dirty="0">
                <a:latin typeface="Modern Love" panose="04090805081005020601" pitchFamily="82" charset="0"/>
              </a:rPr>
              <a:t>Factors Which Affect Amount of Dispersion Force in a Molecule</a:t>
            </a:r>
          </a:p>
        </p:txBody>
      </p:sp>
      <p:sp>
        <p:nvSpPr>
          <p:cNvPr id="10243" name="Content Placeholder 2"/>
          <p:cNvSpPr>
            <a:spLocks noGrp="1"/>
          </p:cNvSpPr>
          <p:nvPr>
            <p:ph idx="1"/>
          </p:nvPr>
        </p:nvSpPr>
        <p:spPr>
          <a:xfrm>
            <a:off x="86139" y="1828802"/>
            <a:ext cx="5105400" cy="5135217"/>
          </a:xfrm>
        </p:spPr>
        <p:txBody>
          <a:bodyPr/>
          <a:lstStyle/>
          <a:p>
            <a:r>
              <a:rPr lang="en-US" altLang="en-US" dirty="0">
                <a:latin typeface="Times New Roman" panose="02020603050405020304" pitchFamily="18" charset="0"/>
                <a:cs typeface="Times New Roman" panose="02020603050405020304" pitchFamily="18" charset="0"/>
              </a:rPr>
              <a:t>number of electrons in an atom (more electrons, more dispersion force)</a:t>
            </a:r>
          </a:p>
          <a:p>
            <a:r>
              <a:rPr lang="en-US" altLang="en-US" dirty="0">
                <a:latin typeface="Times New Roman" panose="02020603050405020304" pitchFamily="18" charset="0"/>
                <a:cs typeface="Times New Roman" panose="02020603050405020304" pitchFamily="18" charset="0"/>
              </a:rPr>
              <a:t>size of atom or molecule/molecular weight</a:t>
            </a:r>
          </a:p>
          <a:p>
            <a:r>
              <a:rPr lang="en-US" altLang="en-US" dirty="0">
                <a:latin typeface="Times New Roman" panose="02020603050405020304" pitchFamily="18" charset="0"/>
                <a:cs typeface="Times New Roman" panose="02020603050405020304" pitchFamily="18" charset="0"/>
              </a:rPr>
              <a:t>shape of molecules with similar masses (more compact, less dispersion force)</a:t>
            </a:r>
          </a:p>
        </p:txBody>
      </p:sp>
      <p:pic>
        <p:nvPicPr>
          <p:cNvPr id="5" name="Picture 4" descr="11_06_Figure.jpg"/>
          <p:cNvPicPr>
            <a:picLocks noChangeAspect="1"/>
          </p:cNvPicPr>
          <p:nvPr/>
        </p:nvPicPr>
        <p:blipFill>
          <a:blip r:embed="rId2"/>
          <a:srcRect b="2546"/>
          <a:stretch>
            <a:fillRect/>
          </a:stretch>
        </p:blipFill>
        <p:spPr>
          <a:xfrm>
            <a:off x="5714999" y="1524002"/>
            <a:ext cx="2643810" cy="5294724"/>
          </a:xfrm>
          <a:prstGeom prst="rect">
            <a:avLst/>
          </a:prstGeom>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685800" y="152400"/>
            <a:ext cx="7772400" cy="1143000"/>
          </a:xfrm>
        </p:spPr>
        <p:txBody>
          <a:bodyPr/>
          <a:lstStyle/>
          <a:p>
            <a:r>
              <a:rPr lang="en-US" altLang="en-US" dirty="0">
                <a:latin typeface="Modern Love" panose="04090805081005020601" pitchFamily="82" charset="0"/>
              </a:rPr>
              <a:t>Dipole–Dipole Interactions</a:t>
            </a:r>
          </a:p>
        </p:txBody>
      </p:sp>
      <p:sp>
        <p:nvSpPr>
          <p:cNvPr id="12291" name="Content Placeholder 2"/>
          <p:cNvSpPr>
            <a:spLocks noGrp="1"/>
          </p:cNvSpPr>
          <p:nvPr>
            <p:ph idx="1"/>
          </p:nvPr>
        </p:nvSpPr>
        <p:spPr>
          <a:xfrm>
            <a:off x="533400" y="1590262"/>
            <a:ext cx="7924800" cy="2696817"/>
          </a:xfrm>
        </p:spPr>
        <p:txBody>
          <a:bodyPr/>
          <a:lstStyle/>
          <a:p>
            <a:r>
              <a:rPr lang="en-US" altLang="en-US" dirty="0">
                <a:latin typeface="Times New Roman" panose="02020603050405020304" pitchFamily="18" charset="0"/>
                <a:cs typeface="Times New Roman" panose="02020603050405020304" pitchFamily="18" charset="0"/>
              </a:rPr>
              <a:t>Polar molecules have a more positive and a more negative end–a dipole (two poles, </a:t>
            </a:r>
            <a:r>
              <a:rPr lang="el-GR" altLang="en-US" i="1" dirty="0">
                <a:latin typeface="Times New Roman" panose="02020603050405020304" pitchFamily="18" charset="0"/>
                <a:cs typeface="Times New Roman" pitchFamily="18" charset="0"/>
              </a:rPr>
              <a:t>δ</a:t>
            </a:r>
            <a:r>
              <a:rPr lang="en-US" altLang="en-US" baseline="30000"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and </a:t>
            </a:r>
            <a:r>
              <a:rPr lang="el-GR" altLang="en-US" i="1" dirty="0">
                <a:latin typeface="Times New Roman" panose="02020603050405020304" pitchFamily="18" charset="0"/>
                <a:cs typeface="Times New Roman" pitchFamily="18" charset="0"/>
              </a:rPr>
              <a:t>δ</a:t>
            </a:r>
            <a:r>
              <a:rPr lang="en-US" baseline="30000"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a:t>
            </a:r>
          </a:p>
          <a:p>
            <a:r>
              <a:rPr lang="en-US" altLang="en-US" dirty="0">
                <a:latin typeface="Times New Roman" panose="02020603050405020304" pitchFamily="18" charset="0"/>
                <a:cs typeface="Times New Roman" panose="02020603050405020304" pitchFamily="18" charset="0"/>
              </a:rPr>
              <a:t>The oppositely charged ends attract each other.</a:t>
            </a:r>
          </a:p>
        </p:txBody>
      </p:sp>
      <p:pic>
        <p:nvPicPr>
          <p:cNvPr id="5" name="Picture 4" descr="11_07_Figure.jpg"/>
          <p:cNvPicPr>
            <a:picLocks noChangeAspect="1"/>
          </p:cNvPicPr>
          <p:nvPr/>
        </p:nvPicPr>
        <p:blipFill>
          <a:blip r:embed="rId2"/>
          <a:srcRect b="5508"/>
          <a:stretch>
            <a:fillRect/>
          </a:stretch>
        </p:blipFill>
        <p:spPr>
          <a:xfrm>
            <a:off x="1075016" y="3429000"/>
            <a:ext cx="7234097" cy="2880721"/>
          </a:xfrm>
          <a:prstGeom prst="rect">
            <a:avLst/>
          </a:prstGeom>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9600" y="76200"/>
            <a:ext cx="7772400" cy="1143000"/>
          </a:xfrm>
        </p:spPr>
        <p:txBody>
          <a:bodyPr/>
          <a:lstStyle/>
          <a:p>
            <a:pPr eaLnBrk="1" hangingPunct="1"/>
            <a:r>
              <a:rPr lang="en-US" altLang="en-US" dirty="0">
                <a:latin typeface="Modern Love" panose="04090805081005020601" pitchFamily="82" charset="0"/>
              </a:rPr>
              <a:t>Dipole–Dipole Interactions</a:t>
            </a:r>
          </a:p>
        </p:txBody>
      </p:sp>
      <p:sp>
        <p:nvSpPr>
          <p:cNvPr id="13315" name="Rectangle 4"/>
          <p:cNvSpPr>
            <a:spLocks noGrp="1" noChangeArrowheads="1"/>
          </p:cNvSpPr>
          <p:nvPr>
            <p:ph type="body" sz="half" idx="2"/>
          </p:nvPr>
        </p:nvSpPr>
        <p:spPr>
          <a:xfrm>
            <a:off x="304800" y="5436705"/>
            <a:ext cx="8534400" cy="1480930"/>
          </a:xfrm>
        </p:spPr>
        <p:txBody>
          <a:bodyPr/>
          <a:lstStyle/>
          <a:p>
            <a:pPr eaLnBrk="1" hangingPunct="1">
              <a:buFontTx/>
              <a:buNone/>
            </a:pPr>
            <a:r>
              <a:rPr lang="en-US" altLang="en-US" dirty="0"/>
              <a:t>	</a:t>
            </a:r>
            <a:r>
              <a:rPr lang="en-US" altLang="en-US" dirty="0">
                <a:latin typeface="Times New Roman" panose="02020603050405020304" pitchFamily="18" charset="0"/>
                <a:cs typeface="Times New Roman" panose="02020603050405020304" pitchFamily="18" charset="0"/>
              </a:rPr>
              <a:t>For molecules of approximately equal mass and size, the more polar the molecule, the higher its boiling point.</a:t>
            </a:r>
          </a:p>
        </p:txBody>
      </p:sp>
      <p:pic>
        <p:nvPicPr>
          <p:cNvPr id="5" name="Picture 4" descr="11_08_Figure.jpg"/>
          <p:cNvPicPr>
            <a:picLocks noChangeAspect="1"/>
          </p:cNvPicPr>
          <p:nvPr/>
        </p:nvPicPr>
        <p:blipFill>
          <a:blip r:embed="rId3"/>
          <a:srcRect b="3640"/>
          <a:stretch>
            <a:fillRect/>
          </a:stretch>
        </p:blipFill>
        <p:spPr>
          <a:xfrm>
            <a:off x="778623" y="1219200"/>
            <a:ext cx="7755777" cy="3886198"/>
          </a:xfrm>
          <a:prstGeom prst="rect">
            <a:avLst/>
          </a:prstGeom>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0E8C5-771D-C85D-D7AB-FFBC441951FC}"/>
              </a:ext>
            </a:extLst>
          </p:cNvPr>
          <p:cNvSpPr>
            <a:spLocks noGrp="1"/>
          </p:cNvSpPr>
          <p:nvPr>
            <p:ph type="title"/>
          </p:nvPr>
        </p:nvSpPr>
        <p:spPr/>
        <p:txBody>
          <a:bodyPr/>
          <a:lstStyle/>
          <a:p>
            <a:r>
              <a:rPr lang="en-US" dirty="0">
                <a:latin typeface="Modern Love" panose="04090805081005020601" pitchFamily="82" charset="0"/>
              </a:rPr>
              <a:t>Question</a:t>
            </a:r>
          </a:p>
        </p:txBody>
      </p:sp>
      <p:sp>
        <p:nvSpPr>
          <p:cNvPr id="3" name="Content Placeholder 2">
            <a:extLst>
              <a:ext uri="{FF2B5EF4-FFF2-40B4-BE49-F238E27FC236}">
                <a16:creationId xmlns:a16="http://schemas.microsoft.com/office/drawing/2014/main" id="{72D0F419-15E7-688B-88DE-E95D87E8BB4F}"/>
              </a:ext>
            </a:extLst>
          </p:cNvPr>
          <p:cNvSpPr>
            <a:spLocks noGrp="1"/>
          </p:cNvSpPr>
          <p:nvPr>
            <p:ph sz="half" idx="1"/>
          </p:nvPr>
        </p:nvSpPr>
        <p:spPr>
          <a:xfrm>
            <a:off x="661736" y="862263"/>
            <a:ext cx="7772400" cy="1981200"/>
          </a:xfrm>
        </p:spPr>
        <p:txBody>
          <a:bodyPr>
            <a:noAutofit/>
          </a:bodyPr>
          <a:lstStyle/>
          <a:p>
            <a:pPr algn="just"/>
            <a:endParaRPr lang="en-US" sz="3200" b="0" i="0" u="none" strike="noStrike" baseline="0" dirty="0">
              <a:solidFill>
                <a:srgbClr val="000000"/>
              </a:solidFill>
              <a:latin typeface="Times New Roman" panose="02020603050405020304" pitchFamily="18" charset="0"/>
            </a:endParaRPr>
          </a:p>
          <a:p>
            <a:pPr marL="0" indent="0" algn="just">
              <a:buNone/>
            </a:pPr>
            <a:r>
              <a:rPr lang="en-US" sz="3200" dirty="0">
                <a:solidFill>
                  <a:srgbClr val="000000"/>
                </a:solidFill>
                <a:latin typeface="Times New Roman" panose="02020603050405020304" pitchFamily="18" charset="0"/>
              </a:rPr>
              <a:t>1. </a:t>
            </a:r>
            <a:r>
              <a:rPr lang="en-US" sz="3200" b="0" i="0" u="none" strike="noStrike" baseline="0" dirty="0">
                <a:solidFill>
                  <a:srgbClr val="000000"/>
                </a:solidFill>
                <a:latin typeface="Times New Roman" panose="02020603050405020304" pitchFamily="18" charset="0"/>
              </a:rPr>
              <a:t>Calculate the dipole moment of a water model having following characteristics: </a:t>
            </a:r>
            <a:r>
              <a:rPr lang="en-US" sz="3200" b="0" i="0" u="none" strike="noStrike" baseline="0" dirty="0" err="1">
                <a:solidFill>
                  <a:srgbClr val="000000"/>
                </a:solidFill>
                <a:latin typeface="Times New Roman" panose="02020603050405020304" pitchFamily="18" charset="0"/>
              </a:rPr>
              <a:t>r</a:t>
            </a:r>
            <a:r>
              <a:rPr lang="en-US" sz="3200" b="0" i="0" u="none" strike="noStrike" baseline="-25000" dirty="0" err="1">
                <a:solidFill>
                  <a:srgbClr val="000000"/>
                </a:solidFill>
                <a:latin typeface="Times New Roman" panose="02020603050405020304" pitchFamily="18" charset="0"/>
              </a:rPr>
              <a:t>OH</a:t>
            </a:r>
            <a:r>
              <a:rPr lang="en-US" sz="3200" b="0" i="0" u="none" strike="noStrike" baseline="0" dirty="0">
                <a:solidFill>
                  <a:srgbClr val="000000"/>
                </a:solidFill>
                <a:latin typeface="Times New Roman" panose="02020603050405020304" pitchFamily="18" charset="0"/>
              </a:rPr>
              <a:t> = 0.97 Å, HOH angle = 104.5</a:t>
            </a:r>
            <a:r>
              <a:rPr lang="en-US" sz="3200" b="0" i="0" u="none" strike="noStrike" baseline="30000" dirty="0">
                <a:solidFill>
                  <a:srgbClr val="000000"/>
                </a:solidFill>
                <a:latin typeface="Times New Roman" panose="02020603050405020304" pitchFamily="18" charset="0"/>
              </a:rPr>
              <a:t>o</a:t>
            </a:r>
            <a:r>
              <a:rPr lang="en-US" sz="3200" b="0" i="0" u="none" strike="noStrike" baseline="0" dirty="0">
                <a:solidFill>
                  <a:srgbClr val="000000"/>
                </a:solidFill>
                <a:latin typeface="Times New Roman" panose="02020603050405020304" pitchFamily="18" charset="0"/>
              </a:rPr>
              <a:t>, </a:t>
            </a:r>
            <a:r>
              <a:rPr lang="en-US" sz="3200" b="0" i="0" u="none" strike="noStrike" baseline="0" dirty="0" err="1">
                <a:solidFill>
                  <a:srgbClr val="000000"/>
                </a:solidFill>
                <a:latin typeface="Times New Roman" panose="02020603050405020304" pitchFamily="18" charset="0"/>
              </a:rPr>
              <a:t>q</a:t>
            </a:r>
            <a:r>
              <a:rPr lang="en-US" sz="3200" b="0" i="0" u="none" strike="noStrike" baseline="-25000" dirty="0" err="1">
                <a:solidFill>
                  <a:srgbClr val="000000"/>
                </a:solidFill>
                <a:latin typeface="Times New Roman" panose="02020603050405020304" pitchFamily="18" charset="0"/>
              </a:rPr>
              <a:t>O</a:t>
            </a:r>
            <a:r>
              <a:rPr lang="en-US" sz="3200" b="0" i="0" u="none" strike="noStrike" baseline="0" dirty="0">
                <a:solidFill>
                  <a:srgbClr val="000000"/>
                </a:solidFill>
                <a:latin typeface="Times New Roman" panose="02020603050405020304" pitchFamily="18" charset="0"/>
              </a:rPr>
              <a:t> = -0.6e and </a:t>
            </a:r>
            <a:r>
              <a:rPr lang="en-US" sz="3200" b="0" i="0" u="none" strike="noStrike" baseline="0" dirty="0" err="1">
                <a:solidFill>
                  <a:srgbClr val="000000"/>
                </a:solidFill>
                <a:latin typeface="Times New Roman" panose="02020603050405020304" pitchFamily="18" charset="0"/>
              </a:rPr>
              <a:t>q</a:t>
            </a:r>
            <a:r>
              <a:rPr lang="en-US" sz="3200" b="0" i="0" u="none" strike="noStrike" baseline="-25000" dirty="0" err="1">
                <a:solidFill>
                  <a:srgbClr val="000000"/>
                </a:solidFill>
                <a:latin typeface="Times New Roman" panose="02020603050405020304" pitchFamily="18" charset="0"/>
              </a:rPr>
              <a:t>H</a:t>
            </a:r>
            <a:r>
              <a:rPr lang="en-US" sz="3200" b="0" i="0" u="none" strike="noStrike" baseline="0" dirty="0">
                <a:solidFill>
                  <a:srgbClr val="000000"/>
                </a:solidFill>
                <a:latin typeface="Times New Roman" panose="02020603050405020304" pitchFamily="18" charset="0"/>
              </a:rPr>
              <a:t> = +0.3e. </a:t>
            </a:r>
            <a:endParaRPr lang="en-US" sz="3200" dirty="0"/>
          </a:p>
        </p:txBody>
      </p:sp>
    </p:spTree>
    <p:extLst>
      <p:ext uri="{BB962C8B-B14F-4D97-AF65-F5344CB8AC3E}">
        <p14:creationId xmlns:p14="http://schemas.microsoft.com/office/powerpoint/2010/main" val="3247465534"/>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228600"/>
            <a:ext cx="7772400" cy="2057400"/>
          </a:xfrm>
        </p:spPr>
        <p:txBody>
          <a:bodyPr/>
          <a:lstStyle/>
          <a:p>
            <a:pPr eaLnBrk="1" hangingPunct="1"/>
            <a:r>
              <a:rPr lang="en-US" altLang="en-US" dirty="0">
                <a:latin typeface="Modern Love" panose="04090805081005020601" pitchFamily="82" charset="0"/>
              </a:rPr>
              <a:t>Which Have a Greater Effect:</a:t>
            </a:r>
            <a:br>
              <a:rPr lang="en-US" altLang="en-US" dirty="0">
                <a:latin typeface="Modern Love" panose="04090805081005020601" pitchFamily="82" charset="0"/>
              </a:rPr>
            </a:br>
            <a:r>
              <a:rPr lang="en-US" altLang="en-US" dirty="0">
                <a:latin typeface="Modern Love" panose="04090805081005020601" pitchFamily="82" charset="0"/>
              </a:rPr>
              <a:t>Dipole–Dipole Interactions or Dispersion Forces?</a:t>
            </a:r>
          </a:p>
        </p:txBody>
      </p:sp>
      <p:sp>
        <p:nvSpPr>
          <p:cNvPr id="14339" name="Rectangle 3"/>
          <p:cNvSpPr>
            <a:spLocks noGrp="1" noChangeArrowheads="1"/>
          </p:cNvSpPr>
          <p:nvPr>
            <p:ph idx="1"/>
          </p:nvPr>
        </p:nvSpPr>
        <p:spPr>
          <a:xfrm>
            <a:off x="685800" y="2514600"/>
            <a:ext cx="7772400" cy="3581400"/>
          </a:xfrm>
        </p:spPr>
        <p:txBody>
          <a:bodyPr/>
          <a:lstStyle/>
          <a:p>
            <a:pPr eaLnBrk="1" hangingPunct="1"/>
            <a:r>
              <a:rPr lang="en-US" altLang="en-US" dirty="0">
                <a:latin typeface="Times New Roman" panose="02020603050405020304" pitchFamily="18" charset="0"/>
                <a:cs typeface="Times New Roman" panose="02020603050405020304" pitchFamily="18" charset="0"/>
              </a:rPr>
              <a:t>If two molecules are of comparable size and shape, dipole–dipole interactions will likely be the dominating force.</a:t>
            </a:r>
          </a:p>
          <a:p>
            <a:pPr eaLnBrk="1" hangingPunct="1"/>
            <a:r>
              <a:rPr lang="en-US" altLang="en-US" dirty="0">
                <a:latin typeface="Times New Roman" panose="02020603050405020304" pitchFamily="18" charset="0"/>
                <a:cs typeface="Times New Roman" panose="02020603050405020304" pitchFamily="18" charset="0"/>
              </a:rPr>
              <a:t>If one molecule is much larger than another, dispersion forces will likely determine its physical properties.</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28600" y="0"/>
            <a:ext cx="8686800" cy="1143000"/>
          </a:xfrm>
        </p:spPr>
        <p:txBody>
          <a:bodyPr/>
          <a:lstStyle/>
          <a:p>
            <a:r>
              <a:rPr lang="en-US" altLang="en-US" dirty="0">
                <a:latin typeface="Modern Love" panose="04090805081005020601" pitchFamily="82" charset="0"/>
              </a:rPr>
              <a:t>What Does This Graph Show Us?</a:t>
            </a:r>
          </a:p>
        </p:txBody>
      </p:sp>
      <p:sp>
        <p:nvSpPr>
          <p:cNvPr id="15363" name="Content Placeholder 2"/>
          <p:cNvSpPr>
            <a:spLocks noGrp="1"/>
          </p:cNvSpPr>
          <p:nvPr>
            <p:ph idx="1"/>
          </p:nvPr>
        </p:nvSpPr>
        <p:spPr>
          <a:xfrm>
            <a:off x="28577" y="1838740"/>
            <a:ext cx="4619625" cy="5486400"/>
          </a:xfrm>
        </p:spPr>
        <p:txBody>
          <a:bodyPr/>
          <a:lstStyle/>
          <a:p>
            <a:r>
              <a:rPr lang="en-US" altLang="en-US" dirty="0">
                <a:latin typeface="Times New Roman" panose="02020603050405020304" pitchFamily="18" charset="0"/>
                <a:cs typeface="Times New Roman" panose="02020603050405020304" pitchFamily="18" charset="0"/>
              </a:rPr>
              <a:t>In a group, the period 3/4/5 elements have higher boiling points as the group member gets larger.</a:t>
            </a:r>
          </a:p>
          <a:p>
            <a:r>
              <a:rPr lang="en-US" altLang="en-US" dirty="0">
                <a:latin typeface="Times New Roman" panose="02020603050405020304" pitchFamily="18" charset="0"/>
                <a:cs typeface="Times New Roman" panose="02020603050405020304" pitchFamily="18" charset="0"/>
              </a:rPr>
              <a:t>What happens with the period 2 elements? For group 4A, the trend is continued. What about for the other groups?</a:t>
            </a:r>
          </a:p>
        </p:txBody>
      </p:sp>
      <p:pic>
        <p:nvPicPr>
          <p:cNvPr id="5" name="Picture 4" descr="11_09_Figure.jpg"/>
          <p:cNvPicPr>
            <a:picLocks noChangeAspect="1"/>
          </p:cNvPicPr>
          <p:nvPr/>
        </p:nvPicPr>
        <p:blipFill>
          <a:blip r:embed="rId2"/>
          <a:srcRect b="2830"/>
          <a:stretch>
            <a:fillRect/>
          </a:stretch>
        </p:blipFill>
        <p:spPr>
          <a:xfrm>
            <a:off x="4724400" y="2176670"/>
            <a:ext cx="4191000" cy="2929210"/>
          </a:xfrm>
          <a:prstGeom prst="rect">
            <a:avLst/>
          </a:prstGeom>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0"/>
            <a:ext cx="7772400" cy="1143000"/>
          </a:xfrm>
        </p:spPr>
        <p:txBody>
          <a:bodyPr/>
          <a:lstStyle/>
          <a:p>
            <a:pPr eaLnBrk="1" hangingPunct="1"/>
            <a:r>
              <a:rPr lang="en-US" altLang="en-US" dirty="0">
                <a:latin typeface="Modern Love" panose="04090805081005020601" pitchFamily="82" charset="0"/>
              </a:rPr>
              <a:t>Hydrogen Bonding</a:t>
            </a:r>
          </a:p>
        </p:txBody>
      </p:sp>
      <p:sp>
        <p:nvSpPr>
          <p:cNvPr id="16387" name="Rectangle 3"/>
          <p:cNvSpPr>
            <a:spLocks noGrp="1" noChangeArrowheads="1"/>
          </p:cNvSpPr>
          <p:nvPr>
            <p:ph type="body" sz="half" idx="1"/>
          </p:nvPr>
        </p:nvSpPr>
        <p:spPr>
          <a:xfrm>
            <a:off x="0" y="1262269"/>
            <a:ext cx="5334000" cy="5801139"/>
          </a:xfrm>
        </p:spPr>
        <p:txBody>
          <a:bodyPr/>
          <a:lstStyle/>
          <a:p>
            <a:pPr eaLnBrk="1" hangingPunct="1"/>
            <a:r>
              <a:rPr lang="en-US" altLang="en-US" dirty="0">
                <a:latin typeface="Times New Roman" panose="02020603050405020304" pitchFamily="18" charset="0"/>
                <a:cs typeface="Times New Roman" panose="02020603050405020304" pitchFamily="18" charset="0"/>
              </a:rPr>
              <a:t>The dipole–dipole interactions experienced when H is bonded to N, O, or F are unusually strong.</a:t>
            </a:r>
          </a:p>
          <a:p>
            <a:pPr>
              <a:spcBef>
                <a:spcPts val="300"/>
              </a:spcBef>
            </a:pPr>
            <a:r>
              <a:rPr lang="en-US" altLang="en-US" dirty="0">
                <a:latin typeface="Times New Roman" panose="02020603050405020304" pitchFamily="18" charset="0"/>
                <a:cs typeface="Times New Roman" panose="02020603050405020304" pitchFamily="18" charset="0"/>
              </a:rPr>
              <a:t>We call these interactions </a:t>
            </a:r>
            <a:r>
              <a:rPr lang="en-US" altLang="en-US" b="1" dirty="0">
                <a:latin typeface="Times New Roman" panose="02020603050405020304" pitchFamily="18" charset="0"/>
                <a:cs typeface="Times New Roman" panose="02020603050405020304" pitchFamily="18" charset="0"/>
              </a:rPr>
              <a:t>hydrogen bonds</a:t>
            </a:r>
            <a:r>
              <a:rPr lang="en-US" altLang="en-US" dirty="0">
                <a:latin typeface="Times New Roman" panose="02020603050405020304" pitchFamily="18" charset="0"/>
                <a:cs typeface="Times New Roman" panose="02020603050405020304" pitchFamily="18" charset="0"/>
              </a:rPr>
              <a:t>.</a:t>
            </a:r>
          </a:p>
          <a:p>
            <a:pPr>
              <a:spcBef>
                <a:spcPts val="300"/>
              </a:spcBef>
            </a:pPr>
            <a:r>
              <a:rPr lang="en-US" altLang="en-US" dirty="0">
                <a:latin typeface="Times New Roman" panose="02020603050405020304" pitchFamily="18" charset="0"/>
                <a:cs typeface="Times New Roman" panose="02020603050405020304" pitchFamily="18" charset="0"/>
              </a:rPr>
              <a:t>A hydrogen bond is an attraction between a hydrogen atom attached to a highly electronegative atom and a nearby small electronegative atom in another molecule or chemical group.</a:t>
            </a:r>
          </a:p>
          <a:p>
            <a:pPr eaLnBrk="1" hangingPunct="1"/>
            <a:endParaRPr lang="en-US" altLang="en-US" dirty="0"/>
          </a:p>
        </p:txBody>
      </p:sp>
      <p:pic>
        <p:nvPicPr>
          <p:cNvPr id="5" name="Picture 4" descr="11_10_Figure.jpg"/>
          <p:cNvPicPr>
            <a:picLocks noChangeAspect="1"/>
          </p:cNvPicPr>
          <p:nvPr/>
        </p:nvPicPr>
        <p:blipFill>
          <a:blip r:embed="rId3"/>
          <a:srcRect b="2546"/>
          <a:stretch>
            <a:fillRect/>
          </a:stretch>
        </p:blipFill>
        <p:spPr>
          <a:xfrm>
            <a:off x="5741504" y="90285"/>
            <a:ext cx="3124200" cy="6227689"/>
          </a:xfrm>
          <a:prstGeom prst="rect">
            <a:avLst/>
          </a:prstGeom>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4"/>
          <p:cNvSpPr>
            <a:spLocks noGrp="1"/>
          </p:cNvSpPr>
          <p:nvPr>
            <p:ph type="title"/>
          </p:nvPr>
        </p:nvSpPr>
        <p:spPr>
          <a:xfrm>
            <a:off x="533400" y="228600"/>
            <a:ext cx="8153400" cy="1143000"/>
          </a:xfrm>
        </p:spPr>
        <p:txBody>
          <a:bodyPr/>
          <a:lstStyle/>
          <a:p>
            <a:r>
              <a:rPr lang="en-US" altLang="en-US" dirty="0">
                <a:latin typeface="Modern Love" panose="04090805081005020601" pitchFamily="82" charset="0"/>
              </a:rPr>
              <a:t>What Forms Hydrogen Bonds?</a:t>
            </a:r>
          </a:p>
        </p:txBody>
      </p:sp>
      <p:sp>
        <p:nvSpPr>
          <p:cNvPr id="17411" name="Content Placeholder 5"/>
          <p:cNvSpPr>
            <a:spLocks noGrp="1"/>
          </p:cNvSpPr>
          <p:nvPr>
            <p:ph idx="1"/>
          </p:nvPr>
        </p:nvSpPr>
        <p:spPr>
          <a:xfrm>
            <a:off x="304800" y="1719470"/>
            <a:ext cx="8534400" cy="2693504"/>
          </a:xfrm>
        </p:spPr>
        <p:txBody>
          <a:bodyPr/>
          <a:lstStyle/>
          <a:p>
            <a:r>
              <a:rPr lang="en-US" altLang="en-US" dirty="0">
                <a:latin typeface="Times New Roman" panose="02020603050405020304" pitchFamily="18" charset="0"/>
                <a:cs typeface="Times New Roman" panose="02020603050405020304" pitchFamily="18" charset="0"/>
              </a:rPr>
              <a:t>Hydrogen bonding arises in part from the high electronegativity of nitrogen, oxygen, and fluorine.</a:t>
            </a:r>
          </a:p>
          <a:p>
            <a:r>
              <a:rPr lang="en-US" altLang="en-US" dirty="0">
                <a:latin typeface="Times New Roman" panose="02020603050405020304" pitchFamily="18" charset="0"/>
                <a:cs typeface="Times New Roman" panose="02020603050405020304" pitchFamily="18" charset="0"/>
              </a:rPr>
              <a:t>These atoms interact with a nearly bare nucleus (which contains one proton).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1" y="4262231"/>
            <a:ext cx="6481969" cy="997226"/>
          </a:xfrm>
          <a:prstGeom prst="rect">
            <a:avLst/>
          </a:prstGeom>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152400"/>
            <a:ext cx="7772400" cy="1143000"/>
          </a:xfrm>
        </p:spPr>
        <p:txBody>
          <a:bodyPr/>
          <a:lstStyle/>
          <a:p>
            <a:pPr eaLnBrk="1" hangingPunct="1"/>
            <a:r>
              <a:rPr lang="en-US" altLang="en-US" dirty="0">
                <a:latin typeface="Modern Love" panose="04090805081005020601" pitchFamily="82" charset="0"/>
              </a:rPr>
              <a:t>Ion–Dipole Interactions</a:t>
            </a:r>
          </a:p>
        </p:txBody>
      </p:sp>
      <p:sp>
        <p:nvSpPr>
          <p:cNvPr id="18435" name="Rectangle 4"/>
          <p:cNvSpPr>
            <a:spLocks noGrp="1" noChangeArrowheads="1"/>
          </p:cNvSpPr>
          <p:nvPr>
            <p:ph type="body" sz="half" idx="1"/>
          </p:nvPr>
        </p:nvSpPr>
        <p:spPr>
          <a:xfrm>
            <a:off x="152400" y="1371600"/>
            <a:ext cx="8839200" cy="1905000"/>
          </a:xfrm>
        </p:spPr>
        <p:txBody>
          <a:bodyPr/>
          <a:lstStyle/>
          <a:p>
            <a:pPr eaLnBrk="1" hangingPunct="1"/>
            <a:r>
              <a:rPr lang="en-US" altLang="en-US" dirty="0">
                <a:latin typeface="Times New Roman" panose="02020603050405020304" pitchFamily="18" charset="0"/>
                <a:cs typeface="Times New Roman" panose="02020603050405020304" pitchFamily="18" charset="0"/>
              </a:rPr>
              <a:t>Ion–dipole interactions are found in solutions of ions.</a:t>
            </a:r>
          </a:p>
          <a:p>
            <a:pPr eaLnBrk="1" hangingPunct="1"/>
            <a:r>
              <a:rPr lang="en-US" altLang="en-US" dirty="0">
                <a:latin typeface="Times New Roman" panose="02020603050405020304" pitchFamily="18" charset="0"/>
                <a:cs typeface="Times New Roman" panose="02020603050405020304" pitchFamily="18" charset="0"/>
              </a:rPr>
              <a:t>The strength of these forces is what makes it possible for ionic substances to dissolve in polar solvents.</a:t>
            </a:r>
          </a:p>
        </p:txBody>
      </p:sp>
      <p:pic>
        <p:nvPicPr>
          <p:cNvPr id="5" name="Picture 4" descr="11_13_Figure.jpg"/>
          <p:cNvPicPr>
            <a:picLocks noChangeAspect="1"/>
          </p:cNvPicPr>
          <p:nvPr/>
        </p:nvPicPr>
        <p:blipFill>
          <a:blip r:embed="rId3"/>
          <a:srcRect b="3704"/>
          <a:stretch>
            <a:fillRect/>
          </a:stretch>
        </p:blipFill>
        <p:spPr>
          <a:xfrm>
            <a:off x="1603960" y="3021496"/>
            <a:ext cx="5814550" cy="3455504"/>
          </a:xfrm>
          <a:prstGeom prst="rect">
            <a:avLst/>
          </a:prstGeom>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0" y="228600"/>
            <a:ext cx="9144000" cy="1143000"/>
          </a:xfrm>
        </p:spPr>
        <p:txBody>
          <a:bodyPr>
            <a:normAutofit fontScale="90000"/>
          </a:bodyPr>
          <a:lstStyle/>
          <a:p>
            <a:pPr eaLnBrk="1" hangingPunct="1"/>
            <a:r>
              <a:rPr lang="en-US" altLang="en-US" dirty="0">
                <a:latin typeface="Modern Love" panose="04090805081005020601" pitchFamily="82" charset="0"/>
              </a:rPr>
              <a:t>Summarizing Intermolecular Forces</a:t>
            </a:r>
          </a:p>
        </p:txBody>
      </p:sp>
      <p:pic>
        <p:nvPicPr>
          <p:cNvPr id="4" name="Picture 3" descr="11_14_Figure.jpg"/>
          <p:cNvPicPr>
            <a:picLocks noChangeAspect="1"/>
          </p:cNvPicPr>
          <p:nvPr/>
        </p:nvPicPr>
        <p:blipFill>
          <a:blip r:embed="rId3"/>
          <a:srcRect b="2546"/>
          <a:stretch>
            <a:fillRect/>
          </a:stretch>
        </p:blipFill>
        <p:spPr>
          <a:xfrm>
            <a:off x="1327726" y="1318063"/>
            <a:ext cx="6196196" cy="5416525"/>
          </a:xfrm>
          <a:prstGeom prst="rect">
            <a:avLst/>
          </a:prstGeom>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latin typeface="Modern Love" panose="04090805081005020601" pitchFamily="82" charset="0"/>
              </a:rPr>
              <a:t>Liquid Properties Affected by Intermolecular Forces</a:t>
            </a:r>
          </a:p>
        </p:txBody>
      </p:sp>
      <p:sp>
        <p:nvSpPr>
          <p:cNvPr id="20483" name="Content Placeholder 2"/>
          <p:cNvSpPr>
            <a:spLocks noGrp="1"/>
          </p:cNvSpPr>
          <p:nvPr>
            <p:ph idx="1"/>
          </p:nvPr>
        </p:nvSpPr>
        <p:spPr/>
        <p:txBody>
          <a:bodyPr/>
          <a:lstStyle/>
          <a:p>
            <a:r>
              <a:rPr lang="en-US" altLang="en-US" dirty="0">
                <a:latin typeface="Times New Roman" panose="02020603050405020304" pitchFamily="18" charset="0"/>
                <a:cs typeface="Times New Roman" panose="02020603050405020304" pitchFamily="18" charset="0"/>
              </a:rPr>
              <a:t>boiling point (previously discussed) and melting point</a:t>
            </a:r>
          </a:p>
          <a:p>
            <a:r>
              <a:rPr lang="en-US" altLang="en-US" dirty="0">
                <a:latin typeface="Times New Roman" panose="02020603050405020304" pitchFamily="18" charset="0"/>
                <a:cs typeface="Times New Roman" panose="02020603050405020304" pitchFamily="18" charset="0"/>
              </a:rPr>
              <a:t>viscosity</a:t>
            </a:r>
          </a:p>
          <a:p>
            <a:r>
              <a:rPr lang="en-US" altLang="en-US" dirty="0">
                <a:latin typeface="Times New Roman" panose="02020603050405020304" pitchFamily="18" charset="0"/>
                <a:cs typeface="Times New Roman" panose="02020603050405020304" pitchFamily="18" charset="0"/>
              </a:rPr>
              <a:t>surface tension</a:t>
            </a:r>
          </a:p>
          <a:p>
            <a:r>
              <a:rPr lang="en-US" altLang="en-US" dirty="0">
                <a:latin typeface="Times New Roman" panose="02020603050405020304" pitchFamily="18" charset="0"/>
                <a:cs typeface="Times New Roman" panose="02020603050405020304" pitchFamily="18" charset="0"/>
              </a:rPr>
              <a:t>capillary action</a:t>
            </a:r>
          </a:p>
          <a:p>
            <a:endParaRPr lang="en-US" altLang="en-US" dirty="0"/>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76200"/>
            <a:ext cx="7772400" cy="1143000"/>
          </a:xfrm>
        </p:spPr>
        <p:txBody>
          <a:bodyPr/>
          <a:lstStyle/>
          <a:p>
            <a:pPr eaLnBrk="1" hangingPunct="1"/>
            <a:r>
              <a:rPr lang="en-US" altLang="en-US" dirty="0">
                <a:latin typeface="Modern Love" panose="04090805081005020601" pitchFamily="82" charset="0"/>
              </a:rPr>
              <a:t>Viscosity</a:t>
            </a:r>
          </a:p>
        </p:txBody>
      </p:sp>
      <p:sp>
        <p:nvSpPr>
          <p:cNvPr id="21507" name="Rectangle 3"/>
          <p:cNvSpPr>
            <a:spLocks noGrp="1" noChangeArrowheads="1"/>
          </p:cNvSpPr>
          <p:nvPr>
            <p:ph type="body" sz="half" idx="1"/>
          </p:nvPr>
        </p:nvSpPr>
        <p:spPr>
          <a:xfrm>
            <a:off x="76200" y="1371600"/>
            <a:ext cx="8382000" cy="2933700"/>
          </a:xfrm>
        </p:spPr>
        <p:txBody>
          <a:bodyPr/>
          <a:lstStyle/>
          <a:p>
            <a:pPr eaLnBrk="1" hangingPunct="1"/>
            <a:r>
              <a:rPr lang="en-US" altLang="en-US" sz="2400" dirty="0">
                <a:latin typeface="Times New Roman" panose="02020603050405020304" pitchFamily="18" charset="0"/>
                <a:cs typeface="Times New Roman" panose="02020603050405020304" pitchFamily="18" charset="0"/>
              </a:rPr>
              <a:t>Resistance of a liquid to flow is called </a:t>
            </a:r>
            <a:r>
              <a:rPr lang="en-US" altLang="en-US" sz="2400" b="1" dirty="0">
                <a:latin typeface="Times New Roman" panose="02020603050405020304" pitchFamily="18" charset="0"/>
                <a:cs typeface="Times New Roman" panose="02020603050405020304" pitchFamily="18" charset="0"/>
              </a:rPr>
              <a:t>viscosity.</a:t>
            </a:r>
          </a:p>
          <a:p>
            <a:pPr eaLnBrk="1" hangingPunct="1"/>
            <a:r>
              <a:rPr lang="en-US" altLang="en-US" sz="2400" dirty="0">
                <a:latin typeface="Times New Roman" panose="02020603050405020304" pitchFamily="18" charset="0"/>
                <a:cs typeface="Times New Roman" panose="02020603050405020304" pitchFamily="18" charset="0"/>
              </a:rPr>
              <a:t>It is related to the ease with which molecules can move past each other.</a:t>
            </a:r>
          </a:p>
          <a:p>
            <a:pPr eaLnBrk="1" hangingPunct="1"/>
            <a:r>
              <a:rPr lang="en-US" altLang="en-US" sz="2400" dirty="0">
                <a:latin typeface="Times New Roman" panose="02020603050405020304" pitchFamily="18" charset="0"/>
                <a:cs typeface="Times New Roman" panose="02020603050405020304" pitchFamily="18" charset="0"/>
              </a:rPr>
              <a:t>Viscosity increases with stronger intermolecular forces and decreases with higher temperature.</a:t>
            </a:r>
          </a:p>
        </p:txBody>
      </p:sp>
      <p:sp>
        <p:nvSpPr>
          <p:cNvPr id="21508" name="Rectangle 17"/>
          <p:cNvSpPr>
            <a:spLocks noChangeArrowheads="1"/>
          </p:cNvSpPr>
          <p:nvPr/>
        </p:nvSpPr>
        <p:spPr bwMode="auto">
          <a:xfrm>
            <a:off x="6096000" y="4191000"/>
            <a:ext cx="1447800" cy="11430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ltLang="en-US"/>
          </a:p>
        </p:txBody>
      </p:sp>
      <p:pic>
        <p:nvPicPr>
          <p:cNvPr id="8" name="Picture 7" descr="11_05_Table.jpg"/>
          <p:cNvPicPr>
            <a:picLocks noChangeAspect="1"/>
          </p:cNvPicPr>
          <p:nvPr/>
        </p:nvPicPr>
        <p:blipFill>
          <a:blip r:embed="rId3"/>
          <a:srcRect b="5019"/>
          <a:stretch>
            <a:fillRect/>
          </a:stretch>
        </p:blipFill>
        <p:spPr>
          <a:xfrm>
            <a:off x="1371638" y="3730488"/>
            <a:ext cx="5791124" cy="2074463"/>
          </a:xfrm>
          <a:prstGeom prst="rect">
            <a:avLst/>
          </a:prstGeom>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dirty="0">
                <a:latin typeface="Modern Love" panose="04090805081005020601" pitchFamily="82" charset="0"/>
              </a:rPr>
              <a:t>Surface Tension</a:t>
            </a:r>
          </a:p>
        </p:txBody>
      </p:sp>
      <p:sp>
        <p:nvSpPr>
          <p:cNvPr id="22531" name="Rectangle 5"/>
          <p:cNvSpPr>
            <a:spLocks noGrp="1" noChangeArrowheads="1"/>
          </p:cNvSpPr>
          <p:nvPr>
            <p:ph type="body" sz="half" idx="2"/>
          </p:nvPr>
        </p:nvSpPr>
        <p:spPr>
          <a:xfrm>
            <a:off x="4953000" y="2613991"/>
            <a:ext cx="3810000" cy="3371988"/>
          </a:xfrm>
        </p:spPr>
        <p:txBody>
          <a:bodyPr/>
          <a:lstStyle/>
          <a:p>
            <a:pPr eaLnBrk="1" hangingPunct="1"/>
            <a:r>
              <a:rPr lang="en-US" altLang="en-US" dirty="0">
                <a:latin typeface="Times New Roman" panose="02020603050405020304" pitchFamily="18" charset="0"/>
                <a:cs typeface="Times New Roman" panose="02020603050405020304" pitchFamily="18" charset="0"/>
              </a:rPr>
              <a:t>Water acts as if it has a “skin” on it due to extra inward forces on its surface. Those forces are called the </a:t>
            </a:r>
            <a:r>
              <a:rPr lang="en-US" altLang="en-US" b="1" dirty="0">
                <a:latin typeface="Times New Roman" panose="02020603050405020304" pitchFamily="18" charset="0"/>
                <a:cs typeface="Times New Roman" panose="02020603050405020304" pitchFamily="18" charset="0"/>
              </a:rPr>
              <a:t>surface tension</a:t>
            </a:r>
            <a:r>
              <a:rPr lang="en-US" altLang="en-US" dirty="0">
                <a:latin typeface="Times New Roman" panose="02020603050405020304" pitchFamily="18" charset="0"/>
                <a:cs typeface="Times New Roman" panose="02020603050405020304" pitchFamily="18" charset="0"/>
              </a:rPr>
              <a:t>.</a:t>
            </a:r>
          </a:p>
        </p:txBody>
      </p:sp>
      <p:pic>
        <p:nvPicPr>
          <p:cNvPr id="5" name="Picture 4" descr="11_18_Figure.jpg"/>
          <p:cNvPicPr>
            <a:picLocks noChangeAspect="1"/>
          </p:cNvPicPr>
          <p:nvPr/>
        </p:nvPicPr>
        <p:blipFill>
          <a:blip r:embed="rId3"/>
          <a:srcRect b="2546"/>
          <a:stretch>
            <a:fillRect/>
          </a:stretch>
        </p:blipFill>
        <p:spPr>
          <a:xfrm>
            <a:off x="914400" y="1290274"/>
            <a:ext cx="3581400" cy="5339126"/>
          </a:xfrm>
          <a:prstGeom prst="rect">
            <a:avLst/>
          </a:prstGeom>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4"/>
          <p:cNvSpPr>
            <a:spLocks noGrp="1"/>
          </p:cNvSpPr>
          <p:nvPr>
            <p:ph type="title"/>
          </p:nvPr>
        </p:nvSpPr>
        <p:spPr/>
        <p:txBody>
          <a:bodyPr/>
          <a:lstStyle/>
          <a:p>
            <a:r>
              <a:rPr lang="en-US" altLang="en-US" dirty="0">
                <a:latin typeface="Modern Love" panose="04090805081005020601" pitchFamily="82" charset="0"/>
              </a:rPr>
              <a:t>Cohesion and Adhesion</a:t>
            </a:r>
          </a:p>
        </p:txBody>
      </p:sp>
      <p:sp>
        <p:nvSpPr>
          <p:cNvPr id="23555" name="Content Placeholder 5"/>
          <p:cNvSpPr>
            <a:spLocks noGrp="1"/>
          </p:cNvSpPr>
          <p:nvPr>
            <p:ph idx="1"/>
          </p:nvPr>
        </p:nvSpPr>
        <p:spPr>
          <a:xfrm>
            <a:off x="685800" y="1855304"/>
            <a:ext cx="7772400" cy="4648200"/>
          </a:xfrm>
        </p:spPr>
        <p:txBody>
          <a:bodyPr/>
          <a:lstStyle/>
          <a:p>
            <a:r>
              <a:rPr lang="en-US" altLang="en-US" dirty="0">
                <a:latin typeface="Times New Roman" panose="02020603050405020304" pitchFamily="18" charset="0"/>
                <a:cs typeface="Times New Roman" panose="02020603050405020304" pitchFamily="18" charset="0"/>
              </a:rPr>
              <a:t>Intermolecular forces that bind similar molecules to one another are called </a:t>
            </a:r>
            <a:r>
              <a:rPr lang="en-US" altLang="en-US" i="1" dirty="0">
                <a:latin typeface="Times New Roman" panose="02020603050405020304" pitchFamily="18" charset="0"/>
                <a:cs typeface="Times New Roman" panose="02020603050405020304" pitchFamily="18" charset="0"/>
              </a:rPr>
              <a:t>cohesive forces</a:t>
            </a:r>
            <a:r>
              <a:rPr lang="en-US" altLang="en-US" dirty="0">
                <a:latin typeface="Times New Roman" panose="02020603050405020304" pitchFamily="18" charset="0"/>
                <a:cs typeface="Times New Roman" panose="02020603050405020304" pitchFamily="18" charset="0"/>
              </a:rPr>
              <a:t>.</a:t>
            </a:r>
          </a:p>
          <a:p>
            <a:r>
              <a:rPr lang="en-US" altLang="en-US" dirty="0">
                <a:latin typeface="Times New Roman" panose="02020603050405020304" pitchFamily="18" charset="0"/>
                <a:cs typeface="Times New Roman" panose="02020603050405020304" pitchFamily="18" charset="0"/>
              </a:rPr>
              <a:t>Intermolecular forces that bind a substance to a surface are called </a:t>
            </a:r>
            <a:r>
              <a:rPr lang="en-US" altLang="en-US" i="1" dirty="0">
                <a:latin typeface="Times New Roman" panose="02020603050405020304" pitchFamily="18" charset="0"/>
                <a:cs typeface="Times New Roman" panose="02020603050405020304" pitchFamily="18" charset="0"/>
              </a:rPr>
              <a:t>adhesive forces</a:t>
            </a:r>
            <a:r>
              <a:rPr lang="en-US" altLang="en-US" dirty="0">
                <a:latin typeface="Times New Roman" panose="02020603050405020304" pitchFamily="18" charset="0"/>
                <a:cs typeface="Times New Roman" panose="02020603050405020304" pitchFamily="18" charset="0"/>
              </a:rPr>
              <a:t>.</a:t>
            </a:r>
          </a:p>
          <a:p>
            <a:r>
              <a:rPr lang="en-US" altLang="en-US" dirty="0">
                <a:latin typeface="Times New Roman" panose="02020603050405020304" pitchFamily="18" charset="0"/>
                <a:cs typeface="Times New Roman" panose="02020603050405020304" pitchFamily="18" charset="0"/>
              </a:rPr>
              <a:t>These forces are important in capillary action.</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4"/>
          <p:cNvSpPr>
            <a:spLocks noGrp="1"/>
          </p:cNvSpPr>
          <p:nvPr>
            <p:ph type="title"/>
          </p:nvPr>
        </p:nvSpPr>
        <p:spPr>
          <a:xfrm>
            <a:off x="685800" y="23813"/>
            <a:ext cx="7772400" cy="1143000"/>
          </a:xfrm>
        </p:spPr>
        <p:txBody>
          <a:bodyPr/>
          <a:lstStyle/>
          <a:p>
            <a:r>
              <a:rPr lang="en-US" altLang="en-US" dirty="0">
                <a:latin typeface="Modern Love" panose="04090805081005020601" pitchFamily="82" charset="0"/>
              </a:rPr>
              <a:t>Capillary Action</a:t>
            </a:r>
          </a:p>
        </p:txBody>
      </p:sp>
      <p:sp>
        <p:nvSpPr>
          <p:cNvPr id="24579" name="Content Placeholder 5"/>
          <p:cNvSpPr>
            <a:spLocks noGrp="1"/>
          </p:cNvSpPr>
          <p:nvPr>
            <p:ph idx="1"/>
          </p:nvPr>
        </p:nvSpPr>
        <p:spPr>
          <a:xfrm>
            <a:off x="152400" y="990600"/>
            <a:ext cx="4800600" cy="5410200"/>
          </a:xfrm>
        </p:spPr>
        <p:txBody>
          <a:bodyPr/>
          <a:lstStyle/>
          <a:p>
            <a:r>
              <a:rPr lang="en-US" altLang="en-US" dirty="0">
                <a:latin typeface="Times New Roman" panose="02020603050405020304" pitchFamily="18" charset="0"/>
                <a:cs typeface="Times New Roman" panose="02020603050405020304" pitchFamily="18" charset="0"/>
              </a:rPr>
              <a:t>The rise of liquids up narrow tubes is called </a:t>
            </a:r>
            <a:r>
              <a:rPr lang="en-US" altLang="en-US" b="1" dirty="0">
                <a:latin typeface="Times New Roman" panose="02020603050405020304" pitchFamily="18" charset="0"/>
                <a:cs typeface="Times New Roman" panose="02020603050405020304" pitchFamily="18" charset="0"/>
              </a:rPr>
              <a:t>capillary action</a:t>
            </a:r>
            <a:r>
              <a:rPr lang="en-US" altLang="en-US" dirty="0">
                <a:latin typeface="Times New Roman" panose="02020603050405020304" pitchFamily="18" charset="0"/>
                <a:cs typeface="Times New Roman" panose="02020603050405020304" pitchFamily="18" charset="0"/>
              </a:rPr>
              <a:t>.</a:t>
            </a:r>
          </a:p>
          <a:p>
            <a:r>
              <a:rPr lang="en-US" altLang="en-US" dirty="0">
                <a:latin typeface="Times New Roman" panose="02020603050405020304" pitchFamily="18" charset="0"/>
                <a:cs typeface="Times New Roman" panose="02020603050405020304" pitchFamily="18" charset="0"/>
              </a:rPr>
              <a:t>Adhesive forces attract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the liquid to the wall of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the tube.</a:t>
            </a:r>
          </a:p>
          <a:p>
            <a:r>
              <a:rPr lang="en-US" altLang="en-US" dirty="0">
                <a:latin typeface="Times New Roman" panose="02020603050405020304" pitchFamily="18" charset="0"/>
                <a:cs typeface="Times New Roman" panose="02020603050405020304" pitchFamily="18" charset="0"/>
              </a:rPr>
              <a:t>Cohesive forces attract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the liquid to itself.</a:t>
            </a:r>
          </a:p>
          <a:p>
            <a:r>
              <a:rPr lang="en-US" altLang="en-US" dirty="0">
                <a:latin typeface="Times New Roman" panose="02020603050405020304" pitchFamily="18" charset="0"/>
                <a:cs typeface="Times New Roman" panose="02020603050405020304" pitchFamily="18" charset="0"/>
              </a:rPr>
              <a:t>Water has stronger adhesive forces with glass; mercury has stronger cohesive forces with itself.</a:t>
            </a:r>
          </a:p>
        </p:txBody>
      </p:sp>
      <p:pic>
        <p:nvPicPr>
          <p:cNvPr id="6" name="Picture 5" descr="11_19_Figure.jpg"/>
          <p:cNvPicPr>
            <a:picLocks noChangeAspect="1"/>
          </p:cNvPicPr>
          <p:nvPr/>
        </p:nvPicPr>
        <p:blipFill>
          <a:blip r:embed="rId2"/>
          <a:srcRect b="2546"/>
          <a:stretch>
            <a:fillRect/>
          </a:stretch>
        </p:blipFill>
        <p:spPr>
          <a:xfrm>
            <a:off x="4572000" y="1219200"/>
            <a:ext cx="4318618" cy="3534482"/>
          </a:xfrm>
          <a:prstGeom prst="rect">
            <a:avLst/>
          </a:prstGeom>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Slide Number Placeholder 4">
            <a:extLst>
              <a:ext uri="{FF2B5EF4-FFF2-40B4-BE49-F238E27FC236}">
                <a16:creationId xmlns:a16="http://schemas.microsoft.com/office/drawing/2014/main" id="{491554E0-B5AB-4898-9398-D0016A329F7D}"/>
              </a:ext>
            </a:extLst>
          </p:cNvPr>
          <p:cNvSpPr>
            <a:spLocks noGrp="1"/>
          </p:cNvSpPr>
          <p:nvPr>
            <p:ph type="sldNum" sz="quarter" idx="12"/>
          </p:nvPr>
        </p:nvSpPr>
        <p:spPr>
          <a:xfrm>
            <a:off x="6629400" y="66294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A9F0F44-9D36-434C-851A-AC80A824910E}" type="slidenum">
              <a:rPr lang="en-US" altLang="en-US" sz="1000">
                <a:latin typeface="Calibri" panose="020F0502020204030204" pitchFamily="34" charset="0"/>
                <a:ea typeface="MS PGothic" panose="020B0600070205080204" pitchFamily="34" charset="-128"/>
                <a:cs typeface="Calibri" panose="020F0502020204030204" pitchFamily="34" charset="0"/>
              </a:rPr>
              <a:pPr>
                <a:spcBef>
                  <a:spcPct val="0"/>
                </a:spcBef>
                <a:buFontTx/>
                <a:buNone/>
              </a:pPr>
              <a:t>24</a:t>
            </a:fld>
            <a:endParaRPr lang="en-US" altLang="en-US" sz="1000">
              <a:latin typeface="Calibri" panose="020F0502020204030204" pitchFamily="34" charset="0"/>
              <a:ea typeface="MS PGothic" panose="020B0600070205080204" pitchFamily="34" charset="-128"/>
              <a:cs typeface="Calibri" panose="020F0502020204030204" pitchFamily="34" charset="0"/>
            </a:endParaRPr>
          </a:p>
        </p:txBody>
      </p:sp>
      <p:sp>
        <p:nvSpPr>
          <p:cNvPr id="37892" name="Rectangle 3">
            <a:extLst>
              <a:ext uri="{FF2B5EF4-FFF2-40B4-BE49-F238E27FC236}">
                <a16:creationId xmlns:a16="http://schemas.microsoft.com/office/drawing/2014/main" id="{F6FF082F-D8EB-4F82-9428-C7DFDD383E2D}"/>
              </a:ext>
            </a:extLst>
          </p:cNvPr>
          <p:cNvSpPr>
            <a:spLocks noGrp="1" noChangeArrowheads="1"/>
          </p:cNvSpPr>
          <p:nvPr>
            <p:ph type="body" idx="1"/>
          </p:nvPr>
        </p:nvSpPr>
        <p:spPr>
          <a:xfrm>
            <a:off x="228600" y="2133600"/>
            <a:ext cx="8229600" cy="3509963"/>
          </a:xfrm>
        </p:spPr>
        <p:txBody>
          <a:bodyPr/>
          <a:lstStyle/>
          <a:p>
            <a:pPr marL="744538" indent="1588" eaLnBrk="1" hangingPunct="1">
              <a:buFontTx/>
              <a:buNone/>
            </a:pPr>
            <a:r>
              <a:rPr lang="en-US" altLang="en-US" sz="2800" dirty="0">
                <a:latin typeface="Times New Roman" panose="02020603050405020304" pitchFamily="18" charset="0"/>
                <a:cs typeface="Times New Roman" panose="02020603050405020304" pitchFamily="18" charset="0"/>
              </a:rPr>
              <a:t>Which molecule is capable of forming </a:t>
            </a:r>
            <a:r>
              <a:rPr lang="en-US" altLang="en-US" sz="2800" dirty="0">
                <a:solidFill>
                  <a:srgbClr val="0000FF"/>
                </a:solidFill>
                <a:latin typeface="Times New Roman" panose="02020603050405020304" pitchFamily="18" charset="0"/>
                <a:cs typeface="Times New Roman" panose="02020603050405020304" pitchFamily="18" charset="0"/>
              </a:rPr>
              <a:t>stronger</a:t>
            </a:r>
            <a:r>
              <a:rPr lang="en-US" altLang="en-US" sz="2800" dirty="0">
                <a:latin typeface="Times New Roman" panose="02020603050405020304" pitchFamily="18" charset="0"/>
                <a:cs typeface="Times New Roman" panose="02020603050405020304" pitchFamily="18" charset="0"/>
              </a:rPr>
              <a:t> intermolecular forces?</a:t>
            </a:r>
          </a:p>
          <a:p>
            <a:pPr marL="744538" indent="1588" algn="ctr">
              <a:buFontTx/>
              <a:buNone/>
            </a:pPr>
            <a:r>
              <a:rPr lang="en-US" altLang="en-US" sz="2800" dirty="0">
                <a:latin typeface="Times New Roman" panose="02020603050405020304" pitchFamily="18" charset="0"/>
                <a:cs typeface="Times New Roman" panose="02020603050405020304" pitchFamily="18" charset="0"/>
              </a:rPr>
              <a:t>		</a:t>
            </a:r>
          </a:p>
          <a:p>
            <a:pPr marL="744538" indent="1588" algn="ctr">
              <a:buFontTx/>
              <a:buNone/>
            </a:pPr>
            <a:r>
              <a:rPr lang="en-US" altLang="en-US" sz="2800" dirty="0">
                <a:latin typeface="Times New Roman" panose="02020603050405020304" pitchFamily="18" charset="0"/>
                <a:cs typeface="Times New Roman" panose="02020603050405020304" pitchFamily="18" charset="0"/>
              </a:rPr>
              <a:t>N</a:t>
            </a:r>
            <a:r>
              <a:rPr lang="en-US" altLang="en-US" sz="2800" baseline="-25000" dirty="0">
                <a:latin typeface="Times New Roman" panose="02020603050405020304" pitchFamily="18" charset="0"/>
                <a:cs typeface="Times New Roman" panose="02020603050405020304" pitchFamily="18" charset="0"/>
              </a:rPr>
              <a:t>2</a:t>
            </a:r>
            <a:r>
              <a:rPr lang="en-US" altLang="en-US" sz="2800" dirty="0">
                <a:latin typeface="Times New Roman" panose="02020603050405020304" pitchFamily="18" charset="0"/>
                <a:cs typeface="Times New Roman" panose="02020603050405020304" pitchFamily="18" charset="0"/>
              </a:rPr>
              <a:t>  		H</a:t>
            </a:r>
            <a:r>
              <a:rPr lang="en-US" altLang="en-US" sz="2800" baseline="-25000" dirty="0">
                <a:latin typeface="Times New Roman" panose="02020603050405020304" pitchFamily="18" charset="0"/>
                <a:cs typeface="Times New Roman" panose="02020603050405020304" pitchFamily="18" charset="0"/>
              </a:rPr>
              <a:t>2</a:t>
            </a:r>
            <a:r>
              <a:rPr lang="en-US" altLang="en-US" sz="2800" dirty="0">
                <a:latin typeface="Times New Roman" panose="02020603050405020304" pitchFamily="18" charset="0"/>
                <a:cs typeface="Times New Roman" panose="02020603050405020304" pitchFamily="18" charset="0"/>
              </a:rPr>
              <a:t>O </a:t>
            </a:r>
          </a:p>
          <a:p>
            <a:pPr marL="744538" indent="1588">
              <a:buFontTx/>
              <a:buNone/>
            </a:pPr>
            <a:endParaRPr lang="en-US" altLang="en-US" sz="2800" dirty="0">
              <a:latin typeface="Times New Roman" panose="02020603050405020304" pitchFamily="18" charset="0"/>
              <a:cs typeface="Times New Roman" panose="02020603050405020304" pitchFamily="18" charset="0"/>
            </a:endParaRPr>
          </a:p>
          <a:p>
            <a:pPr marL="744538" indent="1588">
              <a:buFontTx/>
              <a:buNone/>
            </a:pPr>
            <a:r>
              <a:rPr lang="en-US" altLang="en-US" sz="2800" dirty="0">
                <a:latin typeface="Times New Roman" panose="02020603050405020304" pitchFamily="18" charset="0"/>
                <a:cs typeface="Times New Roman" panose="02020603050405020304" pitchFamily="18" charset="0"/>
              </a:rPr>
              <a:t>Explain.</a:t>
            </a:r>
          </a:p>
          <a:p>
            <a:pPr marL="744538" indent="1588" eaLnBrk="1" hangingPunct="1">
              <a:buFontTx/>
              <a:buNone/>
            </a:pPr>
            <a:endParaRPr lang="en-US" altLang="en-US" sz="2800" dirty="0">
              <a:latin typeface="Calibri" panose="020F0502020204030204" pitchFamily="34" charset="0"/>
              <a:cs typeface="Calibri" panose="020F0502020204030204" pitchFamily="34" charset="0"/>
            </a:endParaRPr>
          </a:p>
        </p:txBody>
      </p:sp>
      <p:sp>
        <p:nvSpPr>
          <p:cNvPr id="338949" name="Rectangle 5">
            <a:extLst>
              <a:ext uri="{FF2B5EF4-FFF2-40B4-BE49-F238E27FC236}">
                <a16:creationId xmlns:a16="http://schemas.microsoft.com/office/drawing/2014/main" id="{0C05026C-40FD-427E-A12A-90D47F7386EF}"/>
              </a:ext>
            </a:extLst>
          </p:cNvPr>
          <p:cNvSpPr>
            <a:spLocks noChangeArrowheads="1"/>
          </p:cNvSpPr>
          <p:nvPr/>
        </p:nvSpPr>
        <p:spPr bwMode="auto">
          <a:xfrm>
            <a:off x="5221702" y="3549927"/>
            <a:ext cx="914400" cy="533400"/>
          </a:xfrm>
          <a:prstGeom prst="rect">
            <a:avLst/>
          </a:prstGeom>
          <a:noFill/>
          <a:ln w="381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Calibri" panose="020F0502020204030204" pitchFamily="34" charset="0"/>
              <a:ea typeface="MS PGothic" panose="020B0600070205080204" pitchFamily="34" charset="-128"/>
              <a:cs typeface="Calibri" panose="020F0502020204030204" pitchFamily="34" charset="0"/>
            </a:endParaRPr>
          </a:p>
        </p:txBody>
      </p:sp>
      <p:sp>
        <p:nvSpPr>
          <p:cNvPr id="7" name="TextBox 6">
            <a:extLst>
              <a:ext uri="{FF2B5EF4-FFF2-40B4-BE49-F238E27FC236}">
                <a16:creationId xmlns:a16="http://schemas.microsoft.com/office/drawing/2014/main" id="{E2207DC1-204A-4050-8012-93009847D155}"/>
              </a:ext>
            </a:extLst>
          </p:cNvPr>
          <p:cNvSpPr txBox="1"/>
          <p:nvPr/>
        </p:nvSpPr>
        <p:spPr>
          <a:xfrm>
            <a:off x="39688" y="1427163"/>
            <a:ext cx="3581400" cy="460375"/>
          </a:xfrm>
          <a:prstGeom prst="rect">
            <a:avLst/>
          </a:prstGeom>
          <a:gradFill flip="none" rotWithShape="1">
            <a:gsLst>
              <a:gs pos="0">
                <a:schemeClr val="accent4">
                  <a:alpha val="60000"/>
                </a:schemeClr>
              </a:gs>
              <a:gs pos="100000">
                <a:srgbClr val="FFFFFF"/>
              </a:gs>
            </a:gsLst>
            <a:path path="shape">
              <a:fillToRect l="50000" t="50000" r="50000" b="50000"/>
            </a:path>
            <a:tileRect/>
          </a:gradFill>
          <a:ln>
            <a:noFill/>
            <a:prstDash val="dot"/>
          </a:ln>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defRPr/>
            </a:pPr>
            <a:r>
              <a:rPr lang="en-US" b="1" i="1">
                <a:solidFill>
                  <a:srgbClr val="681166"/>
                </a:solidFill>
                <a:effectLst>
                  <a:outerShdw blurRad="38100" dist="38100" dir="2700000" algn="tl">
                    <a:srgbClr val="000000"/>
                  </a:outerShdw>
                </a:effectLst>
              </a:rPr>
              <a:t>CONCEPT CHECK!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8949"/>
                                        </p:tgtEl>
                                        <p:attrNameLst>
                                          <p:attrName>style.visibility</p:attrName>
                                        </p:attrNameLst>
                                      </p:cBhvr>
                                      <p:to>
                                        <p:strVal val="visible"/>
                                      </p:to>
                                    </p:set>
                                    <p:animEffect transition="in" filter="wipe(left)">
                                      <p:cBhvr>
                                        <p:cTn id="7" dur="500"/>
                                        <p:tgtEl>
                                          <p:spTgt spid="338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9"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9" name="Slide Number Placeholder 4">
            <a:extLst>
              <a:ext uri="{FF2B5EF4-FFF2-40B4-BE49-F238E27FC236}">
                <a16:creationId xmlns:a16="http://schemas.microsoft.com/office/drawing/2014/main" id="{4C8BC746-11F3-4FF7-921C-60087D1E0664}"/>
              </a:ext>
            </a:extLst>
          </p:cNvPr>
          <p:cNvSpPr>
            <a:spLocks noGrp="1"/>
          </p:cNvSpPr>
          <p:nvPr>
            <p:ph type="sldNum" sz="quarter" idx="12"/>
          </p:nvPr>
        </p:nvSpPr>
        <p:spPr>
          <a:xfrm>
            <a:off x="6629400" y="66294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05C64EB-37F6-4B0D-80A6-322BC58D5C1C}" type="slidenum">
              <a:rPr lang="en-US" altLang="en-US" sz="1000">
                <a:latin typeface="Calibri" panose="020F0502020204030204" pitchFamily="34" charset="0"/>
                <a:ea typeface="MS PGothic" panose="020B0600070205080204" pitchFamily="34" charset="-128"/>
                <a:cs typeface="Calibri" panose="020F0502020204030204" pitchFamily="34" charset="0"/>
              </a:rPr>
              <a:pPr>
                <a:spcBef>
                  <a:spcPct val="0"/>
                </a:spcBef>
                <a:buFontTx/>
                <a:buNone/>
              </a:pPr>
              <a:t>25</a:t>
            </a:fld>
            <a:endParaRPr lang="en-US" altLang="en-US" sz="1000">
              <a:latin typeface="Calibri" panose="020F0502020204030204" pitchFamily="34" charset="0"/>
              <a:ea typeface="MS PGothic" panose="020B0600070205080204" pitchFamily="34" charset="-128"/>
              <a:cs typeface="Calibri" panose="020F0502020204030204" pitchFamily="34" charset="0"/>
            </a:endParaRPr>
          </a:p>
        </p:txBody>
      </p:sp>
      <p:sp>
        <p:nvSpPr>
          <p:cNvPr id="39940" name="Rectangle 3">
            <a:extLst>
              <a:ext uri="{FF2B5EF4-FFF2-40B4-BE49-F238E27FC236}">
                <a16:creationId xmlns:a16="http://schemas.microsoft.com/office/drawing/2014/main" id="{3619138E-F590-49FC-8CB4-0E0F6934EA0E}"/>
              </a:ext>
            </a:extLst>
          </p:cNvPr>
          <p:cNvSpPr>
            <a:spLocks noGrp="1" noChangeArrowheads="1"/>
          </p:cNvSpPr>
          <p:nvPr>
            <p:ph type="body" idx="1"/>
          </p:nvPr>
        </p:nvSpPr>
        <p:spPr>
          <a:xfrm>
            <a:off x="228600" y="2133600"/>
            <a:ext cx="8229600" cy="1373188"/>
          </a:xfrm>
        </p:spPr>
        <p:txBody>
          <a:bodyPr/>
          <a:lstStyle/>
          <a:p>
            <a:pPr marL="744538" indent="1588" eaLnBrk="1" hangingPunct="1">
              <a:buFontTx/>
              <a:buNone/>
            </a:pPr>
            <a:r>
              <a:rPr lang="en-US" altLang="en-US" sz="2800" dirty="0">
                <a:latin typeface="Times New Roman" panose="02020603050405020304" pitchFamily="18" charset="0"/>
                <a:cs typeface="Times New Roman" panose="02020603050405020304" pitchFamily="18" charset="0"/>
              </a:rPr>
              <a:t>Draw two Lewis structures for the formula C</a:t>
            </a:r>
            <a:r>
              <a:rPr lang="en-US" altLang="en-US" sz="2800" baseline="-25000" dirty="0">
                <a:latin typeface="Times New Roman" panose="02020603050405020304" pitchFamily="18" charset="0"/>
                <a:cs typeface="Times New Roman" panose="02020603050405020304" pitchFamily="18" charset="0"/>
              </a:rPr>
              <a:t>2</a:t>
            </a:r>
            <a:r>
              <a:rPr lang="en-US" altLang="en-US" sz="2800" dirty="0">
                <a:latin typeface="Times New Roman" panose="02020603050405020304" pitchFamily="18" charset="0"/>
                <a:cs typeface="Times New Roman" panose="02020603050405020304" pitchFamily="18" charset="0"/>
              </a:rPr>
              <a:t>H</a:t>
            </a:r>
            <a:r>
              <a:rPr lang="en-US" altLang="en-US" sz="2800" baseline="-25000" dirty="0">
                <a:latin typeface="Times New Roman" panose="02020603050405020304" pitchFamily="18" charset="0"/>
                <a:cs typeface="Times New Roman" panose="02020603050405020304" pitchFamily="18" charset="0"/>
              </a:rPr>
              <a:t>6</a:t>
            </a:r>
            <a:r>
              <a:rPr lang="en-US" altLang="en-US" sz="2800" dirty="0">
                <a:latin typeface="Times New Roman" panose="02020603050405020304" pitchFamily="18" charset="0"/>
                <a:cs typeface="Times New Roman" panose="02020603050405020304" pitchFamily="18" charset="0"/>
              </a:rPr>
              <a:t>O and </a:t>
            </a:r>
            <a:r>
              <a:rPr lang="en-US" altLang="en-US" sz="2800" dirty="0">
                <a:solidFill>
                  <a:srgbClr val="0000FF"/>
                </a:solidFill>
                <a:latin typeface="Times New Roman" panose="02020603050405020304" pitchFamily="18" charset="0"/>
                <a:cs typeface="Times New Roman" panose="02020603050405020304" pitchFamily="18" charset="0"/>
              </a:rPr>
              <a:t>compare</a:t>
            </a:r>
            <a:r>
              <a:rPr lang="en-US" altLang="en-US" sz="2800" dirty="0">
                <a:latin typeface="Times New Roman" panose="02020603050405020304" pitchFamily="18" charset="0"/>
                <a:cs typeface="Times New Roman" panose="02020603050405020304" pitchFamily="18" charset="0"/>
              </a:rPr>
              <a:t> the boiling points of the two molecules. </a:t>
            </a:r>
          </a:p>
        </p:txBody>
      </p:sp>
      <p:sp>
        <p:nvSpPr>
          <p:cNvPr id="8" name="TextBox 7">
            <a:extLst>
              <a:ext uri="{FF2B5EF4-FFF2-40B4-BE49-F238E27FC236}">
                <a16:creationId xmlns:a16="http://schemas.microsoft.com/office/drawing/2014/main" id="{A600A492-D4FE-4251-9D65-28E09C94858D}"/>
              </a:ext>
            </a:extLst>
          </p:cNvPr>
          <p:cNvSpPr txBox="1"/>
          <p:nvPr/>
        </p:nvSpPr>
        <p:spPr>
          <a:xfrm>
            <a:off x="39688" y="1427163"/>
            <a:ext cx="3581400" cy="460375"/>
          </a:xfrm>
          <a:prstGeom prst="rect">
            <a:avLst/>
          </a:prstGeom>
          <a:gradFill flip="none" rotWithShape="1">
            <a:gsLst>
              <a:gs pos="0">
                <a:schemeClr val="accent4">
                  <a:alpha val="60000"/>
                </a:schemeClr>
              </a:gs>
              <a:gs pos="100000">
                <a:srgbClr val="FFFFFF"/>
              </a:gs>
            </a:gsLst>
            <a:path path="shape">
              <a:fillToRect l="50000" t="50000" r="50000" b="50000"/>
            </a:path>
            <a:tileRect/>
          </a:gradFill>
          <a:ln>
            <a:noFill/>
            <a:prstDash val="dot"/>
          </a:ln>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defRPr/>
            </a:pPr>
            <a:r>
              <a:rPr lang="en-US" b="1" i="1" dirty="0">
                <a:solidFill>
                  <a:srgbClr val="681166"/>
                </a:solidFill>
                <a:effectLst>
                  <a:outerShdw blurRad="38100" dist="38100" dir="2700000" algn="tl">
                    <a:srgbClr val="000000"/>
                  </a:outerShdw>
                </a:effectLst>
              </a:rPr>
              <a:t>CONCEPT CHECK!</a:t>
            </a:r>
          </a:p>
        </p:txBody>
      </p:sp>
      <p:graphicFrame>
        <p:nvGraphicFramePr>
          <p:cNvPr id="12" name="Object 25">
            <a:extLst>
              <a:ext uri="{FF2B5EF4-FFF2-40B4-BE49-F238E27FC236}">
                <a16:creationId xmlns:a16="http://schemas.microsoft.com/office/drawing/2014/main" id="{778F2A6B-24CD-4276-A0C6-A39F079A154E}"/>
              </a:ext>
            </a:extLst>
          </p:cNvPr>
          <p:cNvGraphicFramePr>
            <a:graphicFrameLocks noChangeAspect="1"/>
          </p:cNvGraphicFramePr>
          <p:nvPr>
            <p:extLst>
              <p:ext uri="{D42A27DB-BD31-4B8C-83A1-F6EECF244321}">
                <p14:modId xmlns:p14="http://schemas.microsoft.com/office/powerpoint/2010/main" val="2822961649"/>
              </p:ext>
            </p:extLst>
          </p:nvPr>
        </p:nvGraphicFramePr>
        <p:xfrm>
          <a:off x="1063729" y="4295360"/>
          <a:ext cx="3049588" cy="1754188"/>
        </p:xfrm>
        <a:graphic>
          <a:graphicData uri="http://schemas.openxmlformats.org/presentationml/2006/ole">
            <mc:AlternateContent xmlns:mc="http://schemas.openxmlformats.org/markup-compatibility/2006">
              <mc:Choice xmlns:v="urn:schemas-microsoft-com:vml" Requires="v">
                <p:oleObj name="CS ChemDraw Drawing" r:id="rId3" imgW="3606800" imgH="2082800" progId="ChemDraw.Document.6.0">
                  <p:embed/>
                </p:oleObj>
              </mc:Choice>
              <mc:Fallback>
                <p:oleObj name="CS ChemDraw Drawing" r:id="rId3" imgW="3606800" imgH="2082800" progId="ChemDraw.Document.6.0">
                  <p:embed/>
                  <p:pic>
                    <p:nvPicPr>
                      <p:cNvPr id="39941" name="Object 25">
                        <a:extLst>
                          <a:ext uri="{FF2B5EF4-FFF2-40B4-BE49-F238E27FC236}">
                            <a16:creationId xmlns:a16="http://schemas.microsoft.com/office/drawing/2014/main" id="{EC1AE6C4-C961-4E23-9A2C-4534941F3C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3729" y="4295360"/>
                        <a:ext cx="3049588" cy="1754188"/>
                      </a:xfrm>
                      <a:prstGeom prst="rect">
                        <a:avLst/>
                      </a:prstGeom>
                      <a:noFill/>
                      <a:ln>
                        <a:noFill/>
                      </a:ln>
                      <a:effectLst/>
                    </p:spPr>
                  </p:pic>
                </p:oleObj>
              </mc:Fallback>
            </mc:AlternateContent>
          </a:graphicData>
        </a:graphic>
      </p:graphicFrame>
      <p:graphicFrame>
        <p:nvGraphicFramePr>
          <p:cNvPr id="13" name="Object 26">
            <a:extLst>
              <a:ext uri="{FF2B5EF4-FFF2-40B4-BE49-F238E27FC236}">
                <a16:creationId xmlns:a16="http://schemas.microsoft.com/office/drawing/2014/main" id="{EFE3EC4A-1DF1-4AA4-B89C-915C452250B7}"/>
              </a:ext>
            </a:extLst>
          </p:cNvPr>
          <p:cNvGraphicFramePr>
            <a:graphicFrameLocks noChangeAspect="1"/>
          </p:cNvGraphicFramePr>
          <p:nvPr>
            <p:extLst>
              <p:ext uri="{D42A27DB-BD31-4B8C-83A1-F6EECF244321}">
                <p14:modId xmlns:p14="http://schemas.microsoft.com/office/powerpoint/2010/main" val="3848744125"/>
              </p:ext>
            </p:extLst>
          </p:nvPr>
        </p:nvGraphicFramePr>
        <p:xfrm>
          <a:off x="5029200" y="4280452"/>
          <a:ext cx="3078163" cy="1754188"/>
        </p:xfrm>
        <a:graphic>
          <a:graphicData uri="http://schemas.openxmlformats.org/presentationml/2006/ole">
            <mc:AlternateContent xmlns:mc="http://schemas.openxmlformats.org/markup-compatibility/2006">
              <mc:Choice xmlns:v="urn:schemas-microsoft-com:vml" Requires="v">
                <p:oleObj name="CS ChemDraw Drawing" r:id="rId5" imgW="3644900" imgH="2082800" progId="ChemDraw.Document.6.0">
                  <p:embed/>
                </p:oleObj>
              </mc:Choice>
              <mc:Fallback>
                <p:oleObj name="CS ChemDraw Drawing" r:id="rId5" imgW="3644900" imgH="2082800" progId="ChemDraw.Document.6.0">
                  <p:embed/>
                  <p:pic>
                    <p:nvPicPr>
                      <p:cNvPr id="39942" name="Object 26">
                        <a:extLst>
                          <a:ext uri="{FF2B5EF4-FFF2-40B4-BE49-F238E27FC236}">
                            <a16:creationId xmlns:a16="http://schemas.microsoft.com/office/drawing/2014/main" id="{7623CFA2-79E1-40F2-9C67-DD89EF18217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4280452"/>
                        <a:ext cx="3078163"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 name="Rectangle 2">
            <a:extLst>
              <a:ext uri="{FF2B5EF4-FFF2-40B4-BE49-F238E27FC236}">
                <a16:creationId xmlns:a16="http://schemas.microsoft.com/office/drawing/2014/main" id="{E223684A-A84B-4779-885C-0BD336496979}"/>
              </a:ext>
            </a:extLst>
          </p:cNvPr>
          <p:cNvSpPr/>
          <p:nvPr/>
        </p:nvSpPr>
        <p:spPr>
          <a:xfrm>
            <a:off x="844826" y="4184374"/>
            <a:ext cx="3508513" cy="1997765"/>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Slide Number Placeholder 4">
            <a:extLst>
              <a:ext uri="{FF2B5EF4-FFF2-40B4-BE49-F238E27FC236}">
                <a16:creationId xmlns:a16="http://schemas.microsoft.com/office/drawing/2014/main" id="{3D67E68A-26A0-424C-92DA-BC3ACDFC768E}"/>
              </a:ext>
            </a:extLst>
          </p:cNvPr>
          <p:cNvSpPr>
            <a:spLocks noGrp="1"/>
          </p:cNvSpPr>
          <p:nvPr>
            <p:ph type="sldNum" sz="quarter" idx="12"/>
          </p:nvPr>
        </p:nvSpPr>
        <p:spPr>
          <a:xfrm>
            <a:off x="6629400" y="66294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BC77637-DA75-417A-99AF-7DB9F779A4FD}" type="slidenum">
              <a:rPr lang="en-US" altLang="en-US" sz="1000">
                <a:latin typeface="Calibri" panose="020F0502020204030204" pitchFamily="34" charset="0"/>
                <a:ea typeface="MS PGothic" panose="020B0600070205080204" pitchFamily="34" charset="-128"/>
                <a:cs typeface="Calibri" panose="020F0502020204030204" pitchFamily="34" charset="0"/>
              </a:rPr>
              <a:pPr>
                <a:spcBef>
                  <a:spcPct val="0"/>
                </a:spcBef>
                <a:buFontTx/>
                <a:buNone/>
              </a:pPr>
              <a:t>26</a:t>
            </a:fld>
            <a:endParaRPr lang="en-US" altLang="en-US" sz="1000">
              <a:latin typeface="Calibri" panose="020F0502020204030204" pitchFamily="34" charset="0"/>
              <a:ea typeface="MS PGothic" panose="020B0600070205080204" pitchFamily="34" charset="-128"/>
              <a:cs typeface="Calibri" panose="020F0502020204030204" pitchFamily="34" charset="0"/>
            </a:endParaRPr>
          </a:p>
        </p:txBody>
      </p:sp>
      <p:sp>
        <p:nvSpPr>
          <p:cNvPr id="41988" name="Rectangle 3">
            <a:extLst>
              <a:ext uri="{FF2B5EF4-FFF2-40B4-BE49-F238E27FC236}">
                <a16:creationId xmlns:a16="http://schemas.microsoft.com/office/drawing/2014/main" id="{7F843D0B-3056-4AE5-B662-45BAFF4A5CAC}"/>
              </a:ext>
            </a:extLst>
          </p:cNvPr>
          <p:cNvSpPr>
            <a:spLocks noGrp="1" noChangeArrowheads="1"/>
          </p:cNvSpPr>
          <p:nvPr>
            <p:ph type="body" idx="1"/>
          </p:nvPr>
        </p:nvSpPr>
        <p:spPr>
          <a:xfrm>
            <a:off x="228600" y="2133600"/>
            <a:ext cx="8229600" cy="2997200"/>
          </a:xfrm>
        </p:spPr>
        <p:txBody>
          <a:bodyPr/>
          <a:lstStyle/>
          <a:p>
            <a:pPr marL="465138" indent="0" eaLnBrk="1" hangingPunct="1">
              <a:buFontTx/>
              <a:buNone/>
            </a:pPr>
            <a:r>
              <a:rPr lang="en-US" altLang="en-US" sz="2800" dirty="0">
                <a:latin typeface="Times New Roman" panose="02020603050405020304" pitchFamily="18" charset="0"/>
                <a:cs typeface="Times New Roman" panose="02020603050405020304" pitchFamily="18" charset="0"/>
              </a:rPr>
              <a:t>Which gas would behave </a:t>
            </a:r>
            <a:r>
              <a:rPr lang="en-US" altLang="en-US" sz="2800" dirty="0">
                <a:solidFill>
                  <a:srgbClr val="0000FF"/>
                </a:solidFill>
                <a:latin typeface="Times New Roman" panose="02020603050405020304" pitchFamily="18" charset="0"/>
                <a:cs typeface="Times New Roman" panose="02020603050405020304" pitchFamily="18" charset="0"/>
              </a:rPr>
              <a:t>more ideally</a:t>
            </a:r>
            <a:r>
              <a:rPr lang="en-US" altLang="en-US" sz="2800" dirty="0">
                <a:latin typeface="Times New Roman" panose="02020603050405020304" pitchFamily="18" charset="0"/>
                <a:cs typeface="Times New Roman" panose="02020603050405020304" pitchFamily="18" charset="0"/>
              </a:rPr>
              <a:t> at the same conditions of P and T?</a:t>
            </a:r>
          </a:p>
          <a:p>
            <a:pPr marL="465138" indent="0" algn="ctr">
              <a:buFontTx/>
              <a:buNone/>
            </a:pPr>
            <a:endParaRPr lang="en-US" altLang="en-US" sz="2800" dirty="0">
              <a:latin typeface="Times New Roman" panose="02020603050405020304" pitchFamily="18" charset="0"/>
              <a:cs typeface="Times New Roman" panose="02020603050405020304" pitchFamily="18" charset="0"/>
            </a:endParaRPr>
          </a:p>
          <a:p>
            <a:pPr marL="465138" indent="0" algn="ctr">
              <a:buFontTx/>
              <a:buNone/>
            </a:pPr>
            <a:r>
              <a:rPr lang="en-US" altLang="en-US" sz="2800" dirty="0">
                <a:latin typeface="Times New Roman" panose="02020603050405020304" pitchFamily="18" charset="0"/>
                <a:cs typeface="Times New Roman" panose="02020603050405020304" pitchFamily="18" charset="0"/>
              </a:rPr>
              <a:t>CO 	  or	    N</a:t>
            </a:r>
            <a:r>
              <a:rPr lang="en-US" altLang="en-US" sz="2800" baseline="-25000" dirty="0">
                <a:latin typeface="Times New Roman" panose="02020603050405020304" pitchFamily="18" charset="0"/>
                <a:cs typeface="Times New Roman" panose="02020603050405020304" pitchFamily="18" charset="0"/>
              </a:rPr>
              <a:t>2</a:t>
            </a:r>
            <a:r>
              <a:rPr lang="en-US" altLang="en-US" sz="2800" dirty="0">
                <a:latin typeface="Times New Roman" panose="02020603050405020304" pitchFamily="18" charset="0"/>
                <a:cs typeface="Times New Roman" panose="02020603050405020304" pitchFamily="18" charset="0"/>
              </a:rPr>
              <a:t> </a:t>
            </a:r>
          </a:p>
          <a:p>
            <a:pPr marL="465138" indent="0">
              <a:buFontTx/>
              <a:buNone/>
            </a:pPr>
            <a:endParaRPr lang="en-US" altLang="en-US" sz="2800" dirty="0">
              <a:latin typeface="Times New Roman" panose="02020603050405020304" pitchFamily="18" charset="0"/>
              <a:cs typeface="Times New Roman" panose="02020603050405020304" pitchFamily="18" charset="0"/>
            </a:endParaRPr>
          </a:p>
          <a:p>
            <a:pPr marL="465138" indent="0">
              <a:buFontTx/>
              <a:buNone/>
            </a:pPr>
            <a:r>
              <a:rPr lang="en-US" altLang="en-US" sz="2800" dirty="0">
                <a:latin typeface="Times New Roman" panose="02020603050405020304" pitchFamily="18" charset="0"/>
                <a:cs typeface="Times New Roman" panose="02020603050405020304" pitchFamily="18" charset="0"/>
              </a:rPr>
              <a:t>Why?</a:t>
            </a:r>
          </a:p>
        </p:txBody>
      </p:sp>
      <p:sp>
        <p:nvSpPr>
          <p:cNvPr id="343045" name="Rectangle 5">
            <a:extLst>
              <a:ext uri="{FF2B5EF4-FFF2-40B4-BE49-F238E27FC236}">
                <a16:creationId xmlns:a16="http://schemas.microsoft.com/office/drawing/2014/main" id="{95F6FE5A-5399-47AE-800D-167CCC80FAB8}"/>
              </a:ext>
            </a:extLst>
          </p:cNvPr>
          <p:cNvSpPr>
            <a:spLocks noChangeArrowheads="1"/>
          </p:cNvSpPr>
          <p:nvPr/>
        </p:nvSpPr>
        <p:spPr bwMode="auto">
          <a:xfrm>
            <a:off x="5502275" y="3502993"/>
            <a:ext cx="685800" cy="533400"/>
          </a:xfrm>
          <a:prstGeom prst="rect">
            <a:avLst/>
          </a:prstGeom>
          <a:noFill/>
          <a:ln w="381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Calibri" panose="020F0502020204030204" pitchFamily="34" charset="0"/>
              <a:ea typeface="MS PGothic" panose="020B0600070205080204" pitchFamily="34" charset="-128"/>
              <a:cs typeface="Calibri" panose="020F0502020204030204" pitchFamily="34" charset="0"/>
            </a:endParaRPr>
          </a:p>
        </p:txBody>
      </p:sp>
      <p:sp>
        <p:nvSpPr>
          <p:cNvPr id="7" name="TextBox 6">
            <a:extLst>
              <a:ext uri="{FF2B5EF4-FFF2-40B4-BE49-F238E27FC236}">
                <a16:creationId xmlns:a16="http://schemas.microsoft.com/office/drawing/2014/main" id="{E73352FE-14B3-48AE-8033-C74E032403F9}"/>
              </a:ext>
            </a:extLst>
          </p:cNvPr>
          <p:cNvSpPr txBox="1"/>
          <p:nvPr/>
        </p:nvSpPr>
        <p:spPr>
          <a:xfrm>
            <a:off x="39688" y="1427163"/>
            <a:ext cx="3581400" cy="460375"/>
          </a:xfrm>
          <a:prstGeom prst="rect">
            <a:avLst/>
          </a:prstGeom>
          <a:gradFill flip="none" rotWithShape="1">
            <a:gsLst>
              <a:gs pos="0">
                <a:schemeClr val="accent4">
                  <a:alpha val="60000"/>
                </a:schemeClr>
              </a:gs>
              <a:gs pos="100000">
                <a:srgbClr val="FFFFFF"/>
              </a:gs>
            </a:gsLst>
            <a:path path="shape">
              <a:fillToRect l="50000" t="50000" r="50000" b="50000"/>
            </a:path>
            <a:tileRect/>
          </a:gradFill>
          <a:ln>
            <a:noFill/>
            <a:prstDash val="dot"/>
          </a:ln>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defRPr/>
            </a:pPr>
            <a:r>
              <a:rPr lang="en-US" b="1" i="1">
                <a:solidFill>
                  <a:srgbClr val="681166"/>
                </a:solidFill>
                <a:effectLst>
                  <a:outerShdw blurRad="38100" dist="38100" dir="2700000" algn="tl">
                    <a:srgbClr val="000000"/>
                  </a:outerShdw>
                </a:effectLst>
              </a:rPr>
              <a:t>CONCEPT CHECK!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3045"/>
                                        </p:tgtEl>
                                        <p:attrNameLst>
                                          <p:attrName>style.visibility</p:attrName>
                                        </p:attrNameLst>
                                      </p:cBhvr>
                                      <p:to>
                                        <p:strVal val="visible"/>
                                      </p:to>
                                    </p:set>
                                    <p:animEffect transition="in" filter="wipe(left)">
                                      <p:cBhvr>
                                        <p:cTn id="7" dur="500"/>
                                        <p:tgtEl>
                                          <p:spTgt spid="343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BE2251-F9CD-43D9-9A56-495ECFE2A100}"/>
              </a:ext>
            </a:extLst>
          </p:cNvPr>
          <p:cNvSpPr>
            <a:spLocks noGrp="1"/>
          </p:cNvSpPr>
          <p:nvPr>
            <p:ph idx="1"/>
          </p:nvPr>
        </p:nvSpPr>
        <p:spPr/>
        <p: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What type(s) of intermolecular forces exist between the following pairs?</a:t>
            </a:r>
          </a:p>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endPar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endParaRPr>
          </a:p>
          <a:p>
            <a:pPr marL="457200" marR="0" lvl="0" indent="-457200" algn="l" defTabSz="914400" rtl="0" eaLnBrk="1" fontAlgn="base" latinLnBrk="0" hangingPunct="1">
              <a:lnSpc>
                <a:spcPct val="100000"/>
              </a:lnSpc>
              <a:spcBef>
                <a:spcPct val="20000"/>
              </a:spcBef>
              <a:spcAft>
                <a:spcPct val="0"/>
              </a:spcAft>
              <a:buClrTx/>
              <a:buSzTx/>
              <a:buFont typeface="Arial" charset="0"/>
              <a:buAutoNum type="alphaLcParenBoth"/>
              <a:tabLst/>
              <a:defRPr/>
            </a:pP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HBr and H</a:t>
            </a:r>
            <a:r>
              <a:rPr kumimoji="0" lang="en-US" sz="2400" b="0" i="0" u="none" strike="noStrike" kern="1200" cap="none" spc="0" normalizeH="0" baseline="-25000" noProof="0" dirty="0">
                <a:ln>
                  <a:noFill/>
                </a:ln>
                <a:solidFill>
                  <a:prstClr val="black"/>
                </a:solidFill>
                <a:effectLst/>
                <a:uLnTx/>
                <a:uFillTx/>
                <a:latin typeface="Arial" pitchFamily="34" charset="0"/>
                <a:ea typeface="+mn-ea"/>
                <a:cs typeface="+mn-cs"/>
              </a:rPr>
              <a:t>2</a:t>
            </a: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S</a:t>
            </a:r>
          </a:p>
          <a:p>
            <a:pPr marL="457200" marR="0" lvl="0" indent="-457200" algn="l" defTabSz="914400" rtl="0" eaLnBrk="1" fontAlgn="base" latinLnBrk="0" hangingPunct="1">
              <a:lnSpc>
                <a:spcPct val="100000"/>
              </a:lnSpc>
              <a:spcBef>
                <a:spcPct val="20000"/>
              </a:spcBef>
              <a:spcAft>
                <a:spcPct val="0"/>
              </a:spcAft>
              <a:buClrTx/>
              <a:buSzTx/>
              <a:buFont typeface="Arial" charset="0"/>
              <a:buAutoNum type="alphaLcParenBoth"/>
              <a:tabLst/>
              <a:defRPr/>
            </a:pPr>
            <a:endPar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endParaRPr>
          </a:p>
          <a:p>
            <a:pPr marL="457200" marR="0" lvl="0" indent="-457200" algn="l" defTabSz="914400" rtl="0" eaLnBrk="1" fontAlgn="base" latinLnBrk="0" hangingPunct="1">
              <a:lnSpc>
                <a:spcPct val="100000"/>
              </a:lnSpc>
              <a:spcBef>
                <a:spcPct val="20000"/>
              </a:spcBef>
              <a:spcAft>
                <a:spcPct val="0"/>
              </a:spcAft>
              <a:buClrTx/>
              <a:buSzTx/>
              <a:buFont typeface="Arial" charset="0"/>
              <a:buAutoNum type="alphaLcParenBoth"/>
              <a:tabLst/>
              <a:defRPr/>
            </a:pP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Cl</a:t>
            </a:r>
            <a:r>
              <a:rPr kumimoji="0" lang="en-US" sz="2400" b="0" i="0" u="none" strike="noStrike" kern="1200" cap="none" spc="0" normalizeH="0" baseline="-25000" noProof="0" dirty="0">
                <a:ln>
                  <a:noFill/>
                </a:ln>
                <a:solidFill>
                  <a:prstClr val="black"/>
                </a:solidFill>
                <a:effectLst/>
                <a:uLnTx/>
                <a:uFillTx/>
                <a:latin typeface="Arial" pitchFamily="34" charset="0"/>
                <a:ea typeface="+mn-ea"/>
                <a:cs typeface="+mn-cs"/>
              </a:rPr>
              <a:t>2</a:t>
            </a: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 and CBr</a:t>
            </a:r>
            <a:r>
              <a:rPr kumimoji="0" lang="en-US" sz="2400" b="0" i="0" u="none" strike="noStrike" kern="1200" cap="none" spc="0" normalizeH="0" baseline="-25000" noProof="0" dirty="0">
                <a:ln>
                  <a:noFill/>
                </a:ln>
                <a:solidFill>
                  <a:prstClr val="black"/>
                </a:solidFill>
                <a:effectLst/>
                <a:uLnTx/>
                <a:uFillTx/>
                <a:latin typeface="Arial" pitchFamily="34" charset="0"/>
                <a:ea typeface="+mn-ea"/>
                <a:cs typeface="+mn-cs"/>
              </a:rPr>
              <a:t>4</a:t>
            </a:r>
          </a:p>
          <a:p>
            <a:pPr marL="457200" marR="0" lvl="0" indent="-457200" algn="l" defTabSz="914400" rtl="0" eaLnBrk="1" fontAlgn="base" latinLnBrk="0" hangingPunct="1">
              <a:lnSpc>
                <a:spcPct val="100000"/>
              </a:lnSpc>
              <a:spcBef>
                <a:spcPct val="20000"/>
              </a:spcBef>
              <a:spcAft>
                <a:spcPct val="0"/>
              </a:spcAft>
              <a:buClrTx/>
              <a:buSzTx/>
              <a:buFont typeface="Arial" charset="0"/>
              <a:buAutoNum type="alphaLcParenBoth"/>
              <a:tabLst/>
              <a:defRPr/>
            </a:pPr>
            <a:endPar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endParaRPr>
          </a:p>
          <a:p>
            <a:pPr marL="457200" marR="0" lvl="0" indent="-457200" algn="l" defTabSz="914400" rtl="0" eaLnBrk="1" fontAlgn="base" latinLnBrk="0" hangingPunct="1">
              <a:lnSpc>
                <a:spcPct val="100000"/>
              </a:lnSpc>
              <a:spcBef>
                <a:spcPct val="20000"/>
              </a:spcBef>
              <a:spcAft>
                <a:spcPct val="0"/>
              </a:spcAft>
              <a:buClrTx/>
              <a:buSzTx/>
              <a:buFont typeface="Arial" charset="0"/>
              <a:buAutoNum type="alphaLcParenBoth"/>
              <a:tabLst/>
              <a:defRPr/>
            </a:pP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I</a:t>
            </a:r>
            <a:r>
              <a:rPr kumimoji="0" lang="en-US" sz="2400" b="0" i="0" u="none" strike="noStrike" kern="1200" cap="none" spc="0" normalizeH="0" baseline="-25000" noProof="0" dirty="0">
                <a:ln>
                  <a:noFill/>
                </a:ln>
                <a:solidFill>
                  <a:prstClr val="black"/>
                </a:solidFill>
                <a:effectLst/>
                <a:uLnTx/>
                <a:uFillTx/>
                <a:latin typeface="Arial" pitchFamily="34" charset="0"/>
                <a:ea typeface="+mn-ea"/>
                <a:cs typeface="+mn-cs"/>
              </a:rPr>
              <a:t>2</a:t>
            </a: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 and         </a:t>
            </a:r>
          </a:p>
          <a:p>
            <a:pPr marL="457200" marR="0" lvl="0" indent="-457200" algn="l" defTabSz="914400" rtl="0" eaLnBrk="1" fontAlgn="base" latinLnBrk="0" hangingPunct="1">
              <a:lnSpc>
                <a:spcPct val="100000"/>
              </a:lnSpc>
              <a:spcBef>
                <a:spcPct val="20000"/>
              </a:spcBef>
              <a:spcAft>
                <a:spcPct val="0"/>
              </a:spcAft>
              <a:buClrTx/>
              <a:buSzTx/>
              <a:buFont typeface="Arial" charset="0"/>
              <a:buAutoNum type="alphaLcParenBoth"/>
              <a:tabLst/>
              <a:defRPr/>
            </a:pPr>
            <a:endPar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endParaRPr>
          </a:p>
          <a:p>
            <a:pPr marL="457200" marR="0" lvl="0" indent="-457200" algn="l" defTabSz="914400" rtl="0" eaLnBrk="1" fontAlgn="base" latinLnBrk="0" hangingPunct="1">
              <a:lnSpc>
                <a:spcPct val="100000"/>
              </a:lnSpc>
              <a:spcBef>
                <a:spcPct val="20000"/>
              </a:spcBef>
              <a:spcAft>
                <a:spcPct val="0"/>
              </a:spcAft>
              <a:buClrTx/>
              <a:buSzTx/>
              <a:buFont typeface="Arial" charset="0"/>
              <a:buAutoNum type="alphaLcParenBoth"/>
              <a:tabLst/>
              <a:defRPr/>
            </a:pP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NH</a:t>
            </a:r>
            <a:r>
              <a:rPr kumimoji="0" lang="en-US" sz="2400" b="0" i="0" u="none" strike="noStrike" kern="1200" cap="none" spc="0" normalizeH="0" baseline="-25000" noProof="0" dirty="0">
                <a:ln>
                  <a:noFill/>
                </a:ln>
                <a:solidFill>
                  <a:prstClr val="black"/>
                </a:solidFill>
                <a:effectLst/>
                <a:uLnTx/>
                <a:uFillTx/>
                <a:latin typeface="Arial" pitchFamily="34" charset="0"/>
                <a:ea typeface="+mn-ea"/>
                <a:cs typeface="+mn-cs"/>
              </a:rPr>
              <a:t>3</a:t>
            </a: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 and C</a:t>
            </a:r>
            <a:r>
              <a:rPr kumimoji="0" lang="en-US" sz="2400" b="0" i="0" u="none" strike="noStrike" kern="1200" cap="none" spc="0" normalizeH="0" baseline="-25000" noProof="0" dirty="0">
                <a:ln>
                  <a:noFill/>
                </a:ln>
                <a:solidFill>
                  <a:prstClr val="black"/>
                </a:solidFill>
                <a:effectLst/>
                <a:uLnTx/>
                <a:uFillTx/>
                <a:latin typeface="Arial" pitchFamily="34" charset="0"/>
                <a:ea typeface="+mn-ea"/>
                <a:cs typeface="+mn-cs"/>
              </a:rPr>
              <a:t>6</a:t>
            </a:r>
            <a:r>
              <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rPr>
              <a:t>H</a:t>
            </a:r>
            <a:r>
              <a:rPr kumimoji="0" lang="en-US" sz="2400" b="0" i="0" u="none" strike="noStrike" kern="1200" cap="none" spc="0" normalizeH="0" baseline="-25000" noProof="0" dirty="0">
                <a:ln>
                  <a:noFill/>
                </a:ln>
                <a:solidFill>
                  <a:prstClr val="black"/>
                </a:solidFill>
                <a:effectLst/>
                <a:uLnTx/>
                <a:uFillTx/>
                <a:latin typeface="Arial" pitchFamily="34" charset="0"/>
                <a:ea typeface="+mn-ea"/>
                <a:cs typeface="+mn-cs"/>
              </a:rPr>
              <a:t>6</a:t>
            </a:r>
            <a:endParaRPr kumimoji="0" lang="en-US" sz="2400" b="0" i="0" u="none" strike="noStrike" kern="1200" cap="none" spc="0" normalizeH="0" baseline="0" noProof="0" dirty="0">
              <a:ln>
                <a:noFill/>
              </a:ln>
              <a:solidFill>
                <a:prstClr val="black"/>
              </a:solidFill>
              <a:effectLst/>
              <a:uLnTx/>
              <a:uFillTx/>
              <a:latin typeface="Arial" pitchFamily="34" charset="0"/>
              <a:ea typeface="+mn-ea"/>
              <a:cs typeface="+mn-cs"/>
            </a:endParaRPr>
          </a:p>
          <a:p>
            <a:endParaRPr lang="en-US" dirty="0"/>
          </a:p>
        </p:txBody>
      </p:sp>
      <p:pic>
        <p:nvPicPr>
          <p:cNvPr id="6" name="Picture 5">
            <a:extLst>
              <a:ext uri="{FF2B5EF4-FFF2-40B4-BE49-F238E27FC236}">
                <a16:creationId xmlns:a16="http://schemas.microsoft.com/office/drawing/2014/main" id="{DE47397A-243F-46CE-B628-4303CDF900C8}"/>
              </a:ext>
            </a:extLst>
          </p:cNvPr>
          <p:cNvPicPr>
            <a:picLocks noChangeAspect="1"/>
          </p:cNvPicPr>
          <p:nvPr/>
        </p:nvPicPr>
        <p:blipFill>
          <a:blip r:embed="rId2"/>
          <a:stretch>
            <a:fillRect/>
          </a:stretch>
        </p:blipFill>
        <p:spPr>
          <a:xfrm>
            <a:off x="2041607" y="4815157"/>
            <a:ext cx="627942" cy="487722"/>
          </a:xfrm>
          <a:prstGeom prst="rect">
            <a:avLst/>
          </a:prstGeom>
        </p:spPr>
      </p:pic>
      <p:sp>
        <p:nvSpPr>
          <p:cNvPr id="7" name="TextBox 6">
            <a:extLst>
              <a:ext uri="{FF2B5EF4-FFF2-40B4-BE49-F238E27FC236}">
                <a16:creationId xmlns:a16="http://schemas.microsoft.com/office/drawing/2014/main" id="{D41869A9-A38D-4A9C-A9DE-AAA5D1BC36AF}"/>
              </a:ext>
            </a:extLst>
          </p:cNvPr>
          <p:cNvSpPr txBox="1"/>
          <p:nvPr/>
        </p:nvSpPr>
        <p:spPr>
          <a:xfrm>
            <a:off x="139078" y="1069355"/>
            <a:ext cx="3581400" cy="460375"/>
          </a:xfrm>
          <a:prstGeom prst="rect">
            <a:avLst/>
          </a:prstGeom>
          <a:gradFill flip="none" rotWithShape="1">
            <a:gsLst>
              <a:gs pos="0">
                <a:schemeClr val="accent4">
                  <a:alpha val="60000"/>
                </a:schemeClr>
              </a:gs>
              <a:gs pos="100000">
                <a:srgbClr val="FFFFFF"/>
              </a:gs>
            </a:gsLst>
            <a:path path="shape">
              <a:fillToRect l="50000" t="50000" r="50000" b="50000"/>
            </a:path>
            <a:tileRect/>
          </a:gradFill>
          <a:ln>
            <a:noFill/>
            <a:prstDash val="dot"/>
          </a:ln>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defRPr/>
            </a:pPr>
            <a:r>
              <a:rPr lang="en-US" b="1" i="1" dirty="0">
                <a:solidFill>
                  <a:srgbClr val="681166"/>
                </a:solidFill>
                <a:effectLst>
                  <a:outerShdw blurRad="38100" dist="38100" dir="2700000" algn="tl">
                    <a:srgbClr val="000000"/>
                  </a:outerShdw>
                </a:effectLst>
              </a:rPr>
              <a:t>CONCEPT CHECK!</a:t>
            </a:r>
          </a:p>
        </p:txBody>
      </p:sp>
    </p:spTree>
    <p:extLst>
      <p:ext uri="{BB962C8B-B14F-4D97-AF65-F5344CB8AC3E}">
        <p14:creationId xmlns:p14="http://schemas.microsoft.com/office/powerpoint/2010/main" val="2184144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4C80A81D-9F98-4C67-83C0-A8D638483FCF}"/>
              </a:ext>
            </a:extLst>
          </p:cNvPr>
          <p:cNvSpPr txBox="1">
            <a:spLocks/>
          </p:cNvSpPr>
          <p:nvPr/>
        </p:nvSpPr>
        <p:spPr bwMode="auto">
          <a:xfrm>
            <a:off x="159024" y="1311965"/>
            <a:ext cx="8807450" cy="565198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400" kern="1200" baseline="0">
                <a:solidFill>
                  <a:schemeClr val="tx1"/>
                </a:solidFill>
                <a:latin typeface="Arial"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rPr>
              <a:t>Which of the following can form hydrogen bonds with water? </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endPar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rPr>
              <a:t>CH</a:t>
            </a:r>
            <a:r>
              <a:rPr kumimoji="0" lang="en-US" altLang="en-US" sz="2400" b="0" i="0" u="none" strike="noStrike" kern="1200" cap="none" spc="0" normalizeH="0" baseline="-25000" noProof="0" dirty="0">
                <a:ln>
                  <a:noFill/>
                </a:ln>
                <a:solidFill>
                  <a:sysClr val="windowText" lastClr="000000"/>
                </a:solidFill>
                <a:effectLst/>
                <a:uLnTx/>
                <a:uFillTx/>
                <a:latin typeface="Arial" pitchFamily="34" charset="0"/>
                <a:ea typeface="+mn-ea"/>
                <a:cs typeface="+mn-cs"/>
              </a:rPr>
              <a:t>3</a:t>
            </a:r>
            <a:r>
              <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rPr>
              <a:t>OCH</a:t>
            </a:r>
            <a:r>
              <a:rPr kumimoji="0" lang="en-US" altLang="en-US" sz="2400" b="0" i="0" u="none" strike="noStrike" kern="1200" cap="none" spc="0" normalizeH="0" baseline="-25000" noProof="0" dirty="0">
                <a:ln>
                  <a:noFill/>
                </a:ln>
                <a:solidFill>
                  <a:sysClr val="windowText" lastClr="000000"/>
                </a:solidFill>
                <a:effectLst/>
                <a:uLnTx/>
                <a:uFillTx/>
                <a:latin typeface="Arial" pitchFamily="34" charset="0"/>
                <a:ea typeface="+mn-ea"/>
                <a:cs typeface="+mn-cs"/>
              </a:rPr>
              <a:t>3</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endPar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rPr>
              <a:t>CH</a:t>
            </a:r>
            <a:r>
              <a:rPr kumimoji="0" lang="en-US" altLang="en-US" sz="2400" b="0" i="0" u="none" strike="noStrike" kern="1200" cap="none" spc="0" normalizeH="0" baseline="-25000" noProof="0" dirty="0">
                <a:ln>
                  <a:noFill/>
                </a:ln>
                <a:solidFill>
                  <a:sysClr val="windowText" lastClr="000000"/>
                </a:solidFill>
                <a:effectLst/>
                <a:uLnTx/>
                <a:uFillTx/>
                <a:latin typeface="Arial" pitchFamily="34" charset="0"/>
                <a:ea typeface="+mn-ea"/>
                <a:cs typeface="+mn-cs"/>
              </a:rPr>
              <a:t>4</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endPar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rPr>
              <a:t>F</a:t>
            </a:r>
            <a:r>
              <a:rPr kumimoji="0" lang="en-US" altLang="en-US" sz="2400" b="0" i="0" u="none" strike="noStrike" kern="1200" cap="none" spc="0" normalizeH="0" baseline="-25000" noProof="0" dirty="0">
                <a:ln>
                  <a:noFill/>
                </a:ln>
                <a:solidFill>
                  <a:sysClr val="windowText" lastClr="000000"/>
                </a:solidFill>
                <a:effectLst/>
                <a:uLnTx/>
                <a:uFillTx/>
                <a:latin typeface="Arial" pitchFamily="34" charset="0"/>
                <a:ea typeface="+mn-ea"/>
                <a:cs typeface="+mn-cs"/>
              </a:rPr>
              <a:t>2</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endPar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rPr>
              <a:t>HCOOH</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endPar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rPr>
              <a:t>Na</a:t>
            </a:r>
            <a:r>
              <a:rPr kumimoji="0" lang="en-US" altLang="en-US" sz="2400" b="0" i="0" u="none" strike="noStrike" kern="1200" cap="none" spc="0" normalizeH="0" baseline="30000" noProof="0" dirty="0">
                <a:ln>
                  <a:noFill/>
                </a:ln>
                <a:solidFill>
                  <a:sysClr val="windowText" lastClr="000000"/>
                </a:solidFill>
                <a:effectLst/>
                <a:uLnTx/>
                <a:uFillTx/>
                <a:latin typeface="Arial" pitchFamily="34" charset="0"/>
                <a:ea typeface="+mn-ea"/>
                <a:cs typeface="+mn-cs"/>
              </a:rPr>
              <a:t>+</a:t>
            </a:r>
            <a:endParaRPr kumimoji="0" lang="en-US" altLang="en-US" sz="2400" b="0" i="0" u="none" strike="noStrike" kern="1200" cap="none" spc="0" normalizeH="0" baseline="0" noProof="0" dirty="0">
              <a:ln>
                <a:noFill/>
              </a:ln>
              <a:solidFill>
                <a:sysClr val="windowText" lastClr="000000"/>
              </a:solidFill>
              <a:effectLst/>
              <a:uLnTx/>
              <a:uFillTx/>
              <a:latin typeface="Arial" pitchFamily="34" charset="0"/>
              <a:ea typeface="+mn-ea"/>
              <a:cs typeface="+mn-cs"/>
            </a:endParaRPr>
          </a:p>
        </p:txBody>
      </p:sp>
      <p:sp>
        <p:nvSpPr>
          <p:cNvPr id="5" name="TextBox 4">
            <a:extLst>
              <a:ext uri="{FF2B5EF4-FFF2-40B4-BE49-F238E27FC236}">
                <a16:creationId xmlns:a16="http://schemas.microsoft.com/office/drawing/2014/main" id="{BC2BAEF5-C8CA-45A1-90BF-857E0C7C5F0C}"/>
              </a:ext>
            </a:extLst>
          </p:cNvPr>
          <p:cNvSpPr txBox="1"/>
          <p:nvPr/>
        </p:nvSpPr>
        <p:spPr>
          <a:xfrm>
            <a:off x="129139" y="741366"/>
            <a:ext cx="3581400" cy="460375"/>
          </a:xfrm>
          <a:prstGeom prst="rect">
            <a:avLst/>
          </a:prstGeom>
          <a:gradFill flip="none" rotWithShape="1">
            <a:gsLst>
              <a:gs pos="0">
                <a:schemeClr val="accent4">
                  <a:alpha val="60000"/>
                </a:schemeClr>
              </a:gs>
              <a:gs pos="100000">
                <a:srgbClr val="FFFFFF"/>
              </a:gs>
            </a:gsLst>
            <a:path path="shape">
              <a:fillToRect l="50000" t="50000" r="50000" b="50000"/>
            </a:path>
            <a:tileRect/>
          </a:gradFill>
          <a:ln>
            <a:noFill/>
            <a:prstDash val="dot"/>
          </a:ln>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defRPr/>
            </a:pPr>
            <a:r>
              <a:rPr lang="en-US" b="1" i="1" dirty="0">
                <a:solidFill>
                  <a:srgbClr val="681166"/>
                </a:solidFill>
                <a:effectLst>
                  <a:outerShdw blurRad="38100" dist="38100" dir="2700000" algn="tl">
                    <a:srgbClr val="000000"/>
                  </a:outerShdw>
                </a:effectLst>
              </a:rPr>
              <a:t>CONCEPT CHECK!</a:t>
            </a:r>
          </a:p>
        </p:txBody>
      </p:sp>
    </p:spTree>
    <p:extLst>
      <p:ext uri="{BB962C8B-B14F-4D97-AF65-F5344CB8AC3E}">
        <p14:creationId xmlns:p14="http://schemas.microsoft.com/office/powerpoint/2010/main" val="3299516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3">
            <a:extLst>
              <a:ext uri="{FF2B5EF4-FFF2-40B4-BE49-F238E27FC236}">
                <a16:creationId xmlns:a16="http://schemas.microsoft.com/office/drawing/2014/main" id="{3911C418-5C6E-4CD6-8ABE-5DBB31C4F8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950" y="1273175"/>
            <a:ext cx="3292475" cy="3440113"/>
          </a:xfrm>
          <a:prstGeom prst="rect">
            <a:avLst/>
          </a:prstGeom>
          <a:noFill/>
          <a:extLst>
            <a:ext uri="{909E8E84-426E-40DD-AFC4-6F175D3DCCD1}">
              <a14:hiddenFill xmlns:a14="http://schemas.microsoft.com/office/drawing/2010/main">
                <a:solidFill>
                  <a:srgbClr val="FFFFFF"/>
                </a:solidFill>
              </a14:hiddenFill>
            </a:ext>
          </a:extLst>
        </p:spPr>
      </p:pic>
      <p:pic>
        <p:nvPicPr>
          <p:cNvPr id="45061" name="Picture 5">
            <a:extLst>
              <a:ext uri="{FF2B5EF4-FFF2-40B4-BE49-F238E27FC236}">
                <a16:creationId xmlns:a16="http://schemas.microsoft.com/office/drawing/2014/main" id="{B43C19B6-3CC3-40AE-A4E1-E116938FA0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3675" y="1189038"/>
            <a:ext cx="2879725" cy="3451225"/>
          </a:xfrm>
          <a:prstGeom prst="rect">
            <a:avLst/>
          </a:prstGeom>
          <a:noFill/>
          <a:extLst>
            <a:ext uri="{909E8E84-426E-40DD-AFC4-6F175D3DCCD1}">
              <a14:hiddenFill xmlns:a14="http://schemas.microsoft.com/office/drawing/2010/main">
                <a:solidFill>
                  <a:srgbClr val="FFFFFF"/>
                </a:solidFill>
              </a14:hiddenFill>
            </a:ext>
          </a:extLst>
        </p:spPr>
      </p:pic>
      <p:sp>
        <p:nvSpPr>
          <p:cNvPr id="45062" name="Text Box 6">
            <a:extLst>
              <a:ext uri="{FF2B5EF4-FFF2-40B4-BE49-F238E27FC236}">
                <a16:creationId xmlns:a16="http://schemas.microsoft.com/office/drawing/2014/main" id="{E9EB15F7-A6C1-4994-A263-F8893038168A}"/>
              </a:ext>
            </a:extLst>
          </p:cNvPr>
          <p:cNvSpPr txBox="1">
            <a:spLocks noChangeArrowheads="1"/>
          </p:cNvSpPr>
          <p:nvPr/>
        </p:nvSpPr>
        <p:spPr bwMode="auto">
          <a:xfrm>
            <a:off x="2404165" y="374651"/>
            <a:ext cx="463391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4000" dirty="0">
                <a:effectLst>
                  <a:outerShdw blurRad="38100" dist="38100" dir="2700000" algn="tl">
                    <a:srgbClr val="C0C0C0"/>
                  </a:outerShdw>
                </a:effectLst>
                <a:latin typeface="Modern Love" panose="04090805081005020601" pitchFamily="82" charset="0"/>
              </a:rPr>
              <a:t>Hydrophobic Effect</a:t>
            </a:r>
          </a:p>
        </p:txBody>
      </p:sp>
      <p:sp>
        <p:nvSpPr>
          <p:cNvPr id="45063" name="Text Box 7">
            <a:extLst>
              <a:ext uri="{FF2B5EF4-FFF2-40B4-BE49-F238E27FC236}">
                <a16:creationId xmlns:a16="http://schemas.microsoft.com/office/drawing/2014/main" id="{6E9C4780-3F40-4806-90A3-11CEA21D3F44}"/>
              </a:ext>
            </a:extLst>
          </p:cNvPr>
          <p:cNvSpPr txBox="1">
            <a:spLocks noChangeArrowheads="1"/>
          </p:cNvSpPr>
          <p:nvPr/>
        </p:nvSpPr>
        <p:spPr bwMode="auto">
          <a:xfrm>
            <a:off x="788988" y="5110163"/>
            <a:ext cx="76660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latin typeface="Times New Roman" panose="02020603050405020304" pitchFamily="18" charset="0"/>
                <a:cs typeface="Times New Roman" panose="02020603050405020304" pitchFamily="18" charset="0"/>
              </a:rPr>
              <a:t>The </a:t>
            </a:r>
            <a:r>
              <a:rPr lang="en-US" altLang="en-US" dirty="0">
                <a:solidFill>
                  <a:srgbClr val="FF3300"/>
                </a:solidFill>
                <a:latin typeface="Times New Roman" panose="02020603050405020304" pitchFamily="18" charset="0"/>
                <a:cs typeface="Times New Roman" panose="02020603050405020304" pitchFamily="18" charset="0"/>
              </a:rPr>
              <a:t>hydrophobic effect</a:t>
            </a:r>
            <a:r>
              <a:rPr lang="en-US" altLang="en-US" dirty="0">
                <a:latin typeface="Times New Roman" panose="02020603050405020304" pitchFamily="18" charset="0"/>
                <a:cs typeface="Times New Roman" panose="02020603050405020304" pitchFamily="18" charset="0"/>
              </a:rPr>
              <a:t> is an entropically-driven association of hydrophobic molecules that is a direct consequence of the polar nature of water and it propensity for hydrogen bonding.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E05577-5556-4939-A4EA-8494E0EB6BE9}"/>
              </a:ext>
            </a:extLst>
          </p:cNvPr>
          <p:cNvSpPr>
            <a:spLocks noChangeArrowheads="1"/>
          </p:cNvSpPr>
          <p:nvPr/>
        </p:nvSpPr>
        <p:spPr bwMode="auto">
          <a:xfrm>
            <a:off x="0" y="2411609"/>
            <a:ext cx="905454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rgbClr val="0070C0"/>
                </a:solidFill>
                <a:effectLst/>
                <a:latin typeface="Century Schoolbook" panose="02040604050505020304" pitchFamily="18" charset="0"/>
                <a:cs typeface="Segoe UI" panose="020B0502040204020203" pitchFamily="34" charset="0"/>
                <a:hlinkClick r:id="rId2" tooltip="https://www.labxchange.org/library/pathway/lx-pathway:d434428e-91c2-4aac-9d4d-9e110fb97734/items/lx-pb:d434428e-91c2-4aac-9d4d-9e110fb97734:video:e8f4301c">
                  <a:extLst>
                    <a:ext uri="{A12FA001-AC4F-418D-AE19-62706E023703}">
                      <ahyp:hlinkClr xmlns:ahyp="http://schemas.microsoft.com/office/drawing/2018/hyperlinkcolor" val="tx"/>
                    </a:ext>
                  </a:extLst>
                </a:hlinkClick>
              </a:rPr>
              <a:t>https://www.labxchange.org/library/pathway/lx-pathway:d434428e-91c2-4aac-9d4d-9e110fb97734/items/lx-pb:d434428e-91c2-4aac-9d4d-9e110fb97734:video:e8f4301c</a:t>
            </a:r>
            <a:endParaRPr lang="en-US" altLang="en-US" sz="2400" dirty="0">
              <a:solidFill>
                <a:srgbClr val="0070C0"/>
              </a:solidFill>
              <a:latin typeface="Century Schoolbook" panose="02040604050505020304" pitchFamily="18" charset="0"/>
              <a:cs typeface="Segoe UI" panose="020B0502040204020203"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400" b="0" i="0" u="none" strike="noStrike" cap="none" normalizeH="0" baseline="0" dirty="0">
              <a:ln>
                <a:noFill/>
              </a:ln>
              <a:solidFill>
                <a:srgbClr val="954F72"/>
              </a:solidFill>
              <a:effectLst/>
              <a:latin typeface="Century Schoolbook" panose="02040604050505020304" pitchFamily="18" charset="0"/>
              <a:cs typeface="Segoe UI" panose="020B0502040204020203" pitchFamily="34" charset="0"/>
              <a:hlinkClick r:id="rId3" tooltip="https://www.wisc-online.com/learn/natural-science/chemistry/gch6804/intermolecular-forces">
                <a:extLst>
                  <a:ext uri="{A12FA001-AC4F-418D-AE19-62706E023703}">
                    <ahyp:hlinkClr xmlns:ahyp="http://schemas.microsoft.com/office/drawing/2018/hyperlinkcolor" val="tx"/>
                  </a:ext>
                </a:extLst>
              </a:hlinkClick>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accent2">
                    <a:lumMod val="75000"/>
                  </a:schemeClr>
                </a:solidFill>
                <a:effectLst/>
                <a:latin typeface="Century Schoolbook" panose="02040604050505020304" pitchFamily="18" charset="0"/>
                <a:cs typeface="Segoe UI" panose="020B0502040204020203" pitchFamily="34" charset="0"/>
                <a:hlinkClick r:id="rId3" tooltip="https://www.wisc-online.com/learn/natural-science/chemistry/gch6804/intermolecular-forces">
                  <a:extLst>
                    <a:ext uri="{A12FA001-AC4F-418D-AE19-62706E023703}">
                      <ahyp:hlinkClr xmlns:ahyp="http://schemas.microsoft.com/office/drawing/2018/hyperlinkcolor" val="tx"/>
                    </a:ext>
                  </a:extLst>
                </a:hlinkClick>
              </a:rPr>
              <a:t>https://www.wisc-online.com/learn/natural-science/chemistry/gch6804/intermolecular-forces</a:t>
            </a:r>
            <a:endParaRPr kumimoji="0" lang="en-US" altLang="en-US" sz="2400" b="0" i="0" u="none" strike="noStrike" cap="none" normalizeH="0" baseline="0" dirty="0">
              <a:ln>
                <a:noFill/>
              </a:ln>
              <a:solidFill>
                <a:schemeClr val="accent2">
                  <a:lumMod val="75000"/>
                </a:schemeClr>
              </a:solidFill>
              <a:effectLst/>
              <a:latin typeface="Century Schoolbook" panose="02040604050505020304" pitchFamily="18" charset="0"/>
              <a:cs typeface="Segoe UI" panose="020B0502040204020203" pitchFamily="34" charset="0"/>
            </a:endParaRPr>
          </a:p>
          <a:p>
            <a:pPr marR="0" lvl="0" algn="just" defTabSz="914400" rtl="0" eaLnBrk="0" fontAlgn="base" latinLnBrk="0" hangingPunct="0">
              <a:lnSpc>
                <a:spcPct val="100000"/>
              </a:lnSpc>
              <a:spcBef>
                <a:spcPct val="0"/>
              </a:spcBef>
              <a:spcAft>
                <a:spcPct val="0"/>
              </a:spcAft>
              <a:buClrTx/>
              <a:buSzTx/>
              <a:tabLst/>
            </a:pPr>
            <a:endParaRPr lang="en-US" altLang="en-US" sz="2400" dirty="0">
              <a:latin typeface="Century Schoolbook" panose="02040604050505020304" pitchFamily="18" charset="0"/>
              <a:cs typeface="Segoe UI" panose="020B0502040204020203"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accent6">
                    <a:lumMod val="75000"/>
                  </a:schemeClr>
                </a:solidFill>
                <a:effectLst/>
                <a:latin typeface="Century Schoolbook" panose="02040604050505020304" pitchFamily="18" charset="0"/>
                <a:cs typeface="Segoe UI" panose="020B0502040204020203" pitchFamily="34" charset="0"/>
                <a:hlinkClick r:id="rId4" tooltip="https://courses.lumenlearning.com/trident-boundless-chemistry/chapter/intermolecular-forces/">
                  <a:extLst>
                    <a:ext uri="{A12FA001-AC4F-418D-AE19-62706E023703}">
                      <ahyp:hlinkClr xmlns:ahyp="http://schemas.microsoft.com/office/drawing/2018/hyperlinkcolor" val="tx"/>
                    </a:ext>
                  </a:extLst>
                </a:hlinkClick>
              </a:rPr>
              <a:t>https://courses.lumenlearning.com/trident-boundless-chemistry/chapter/intermolecular-forces/</a:t>
            </a:r>
            <a:endParaRPr kumimoji="0" lang="en-US" altLang="en-US" sz="2400" b="0" i="0" u="none" strike="noStrike" cap="none" normalizeH="0" baseline="0" dirty="0">
              <a:ln>
                <a:noFill/>
              </a:ln>
              <a:solidFill>
                <a:schemeClr val="accent6">
                  <a:lumMod val="75000"/>
                </a:schemeClr>
              </a:solidFill>
              <a:effectLst/>
              <a:latin typeface="Century Schoolbook" panose="02040604050505020304" pitchFamily="18" charset="0"/>
            </a:endParaRPr>
          </a:p>
        </p:txBody>
      </p:sp>
      <p:sp>
        <p:nvSpPr>
          <p:cNvPr id="3" name="TextBox 2">
            <a:extLst>
              <a:ext uri="{FF2B5EF4-FFF2-40B4-BE49-F238E27FC236}">
                <a16:creationId xmlns:a16="http://schemas.microsoft.com/office/drawing/2014/main" id="{790FF047-3271-428D-A5F7-C0C78242A024}"/>
              </a:ext>
            </a:extLst>
          </p:cNvPr>
          <p:cNvSpPr txBox="1"/>
          <p:nvPr/>
        </p:nvSpPr>
        <p:spPr>
          <a:xfrm>
            <a:off x="0" y="89452"/>
            <a:ext cx="9144000" cy="1384995"/>
          </a:xfrm>
          <a:prstGeom prst="rect">
            <a:avLst/>
          </a:prstGeom>
          <a:noFill/>
        </p:spPr>
        <p:txBody>
          <a:bodyPr wrap="square" rtlCol="0">
            <a:spAutoFit/>
          </a:bodyPr>
          <a:lstStyle/>
          <a:p>
            <a:r>
              <a:rPr lang="en-US" sz="4200" dirty="0">
                <a:solidFill>
                  <a:srgbClr val="00B050"/>
                </a:solidFill>
                <a:latin typeface="Modern Love" panose="04090805081005020601" pitchFamily="82" charset="0"/>
              </a:rPr>
              <a:t>Reading Materials and Simulation Link</a:t>
            </a:r>
          </a:p>
        </p:txBody>
      </p:sp>
    </p:spTree>
    <p:extLst>
      <p:ext uri="{BB962C8B-B14F-4D97-AF65-F5344CB8AC3E}">
        <p14:creationId xmlns:p14="http://schemas.microsoft.com/office/powerpoint/2010/main" val="1967250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23730" y="341711"/>
            <a:ext cx="6730837"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Modern Love" panose="04090805081005020601" pitchFamily="82" charset="0"/>
                <a:ea typeface="Cambria Math" charset="0"/>
                <a:cs typeface="Cambria Math" charset="0"/>
              </a:rPr>
              <a:t>Potential Energy Surface</a:t>
            </a:r>
          </a:p>
        </p:txBody>
      </p:sp>
      <p:sp>
        <p:nvSpPr>
          <p:cNvPr id="5" name="Rectangle 4"/>
          <p:cNvSpPr/>
          <p:nvPr/>
        </p:nvSpPr>
        <p:spPr>
          <a:xfrm>
            <a:off x="68916" y="1164628"/>
            <a:ext cx="8779068" cy="4154984"/>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rPr>
              <a:t>Atoms in a molecule are held together by chemical bonds. When the atom is distorted, the bonds are stretched or compressed, in which increases the potential energy of its system. </a:t>
            </a:r>
          </a:p>
          <a:p>
            <a:pPr marL="342900" marR="0" lvl="0" indent="-342900" algn="just" defTabSz="914400" rtl="0" eaLnBrk="1" fontAlgn="auto" latinLnBrk="0" hangingPunct="1">
              <a:lnSpc>
                <a:spcPct val="100000"/>
              </a:lnSpc>
              <a:spcBef>
                <a:spcPts val="0"/>
              </a:spcBef>
              <a:spcAft>
                <a:spcPts val="0"/>
              </a:spcAft>
              <a:buClrTx/>
              <a:buSzTx/>
              <a:buFont typeface="Arial"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rPr>
              <a:t>As the new geometry is formed, the molecule stays stationary. Therefore, the energy of the system is not caused by the kinetic energy, but depending on the position of the atoms (potential). </a:t>
            </a:r>
          </a:p>
          <a:p>
            <a:pPr marL="342900" marR="0" lvl="0" indent="-342900" algn="just" defTabSz="914400" rtl="0" eaLnBrk="1" fontAlgn="auto" latinLnBrk="0" hangingPunct="1">
              <a:lnSpc>
                <a:spcPct val="100000"/>
              </a:lnSpc>
              <a:spcBef>
                <a:spcPts val="0"/>
              </a:spcBef>
              <a:spcAft>
                <a:spcPts val="0"/>
              </a:spcAft>
              <a:buClrTx/>
              <a:buSzTx/>
              <a:buFont typeface="Arial"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rPr>
              <a:t>Energy of a molecule is a function of the position of the nuclei. When nuclei moves, electron readjusts quickly. The relationship between this molecular energy and molecular geometry (position) is mapped out with </a:t>
            </a:r>
            <a:r>
              <a:rPr kumimoji="0" lang="en-US" sz="2200" b="0" i="0" u="none" strike="noStrike" kern="1200" cap="none" spc="0" normalizeH="0" baseline="0" noProof="0" dirty="0">
                <a:ln>
                  <a:noFill/>
                </a:ln>
                <a:solidFill>
                  <a:srgbClr val="ED7D31"/>
                </a:solidFill>
                <a:effectLst/>
                <a:uLnTx/>
                <a:uFillTx/>
                <a:latin typeface="Times New Roman" panose="02020603050405020304" pitchFamily="18" charset="0"/>
                <a:ea typeface="Century" charset="0"/>
                <a:cs typeface="Times New Roman" panose="02020603050405020304" pitchFamily="18" charset="0"/>
              </a:rPr>
              <a:t>potential energy surface</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rPr>
              <a:t>.</a:t>
            </a:r>
          </a:p>
        </p:txBody>
      </p:sp>
    </p:spTree>
    <p:extLst>
      <p:ext uri="{BB962C8B-B14F-4D97-AF65-F5344CB8AC3E}">
        <p14:creationId xmlns:p14="http://schemas.microsoft.com/office/powerpoint/2010/main" val="643466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52330" y="391406"/>
            <a:ext cx="6770593"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Modern Love" panose="04090805081005020601" pitchFamily="82" charset="0"/>
                <a:ea typeface="Cambria Math" charset="0"/>
                <a:cs typeface="Cambria Math" charset="0"/>
              </a:rPr>
              <a:t>Potential Energy Surface</a:t>
            </a:r>
          </a:p>
        </p:txBody>
      </p:sp>
      <p:sp>
        <p:nvSpPr>
          <p:cNvPr id="2" name="Rectangle 1"/>
          <p:cNvSpPr/>
          <p:nvPr/>
        </p:nvSpPr>
        <p:spPr>
          <a:xfrm>
            <a:off x="334506" y="1673781"/>
            <a:ext cx="8247888" cy="2677656"/>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Arial" charset="0"/>
              <a:buChar char="•"/>
              <a:tabLst/>
              <a:defRPr/>
            </a:pPr>
            <a:endParaRPr kumimoji="0" lang="en-US" sz="2400" b="0" i="0" u="none" strike="noStrike" kern="1200" cap="none" spc="0" normalizeH="0" baseline="0" noProof="0" dirty="0">
              <a:ln>
                <a:noFill/>
              </a:ln>
              <a:solidFill>
                <a:prstClr val="black"/>
              </a:solidFill>
              <a:effectLst/>
              <a:uLnTx/>
              <a:uFillTx/>
              <a:latin typeface="Century" charset="0"/>
              <a:ea typeface="Century" charset="0"/>
              <a:cs typeface="Century" charset="0"/>
            </a:endParaRPr>
          </a:p>
          <a:p>
            <a:pPr marL="342900" marR="0" lvl="0" indent="-342900" algn="just" defTabSz="914400" rtl="0" eaLnBrk="1" fontAlgn="auto" latinLnBrk="0" hangingPunct="1">
              <a:lnSpc>
                <a:spcPct val="100000"/>
              </a:lnSpc>
              <a:spcBef>
                <a:spcPts val="0"/>
              </a:spcBef>
              <a:spcAft>
                <a:spcPts val="0"/>
              </a:spcAft>
              <a:buClrTx/>
              <a:buSzTx/>
              <a:buFont typeface="Arial"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rPr>
              <a:t>A potential energy surface is a mathematical function that gives the energy of a molecule as a function of its geometry. </a:t>
            </a:r>
          </a:p>
          <a:p>
            <a:pPr marL="342900" marR="0" lvl="0" indent="-342900" algn="just" defTabSz="914400" rtl="0" eaLnBrk="1" fontAlgn="auto" latinLnBrk="0" hangingPunct="1">
              <a:lnSpc>
                <a:spcPct val="100000"/>
              </a:lnSpc>
              <a:spcBef>
                <a:spcPts val="0"/>
              </a:spcBef>
              <a:spcAft>
                <a:spcPts val="0"/>
              </a:spcAft>
              <a:buClrTx/>
              <a:buSzTx/>
              <a:buFont typeface="Arial" charset="0"/>
              <a:buChar char="•"/>
              <a:tabL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endParaRPr>
          </a:p>
          <a:p>
            <a:pPr marL="800100" marR="0" lvl="1" indent="-342900" algn="just" defTabSz="914400" rtl="0" eaLnBrk="1" fontAlgn="auto" latinLnBrk="0" hangingPunct="1">
              <a:lnSpc>
                <a:spcPct val="100000"/>
              </a:lnSpc>
              <a:spcBef>
                <a:spcPts val="0"/>
              </a:spcBef>
              <a:spcAft>
                <a:spcPts val="0"/>
              </a:spcAft>
              <a:buClrTx/>
              <a:buSzTx/>
              <a:buFont typeface="Arial"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rPr>
              <a:t>Does not change if it translated or rotated in space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rPr>
              <a:t>	</a:t>
            </a:r>
          </a:p>
          <a:p>
            <a:pPr marL="800100" marR="0" lvl="1" indent="-342900" algn="just" defTabSz="914400" rtl="0" eaLnBrk="1" fontAlgn="auto" latinLnBrk="0" hangingPunct="1">
              <a:lnSpc>
                <a:spcPct val="100000"/>
              </a:lnSpc>
              <a:spcBef>
                <a:spcPts val="0"/>
              </a:spcBef>
              <a:spcAft>
                <a:spcPts val="0"/>
              </a:spcAft>
              <a:buClrTx/>
              <a:buSzTx/>
              <a:buFont typeface="Arial"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entury" charset="0"/>
                <a:cs typeface="Times New Roman" panose="02020603050405020304" pitchFamily="18" charset="0"/>
              </a:rPr>
              <a:t>Depends on a molecule’s internal coordinates </a:t>
            </a:r>
          </a:p>
        </p:txBody>
      </p:sp>
    </p:spTree>
    <p:extLst>
      <p:ext uri="{BB962C8B-B14F-4D97-AF65-F5344CB8AC3E}">
        <p14:creationId xmlns:p14="http://schemas.microsoft.com/office/powerpoint/2010/main" val="170821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26460" y="355699"/>
            <a:ext cx="6691080"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Modern Love" panose="04090805081005020601" pitchFamily="82" charset="0"/>
                <a:ea typeface="Cambria Math" charset="0"/>
                <a:cs typeface="Cambria Math" charset="0"/>
              </a:rPr>
              <a:t>Potential Energy Surface</a:t>
            </a:r>
          </a:p>
        </p:txBody>
      </p:sp>
      <p:sp>
        <p:nvSpPr>
          <p:cNvPr id="5" name="Rectangle 4"/>
          <p:cNvSpPr/>
          <p:nvPr/>
        </p:nvSpPr>
        <p:spPr>
          <a:xfrm>
            <a:off x="182052" y="1438948"/>
            <a:ext cx="8779068" cy="707886"/>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03030"/>
                </a:solidFill>
                <a:effectLst/>
                <a:uLnTx/>
                <a:uFillTx/>
                <a:latin typeface="Century" charset="0"/>
                <a:ea typeface="Century" charset="0"/>
                <a:cs typeface="Century" charset="0"/>
              </a:rPr>
              <a:t>A </a:t>
            </a:r>
            <a:r>
              <a:rPr kumimoji="0" lang="en-US" sz="2000" b="1" i="0" u="none" strike="noStrike" kern="1200" cap="none" spc="0" normalizeH="0" baseline="0" noProof="0" dirty="0">
                <a:ln>
                  <a:noFill/>
                </a:ln>
                <a:solidFill>
                  <a:srgbClr val="303030"/>
                </a:solidFill>
                <a:effectLst/>
                <a:uLnTx/>
                <a:uFillTx/>
                <a:latin typeface="Century" charset="0"/>
                <a:ea typeface="Century" charset="0"/>
                <a:cs typeface="Century" charset="0"/>
              </a:rPr>
              <a:t>potential energy surface</a:t>
            </a:r>
            <a:r>
              <a:rPr kumimoji="0" lang="en-US" sz="2000" b="0" i="0" u="none" strike="noStrike" kern="1200" cap="none" spc="0" normalizeH="0" baseline="0" noProof="0" dirty="0">
                <a:ln>
                  <a:noFill/>
                </a:ln>
                <a:solidFill>
                  <a:srgbClr val="303030"/>
                </a:solidFill>
                <a:effectLst/>
                <a:uLnTx/>
                <a:uFillTx/>
                <a:latin typeface="Century" charset="0"/>
                <a:ea typeface="Century" charset="0"/>
                <a:cs typeface="Century" charset="0"/>
              </a:rPr>
              <a:t> (PES) represents the relationship between the </a:t>
            </a:r>
            <a:r>
              <a:rPr kumimoji="0" lang="en-US" sz="2000" b="0" i="0" u="none" strike="noStrike" kern="1200" cap="none" spc="0" normalizeH="0" baseline="0" noProof="0" dirty="0">
                <a:ln>
                  <a:noFill/>
                </a:ln>
                <a:solidFill>
                  <a:srgbClr val="FF0000"/>
                </a:solidFill>
                <a:effectLst/>
                <a:uLnTx/>
                <a:uFillTx/>
                <a:latin typeface="Century" charset="0"/>
                <a:ea typeface="Century" charset="0"/>
                <a:cs typeface="Century" charset="0"/>
              </a:rPr>
              <a:t>energy of a molecule and its geometry</a:t>
            </a:r>
            <a:r>
              <a:rPr kumimoji="0" lang="en-US" sz="2000" b="0" i="0" u="none" strike="noStrike" kern="1200" cap="none" spc="0" normalizeH="0" baseline="0" noProof="0" dirty="0">
                <a:ln>
                  <a:noFill/>
                </a:ln>
                <a:solidFill>
                  <a:srgbClr val="303030"/>
                </a:solidFill>
                <a:effectLst/>
                <a:uLnTx/>
                <a:uFillTx/>
                <a:latin typeface="Century" charset="0"/>
                <a:ea typeface="Century" charset="0"/>
                <a:cs typeface="Century" charset="0"/>
              </a:rPr>
              <a:t>. </a:t>
            </a:r>
            <a:endParaRPr kumimoji="0" lang="en-US" sz="2000" b="0" i="0" u="none" strike="noStrike" kern="1200" cap="none" spc="0" normalizeH="0" baseline="0" noProof="0" dirty="0">
              <a:ln>
                <a:noFill/>
              </a:ln>
              <a:solidFill>
                <a:prstClr val="black"/>
              </a:solidFill>
              <a:effectLst/>
              <a:uLnTx/>
              <a:uFillTx/>
              <a:latin typeface="Century" charset="0"/>
              <a:ea typeface="Century" charset="0"/>
              <a:cs typeface="Century" charset="0"/>
            </a:endParaRPr>
          </a:p>
        </p:txBody>
      </p:sp>
      <p:pic>
        <p:nvPicPr>
          <p:cNvPr id="1026" name="Picture 2" descr="https://www.chem.wisc.edu/deptfiles/chem343-esselman/PES%20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707" y="2671156"/>
            <a:ext cx="4533900" cy="35909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260129" y="2870538"/>
            <a:ext cx="3767328" cy="28623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03030"/>
                </a:solidFill>
                <a:effectLst/>
                <a:uLnTx/>
                <a:uFillTx/>
                <a:latin typeface="Century" charset="0"/>
                <a:ea typeface="Century" charset="0"/>
                <a:cs typeface="Century" charset="0"/>
              </a:rPr>
              <a:t> The y-axis is energy of the molecule, which relates how stable two molecules or two conformations of the same molecule are in relation to one another.  </a:t>
            </a:r>
            <a:r>
              <a:rPr kumimoji="0" lang="en-US" sz="2000" b="0" i="0" u="none" strike="noStrike" kern="1200" cap="none" spc="0" normalizeH="0" baseline="0" noProof="0" dirty="0">
                <a:ln>
                  <a:noFill/>
                </a:ln>
                <a:solidFill>
                  <a:srgbClr val="FF0000"/>
                </a:solidFill>
                <a:effectLst/>
                <a:uLnTx/>
                <a:uFillTx/>
                <a:latin typeface="Century" charset="0"/>
                <a:ea typeface="Century" charset="0"/>
                <a:cs typeface="Century" charset="0"/>
              </a:rPr>
              <a:t>The more negative a molecule's energy, or the lower on the y-axis, the more stable it is</a:t>
            </a:r>
            <a:r>
              <a:rPr kumimoji="0" lang="en-US" sz="2000" b="0" i="0" u="none" strike="noStrike" kern="1200" cap="none" spc="0" normalizeH="0" baseline="0" noProof="0" dirty="0">
                <a:ln>
                  <a:noFill/>
                </a:ln>
                <a:solidFill>
                  <a:srgbClr val="303030"/>
                </a:solidFill>
                <a:effectLst/>
                <a:uLnTx/>
                <a:uFillTx/>
                <a:latin typeface="Century" charset="0"/>
                <a:ea typeface="Century" charset="0"/>
                <a:cs typeface="Century" charset="0"/>
              </a:rPr>
              <a:t>.</a:t>
            </a:r>
            <a:endParaRPr kumimoji="0" lang="en-US" sz="2000" b="0" i="0" u="none" strike="noStrike" kern="1200" cap="none" spc="0" normalizeH="0" baseline="0" noProof="0" dirty="0">
              <a:ln>
                <a:noFill/>
              </a:ln>
              <a:solidFill>
                <a:prstClr val="black"/>
              </a:solidFill>
              <a:effectLst/>
              <a:uLnTx/>
              <a:uFillTx/>
              <a:latin typeface="Century" charset="0"/>
              <a:ea typeface="Century" charset="0"/>
              <a:cs typeface="Century" charset="0"/>
            </a:endParaRPr>
          </a:p>
        </p:txBody>
      </p:sp>
    </p:spTree>
    <p:extLst>
      <p:ext uri="{BB962C8B-B14F-4D97-AF65-F5344CB8AC3E}">
        <p14:creationId xmlns:p14="http://schemas.microsoft.com/office/powerpoint/2010/main" val="19629118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3139" y="1646372"/>
            <a:ext cx="8683389" cy="1631216"/>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charset="0"/>
                <a:ea typeface="Century" charset="0"/>
                <a:cs typeface="Century" charset="0"/>
              </a:rPr>
              <a:t>Fully specifying the location of a diatomic molecule, AB, would require specifying six numbers, the x, y, and z coordinates of each of its atoms.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entury" charset="0"/>
              <a:ea typeface="Century" charset="0"/>
              <a:cs typeface="Century"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charset="0"/>
                <a:ea typeface="Century" charset="0"/>
                <a:cs typeface="Century" charset="0"/>
              </a:rPr>
              <a:t>Potential energy (</a:t>
            </a:r>
            <a:r>
              <a:rPr kumimoji="0" lang="en-US" sz="2000" b="1" i="0" u="none" strike="noStrike" kern="1200" cap="none" spc="0" normalizeH="0" baseline="0" noProof="0" dirty="0">
                <a:ln>
                  <a:noFill/>
                </a:ln>
                <a:solidFill>
                  <a:srgbClr val="000000"/>
                </a:solidFill>
                <a:effectLst/>
                <a:uLnTx/>
                <a:uFillTx/>
                <a:latin typeface="Century" charset="0"/>
                <a:ea typeface="Century" charset="0"/>
                <a:cs typeface="Century" charset="0"/>
              </a:rPr>
              <a:t>PE</a:t>
            </a:r>
            <a:r>
              <a:rPr kumimoji="0" lang="en-US" sz="2000" b="0" i="0" u="none" strike="noStrike" kern="1200" cap="none" spc="0" normalizeH="0" baseline="0" noProof="0" dirty="0">
                <a:ln>
                  <a:noFill/>
                </a:ln>
                <a:solidFill>
                  <a:srgbClr val="000000"/>
                </a:solidFill>
                <a:effectLst/>
                <a:uLnTx/>
                <a:uFillTx/>
                <a:latin typeface="Century" charset="0"/>
                <a:ea typeface="Century" charset="0"/>
                <a:cs typeface="Century" charset="0"/>
              </a:rPr>
              <a:t>) of the molecule as a function of the distance between the two atoms </a:t>
            </a:r>
            <a:r>
              <a:rPr kumimoji="0" lang="en-US" sz="2000" b="1" i="0" u="none" strike="noStrike" kern="1200" cap="none" spc="0" normalizeH="0" baseline="0" noProof="0" dirty="0" err="1">
                <a:ln>
                  <a:noFill/>
                </a:ln>
                <a:solidFill>
                  <a:srgbClr val="000000"/>
                </a:solidFill>
                <a:effectLst/>
                <a:uLnTx/>
                <a:uFillTx/>
                <a:latin typeface="Century" charset="0"/>
                <a:ea typeface="Century" charset="0"/>
                <a:cs typeface="Century" charset="0"/>
              </a:rPr>
              <a:t>d</a:t>
            </a:r>
            <a:r>
              <a:rPr kumimoji="0" lang="en-US" sz="2000" b="1" i="0" u="none" strike="noStrike" kern="1200" cap="none" spc="0" normalizeH="0" baseline="-25000" noProof="0" dirty="0" err="1">
                <a:ln>
                  <a:noFill/>
                </a:ln>
                <a:solidFill>
                  <a:srgbClr val="000000"/>
                </a:solidFill>
                <a:effectLst/>
                <a:uLnTx/>
                <a:uFillTx/>
                <a:latin typeface="Century" charset="0"/>
                <a:ea typeface="Century" charset="0"/>
                <a:cs typeface="Century" charset="0"/>
              </a:rPr>
              <a:t>AB</a:t>
            </a:r>
            <a:r>
              <a:rPr kumimoji="0" lang="en-US" sz="2000" b="0" i="0" u="none" strike="noStrike" kern="1200" cap="none" spc="0" normalizeH="0" baseline="0" noProof="0" dirty="0">
                <a:ln>
                  <a:noFill/>
                </a:ln>
                <a:solidFill>
                  <a:srgbClr val="000000"/>
                </a:solidFill>
                <a:effectLst/>
                <a:uLnTx/>
                <a:uFillTx/>
                <a:latin typeface="Century" charset="0"/>
                <a:ea typeface="Century" charset="0"/>
                <a:cs typeface="Century" charset="0"/>
              </a:rPr>
              <a:t>. </a:t>
            </a:r>
          </a:p>
        </p:txBody>
      </p:sp>
      <p:pic>
        <p:nvPicPr>
          <p:cNvPr id="5122" name="Picture 2" descr="http://chem125-oyc.webspace.yale.edu/125/kinetics/PESEyring/H3Mors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8578" y="4009334"/>
            <a:ext cx="5170546" cy="245455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36456A46-0ACA-477C-B57D-112D83B85627}"/>
              </a:ext>
            </a:extLst>
          </p:cNvPr>
          <p:cNvSpPr/>
          <p:nvPr/>
        </p:nvSpPr>
        <p:spPr>
          <a:xfrm>
            <a:off x="1226460" y="355699"/>
            <a:ext cx="6691080"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Modern Love" panose="04090805081005020601" pitchFamily="82" charset="0"/>
                <a:ea typeface="Cambria Math" charset="0"/>
                <a:cs typeface="Cambria Math" charset="0"/>
              </a:rPr>
              <a:t>Potential Energy Surface</a:t>
            </a:r>
          </a:p>
        </p:txBody>
      </p:sp>
    </p:spTree>
    <p:extLst>
      <p:ext uri="{BB962C8B-B14F-4D97-AF65-F5344CB8AC3E}">
        <p14:creationId xmlns:p14="http://schemas.microsoft.com/office/powerpoint/2010/main" val="953711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val="0"/>
              </a:ext>
            </a:extLst>
          </a:blip>
          <a:srcRect l="22599" t="20720" r="8000" b="17840"/>
          <a:stretch/>
        </p:blipFill>
        <p:spPr>
          <a:xfrm>
            <a:off x="0" y="1152144"/>
            <a:ext cx="8692610" cy="4809744"/>
          </a:xfrm>
          <a:prstGeom prst="rect">
            <a:avLst/>
          </a:prstGeom>
        </p:spPr>
      </p:pic>
      <p:sp>
        <p:nvSpPr>
          <p:cNvPr id="3" name="Rectangle 2">
            <a:extLst>
              <a:ext uri="{FF2B5EF4-FFF2-40B4-BE49-F238E27FC236}">
                <a16:creationId xmlns:a16="http://schemas.microsoft.com/office/drawing/2014/main" id="{83F3C3B3-90E5-43E4-91C5-D0BE62180214}"/>
              </a:ext>
            </a:extLst>
          </p:cNvPr>
          <p:cNvSpPr/>
          <p:nvPr/>
        </p:nvSpPr>
        <p:spPr>
          <a:xfrm>
            <a:off x="1226460" y="355699"/>
            <a:ext cx="6691080"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Modern Love" panose="04090805081005020601" pitchFamily="82" charset="0"/>
                <a:ea typeface="Cambria Math" charset="0"/>
                <a:cs typeface="Cambria Math" charset="0"/>
              </a:rPr>
              <a:t>Potential Energy Surface</a:t>
            </a:r>
          </a:p>
        </p:txBody>
      </p:sp>
    </p:spTree>
    <p:extLst>
      <p:ext uri="{BB962C8B-B14F-4D97-AF65-F5344CB8AC3E}">
        <p14:creationId xmlns:p14="http://schemas.microsoft.com/office/powerpoint/2010/main" val="1027995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8670" y="4329321"/>
            <a:ext cx="2583165" cy="164592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odern Love" panose="04090805081005020601" pitchFamily="82" charset="0"/>
              </a:rPr>
              <a:t>Potential Energy Surface</a:t>
            </a:r>
          </a:p>
        </p:txBody>
      </p:sp>
      <p:pic>
        <p:nvPicPr>
          <p:cNvPr id="5" name="Pictur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07479" y="361910"/>
            <a:ext cx="3536516" cy="3483864"/>
          </a:xfrm>
          <a:prstGeom prst="rect">
            <a:avLst/>
          </a:prstGeom>
        </p:spPr>
      </p:pic>
      <p:pic>
        <p:nvPicPr>
          <p:cNvPr id="4098" name="Picture 2" descr="https://www.chem.wisc.edu/deptfiles/chem343-esselman/ethane%20scan%20pretty.png"/>
          <p:cNvPicPr>
            <a:picLocks noChangeAspect="1" noChangeArrowheads="1"/>
          </p:cNvPicPr>
          <p:nvPr/>
        </p:nvPicPr>
        <p:blipFill>
          <a:blip r:embed="rId3" cstate="email">
            <a:extLst>
              <a:ext uri="{28A0092B-C50C-407E-A947-70E740481C1C}">
                <a14:useLocalDpi xmlns:a14="http://schemas.microsoft.com/office/drawing/2010/main" val="0"/>
              </a:ext>
            </a:extLst>
          </a:blip>
          <a:stretch>
            <a:fillRect/>
          </a:stretch>
        </p:blipFill>
        <p:spPr bwMode="auto">
          <a:xfrm>
            <a:off x="4649165" y="666149"/>
            <a:ext cx="4142232" cy="286606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3733800" y="4343400"/>
            <a:ext cx="4971492" cy="1645920"/>
          </a:xfrm>
          <a:prstGeom prst="rect">
            <a:avLst/>
          </a:prstGeom>
        </p:spPr>
        <p:txBody>
          <a:bodyPr vert="horz" lIns="91440" tIns="45720" rIns="91440" bIns="45720" rtlCol="0" anchor="ctr">
            <a:noAutofit/>
          </a:bodyPr>
          <a:lstStyle/>
          <a:p>
            <a:pPr marL="0" marR="0" lvl="0" indent="0" algn="just"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charset="0"/>
                <a:ea typeface="Century" charset="0"/>
                <a:cs typeface="Century" charset="0"/>
              </a:rPr>
              <a:t>This PES shows the energy differences between the two conformations of ethane. The eclipsed conformation with the hydrogen atoms overlapping one another is about 2.6 kcal/mol higher in energy than the staggered conformation. </a:t>
            </a:r>
          </a:p>
        </p:txBody>
      </p:sp>
    </p:spTree>
    <p:extLst>
      <p:ext uri="{BB962C8B-B14F-4D97-AF65-F5344CB8AC3E}">
        <p14:creationId xmlns:p14="http://schemas.microsoft.com/office/powerpoint/2010/main" val="947484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05FE8-498D-4F2D-B465-C7EBB6D02C80}"/>
              </a:ext>
            </a:extLst>
          </p:cNvPr>
          <p:cNvSpPr>
            <a:spLocks noGrp="1"/>
          </p:cNvSpPr>
          <p:nvPr>
            <p:ph type="title"/>
          </p:nvPr>
        </p:nvSpPr>
        <p:spPr/>
        <p:txBody>
          <a:bodyPr/>
          <a:lstStyle/>
          <a:p>
            <a:r>
              <a:rPr lang="en-IN" dirty="0">
                <a:latin typeface="Modern Love" panose="04090805081005020601" pitchFamily="82" charset="0"/>
              </a:rPr>
              <a:t>Force-field</a:t>
            </a:r>
          </a:p>
        </p:txBody>
      </p:sp>
      <p:sp>
        <p:nvSpPr>
          <p:cNvPr id="3" name="Content Placeholder 2">
            <a:extLst>
              <a:ext uri="{FF2B5EF4-FFF2-40B4-BE49-F238E27FC236}">
                <a16:creationId xmlns:a16="http://schemas.microsoft.com/office/drawing/2014/main" id="{6D9942A0-3623-41C9-BCD6-3A226E3F5F1B}"/>
              </a:ext>
            </a:extLst>
          </p:cNvPr>
          <p:cNvSpPr>
            <a:spLocks noGrp="1"/>
          </p:cNvSpPr>
          <p:nvPr>
            <p:ph idx="1"/>
          </p:nvPr>
        </p:nvSpPr>
        <p:spPr>
          <a:xfrm>
            <a:off x="152400" y="1759232"/>
            <a:ext cx="8915400" cy="4562406"/>
          </a:xfrm>
        </p:spPr>
        <p:txBody>
          <a:bodyPr>
            <a:normAutofit fontScale="92500" lnSpcReduction="20000"/>
          </a:bodyPr>
          <a:lstStyle/>
          <a:p>
            <a:pPr algn="just"/>
            <a:r>
              <a:rPr lang="en-IN" sz="2400" b="1" dirty="0">
                <a:latin typeface="Century Schoolbook" panose="02040604050505020304" pitchFamily="18" charset="0"/>
                <a:cs typeface="Times New Roman" panose="02020603050405020304" pitchFamily="18" charset="0"/>
              </a:rPr>
              <a:t>A F</a:t>
            </a:r>
            <a:r>
              <a:rPr lang="en-IN" sz="2400" b="1" i="0" dirty="0">
                <a:effectLst/>
                <a:latin typeface="Century Schoolbook" panose="02040604050505020304" pitchFamily="18" charset="0"/>
                <a:cs typeface="Times New Roman" panose="02020603050405020304" pitchFamily="18" charset="0"/>
              </a:rPr>
              <a:t>orce field</a:t>
            </a:r>
            <a:r>
              <a:rPr lang="en-IN" sz="2400" b="0" i="0" dirty="0">
                <a:effectLst/>
                <a:latin typeface="Century Schoolbook" panose="02040604050505020304" pitchFamily="18" charset="0"/>
                <a:cs typeface="Times New Roman" panose="02020603050405020304" pitchFamily="18" charset="0"/>
              </a:rPr>
              <a:t> is a </a:t>
            </a:r>
            <a:r>
              <a:rPr lang="en-IN" sz="2400" b="0" i="0" strike="noStrike" dirty="0">
                <a:effectLst/>
                <a:latin typeface="Century Schoolbook" panose="02040604050505020304" pitchFamily="18" charset="0"/>
                <a:cs typeface="Times New Roman" panose="02020603050405020304" pitchFamily="18" charset="0"/>
                <a:hlinkClick r:id="rId2" tooltip="Computational chemistry">
                  <a:extLst>
                    <a:ext uri="{A12FA001-AC4F-418D-AE19-62706E023703}">
                      <ahyp:hlinkClr xmlns:ahyp="http://schemas.microsoft.com/office/drawing/2018/hyperlinkcolor" val="tx"/>
                    </a:ext>
                  </a:extLst>
                </a:hlinkClick>
              </a:rPr>
              <a:t>computational</a:t>
            </a:r>
            <a:r>
              <a:rPr lang="en-IN" sz="2400" b="0" i="0" dirty="0">
                <a:effectLst/>
                <a:latin typeface="Century Schoolbook" panose="02040604050505020304" pitchFamily="18" charset="0"/>
                <a:cs typeface="Times New Roman" panose="02020603050405020304" pitchFamily="18" charset="0"/>
              </a:rPr>
              <a:t> method that is used to estimate the forces between atoms within molecules and also between molecules.</a:t>
            </a:r>
          </a:p>
          <a:p>
            <a:pPr algn="just"/>
            <a:r>
              <a:rPr lang="en-IN" sz="2400" dirty="0">
                <a:latin typeface="Century Schoolbook" panose="02040604050505020304" pitchFamily="18" charset="0"/>
                <a:cs typeface="Times New Roman" panose="02020603050405020304" pitchFamily="18" charset="0"/>
              </a:rPr>
              <a:t>It </a:t>
            </a:r>
            <a:r>
              <a:rPr lang="en-IN" sz="2400" b="0" i="0" dirty="0">
                <a:effectLst/>
                <a:latin typeface="Century Schoolbook" panose="02040604050505020304" pitchFamily="18" charset="0"/>
                <a:cs typeface="Times New Roman" panose="02020603050405020304" pitchFamily="18" charset="0"/>
              </a:rPr>
              <a:t>refers to the </a:t>
            </a:r>
            <a:r>
              <a:rPr lang="en-IN" sz="2400" b="0" i="0" strike="noStrike" dirty="0">
                <a:effectLst/>
                <a:latin typeface="Century Schoolbook" panose="02040604050505020304" pitchFamily="18" charset="0"/>
                <a:cs typeface="Times New Roman" panose="02020603050405020304" pitchFamily="18" charset="0"/>
                <a:hlinkClick r:id="rId3" tooltip="Function (mathematics)">
                  <a:extLst>
                    <a:ext uri="{A12FA001-AC4F-418D-AE19-62706E023703}">
                      <ahyp:hlinkClr xmlns:ahyp="http://schemas.microsoft.com/office/drawing/2018/hyperlinkcolor" val="tx"/>
                    </a:ext>
                  </a:extLst>
                </a:hlinkClick>
              </a:rPr>
              <a:t>functional form</a:t>
            </a:r>
            <a:r>
              <a:rPr lang="en-IN" sz="2400" b="0" i="0" dirty="0">
                <a:effectLst/>
                <a:latin typeface="Century Schoolbook" panose="02040604050505020304" pitchFamily="18" charset="0"/>
                <a:cs typeface="Times New Roman" panose="02020603050405020304" pitchFamily="18" charset="0"/>
              </a:rPr>
              <a:t> and </a:t>
            </a:r>
            <a:r>
              <a:rPr lang="en-IN" sz="2400" b="0" i="0" strike="noStrike" dirty="0">
                <a:effectLst/>
                <a:latin typeface="Century Schoolbook" panose="02040604050505020304" pitchFamily="18" charset="0"/>
                <a:cs typeface="Times New Roman" panose="02020603050405020304" pitchFamily="18" charset="0"/>
                <a:hlinkClick r:id="rId4" tooltip="Parameter">
                  <a:extLst>
                    <a:ext uri="{A12FA001-AC4F-418D-AE19-62706E023703}">
                      <ahyp:hlinkClr xmlns:ahyp="http://schemas.microsoft.com/office/drawing/2018/hyperlinkcolor" val="tx"/>
                    </a:ext>
                  </a:extLst>
                </a:hlinkClick>
              </a:rPr>
              <a:t>parameter</a:t>
            </a:r>
            <a:r>
              <a:rPr lang="en-IN" sz="2400" b="0" i="0" dirty="0">
                <a:effectLst/>
                <a:latin typeface="Century Schoolbook" panose="02040604050505020304" pitchFamily="18" charset="0"/>
                <a:cs typeface="Times New Roman" panose="02020603050405020304" pitchFamily="18" charset="0"/>
              </a:rPr>
              <a:t> sets used to calculate the </a:t>
            </a:r>
            <a:r>
              <a:rPr lang="en-IN" sz="2400" b="0" i="0" strike="noStrike" dirty="0">
                <a:effectLst/>
                <a:latin typeface="Century Schoolbook" panose="02040604050505020304" pitchFamily="18" charset="0"/>
                <a:cs typeface="Times New Roman" panose="02020603050405020304" pitchFamily="18" charset="0"/>
                <a:hlinkClick r:id="rId5" tooltip="Potential energy">
                  <a:extLst>
                    <a:ext uri="{A12FA001-AC4F-418D-AE19-62706E023703}">
                      <ahyp:hlinkClr xmlns:ahyp="http://schemas.microsoft.com/office/drawing/2018/hyperlinkcolor" val="tx"/>
                    </a:ext>
                  </a:extLst>
                </a:hlinkClick>
              </a:rPr>
              <a:t>potential energy</a:t>
            </a:r>
            <a:r>
              <a:rPr lang="en-IN" sz="2400" b="0" i="0" dirty="0">
                <a:effectLst/>
                <a:latin typeface="Century Schoolbook" panose="02040604050505020304" pitchFamily="18" charset="0"/>
                <a:cs typeface="Times New Roman" panose="02020603050405020304" pitchFamily="18" charset="0"/>
              </a:rPr>
              <a:t> of a system of atoms or coarse-grained particles in </a:t>
            </a:r>
            <a:r>
              <a:rPr lang="en-IN" sz="2400" b="0" i="0" strike="noStrike" dirty="0">
                <a:effectLst/>
                <a:latin typeface="Century Schoolbook" panose="02040604050505020304" pitchFamily="18" charset="0"/>
                <a:cs typeface="Times New Roman" panose="02020603050405020304" pitchFamily="18" charset="0"/>
                <a:hlinkClick r:id="rId6" tooltip="Molecular mechanics">
                  <a:extLst>
                    <a:ext uri="{A12FA001-AC4F-418D-AE19-62706E023703}">
                      <ahyp:hlinkClr xmlns:ahyp="http://schemas.microsoft.com/office/drawing/2018/hyperlinkcolor" val="tx"/>
                    </a:ext>
                  </a:extLst>
                </a:hlinkClick>
              </a:rPr>
              <a:t>molecular mechanics</a:t>
            </a:r>
            <a:r>
              <a:rPr lang="en-IN" sz="2400" b="0" i="0" dirty="0">
                <a:effectLst/>
                <a:latin typeface="Century Schoolbook" panose="02040604050505020304" pitchFamily="18" charset="0"/>
                <a:cs typeface="Times New Roman" panose="02020603050405020304" pitchFamily="18" charset="0"/>
              </a:rPr>
              <a:t>, </a:t>
            </a:r>
            <a:r>
              <a:rPr lang="en-IN" sz="2400" b="0" i="0" strike="noStrike" dirty="0">
                <a:effectLst/>
                <a:latin typeface="Century Schoolbook" panose="02040604050505020304" pitchFamily="18" charset="0"/>
                <a:cs typeface="Times New Roman" panose="02020603050405020304" pitchFamily="18" charset="0"/>
                <a:hlinkClick r:id="rId7" tooltip="Molecular dynamics">
                  <a:extLst>
                    <a:ext uri="{A12FA001-AC4F-418D-AE19-62706E023703}">
                      <ahyp:hlinkClr xmlns:ahyp="http://schemas.microsoft.com/office/drawing/2018/hyperlinkcolor" val="tx"/>
                    </a:ext>
                  </a:extLst>
                </a:hlinkClick>
              </a:rPr>
              <a:t>molecular dynamics</a:t>
            </a:r>
            <a:r>
              <a:rPr lang="en-IN" sz="2400" b="0" i="0" dirty="0">
                <a:effectLst/>
                <a:latin typeface="Century Schoolbook" panose="02040604050505020304" pitchFamily="18" charset="0"/>
                <a:cs typeface="Times New Roman" panose="02020603050405020304" pitchFamily="18" charset="0"/>
              </a:rPr>
              <a:t>, or </a:t>
            </a:r>
            <a:r>
              <a:rPr lang="en-IN" sz="2400" b="0" i="0" strike="noStrike" dirty="0">
                <a:effectLst/>
                <a:latin typeface="Century Schoolbook" panose="02040604050505020304" pitchFamily="18" charset="0"/>
                <a:cs typeface="Times New Roman" panose="02020603050405020304" pitchFamily="18" charset="0"/>
                <a:hlinkClick r:id="rId8" tooltip="Monte Carlo method">
                  <a:extLst>
                    <a:ext uri="{A12FA001-AC4F-418D-AE19-62706E023703}">
                      <ahyp:hlinkClr xmlns:ahyp="http://schemas.microsoft.com/office/drawing/2018/hyperlinkcolor" val="tx"/>
                    </a:ext>
                  </a:extLst>
                </a:hlinkClick>
              </a:rPr>
              <a:t>Monte Carlo</a:t>
            </a:r>
            <a:r>
              <a:rPr lang="en-IN" sz="2400" b="0" i="0" dirty="0">
                <a:effectLst/>
                <a:latin typeface="Century Schoolbook" panose="02040604050505020304" pitchFamily="18" charset="0"/>
                <a:cs typeface="Times New Roman" panose="02020603050405020304" pitchFamily="18" charset="0"/>
              </a:rPr>
              <a:t> simulations. </a:t>
            </a:r>
          </a:p>
          <a:p>
            <a:pPr algn="just"/>
            <a:r>
              <a:rPr lang="en-IN" sz="2400" b="0" i="0" dirty="0">
                <a:effectLst/>
                <a:latin typeface="Century Schoolbook" panose="02040604050505020304" pitchFamily="18" charset="0"/>
                <a:cs typeface="Times New Roman" panose="02020603050405020304" pitchFamily="18" charset="0"/>
              </a:rPr>
              <a:t>The parameters for a chosen energy function may be derived from experiments in </a:t>
            </a:r>
            <a:r>
              <a:rPr lang="en-IN" sz="2400" b="0" i="0" strike="noStrike" dirty="0">
                <a:effectLst/>
                <a:latin typeface="Century Schoolbook" panose="02040604050505020304" pitchFamily="18" charset="0"/>
                <a:cs typeface="Times New Roman" panose="02020603050405020304" pitchFamily="18" charset="0"/>
                <a:hlinkClick r:id="rId9" tooltip="Physics">
                  <a:extLst>
                    <a:ext uri="{A12FA001-AC4F-418D-AE19-62706E023703}">
                      <ahyp:hlinkClr xmlns:ahyp="http://schemas.microsoft.com/office/drawing/2018/hyperlinkcolor" val="tx"/>
                    </a:ext>
                  </a:extLst>
                </a:hlinkClick>
              </a:rPr>
              <a:t>physics</a:t>
            </a:r>
            <a:r>
              <a:rPr lang="en-IN" sz="2400" b="0" i="0" dirty="0">
                <a:effectLst/>
                <a:latin typeface="Century Schoolbook" panose="02040604050505020304" pitchFamily="18" charset="0"/>
                <a:cs typeface="Times New Roman" panose="02020603050405020304" pitchFamily="18" charset="0"/>
              </a:rPr>
              <a:t> and </a:t>
            </a:r>
            <a:r>
              <a:rPr lang="en-IN" sz="2400" b="0" i="0" strike="noStrike" dirty="0">
                <a:effectLst/>
                <a:latin typeface="Century Schoolbook" panose="02040604050505020304" pitchFamily="18" charset="0"/>
                <a:cs typeface="Times New Roman" panose="02020603050405020304" pitchFamily="18" charset="0"/>
                <a:hlinkClick r:id="rId10" tooltip="Chemistry">
                  <a:extLst>
                    <a:ext uri="{A12FA001-AC4F-418D-AE19-62706E023703}">
                      <ahyp:hlinkClr xmlns:ahyp="http://schemas.microsoft.com/office/drawing/2018/hyperlinkcolor" val="tx"/>
                    </a:ext>
                  </a:extLst>
                </a:hlinkClick>
              </a:rPr>
              <a:t>chemistry</a:t>
            </a:r>
            <a:r>
              <a:rPr lang="en-IN" sz="2400" b="0" i="0" dirty="0">
                <a:effectLst/>
                <a:latin typeface="Century Schoolbook" panose="02040604050505020304" pitchFamily="18" charset="0"/>
                <a:cs typeface="Times New Roman" panose="02020603050405020304" pitchFamily="18" charset="0"/>
              </a:rPr>
              <a:t>, calculations in </a:t>
            </a:r>
            <a:r>
              <a:rPr lang="en-IN" sz="2400" b="0" i="0" strike="noStrike" dirty="0">
                <a:effectLst/>
                <a:latin typeface="Century Schoolbook" panose="02040604050505020304" pitchFamily="18" charset="0"/>
                <a:cs typeface="Times New Roman" panose="02020603050405020304" pitchFamily="18" charset="0"/>
                <a:hlinkClick r:id="rId11" tooltip="Quantum mechanics">
                  <a:extLst>
                    <a:ext uri="{A12FA001-AC4F-418D-AE19-62706E023703}">
                      <ahyp:hlinkClr xmlns:ahyp="http://schemas.microsoft.com/office/drawing/2018/hyperlinkcolor" val="tx"/>
                    </a:ext>
                  </a:extLst>
                </a:hlinkClick>
              </a:rPr>
              <a:t>quantum mechanics</a:t>
            </a:r>
            <a:r>
              <a:rPr lang="en-IN" sz="2400" b="0" i="0" dirty="0">
                <a:effectLst/>
                <a:latin typeface="Century Schoolbook" panose="02040604050505020304" pitchFamily="18" charset="0"/>
                <a:cs typeface="Times New Roman" panose="02020603050405020304" pitchFamily="18" charset="0"/>
              </a:rPr>
              <a:t>, or both. </a:t>
            </a:r>
          </a:p>
          <a:p>
            <a:pPr algn="just"/>
            <a:r>
              <a:rPr lang="en-IN" sz="2400" b="0" i="0" dirty="0">
                <a:effectLst/>
                <a:latin typeface="Century Schoolbook" panose="02040604050505020304" pitchFamily="18" charset="0"/>
                <a:cs typeface="Times New Roman" panose="02020603050405020304" pitchFamily="18" charset="0"/>
              </a:rPr>
              <a:t>Force fields are </a:t>
            </a:r>
            <a:r>
              <a:rPr lang="en-IN" sz="2400" b="0" i="0" strike="noStrike" dirty="0">
                <a:effectLst/>
                <a:latin typeface="Century Schoolbook" panose="02040604050505020304" pitchFamily="18" charset="0"/>
                <a:cs typeface="Times New Roman" panose="02020603050405020304" pitchFamily="18" charset="0"/>
                <a:hlinkClick r:id="rId12" tooltip="Interatomic potential">
                  <a:extLst>
                    <a:ext uri="{A12FA001-AC4F-418D-AE19-62706E023703}">
                      <ahyp:hlinkClr xmlns:ahyp="http://schemas.microsoft.com/office/drawing/2018/hyperlinkcolor" val="tx"/>
                    </a:ext>
                  </a:extLst>
                </a:hlinkClick>
              </a:rPr>
              <a:t>interatomic potentials</a:t>
            </a:r>
            <a:r>
              <a:rPr lang="en-IN" sz="2400" b="0" i="0" dirty="0">
                <a:effectLst/>
                <a:latin typeface="Century Schoolbook" panose="02040604050505020304" pitchFamily="18" charset="0"/>
                <a:cs typeface="Times New Roman" panose="02020603050405020304" pitchFamily="18" charset="0"/>
              </a:rPr>
              <a:t> and utilize the same concept as </a:t>
            </a:r>
            <a:r>
              <a:rPr lang="en-IN" sz="2400" b="0" i="0" strike="noStrike" dirty="0">
                <a:effectLst/>
                <a:latin typeface="Century Schoolbook" panose="02040604050505020304" pitchFamily="18" charset="0"/>
                <a:cs typeface="Times New Roman" panose="02020603050405020304" pitchFamily="18" charset="0"/>
                <a:hlinkClick r:id="rId13" tooltip="Force field (physics)">
                  <a:extLst>
                    <a:ext uri="{A12FA001-AC4F-418D-AE19-62706E023703}">
                      <ahyp:hlinkClr xmlns:ahyp="http://schemas.microsoft.com/office/drawing/2018/hyperlinkcolor" val="tx"/>
                    </a:ext>
                  </a:extLst>
                </a:hlinkClick>
              </a:rPr>
              <a:t>force fields</a:t>
            </a:r>
            <a:r>
              <a:rPr lang="en-IN" sz="2400" b="0" i="0" dirty="0">
                <a:effectLst/>
                <a:latin typeface="Century Schoolbook" panose="02040604050505020304" pitchFamily="18" charset="0"/>
                <a:cs typeface="Times New Roman" panose="02020603050405020304" pitchFamily="18" charset="0"/>
              </a:rPr>
              <a:t> in </a:t>
            </a:r>
            <a:r>
              <a:rPr lang="en-IN" sz="2400" b="0" i="0" strike="noStrike" dirty="0">
                <a:effectLst/>
                <a:latin typeface="Century Schoolbook" panose="02040604050505020304" pitchFamily="18" charset="0"/>
                <a:cs typeface="Times New Roman" panose="02020603050405020304" pitchFamily="18" charset="0"/>
                <a:hlinkClick r:id="rId14" tooltip="Classical physics">
                  <a:extLst>
                    <a:ext uri="{A12FA001-AC4F-418D-AE19-62706E023703}">
                      <ahyp:hlinkClr xmlns:ahyp="http://schemas.microsoft.com/office/drawing/2018/hyperlinkcolor" val="tx"/>
                    </a:ext>
                  </a:extLst>
                </a:hlinkClick>
              </a:rPr>
              <a:t>classical physics</a:t>
            </a:r>
            <a:r>
              <a:rPr lang="en-IN" sz="2400" b="0" i="0" dirty="0">
                <a:effectLst/>
                <a:latin typeface="Century Schoolbook" panose="02040604050505020304" pitchFamily="18" charset="0"/>
                <a:cs typeface="Times New Roman" panose="02020603050405020304" pitchFamily="18" charset="0"/>
              </a:rPr>
              <a:t>, with the difference that the force field parameters in chemistry describe the energy landscape, from which the acting forces on every particle are derived as a </a:t>
            </a:r>
            <a:r>
              <a:rPr lang="en-IN" sz="2400" b="0" i="0" strike="noStrike" dirty="0">
                <a:effectLst/>
                <a:latin typeface="Century Schoolbook" panose="02040604050505020304" pitchFamily="18" charset="0"/>
                <a:cs typeface="Times New Roman" panose="02020603050405020304" pitchFamily="18" charset="0"/>
                <a:hlinkClick r:id="rId15" tooltip="Gradient">
                  <a:extLst>
                    <a:ext uri="{A12FA001-AC4F-418D-AE19-62706E023703}">
                      <ahyp:hlinkClr xmlns:ahyp="http://schemas.microsoft.com/office/drawing/2018/hyperlinkcolor" val="tx"/>
                    </a:ext>
                  </a:extLst>
                </a:hlinkClick>
              </a:rPr>
              <a:t>gradient</a:t>
            </a:r>
            <a:r>
              <a:rPr lang="en-IN" sz="2400" b="0" i="0" dirty="0">
                <a:effectLst/>
                <a:latin typeface="Century Schoolbook" panose="02040604050505020304" pitchFamily="18" charset="0"/>
                <a:cs typeface="Times New Roman" panose="02020603050405020304" pitchFamily="18" charset="0"/>
              </a:rPr>
              <a:t> of the potential energy with respect to the particle coordinates.</a:t>
            </a:r>
            <a:endParaRPr lang="en-IN" sz="2400" dirty="0">
              <a:latin typeface="Century Schoolbook" panose="02040604050505020304" pitchFamily="18" charset="0"/>
              <a:cs typeface="Times New Roman" panose="02020603050405020304" pitchFamily="18" charset="0"/>
            </a:endParaRPr>
          </a:p>
        </p:txBody>
      </p:sp>
    </p:spTree>
    <p:extLst>
      <p:ext uri="{BB962C8B-B14F-4D97-AF65-F5344CB8AC3E}">
        <p14:creationId xmlns:p14="http://schemas.microsoft.com/office/powerpoint/2010/main" val="30020564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003F0-FF35-4CA1-86D5-1D1A21FAA0FC}"/>
              </a:ext>
            </a:extLst>
          </p:cNvPr>
          <p:cNvSpPr>
            <a:spLocks noGrp="1"/>
          </p:cNvSpPr>
          <p:nvPr>
            <p:ph type="title"/>
          </p:nvPr>
        </p:nvSpPr>
        <p:spPr/>
        <p:txBody>
          <a:bodyPr/>
          <a:lstStyle/>
          <a:p>
            <a:r>
              <a:rPr lang="en-IN" dirty="0"/>
              <a:t>Interactions in molecules</a:t>
            </a:r>
          </a:p>
        </p:txBody>
      </p:sp>
      <p:sp>
        <p:nvSpPr>
          <p:cNvPr id="3" name="Content Placeholder 2">
            <a:extLst>
              <a:ext uri="{FF2B5EF4-FFF2-40B4-BE49-F238E27FC236}">
                <a16:creationId xmlns:a16="http://schemas.microsoft.com/office/drawing/2014/main" id="{00A94491-8490-4B13-92A4-8FF9345ABE9F}"/>
              </a:ext>
            </a:extLst>
          </p:cNvPr>
          <p:cNvSpPr>
            <a:spLocks noGrp="1"/>
          </p:cNvSpPr>
          <p:nvPr>
            <p:ph idx="1"/>
          </p:nvPr>
        </p:nvSpPr>
        <p:spPr/>
        <p:txBody>
          <a:bodyPr/>
          <a:lstStyle/>
          <a:p>
            <a:endParaRPr lang="en-IN"/>
          </a:p>
        </p:txBody>
      </p:sp>
      <p:pic>
        <p:nvPicPr>
          <p:cNvPr id="64514" name="Picture 2" descr="Chapter 1 Computational Chemistry and Molecular Modelling Basics (RSC  Publishing) DOI:10.1039/9781788010139-00001">
            <a:extLst>
              <a:ext uri="{FF2B5EF4-FFF2-40B4-BE49-F238E27FC236}">
                <a16:creationId xmlns:a16="http://schemas.microsoft.com/office/drawing/2014/main" id="{3B19E067-21A6-4043-8D7A-A5B4DC3BB3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09600"/>
            <a:ext cx="8296275" cy="593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13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A51FC99-D9AD-4B67-9C59-183D12DB1256}"/>
              </a:ext>
            </a:extLst>
          </p:cNvPr>
          <p:cNvSpPr>
            <a:spLocks noGrp="1" noChangeArrowheads="1"/>
          </p:cNvSpPr>
          <p:nvPr>
            <p:ph type="title"/>
          </p:nvPr>
        </p:nvSpPr>
        <p:spPr/>
        <p:txBody>
          <a:bodyPr/>
          <a:lstStyle/>
          <a:p>
            <a:r>
              <a:rPr lang="en-US" altLang="en-US" dirty="0">
                <a:latin typeface="Modern Love" panose="04090805081005020601" pitchFamily="82" charset="0"/>
              </a:rPr>
              <a:t>What is the Potential?</a:t>
            </a:r>
          </a:p>
        </p:txBody>
      </p:sp>
      <p:sp>
        <p:nvSpPr>
          <p:cNvPr id="14339" name="Rectangle 3">
            <a:extLst>
              <a:ext uri="{FF2B5EF4-FFF2-40B4-BE49-F238E27FC236}">
                <a16:creationId xmlns:a16="http://schemas.microsoft.com/office/drawing/2014/main" id="{804F97A2-D6B9-40D0-9BF8-5CF28F594F1D}"/>
              </a:ext>
            </a:extLst>
          </p:cNvPr>
          <p:cNvSpPr>
            <a:spLocks noGrp="1" noChangeArrowheads="1"/>
          </p:cNvSpPr>
          <p:nvPr>
            <p:ph type="body" idx="1"/>
          </p:nvPr>
        </p:nvSpPr>
        <p:spPr>
          <a:xfrm>
            <a:off x="457200" y="1676400"/>
            <a:ext cx="8534400" cy="3505200"/>
          </a:xfrm>
        </p:spPr>
        <p:txBody>
          <a:bodyPr/>
          <a:lstStyle/>
          <a:p>
            <a:pPr>
              <a:lnSpc>
                <a:spcPct val="80000"/>
              </a:lnSpc>
              <a:buFontTx/>
              <a:buNone/>
            </a:pPr>
            <a:r>
              <a:rPr lang="en-US" altLang="en-US" sz="2800" dirty="0">
                <a:latin typeface="Century Schoolbook" panose="02040604050505020304" pitchFamily="18" charset="0"/>
              </a:rPr>
              <a:t>A single atom will be affected by the potential energy functions of every atom in the system:</a:t>
            </a:r>
          </a:p>
          <a:p>
            <a:pPr>
              <a:lnSpc>
                <a:spcPct val="80000"/>
              </a:lnSpc>
              <a:buFontTx/>
              <a:buNone/>
            </a:pPr>
            <a:endParaRPr lang="en-US" altLang="en-US" sz="2800" dirty="0">
              <a:latin typeface="Century Schoolbook" panose="02040604050505020304" pitchFamily="18" charset="0"/>
            </a:endParaRPr>
          </a:p>
          <a:p>
            <a:pPr>
              <a:lnSpc>
                <a:spcPct val="80000"/>
              </a:lnSpc>
            </a:pPr>
            <a:r>
              <a:rPr lang="en-US" altLang="en-US" sz="2800" dirty="0">
                <a:latin typeface="Century Schoolbook" panose="02040604050505020304" pitchFamily="18" charset="0"/>
              </a:rPr>
              <a:t>Bonded Neighbors</a:t>
            </a:r>
          </a:p>
          <a:p>
            <a:pPr>
              <a:lnSpc>
                <a:spcPct val="80000"/>
              </a:lnSpc>
            </a:pPr>
            <a:r>
              <a:rPr lang="en-US" altLang="en-US" sz="2800" dirty="0">
                <a:latin typeface="Century Schoolbook" panose="02040604050505020304" pitchFamily="18" charset="0"/>
              </a:rPr>
              <a:t>Non-Bonded Atoms (either other atoms in the same molecule, or atoms from different molecules)</a:t>
            </a:r>
          </a:p>
        </p:txBody>
      </p:sp>
      <p:sp>
        <p:nvSpPr>
          <p:cNvPr id="14341" name="Rectangle 5">
            <a:extLst>
              <a:ext uri="{FF2B5EF4-FFF2-40B4-BE49-F238E27FC236}">
                <a16:creationId xmlns:a16="http://schemas.microsoft.com/office/drawing/2014/main" id="{1C327870-E021-49D7-B687-0D6A625B1BD0}"/>
              </a:ext>
            </a:extLst>
          </p:cNvPr>
          <p:cNvSpPr>
            <a:spLocks noChangeArrowheads="1"/>
          </p:cNvSpPr>
          <p:nvPr/>
        </p:nvSpPr>
        <p:spPr bwMode="auto">
          <a:xfrm>
            <a:off x="2163763" y="5926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mc:AlternateContent xmlns:mc="http://schemas.openxmlformats.org/markup-compatibility/2006" xmlns:a14="http://schemas.microsoft.com/office/drawing/2010/main">
        <mc:Choice Requires="a14">
          <p:sp>
            <p:nvSpPr>
              <p:cNvPr id="14340" name="Object 4">
                <a:extLst>
                  <a:ext uri="{FF2B5EF4-FFF2-40B4-BE49-F238E27FC236}">
                    <a16:creationId xmlns:a16="http://schemas.microsoft.com/office/drawing/2014/main" id="{D48C9AA9-7DDE-48E1-A472-4293649E956B}"/>
                  </a:ext>
                </a:extLst>
              </p:cNvPr>
              <p:cNvSpPr txBox="1"/>
              <p:nvPr/>
            </p:nvSpPr>
            <p:spPr bwMode="auto">
              <a:xfrm>
                <a:off x="838200" y="5181600"/>
                <a:ext cx="7677150" cy="93662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sz="4000" i="1">
                          <a:solidFill>
                            <a:srgbClr val="000000"/>
                          </a:solidFill>
                          <a:latin typeface="Cambria Math" panose="02040503050406030204" pitchFamily="18" charset="0"/>
                        </a:rPr>
                        <m:t>𝑉</m:t>
                      </m:r>
                      <m:r>
                        <a:rPr lang="en-US" sz="4000" i="1">
                          <a:solidFill>
                            <a:srgbClr val="000000"/>
                          </a:solidFill>
                          <a:latin typeface="Cambria Math" panose="02040503050406030204" pitchFamily="18" charset="0"/>
                        </a:rPr>
                        <m:t>(</m:t>
                      </m:r>
                      <m:r>
                        <a:rPr lang="en-US" sz="4000" i="1">
                          <a:solidFill>
                            <a:srgbClr val="000000"/>
                          </a:solidFill>
                          <a:latin typeface="Cambria Math" panose="02040503050406030204" pitchFamily="18" charset="0"/>
                        </a:rPr>
                        <m:t>𝑅</m:t>
                      </m:r>
                      <m:r>
                        <a:rPr lang="en-US" sz="4000" i="1">
                          <a:solidFill>
                            <a:srgbClr val="000000"/>
                          </a:solidFill>
                          <a:latin typeface="Cambria Math" panose="02040503050406030204" pitchFamily="18" charset="0"/>
                        </a:rPr>
                        <m:t>)=</m:t>
                      </m:r>
                      <m:sSub>
                        <m:sSubPr>
                          <m:ctrlPr>
                            <a:rPr lang="en-US" sz="4000" i="1">
                              <a:solidFill>
                                <a:srgbClr val="000000"/>
                              </a:solidFill>
                              <a:latin typeface="Cambria Math" panose="02040503050406030204" pitchFamily="18" charset="0"/>
                            </a:rPr>
                          </m:ctrlPr>
                        </m:sSubPr>
                        <m:e>
                          <m:r>
                            <a:rPr lang="en-US" sz="4000" i="1">
                              <a:solidFill>
                                <a:srgbClr val="000000"/>
                              </a:solidFill>
                              <a:latin typeface="Cambria Math" panose="02040503050406030204" pitchFamily="18" charset="0"/>
                            </a:rPr>
                            <m:t>𝐸</m:t>
                          </m:r>
                        </m:e>
                        <m:sub>
                          <m:r>
                            <a:rPr lang="en-US" sz="4000" i="1">
                              <a:solidFill>
                                <a:srgbClr val="000000"/>
                              </a:solidFill>
                              <a:latin typeface="Cambria Math" panose="02040503050406030204" pitchFamily="18" charset="0"/>
                            </a:rPr>
                            <m:t>𝑏𝑜𝑛𝑑𝑒𝑑</m:t>
                          </m:r>
                        </m:sub>
                      </m:sSub>
                      <m:r>
                        <a:rPr lang="en-US" sz="4000" i="1">
                          <a:solidFill>
                            <a:srgbClr val="000000"/>
                          </a:solidFill>
                          <a:latin typeface="Cambria Math" panose="02040503050406030204" pitchFamily="18" charset="0"/>
                        </a:rPr>
                        <m:t>+</m:t>
                      </m:r>
                      <m:sSub>
                        <m:sSubPr>
                          <m:ctrlPr>
                            <a:rPr lang="en-US" sz="4000" i="1">
                              <a:solidFill>
                                <a:srgbClr val="000000"/>
                              </a:solidFill>
                              <a:latin typeface="Cambria Math" panose="02040503050406030204" pitchFamily="18" charset="0"/>
                            </a:rPr>
                          </m:ctrlPr>
                        </m:sSubPr>
                        <m:e>
                          <m:r>
                            <a:rPr lang="en-US" sz="4000" i="1">
                              <a:solidFill>
                                <a:srgbClr val="000000"/>
                              </a:solidFill>
                              <a:latin typeface="Cambria Math" panose="02040503050406030204" pitchFamily="18" charset="0"/>
                            </a:rPr>
                            <m:t>𝐸</m:t>
                          </m:r>
                        </m:e>
                        <m:sub>
                          <m:r>
                            <a:rPr lang="en-US" sz="4000" i="1">
                              <a:solidFill>
                                <a:srgbClr val="000000"/>
                              </a:solidFill>
                              <a:latin typeface="Cambria Math" panose="02040503050406030204" pitchFamily="18" charset="0"/>
                            </a:rPr>
                            <m:t>𝑛𝑜𝑛</m:t>
                          </m:r>
                          <m:r>
                            <a:rPr lang="en-US" sz="4000" i="1">
                              <a:solidFill>
                                <a:srgbClr val="000000"/>
                              </a:solidFill>
                              <a:latin typeface="Cambria Math" panose="02040503050406030204" pitchFamily="18" charset="0"/>
                            </a:rPr>
                            <m:t>−</m:t>
                          </m:r>
                          <m:r>
                            <a:rPr lang="en-US" sz="4000" i="1">
                              <a:solidFill>
                                <a:srgbClr val="000000"/>
                              </a:solidFill>
                              <a:latin typeface="Cambria Math" panose="02040503050406030204" pitchFamily="18" charset="0"/>
                            </a:rPr>
                            <m:t>𝑏𝑜𝑛𝑑𝑒𝑑</m:t>
                          </m:r>
                        </m:sub>
                      </m:sSub>
                    </m:oMath>
                  </m:oMathPara>
                </a14:m>
                <a:endParaRPr lang="en-US" sz="4000" dirty="0">
                  <a:latin typeface="Century Schoolbook" panose="02040604050505020304" pitchFamily="18" charset="0"/>
                </a:endParaRPr>
              </a:p>
            </p:txBody>
          </p:sp>
        </mc:Choice>
        <mc:Fallback xmlns="">
          <p:sp>
            <p:nvSpPr>
              <p:cNvPr id="14340" name="Object 4">
                <a:extLst>
                  <a:ext uri="{FF2B5EF4-FFF2-40B4-BE49-F238E27FC236}">
                    <a16:creationId xmlns:a16="http://schemas.microsoft.com/office/drawing/2014/main" id="{D48C9AA9-7DDE-48E1-A472-4293649E956B}"/>
                  </a:ext>
                </a:extLst>
              </p:cNvPr>
              <p:cNvSpPr txBox="1">
                <a:spLocks noRot="1" noChangeAspect="1" noMove="1" noResize="1" noEditPoints="1" noAdjustHandles="1" noChangeArrowheads="1" noChangeShapeType="1" noTextEdit="1"/>
              </p:cNvSpPr>
              <p:nvPr/>
            </p:nvSpPr>
            <p:spPr bwMode="auto">
              <a:xfrm>
                <a:off x="838200" y="5181600"/>
                <a:ext cx="7677150" cy="936625"/>
              </a:xfrm>
              <a:prstGeom prst="rect">
                <a:avLst/>
              </a:prstGeom>
              <a:blipFill>
                <a:blip r:embed="rId3"/>
                <a:stretch>
                  <a:fillRect/>
                </a:stretch>
              </a:blipFill>
            </p:spPr>
            <p:txBody>
              <a:bodyPr/>
              <a:lstStyle/>
              <a:p>
                <a:r>
                  <a:rPr 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0A715-6D81-4C42-9B08-524EB9F3B734}"/>
              </a:ext>
            </a:extLst>
          </p:cNvPr>
          <p:cNvSpPr>
            <a:spLocks noGrp="1"/>
          </p:cNvSpPr>
          <p:nvPr>
            <p:ph type="title"/>
          </p:nvPr>
        </p:nvSpPr>
        <p:spPr>
          <a:xfrm>
            <a:off x="1464469" y="395593"/>
            <a:ext cx="6447501" cy="990600"/>
          </a:xfrm>
        </p:spPr>
        <p:txBody>
          <a:bodyPr/>
          <a:lstStyle/>
          <a:p>
            <a:r>
              <a:rPr lang="en-US" altLang="en-US" b="1" dirty="0">
                <a:solidFill>
                  <a:schemeClr val="accent3">
                    <a:lumMod val="75000"/>
                  </a:schemeClr>
                </a:solidFill>
                <a:latin typeface="Modern Love" panose="04090805081005020601" pitchFamily="82" charset="0"/>
                <a:cs typeface="Times New Roman" panose="02020603050405020304" pitchFamily="18" charset="0"/>
              </a:rPr>
              <a:t>Non-Bonded Atoms</a:t>
            </a:r>
            <a:endParaRPr lang="en-IN" b="1" dirty="0">
              <a:solidFill>
                <a:schemeClr val="accent3">
                  <a:lumMod val="75000"/>
                </a:schemeClr>
              </a:solidFill>
              <a:latin typeface="Modern Love" panose="04090805081005020601" pitchFamily="8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7D44B2-989D-4479-A715-766C9077E1CE}"/>
              </a:ext>
            </a:extLst>
          </p:cNvPr>
          <p:cNvSpPr>
            <a:spLocks noGrp="1"/>
          </p:cNvSpPr>
          <p:nvPr>
            <p:ph idx="1"/>
          </p:nvPr>
        </p:nvSpPr>
        <p:spPr>
          <a:xfrm>
            <a:off x="7143" y="1518712"/>
            <a:ext cx="7300119" cy="2910580"/>
          </a:xfrm>
        </p:spPr>
        <p:txBody>
          <a:bodyPr>
            <a:normAutofit/>
          </a:bodyPr>
          <a:lstStyle/>
          <a:p>
            <a:pPr>
              <a:buFontTx/>
              <a:buNone/>
            </a:pPr>
            <a:r>
              <a:rPr lang="en-US" altLang="en-US" sz="1800" dirty="0">
                <a:latin typeface="Times New Roman" panose="02020603050405020304" pitchFamily="18" charset="0"/>
                <a:cs typeface="Times New Roman" panose="02020603050405020304" pitchFamily="18" charset="0"/>
              </a:rPr>
              <a:t>There are two potential functions between non-bonded atoms that we need to know:</a:t>
            </a:r>
          </a:p>
          <a:p>
            <a:r>
              <a:rPr lang="en-US" altLang="en-US" sz="1800" dirty="0">
                <a:latin typeface="Times New Roman" panose="02020603050405020304" pitchFamily="18" charset="0"/>
                <a:cs typeface="Times New Roman" panose="02020603050405020304" pitchFamily="18" charset="0"/>
              </a:rPr>
              <a:t>van der Waals Potential</a:t>
            </a:r>
          </a:p>
          <a:p>
            <a:r>
              <a:rPr lang="en-US" altLang="en-US" sz="1800" dirty="0">
                <a:latin typeface="Times New Roman" panose="02020603050405020304" pitchFamily="18" charset="0"/>
                <a:cs typeface="Times New Roman" panose="02020603050405020304" pitchFamily="18" charset="0"/>
              </a:rPr>
              <a:t>Electrostatic Potential</a:t>
            </a:r>
            <a:endParaRPr lang="en-IN" sz="1800" dirty="0">
              <a:latin typeface="Times New Roman" panose="02020603050405020304" pitchFamily="18" charset="0"/>
              <a:cs typeface="Times New Roman" panose="02020603050405020304" pitchFamily="18" charset="0"/>
            </a:endParaRPr>
          </a:p>
        </p:txBody>
      </p:sp>
      <p:graphicFrame>
        <p:nvGraphicFramePr>
          <p:cNvPr id="5" name="Object 6">
            <a:extLst>
              <a:ext uri="{FF2B5EF4-FFF2-40B4-BE49-F238E27FC236}">
                <a16:creationId xmlns:a16="http://schemas.microsoft.com/office/drawing/2014/main" id="{46AE19C1-D16F-49F1-9AFB-7D9D1DC490B4}"/>
              </a:ext>
            </a:extLst>
          </p:cNvPr>
          <p:cNvGraphicFramePr>
            <a:graphicFrameLocks noChangeAspect="1"/>
          </p:cNvGraphicFramePr>
          <p:nvPr/>
        </p:nvGraphicFramePr>
        <p:xfrm>
          <a:off x="1464469" y="2881132"/>
          <a:ext cx="5129211" cy="533285"/>
        </p:xfrm>
        <a:graphic>
          <a:graphicData uri="http://schemas.openxmlformats.org/presentationml/2006/ole">
            <mc:AlternateContent xmlns:mc="http://schemas.openxmlformats.org/markup-compatibility/2006">
              <mc:Choice xmlns:v="urn:schemas-microsoft-com:vml" Requires="v">
                <p:oleObj name="Microsoft Equation 3.0" r:id="rId2" imgW="2197100" imgH="228600" progId="Equation.3">
                  <p:embed/>
                </p:oleObj>
              </mc:Choice>
              <mc:Fallback>
                <p:oleObj name="Microsoft Equation 3.0" r:id="rId2" imgW="2197100" imgH="228600" progId="Equation.3">
                  <p:embed/>
                  <p:pic>
                    <p:nvPicPr>
                      <p:cNvPr id="5" name="Object 6">
                        <a:extLst>
                          <a:ext uri="{FF2B5EF4-FFF2-40B4-BE49-F238E27FC236}">
                            <a16:creationId xmlns:a16="http://schemas.microsoft.com/office/drawing/2014/main" id="{46AE19C1-D16F-49F1-9AFB-7D9D1DC490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4469" y="2881132"/>
                        <a:ext cx="5129211" cy="533285"/>
                      </a:xfrm>
                      <a:prstGeom prst="rect">
                        <a:avLst/>
                      </a:prstGeom>
                      <a:solidFill>
                        <a:schemeClr val="tx1"/>
                      </a:solidFill>
                    </p:spPr>
                  </p:pic>
                </p:oleObj>
              </mc:Fallback>
            </mc:AlternateContent>
          </a:graphicData>
        </a:graphic>
      </p:graphicFrame>
      <p:graphicFrame>
        <p:nvGraphicFramePr>
          <p:cNvPr id="6" name="Object 5">
            <a:extLst>
              <a:ext uri="{FF2B5EF4-FFF2-40B4-BE49-F238E27FC236}">
                <a16:creationId xmlns:a16="http://schemas.microsoft.com/office/drawing/2014/main" id="{01E340B1-54BE-48F5-8E7D-B103E11B28A7}"/>
              </a:ext>
            </a:extLst>
          </p:cNvPr>
          <p:cNvGraphicFramePr>
            <a:graphicFrameLocks noChangeAspect="1"/>
          </p:cNvGraphicFramePr>
          <p:nvPr/>
        </p:nvGraphicFramePr>
        <p:xfrm>
          <a:off x="300037" y="4913344"/>
          <a:ext cx="3664744" cy="1013510"/>
        </p:xfrm>
        <a:graphic>
          <a:graphicData uri="http://schemas.openxmlformats.org/presentationml/2006/ole">
            <mc:AlternateContent xmlns:mc="http://schemas.openxmlformats.org/markup-compatibility/2006">
              <mc:Choice xmlns:v="urn:schemas-microsoft-com:vml" Requires="v">
                <p:oleObj name="Equation" r:id="rId4" imgW="2070100" imgH="571500" progId="Equation.3">
                  <p:embed/>
                </p:oleObj>
              </mc:Choice>
              <mc:Fallback>
                <p:oleObj name="Equation" r:id="rId4" imgW="2070100" imgH="571500" progId="Equation.3">
                  <p:embed/>
                  <p:pic>
                    <p:nvPicPr>
                      <p:cNvPr id="6" name="Object 5">
                        <a:extLst>
                          <a:ext uri="{FF2B5EF4-FFF2-40B4-BE49-F238E27FC236}">
                            <a16:creationId xmlns:a16="http://schemas.microsoft.com/office/drawing/2014/main" id="{01E340B1-54BE-48F5-8E7D-B103E11B28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037" y="4913344"/>
                        <a:ext cx="3664744" cy="1013510"/>
                      </a:xfrm>
                      <a:prstGeom prst="rect">
                        <a:avLst/>
                      </a:prstGeom>
                      <a:solidFill>
                        <a:schemeClr val="tx1"/>
                      </a:solidFill>
                    </p:spPr>
                  </p:pic>
                </p:oleObj>
              </mc:Fallback>
            </mc:AlternateContent>
          </a:graphicData>
        </a:graphic>
      </p:graphicFrame>
      <p:sp>
        <p:nvSpPr>
          <p:cNvPr id="7" name="Rectangle 6">
            <a:extLst>
              <a:ext uri="{FF2B5EF4-FFF2-40B4-BE49-F238E27FC236}">
                <a16:creationId xmlns:a16="http://schemas.microsoft.com/office/drawing/2014/main" id="{20FEB095-C79E-454F-BFF3-3521DDBE45E8}"/>
              </a:ext>
            </a:extLst>
          </p:cNvPr>
          <p:cNvSpPr/>
          <p:nvPr/>
        </p:nvSpPr>
        <p:spPr>
          <a:xfrm>
            <a:off x="167480" y="3706803"/>
            <a:ext cx="4572000" cy="1200329"/>
          </a:xfrm>
          <a:prstGeom prst="rect">
            <a:avLst/>
          </a:prstGeom>
        </p:spPr>
        <p:txBody>
          <a:bodyPr>
            <a:spAutoFit/>
          </a:bodyPr>
          <a:lstStyle/>
          <a:p>
            <a:r>
              <a:rPr lang="en-US" altLang="en-US" dirty="0">
                <a:latin typeface="Times New Roman" panose="02020603050405020304" pitchFamily="18" charset="0"/>
                <a:cs typeface="Times New Roman" panose="02020603050405020304" pitchFamily="18" charset="0"/>
              </a:rPr>
              <a:t>One of the most widely used functions for the van der Waals potential is the Lennard-Jones. Constants A and C depend on the atom types and are derived from experimental data.</a:t>
            </a:r>
            <a:endParaRPr lang="en-IN" dirty="0">
              <a:latin typeface="Times New Roman" panose="02020603050405020304" pitchFamily="18" charset="0"/>
              <a:cs typeface="Times New Roman" panose="02020603050405020304" pitchFamily="18" charset="0"/>
            </a:endParaRPr>
          </a:p>
        </p:txBody>
      </p:sp>
      <p:graphicFrame>
        <p:nvGraphicFramePr>
          <p:cNvPr id="8" name="Object 4">
            <a:extLst>
              <a:ext uri="{FF2B5EF4-FFF2-40B4-BE49-F238E27FC236}">
                <a16:creationId xmlns:a16="http://schemas.microsoft.com/office/drawing/2014/main" id="{8D2E1704-5E87-46C9-9CA8-4B29FAB4D207}"/>
              </a:ext>
            </a:extLst>
          </p:cNvPr>
          <p:cNvGraphicFramePr>
            <a:graphicFrameLocks noChangeAspect="1"/>
          </p:cNvGraphicFramePr>
          <p:nvPr/>
        </p:nvGraphicFramePr>
        <p:xfrm>
          <a:off x="5597923" y="5016097"/>
          <a:ext cx="2457452" cy="894664"/>
        </p:xfrm>
        <a:graphic>
          <a:graphicData uri="http://schemas.openxmlformats.org/presentationml/2006/ole">
            <mc:AlternateContent xmlns:mc="http://schemas.openxmlformats.org/markup-compatibility/2006">
              <mc:Choice xmlns:v="urn:schemas-microsoft-com:vml" Requires="v">
                <p:oleObj name="Equation" r:id="rId6" imgW="1460160" imgH="533160" progId="Equation.3">
                  <p:embed/>
                </p:oleObj>
              </mc:Choice>
              <mc:Fallback>
                <p:oleObj name="Equation" r:id="rId6" imgW="1460160" imgH="533160" progId="Equation.3">
                  <p:embed/>
                  <p:pic>
                    <p:nvPicPr>
                      <p:cNvPr id="8" name="Object 4">
                        <a:extLst>
                          <a:ext uri="{FF2B5EF4-FFF2-40B4-BE49-F238E27FC236}">
                            <a16:creationId xmlns:a16="http://schemas.microsoft.com/office/drawing/2014/main" id="{8D2E1704-5E87-46C9-9CA8-4B29FAB4D2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97923" y="5016097"/>
                        <a:ext cx="2457452" cy="894664"/>
                      </a:xfrm>
                      <a:prstGeom prst="rect">
                        <a:avLst/>
                      </a:prstGeom>
                      <a:solidFill>
                        <a:schemeClr val="tx1"/>
                      </a:solidFill>
                    </p:spPr>
                  </p:pic>
                </p:oleObj>
              </mc:Fallback>
            </mc:AlternateContent>
          </a:graphicData>
        </a:graphic>
      </p:graphicFrame>
      <p:sp>
        <p:nvSpPr>
          <p:cNvPr id="9" name="Rectangle 8">
            <a:extLst>
              <a:ext uri="{FF2B5EF4-FFF2-40B4-BE49-F238E27FC236}">
                <a16:creationId xmlns:a16="http://schemas.microsoft.com/office/drawing/2014/main" id="{0B8A3C6A-20DC-4A14-8742-F7D88C239C48}"/>
              </a:ext>
            </a:extLst>
          </p:cNvPr>
          <p:cNvSpPr/>
          <p:nvPr/>
        </p:nvSpPr>
        <p:spPr>
          <a:xfrm>
            <a:off x="4868924" y="3740687"/>
            <a:ext cx="4299744" cy="646331"/>
          </a:xfrm>
          <a:prstGeom prst="rect">
            <a:avLst/>
          </a:prstGeom>
        </p:spPr>
        <p:txBody>
          <a:bodyPr wrap="square">
            <a:spAutoFit/>
          </a:bodyPr>
          <a:lstStyle/>
          <a:p>
            <a:pPr marL="257175" indent="-257175">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Opposite Charges Attract</a:t>
            </a:r>
          </a:p>
          <a:p>
            <a:pPr marL="257175" indent="-257175">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Like Charges Repel</a:t>
            </a:r>
          </a:p>
        </p:txBody>
      </p:sp>
      <p:cxnSp>
        <p:nvCxnSpPr>
          <p:cNvPr id="11" name="Straight Arrow Connector 10">
            <a:extLst>
              <a:ext uri="{FF2B5EF4-FFF2-40B4-BE49-F238E27FC236}">
                <a16:creationId xmlns:a16="http://schemas.microsoft.com/office/drawing/2014/main" id="{B63278D5-5F1D-409A-A46F-4C9C637982FA}"/>
              </a:ext>
            </a:extLst>
          </p:cNvPr>
          <p:cNvCxnSpPr>
            <a:cxnSpLocks/>
          </p:cNvCxnSpPr>
          <p:nvPr/>
        </p:nvCxnSpPr>
        <p:spPr>
          <a:xfrm flipH="1">
            <a:off x="3000373" y="3446959"/>
            <a:ext cx="571502" cy="2643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7269D4E-2679-456A-8B2A-214AD3703A82}"/>
              </a:ext>
            </a:extLst>
          </p:cNvPr>
          <p:cNvCxnSpPr/>
          <p:nvPr/>
        </p:nvCxnSpPr>
        <p:spPr>
          <a:xfrm>
            <a:off x="5395879" y="3475648"/>
            <a:ext cx="692944" cy="278606"/>
          </a:xfrm>
          <a:prstGeom prst="straightConnector1">
            <a:avLst/>
          </a:prstGeom>
          <a:ln w="28575">
            <a:solidFill>
              <a:schemeClr val="tx1">
                <a:alpha val="93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2903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0515B-6EE6-4F96-A424-C77427709FD2}"/>
              </a:ext>
            </a:extLst>
          </p:cNvPr>
          <p:cNvSpPr>
            <a:spLocks noGrp="1"/>
          </p:cNvSpPr>
          <p:nvPr>
            <p:ph type="title"/>
          </p:nvPr>
        </p:nvSpPr>
        <p:spPr>
          <a:xfrm>
            <a:off x="857250" y="371823"/>
            <a:ext cx="6447501" cy="990600"/>
          </a:xfrm>
        </p:spPr>
        <p:txBody>
          <a:bodyPr>
            <a:normAutofit/>
          </a:bodyPr>
          <a:lstStyle/>
          <a:p>
            <a:r>
              <a:rPr lang="en-US" altLang="en-US" b="1" dirty="0">
                <a:solidFill>
                  <a:schemeClr val="accent3">
                    <a:lumMod val="75000"/>
                  </a:schemeClr>
                </a:solidFill>
                <a:latin typeface="Modern Love" panose="04090805081005020601" pitchFamily="82" charset="0"/>
                <a:cs typeface="Times New Roman" panose="02020603050405020304" pitchFamily="18" charset="0"/>
              </a:rPr>
              <a:t>Bonded Atoms</a:t>
            </a:r>
            <a:endParaRPr lang="en-IN" b="1" dirty="0">
              <a:solidFill>
                <a:schemeClr val="accent3">
                  <a:lumMod val="75000"/>
                </a:schemeClr>
              </a:solidFill>
              <a:latin typeface="Modern Love" panose="04090805081005020601" pitchFamily="8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C5BA9B-6CFC-4650-968D-0EE694F94256}"/>
              </a:ext>
            </a:extLst>
          </p:cNvPr>
          <p:cNvSpPr>
            <a:spLocks noGrp="1"/>
          </p:cNvSpPr>
          <p:nvPr>
            <p:ph idx="1"/>
          </p:nvPr>
        </p:nvSpPr>
        <p:spPr>
          <a:xfrm>
            <a:off x="53312" y="1352550"/>
            <a:ext cx="6447501" cy="2910580"/>
          </a:xfrm>
        </p:spPr>
        <p:txBody>
          <a:bodyPr>
            <a:normAutofit lnSpcReduction="10000"/>
          </a:bodyPr>
          <a:lstStyle/>
          <a:p>
            <a:pPr>
              <a:buFontTx/>
              <a:buNone/>
            </a:pPr>
            <a:r>
              <a:rPr lang="en-US" altLang="en-US" sz="1800" dirty="0">
                <a:latin typeface="Times New Roman" panose="02020603050405020304" pitchFamily="18" charset="0"/>
                <a:cs typeface="Times New Roman" panose="02020603050405020304" pitchFamily="18" charset="0"/>
              </a:rPr>
              <a:t>There are three types of interaction between bonded atoms:</a:t>
            </a:r>
          </a:p>
          <a:p>
            <a:r>
              <a:rPr lang="en-US" altLang="en-US" sz="1800" dirty="0">
                <a:latin typeface="Times New Roman" panose="02020603050405020304" pitchFamily="18" charset="0"/>
                <a:cs typeface="Times New Roman" panose="02020603050405020304" pitchFamily="18" charset="0"/>
              </a:rPr>
              <a:t>Stretching along the bond</a:t>
            </a:r>
          </a:p>
          <a:p>
            <a:pPr marL="0" indent="0">
              <a:buNone/>
            </a:pPr>
            <a:endParaRPr lang="en-US" altLang="en-US" sz="1800" dirty="0">
              <a:latin typeface="Times New Roman" panose="02020603050405020304" pitchFamily="18" charset="0"/>
              <a:cs typeface="Times New Roman" panose="02020603050405020304" pitchFamily="18" charset="0"/>
            </a:endParaRPr>
          </a:p>
          <a:p>
            <a:pPr marL="0" indent="0">
              <a:buNone/>
            </a:pP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Bending between bonds</a:t>
            </a:r>
          </a:p>
          <a:p>
            <a:endParaRPr lang="en-US" altLang="en-US" sz="1800" dirty="0">
              <a:latin typeface="Times New Roman" panose="02020603050405020304" pitchFamily="18" charset="0"/>
              <a:cs typeface="Times New Roman" panose="02020603050405020304" pitchFamily="18" charset="0"/>
            </a:endParaRP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Rotating around bonds (Torsions)</a:t>
            </a:r>
          </a:p>
          <a:p>
            <a:endParaRPr lang="en-IN" dirty="0"/>
          </a:p>
        </p:txBody>
      </p:sp>
      <p:pic>
        <p:nvPicPr>
          <p:cNvPr id="4" name="Picture 4" descr="bonds">
            <a:extLst>
              <a:ext uri="{FF2B5EF4-FFF2-40B4-BE49-F238E27FC236}">
                <a16:creationId xmlns:a16="http://schemas.microsoft.com/office/drawing/2014/main" id="{F9CF35E5-190F-4ACC-9D8A-021DC8E7208F}"/>
              </a:ext>
            </a:extLst>
          </p:cNvPr>
          <p:cNvPicPr>
            <a:picLocks noChangeAspect="1" noChangeArrowheads="1" noCrop="1"/>
          </p:cNvPicPr>
          <p:nvPr/>
        </p:nvPicPr>
        <p:blipFill>
          <a:blip r:embed="rId2" cstate="email">
            <a:lum bright="-20000"/>
            <a:extLst>
              <a:ext uri="{28A0092B-C50C-407E-A947-70E740481C1C}">
                <a14:useLocalDpi xmlns:a14="http://schemas.microsoft.com/office/drawing/2010/main" val="0"/>
              </a:ext>
            </a:extLst>
          </a:blip>
          <a:srcRect/>
          <a:stretch>
            <a:fillRect/>
          </a:stretch>
        </p:blipFill>
        <p:spPr>
          <a:xfrm>
            <a:off x="6500813" y="957263"/>
            <a:ext cx="2171700" cy="21717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5" name="Object 12">
            <a:extLst>
              <a:ext uri="{FF2B5EF4-FFF2-40B4-BE49-F238E27FC236}">
                <a16:creationId xmlns:a16="http://schemas.microsoft.com/office/drawing/2014/main" id="{3CCBAB76-7147-425A-AE43-DEA45B3CA414}"/>
              </a:ext>
            </a:extLst>
          </p:cNvPr>
          <p:cNvGraphicFramePr>
            <a:graphicFrameLocks noChangeAspect="1"/>
          </p:cNvGraphicFramePr>
          <p:nvPr/>
        </p:nvGraphicFramePr>
        <p:xfrm>
          <a:off x="857250" y="5423297"/>
          <a:ext cx="5829300" cy="477441"/>
        </p:xfrm>
        <a:graphic>
          <a:graphicData uri="http://schemas.openxmlformats.org/presentationml/2006/ole">
            <mc:AlternateContent xmlns:mc="http://schemas.openxmlformats.org/markup-compatibility/2006">
              <mc:Choice xmlns:v="urn:schemas-microsoft-com:vml" Requires="v">
                <p:oleObj name="Equation" r:id="rId3" imgW="2908300" imgH="241300" progId="Equation.3">
                  <p:embed/>
                </p:oleObj>
              </mc:Choice>
              <mc:Fallback>
                <p:oleObj name="Equation" r:id="rId3" imgW="2908300" imgH="241300" progId="Equation.3">
                  <p:embed/>
                  <p:pic>
                    <p:nvPicPr>
                      <p:cNvPr id="5" name="Object 12">
                        <a:extLst>
                          <a:ext uri="{FF2B5EF4-FFF2-40B4-BE49-F238E27FC236}">
                            <a16:creationId xmlns:a16="http://schemas.microsoft.com/office/drawing/2014/main" id="{3CCBAB76-7147-425A-AE43-DEA45B3CA4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5423297"/>
                        <a:ext cx="5829300" cy="477441"/>
                      </a:xfrm>
                      <a:prstGeom prst="rect">
                        <a:avLst/>
                      </a:prstGeom>
                      <a:solidFill>
                        <a:schemeClr val="tx1"/>
                      </a:solidFill>
                    </p:spPr>
                  </p:pic>
                </p:oleObj>
              </mc:Fallback>
            </mc:AlternateContent>
          </a:graphicData>
        </a:graphic>
      </p:graphicFrame>
      <p:graphicFrame>
        <p:nvGraphicFramePr>
          <p:cNvPr id="6" name="Object 10">
            <a:extLst>
              <a:ext uri="{FF2B5EF4-FFF2-40B4-BE49-F238E27FC236}">
                <a16:creationId xmlns:a16="http://schemas.microsoft.com/office/drawing/2014/main" id="{2E53BC9F-55A3-4B15-AEBC-DFD7B8815069}"/>
              </a:ext>
            </a:extLst>
          </p:cNvPr>
          <p:cNvGraphicFramePr>
            <a:graphicFrameLocks noChangeAspect="1"/>
          </p:cNvGraphicFramePr>
          <p:nvPr/>
        </p:nvGraphicFramePr>
        <p:xfrm>
          <a:off x="1521619" y="2001290"/>
          <a:ext cx="3493294" cy="683720"/>
        </p:xfrm>
        <a:graphic>
          <a:graphicData uri="http://schemas.openxmlformats.org/presentationml/2006/ole">
            <mc:AlternateContent xmlns:mc="http://schemas.openxmlformats.org/markup-compatibility/2006">
              <mc:Choice xmlns:v="urn:schemas-microsoft-com:vml" Requires="v">
                <p:oleObj name="Equation" r:id="rId5" imgW="1803400" imgH="355600" progId="Equation.3">
                  <p:embed/>
                </p:oleObj>
              </mc:Choice>
              <mc:Fallback>
                <p:oleObj name="Equation" r:id="rId5" imgW="1803400" imgH="355600" progId="Equation.3">
                  <p:embed/>
                  <p:pic>
                    <p:nvPicPr>
                      <p:cNvPr id="6" name="Object 10">
                        <a:extLst>
                          <a:ext uri="{FF2B5EF4-FFF2-40B4-BE49-F238E27FC236}">
                            <a16:creationId xmlns:a16="http://schemas.microsoft.com/office/drawing/2014/main" id="{2E53BC9F-55A3-4B15-AEBC-DFD7B88150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1619" y="2001290"/>
                        <a:ext cx="3493294" cy="683720"/>
                      </a:xfrm>
                      <a:prstGeom prst="rect">
                        <a:avLst/>
                      </a:prstGeom>
                      <a:solidFill>
                        <a:schemeClr val="tx1"/>
                      </a:solidFill>
                    </p:spPr>
                  </p:pic>
                </p:oleObj>
              </mc:Fallback>
            </mc:AlternateContent>
          </a:graphicData>
        </a:graphic>
      </p:graphicFrame>
      <p:graphicFrame>
        <p:nvGraphicFramePr>
          <p:cNvPr id="7" name="Object 11">
            <a:extLst>
              <a:ext uri="{FF2B5EF4-FFF2-40B4-BE49-F238E27FC236}">
                <a16:creationId xmlns:a16="http://schemas.microsoft.com/office/drawing/2014/main" id="{C88F2EDD-A5C0-44C6-8475-2482680F04D9}"/>
              </a:ext>
            </a:extLst>
          </p:cNvPr>
          <p:cNvGraphicFramePr>
            <a:graphicFrameLocks noChangeAspect="1"/>
          </p:cNvGraphicFramePr>
          <p:nvPr/>
        </p:nvGraphicFramePr>
        <p:xfrm>
          <a:off x="1528763" y="3051722"/>
          <a:ext cx="3236118" cy="660885"/>
        </p:xfrm>
        <a:graphic>
          <a:graphicData uri="http://schemas.openxmlformats.org/presentationml/2006/ole">
            <mc:AlternateContent xmlns:mc="http://schemas.openxmlformats.org/markup-compatibility/2006">
              <mc:Choice xmlns:v="urn:schemas-microsoft-com:vml" Requires="v">
                <p:oleObj name="Equation" r:id="rId7" imgW="1726451" imgH="355446" progId="Equation.3">
                  <p:embed/>
                </p:oleObj>
              </mc:Choice>
              <mc:Fallback>
                <p:oleObj name="Equation" r:id="rId7" imgW="1726451" imgH="355446" progId="Equation.3">
                  <p:embed/>
                  <p:pic>
                    <p:nvPicPr>
                      <p:cNvPr id="7" name="Object 11">
                        <a:extLst>
                          <a:ext uri="{FF2B5EF4-FFF2-40B4-BE49-F238E27FC236}">
                            <a16:creationId xmlns:a16="http://schemas.microsoft.com/office/drawing/2014/main" id="{C88F2EDD-A5C0-44C6-8475-2482680F04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8763" y="3051722"/>
                        <a:ext cx="3236118" cy="660885"/>
                      </a:xfrm>
                      <a:prstGeom prst="rect">
                        <a:avLst/>
                      </a:prstGeom>
                      <a:solidFill>
                        <a:schemeClr val="tx1"/>
                      </a:solidFill>
                    </p:spPr>
                  </p:pic>
                </p:oleObj>
              </mc:Fallback>
            </mc:AlternateContent>
          </a:graphicData>
        </a:graphic>
      </p:graphicFrame>
      <p:graphicFrame>
        <p:nvGraphicFramePr>
          <p:cNvPr id="8" name="Object 8">
            <a:extLst>
              <a:ext uri="{FF2B5EF4-FFF2-40B4-BE49-F238E27FC236}">
                <a16:creationId xmlns:a16="http://schemas.microsoft.com/office/drawing/2014/main" id="{607F3D62-8495-45DE-8DE1-42A81486EDC6}"/>
              </a:ext>
            </a:extLst>
          </p:cNvPr>
          <p:cNvGraphicFramePr>
            <a:graphicFrameLocks noChangeAspect="1"/>
          </p:cNvGraphicFramePr>
          <p:nvPr/>
        </p:nvGraphicFramePr>
        <p:xfrm>
          <a:off x="1521619" y="4116842"/>
          <a:ext cx="3864769" cy="579223"/>
        </p:xfrm>
        <a:graphic>
          <a:graphicData uri="http://schemas.openxmlformats.org/presentationml/2006/ole">
            <mc:AlternateContent xmlns:mc="http://schemas.openxmlformats.org/markup-compatibility/2006">
              <mc:Choice xmlns:v="urn:schemas-microsoft-com:vml" Requires="v">
                <p:oleObj name="Equation" r:id="rId9" imgW="2349500" imgH="355600" progId="Equation.3">
                  <p:embed/>
                </p:oleObj>
              </mc:Choice>
              <mc:Fallback>
                <p:oleObj name="Equation" r:id="rId9" imgW="2349500" imgH="355600" progId="Equation.3">
                  <p:embed/>
                  <p:pic>
                    <p:nvPicPr>
                      <p:cNvPr id="8" name="Object 8">
                        <a:extLst>
                          <a:ext uri="{FF2B5EF4-FFF2-40B4-BE49-F238E27FC236}">
                            <a16:creationId xmlns:a16="http://schemas.microsoft.com/office/drawing/2014/main" id="{607F3D62-8495-45DE-8DE1-42A81486EDC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1619" y="4116842"/>
                        <a:ext cx="3864769" cy="579223"/>
                      </a:xfrm>
                      <a:prstGeom prst="rect">
                        <a:avLst/>
                      </a:prstGeom>
                      <a:solidFill>
                        <a:schemeClr val="tx1"/>
                      </a:solidFill>
                    </p:spPr>
                  </p:pic>
                </p:oleObj>
              </mc:Fallback>
            </mc:AlternateContent>
          </a:graphicData>
        </a:graphic>
      </p:graphicFrame>
    </p:spTree>
    <p:extLst>
      <p:ext uri="{BB962C8B-B14F-4D97-AF65-F5344CB8AC3E}">
        <p14:creationId xmlns:p14="http://schemas.microsoft.com/office/powerpoint/2010/main" val="1674403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B5EC1C1-2488-4FAD-BD9A-CCC7273AD92F}"/>
              </a:ext>
            </a:extLst>
          </p:cNvPr>
          <p:cNvSpPr>
            <a:spLocks noGrp="1" noChangeArrowheads="1"/>
          </p:cNvSpPr>
          <p:nvPr>
            <p:ph type="title"/>
          </p:nvPr>
        </p:nvSpPr>
        <p:spPr>
          <a:xfrm>
            <a:off x="628650" y="-88077"/>
            <a:ext cx="7886700" cy="1351385"/>
          </a:xfrm>
        </p:spPr>
        <p:txBody>
          <a:bodyPr/>
          <a:lstStyle/>
          <a:p>
            <a:r>
              <a:rPr lang="en-US" altLang="en-US" dirty="0">
                <a:latin typeface="Modern Love" panose="04090805081005020601" pitchFamily="82" charset="0"/>
              </a:rPr>
              <a:t>The Electrostatic Potential</a:t>
            </a:r>
          </a:p>
        </p:txBody>
      </p:sp>
      <p:sp>
        <p:nvSpPr>
          <p:cNvPr id="20483" name="Rectangle 3">
            <a:extLst>
              <a:ext uri="{FF2B5EF4-FFF2-40B4-BE49-F238E27FC236}">
                <a16:creationId xmlns:a16="http://schemas.microsoft.com/office/drawing/2014/main" id="{0AFF4C3E-386A-4F74-85A9-EAE92F70790E}"/>
              </a:ext>
            </a:extLst>
          </p:cNvPr>
          <p:cNvSpPr>
            <a:spLocks noGrp="1" noChangeArrowheads="1"/>
          </p:cNvSpPr>
          <p:nvPr>
            <p:ph type="body" idx="1"/>
          </p:nvPr>
        </p:nvSpPr>
        <p:spPr>
          <a:xfrm>
            <a:off x="304800" y="1043607"/>
            <a:ext cx="8229600" cy="4532824"/>
          </a:xfrm>
        </p:spPr>
        <p:txBody>
          <a:bodyPr/>
          <a:lstStyle/>
          <a:p>
            <a:r>
              <a:rPr lang="en-US" altLang="en-US" dirty="0">
                <a:latin typeface="Century Schoolbook" panose="02040604050505020304" pitchFamily="18" charset="0"/>
              </a:rPr>
              <a:t>Opposite Charges Attract</a:t>
            </a:r>
          </a:p>
          <a:p>
            <a:r>
              <a:rPr lang="en-US" altLang="en-US" dirty="0">
                <a:latin typeface="Century Schoolbook" panose="02040604050505020304" pitchFamily="18" charset="0"/>
              </a:rPr>
              <a:t>Like Charges Repel</a:t>
            </a:r>
          </a:p>
          <a:p>
            <a:r>
              <a:rPr lang="en-US" altLang="en-US" dirty="0">
                <a:latin typeface="Century Schoolbook" panose="02040604050505020304" pitchFamily="18" charset="0"/>
              </a:rPr>
              <a:t>The force of the attraction is inversely proportional to the square of the distance</a:t>
            </a:r>
          </a:p>
        </p:txBody>
      </p:sp>
      <p:sp>
        <p:nvSpPr>
          <p:cNvPr id="20485" name="Rectangle 5">
            <a:extLst>
              <a:ext uri="{FF2B5EF4-FFF2-40B4-BE49-F238E27FC236}">
                <a16:creationId xmlns:a16="http://schemas.microsoft.com/office/drawing/2014/main" id="{432228F5-BD49-4A53-94E2-FB795B56FE3A}"/>
              </a:ext>
            </a:extLst>
          </p:cNvPr>
          <p:cNvSpPr>
            <a:spLocks noChangeArrowheads="1"/>
          </p:cNvSpPr>
          <p:nvPr/>
        </p:nvSpPr>
        <p:spPr bwMode="auto">
          <a:xfrm>
            <a:off x="3681413" y="5208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mc:AlternateContent xmlns:mc="http://schemas.openxmlformats.org/markup-compatibility/2006" xmlns:a14="http://schemas.microsoft.com/office/drawing/2010/main">
        <mc:Choice Requires="a14">
          <p:sp>
            <p:nvSpPr>
              <p:cNvPr id="20484" name="Object 4">
                <a:extLst>
                  <a:ext uri="{FF2B5EF4-FFF2-40B4-BE49-F238E27FC236}">
                    <a16:creationId xmlns:a16="http://schemas.microsoft.com/office/drawing/2014/main" id="{00971D5D-0B95-4BDB-908C-9D4C377FF44F}"/>
                  </a:ext>
                </a:extLst>
              </p:cNvPr>
              <p:cNvSpPr txBox="1"/>
              <p:nvPr/>
            </p:nvSpPr>
            <p:spPr bwMode="auto">
              <a:xfrm>
                <a:off x="1890713" y="3058145"/>
                <a:ext cx="4752975" cy="1730375"/>
              </a:xfrm>
              <a:prstGeom prst="rect">
                <a:avLst/>
              </a:prstGeom>
              <a:noFill/>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𝐸</m:t>
                          </m:r>
                        </m:e>
                        <m:sub>
                          <m:r>
                            <a:rPr lang="en-US" sz="3600" i="1">
                              <a:solidFill>
                                <a:srgbClr val="000000"/>
                              </a:solidFill>
                              <a:latin typeface="Cambria Math" panose="02040503050406030204" pitchFamily="18" charset="0"/>
                            </a:rPr>
                            <m:t>𝑒𝑙𝑒𝑐𝑡𝑟𝑜𝑠𝑡𝑎𝑡𝑖𝑐</m:t>
                          </m:r>
                        </m:sub>
                      </m:sSub>
                      <m:r>
                        <a:rPr lang="en-US" sz="3600" i="1">
                          <a:solidFill>
                            <a:srgbClr val="000000"/>
                          </a:solidFill>
                          <a:latin typeface="Cambria Math" panose="02040503050406030204" pitchFamily="18" charset="0"/>
                        </a:rPr>
                        <m:t>=</m:t>
                      </m:r>
                      <m:nary>
                        <m:naryPr>
                          <m:chr m:val="∑"/>
                          <m:supHide m:val="on"/>
                          <m:ctrlPr>
                            <a:rPr lang="en-US" sz="3600" i="1">
                              <a:solidFill>
                                <a:srgbClr val="000000"/>
                              </a:solidFill>
                              <a:latin typeface="Cambria Math" panose="02040503050406030204" pitchFamily="18" charset="0"/>
                            </a:rPr>
                          </m:ctrlPr>
                        </m:naryPr>
                        <m:sub>
                          <m:eqArr>
                            <m:eqArrPr>
                              <m:ctrlPr>
                                <a:rPr lang="en-US" sz="3600" i="1">
                                  <a:solidFill>
                                    <a:srgbClr val="000000"/>
                                  </a:solidFill>
                                  <a:latin typeface="Cambria Math" panose="02040503050406030204" pitchFamily="18" charset="0"/>
                                </a:rPr>
                              </m:ctrlPr>
                            </m:eqArrPr>
                            <m:e>
                              <m:r>
                                <a:rPr lang="en-US" sz="3600" i="1">
                                  <a:solidFill>
                                    <a:srgbClr val="000000"/>
                                  </a:solidFill>
                                  <a:latin typeface="Cambria Math" panose="02040503050406030204" pitchFamily="18" charset="0"/>
                                </a:rPr>
                                <m:t>&amp;</m:t>
                              </m:r>
                              <m:r>
                                <a:rPr lang="en-US" sz="3600" i="1">
                                  <a:solidFill>
                                    <a:srgbClr val="000000"/>
                                  </a:solidFill>
                                  <a:latin typeface="Cambria Math" panose="02040503050406030204" pitchFamily="18" charset="0"/>
                                </a:rPr>
                                <m:t>𝑛𝑜𝑛𝑏𝑜𝑛𝑑𝑒𝑑</m:t>
                              </m:r>
                            </m:e>
                            <m:e>
                              <m:r>
                                <a:rPr lang="en-US" sz="3600" i="1">
                                  <a:solidFill>
                                    <a:srgbClr val="000000"/>
                                  </a:solidFill>
                                  <a:latin typeface="Cambria Math" panose="02040503050406030204" pitchFamily="18" charset="0"/>
                                </a:rPr>
                                <m:t>&amp;</m:t>
                              </m:r>
                              <m:r>
                                <a:rPr lang="en-US" sz="3600" i="1">
                                  <a:solidFill>
                                    <a:srgbClr val="000000"/>
                                  </a:solidFill>
                                  <a:latin typeface="Cambria Math" panose="02040503050406030204" pitchFamily="18" charset="0"/>
                                </a:rPr>
                                <m:t>𝑝𝑎𝑖𝑟𝑠</m:t>
                              </m:r>
                            </m:e>
                          </m:eqArr>
                        </m:sub>
                        <m:sup/>
                        <m:e>
                          <m:f>
                            <m:fPr>
                              <m:ctrlPr>
                                <a:rPr lang="en-US" sz="3600" i="1">
                                  <a:solidFill>
                                    <a:srgbClr val="000000"/>
                                  </a:solidFill>
                                  <a:latin typeface="Cambria Math" panose="02040503050406030204" pitchFamily="18" charset="0"/>
                                </a:rPr>
                              </m:ctrlPr>
                            </m:fPr>
                            <m:num>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𝑞</m:t>
                                  </m:r>
                                </m:e>
                                <m:sub>
                                  <m:r>
                                    <a:rPr lang="en-US" sz="3600" i="1">
                                      <a:solidFill>
                                        <a:srgbClr val="000000"/>
                                      </a:solidFill>
                                      <a:latin typeface="Cambria Math" panose="02040503050406030204" pitchFamily="18" charset="0"/>
                                    </a:rPr>
                                    <m:t>𝑖</m:t>
                                  </m:r>
                                </m:sub>
                              </m:sSub>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𝑞</m:t>
                                  </m:r>
                                </m:e>
                                <m:sub>
                                  <m:r>
                                    <a:rPr lang="en-US" sz="3600" i="1">
                                      <a:solidFill>
                                        <a:srgbClr val="000000"/>
                                      </a:solidFill>
                                      <a:latin typeface="Cambria Math" panose="02040503050406030204" pitchFamily="18" charset="0"/>
                                    </a:rPr>
                                    <m:t>𝑘</m:t>
                                  </m:r>
                                </m:sub>
                              </m:sSub>
                            </m:num>
                            <m:den>
                              <m:r>
                                <a:rPr lang="en-US" sz="3600" i="1">
                                  <a:solidFill>
                                    <a:srgbClr val="000000"/>
                                  </a:solidFill>
                                  <a:latin typeface="Cambria Math" panose="02040503050406030204" pitchFamily="18" charset="0"/>
                                </a:rPr>
                                <m:t>𝐷</m:t>
                              </m:r>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𝑟</m:t>
                                  </m:r>
                                </m:e>
                                <m:sub>
                                  <m:r>
                                    <a:rPr lang="en-US" sz="3600" i="1">
                                      <a:solidFill>
                                        <a:srgbClr val="000000"/>
                                      </a:solidFill>
                                      <a:latin typeface="Cambria Math" panose="02040503050406030204" pitchFamily="18" charset="0"/>
                                    </a:rPr>
                                    <m:t>𝑖𝑘</m:t>
                                  </m:r>
                                </m:sub>
                              </m:sSub>
                            </m:den>
                          </m:f>
                        </m:e>
                      </m:nary>
                    </m:oMath>
                  </m:oMathPara>
                </a14:m>
                <a:endParaRPr lang="en-US" sz="3600" dirty="0"/>
              </a:p>
            </p:txBody>
          </p:sp>
        </mc:Choice>
        <mc:Fallback xmlns="">
          <p:sp>
            <p:nvSpPr>
              <p:cNvPr id="20484" name="Object 4">
                <a:extLst>
                  <a:ext uri="{FF2B5EF4-FFF2-40B4-BE49-F238E27FC236}">
                    <a16:creationId xmlns:a16="http://schemas.microsoft.com/office/drawing/2014/main" id="{00971D5D-0B95-4BDB-908C-9D4C377FF44F}"/>
                  </a:ext>
                </a:extLst>
              </p:cNvPr>
              <p:cNvSpPr txBox="1">
                <a:spLocks noRot="1" noChangeAspect="1" noMove="1" noResize="1" noEditPoints="1" noAdjustHandles="1" noChangeArrowheads="1" noChangeShapeType="1" noTextEdit="1"/>
              </p:cNvSpPr>
              <p:nvPr/>
            </p:nvSpPr>
            <p:spPr bwMode="auto">
              <a:xfrm>
                <a:off x="1890713" y="3058145"/>
                <a:ext cx="4752975" cy="17303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C6851332-8334-47E9-9862-1C141A85E040}"/>
                  </a:ext>
                </a:extLst>
              </p:cNvPr>
              <p:cNvSpPr txBox="1"/>
              <p:nvPr/>
            </p:nvSpPr>
            <p:spPr bwMode="auto">
              <a:xfrm>
                <a:off x="2396987" y="5253175"/>
                <a:ext cx="3581400" cy="203041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3600" i="1">
                          <a:solidFill>
                            <a:srgbClr val="000000"/>
                          </a:solidFill>
                          <a:latin typeface="Cambria Math" panose="02040503050406030204" pitchFamily="18" charset="0"/>
                        </a:rPr>
                        <m:t>𝐹</m:t>
                      </m:r>
                      <m:r>
                        <a:rPr lang="en-US" sz="3600" i="1">
                          <a:solidFill>
                            <a:srgbClr val="000000"/>
                          </a:solidFill>
                          <a:latin typeface="Cambria Math" panose="02040503050406030204" pitchFamily="18" charset="0"/>
                        </a:rPr>
                        <m:t>=</m:t>
                      </m:r>
                      <m:f>
                        <m:fPr>
                          <m:ctrlPr>
                            <a:rPr lang="en-US" sz="3600" i="1">
                              <a:solidFill>
                                <a:srgbClr val="000000"/>
                              </a:solidFill>
                              <a:latin typeface="Cambria Math" panose="02040503050406030204" pitchFamily="18" charset="0"/>
                            </a:rPr>
                          </m:ctrlPr>
                        </m:fPr>
                        <m:num>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𝑞</m:t>
                              </m:r>
                            </m:e>
                            <m:sub>
                              <m:r>
                                <a:rPr lang="en-US" sz="3600" i="1">
                                  <a:solidFill>
                                    <a:srgbClr val="000000"/>
                                  </a:solidFill>
                                  <a:latin typeface="Cambria Math" panose="02040503050406030204" pitchFamily="18" charset="0"/>
                                </a:rPr>
                                <m:t>1</m:t>
                              </m:r>
                            </m:sub>
                          </m:sSub>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𝑞</m:t>
                              </m:r>
                            </m:e>
                            <m:sub>
                              <m:r>
                                <a:rPr lang="en-US" sz="3600" i="1">
                                  <a:solidFill>
                                    <a:srgbClr val="000000"/>
                                  </a:solidFill>
                                  <a:latin typeface="Cambria Math" panose="02040503050406030204" pitchFamily="18" charset="0"/>
                                </a:rPr>
                                <m:t>2</m:t>
                              </m:r>
                            </m:sub>
                          </m:sSub>
                        </m:num>
                        <m:den>
                          <m:r>
                            <a:rPr lang="en-US" sz="3600" i="1">
                              <a:solidFill>
                                <a:srgbClr val="000000"/>
                              </a:solidFill>
                              <a:latin typeface="Cambria Math" panose="02040503050406030204" pitchFamily="18" charset="0"/>
                            </a:rPr>
                            <m:t>4</m:t>
                          </m:r>
                          <m:r>
                            <a:rPr lang="en-US" sz="3600" i="1">
                              <a:solidFill>
                                <a:srgbClr val="000000"/>
                              </a:solidFill>
                              <a:latin typeface="Cambria Math" panose="02040503050406030204" pitchFamily="18" charset="0"/>
                            </a:rPr>
                            <m:t>𝜋</m:t>
                          </m:r>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𝜀</m:t>
                              </m:r>
                            </m:e>
                            <m:sub>
                              <m:r>
                                <a:rPr lang="en-US" sz="3600" i="1">
                                  <a:solidFill>
                                    <a:srgbClr val="000000"/>
                                  </a:solidFill>
                                  <a:latin typeface="Cambria Math" panose="02040503050406030204" pitchFamily="18" charset="0"/>
                                </a:rPr>
                                <m:t>0</m:t>
                              </m:r>
                            </m:sub>
                          </m:sSub>
                          <m:sSup>
                            <m:sSupPr>
                              <m:ctrlPr>
                                <a:rPr lang="en-US" sz="3600" i="1">
                                  <a:solidFill>
                                    <a:srgbClr val="000000"/>
                                  </a:solidFill>
                                  <a:latin typeface="Cambria Math" panose="02040503050406030204" pitchFamily="18" charset="0"/>
                                </a:rPr>
                              </m:ctrlPr>
                            </m:sSupPr>
                            <m:e>
                              <m:r>
                                <a:rPr lang="en-US" sz="3600" i="1">
                                  <a:solidFill>
                                    <a:srgbClr val="000000"/>
                                  </a:solidFill>
                                  <a:latin typeface="Cambria Math" panose="02040503050406030204" pitchFamily="18" charset="0"/>
                                </a:rPr>
                                <m:t>𝑟</m:t>
                              </m:r>
                            </m:e>
                            <m:sup>
                              <m:r>
                                <a:rPr lang="en-US" sz="3600" i="1">
                                  <a:solidFill>
                                    <a:srgbClr val="000000"/>
                                  </a:solidFill>
                                  <a:latin typeface="Cambria Math" panose="02040503050406030204" pitchFamily="18" charset="0"/>
                                </a:rPr>
                                <m:t>2</m:t>
                              </m:r>
                            </m:sup>
                          </m:sSup>
                        </m:den>
                      </m:f>
                    </m:oMath>
                  </m:oMathPara>
                </a14:m>
                <a:endParaRPr lang="en-US" sz="3600" dirty="0"/>
              </a:p>
            </p:txBody>
          </p:sp>
        </mc:Choice>
        <mc:Fallback xmlns="">
          <p:sp>
            <p:nvSpPr>
              <p:cNvPr id="6" name="Object 5">
                <a:extLst>
                  <a:ext uri="{FF2B5EF4-FFF2-40B4-BE49-F238E27FC236}">
                    <a16:creationId xmlns:a16="http://schemas.microsoft.com/office/drawing/2014/main" id="{C6851332-8334-47E9-9862-1C141A85E040}"/>
                  </a:ext>
                </a:extLst>
              </p:cNvPr>
              <p:cNvSpPr txBox="1">
                <a:spLocks noRot="1" noChangeAspect="1" noMove="1" noResize="1" noEditPoints="1" noAdjustHandles="1" noChangeArrowheads="1" noChangeShapeType="1" noTextEdit="1"/>
              </p:cNvSpPr>
              <p:nvPr/>
            </p:nvSpPr>
            <p:spPr bwMode="auto">
              <a:xfrm>
                <a:off x="2396987" y="5253175"/>
                <a:ext cx="3581400" cy="2030412"/>
              </a:xfrm>
              <a:prstGeom prst="rect">
                <a:avLst/>
              </a:prstGeom>
              <a:blipFill>
                <a:blip r:embed="rId4"/>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18260349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5358296-90CE-4520-8746-F7B6AB42C7C6}"/>
              </a:ext>
            </a:extLst>
          </p:cNvPr>
          <p:cNvSpPr>
            <a:spLocks noGrp="1" noChangeArrowheads="1"/>
          </p:cNvSpPr>
          <p:nvPr>
            <p:ph type="title"/>
          </p:nvPr>
        </p:nvSpPr>
        <p:spPr/>
        <p:txBody>
          <a:bodyPr/>
          <a:lstStyle/>
          <a:p>
            <a:r>
              <a:rPr lang="en-US" altLang="en-US" dirty="0">
                <a:latin typeface="Modern Love" panose="04090805081005020601" pitchFamily="82" charset="0"/>
              </a:rPr>
              <a:t>The van der Waals Potential</a:t>
            </a:r>
          </a:p>
        </p:txBody>
      </p:sp>
      <p:sp>
        <p:nvSpPr>
          <p:cNvPr id="16387" name="Rectangle 3">
            <a:extLst>
              <a:ext uri="{FF2B5EF4-FFF2-40B4-BE49-F238E27FC236}">
                <a16:creationId xmlns:a16="http://schemas.microsoft.com/office/drawing/2014/main" id="{C285F7C4-E50C-43B8-A1BF-EB6D4D83F347}"/>
              </a:ext>
            </a:extLst>
          </p:cNvPr>
          <p:cNvSpPr>
            <a:spLocks noGrp="1" noChangeArrowheads="1"/>
          </p:cNvSpPr>
          <p:nvPr>
            <p:ph type="body" idx="1"/>
          </p:nvPr>
        </p:nvSpPr>
        <p:spPr/>
        <p:txBody>
          <a:bodyPr/>
          <a:lstStyle/>
          <a:p>
            <a:r>
              <a:rPr lang="en-US" altLang="en-US" dirty="0">
                <a:latin typeface="Century Schoolbook" panose="02040604050505020304" pitchFamily="18" charset="0"/>
              </a:rPr>
              <a:t>Atoms with no net electrostatic charge will still tend to attract each other at short distances, as long as they don’t get too close.</a:t>
            </a:r>
          </a:p>
          <a:p>
            <a:r>
              <a:rPr lang="en-US" altLang="en-US" dirty="0">
                <a:latin typeface="Century Schoolbook" panose="02040604050505020304" pitchFamily="18" charset="0"/>
              </a:rPr>
              <a:t>Once the atoms are close enough to have overlapping electron clouds, they will repel each other with astounding force</a:t>
            </a:r>
          </a:p>
          <a:p>
            <a:pPr>
              <a:buFontTx/>
              <a:buNone/>
            </a:pPr>
            <a:endParaRPr lang="en-US"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AD657-7902-4643-A575-02B8D394FB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C4580C-EE26-4577-8AC9-3B3C980F02A4}"/>
              </a:ext>
            </a:extLst>
          </p:cNvPr>
          <p:cNvSpPr>
            <a:spLocks noGrp="1"/>
          </p:cNvSpPr>
          <p:nvPr>
            <p:ph idx="1"/>
          </p:nvPr>
        </p:nvSpPr>
        <p:spPr/>
        <p:txBody>
          <a:bodyPr/>
          <a:lstStyle/>
          <a:p>
            <a:endParaRPr lang="en-IN"/>
          </a:p>
        </p:txBody>
      </p:sp>
      <p:pic>
        <p:nvPicPr>
          <p:cNvPr id="68610" name="Picture 2" descr="Atoms In Motion - Atoms In Motion - Chapter 5 - MD">
            <a:extLst>
              <a:ext uri="{FF2B5EF4-FFF2-40B4-BE49-F238E27FC236}">
                <a16:creationId xmlns:a16="http://schemas.microsoft.com/office/drawing/2014/main" id="{B46EBC38-B5D0-40FA-BF23-A0A835338D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643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9435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4020643-E8FF-460B-8206-12AF2D4EE9BF}"/>
              </a:ext>
            </a:extLst>
          </p:cNvPr>
          <p:cNvSpPr>
            <a:spLocks noGrp="1" noChangeArrowheads="1"/>
          </p:cNvSpPr>
          <p:nvPr>
            <p:ph type="title"/>
          </p:nvPr>
        </p:nvSpPr>
        <p:spPr/>
        <p:txBody>
          <a:bodyPr/>
          <a:lstStyle/>
          <a:p>
            <a:r>
              <a:rPr lang="en-US" altLang="en-US" dirty="0">
                <a:latin typeface="Modern Love" panose="04090805081005020601" pitchFamily="82" charset="0"/>
              </a:rPr>
              <a:t>Bonded Atoms</a:t>
            </a:r>
          </a:p>
        </p:txBody>
      </p:sp>
      <p:pic>
        <p:nvPicPr>
          <p:cNvPr id="47108" name="Picture 4">
            <a:extLst>
              <a:ext uri="{FF2B5EF4-FFF2-40B4-BE49-F238E27FC236}">
                <a16:creationId xmlns:a16="http://schemas.microsoft.com/office/drawing/2014/main" id="{CBFAC0F8-B14B-46E9-925B-FFA8DCD6B23E}"/>
              </a:ext>
            </a:extLst>
          </p:cNvPr>
          <p:cNvPicPr>
            <a:picLocks noGrp="1" noChangeAspect="1" noChangeArrowheads="1" noCrop="1"/>
          </p:cNvPicPr>
          <p:nvPr>
            <p:ph sz="half" idx="1"/>
          </p:nvPr>
        </p:nvPicPr>
        <p:blipFill>
          <a:blip r:embed="rId2" cstate="email">
            <a:lum bright="-20000"/>
            <a:extLst>
              <a:ext uri="{28A0092B-C50C-407E-A947-70E740481C1C}">
                <a14:useLocalDpi xmlns:a14="http://schemas.microsoft.com/office/drawing/2010/main" val="0"/>
              </a:ext>
            </a:extLst>
          </a:blip>
          <a:srcRect/>
          <a:stretch>
            <a:fillRect/>
          </a:stretch>
        </p:blipFill>
        <p:spPr>
          <a:xfrm>
            <a:off x="5105400" y="2133600"/>
            <a:ext cx="2895600" cy="2895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110" name="Rectangle 6">
            <a:extLst>
              <a:ext uri="{FF2B5EF4-FFF2-40B4-BE49-F238E27FC236}">
                <a16:creationId xmlns:a16="http://schemas.microsoft.com/office/drawing/2014/main" id="{E0F14A4F-F84E-44DE-B7BE-4A5D63638717}"/>
              </a:ext>
            </a:extLst>
          </p:cNvPr>
          <p:cNvSpPr>
            <a:spLocks noChangeArrowheads="1"/>
          </p:cNvSpPr>
          <p:nvPr/>
        </p:nvSpPr>
        <p:spPr bwMode="auto">
          <a:xfrm>
            <a:off x="609600" y="1676400"/>
            <a:ext cx="441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bg1"/>
                </a:solidFill>
                <a:latin typeface="Arial" panose="020B0604020202020204" pitchFamily="34" charset="0"/>
              </a:defRPr>
            </a:lvl1pPr>
            <a:lvl2pPr marL="742950" indent="-285750">
              <a:spcBef>
                <a:spcPct val="20000"/>
              </a:spcBef>
              <a:buChar char="–"/>
              <a:defRPr sz="2400">
                <a:solidFill>
                  <a:schemeClr val="bg1"/>
                </a:solidFill>
                <a:latin typeface="Arial" panose="020B0604020202020204" pitchFamily="34" charset="0"/>
              </a:defRPr>
            </a:lvl2pPr>
            <a:lvl3pPr marL="1143000" indent="-228600">
              <a:spcBef>
                <a:spcPct val="20000"/>
              </a:spcBef>
              <a:buChar char="•"/>
              <a:defRPr sz="2000">
                <a:solidFill>
                  <a:schemeClr val="bg1"/>
                </a:solidFill>
                <a:latin typeface="Arial" panose="020B0604020202020204" pitchFamily="34" charset="0"/>
              </a:defRPr>
            </a:lvl3pPr>
            <a:lvl4pPr marL="1600200" indent="-228600">
              <a:spcBef>
                <a:spcPct val="20000"/>
              </a:spcBef>
              <a:buChar char="–"/>
              <a:defRPr>
                <a:solidFill>
                  <a:schemeClr val="bg1"/>
                </a:solidFill>
                <a:latin typeface="Arial" panose="020B0604020202020204" pitchFamily="34" charset="0"/>
              </a:defRPr>
            </a:lvl4pPr>
            <a:lvl5pPr marL="2057400" indent="-228600">
              <a:spcBef>
                <a:spcPct val="20000"/>
              </a:spcBef>
              <a:buChar char="»"/>
              <a:defRPr>
                <a:solidFill>
                  <a:schemeClr val="bg1"/>
                </a:solidFill>
                <a:latin typeface="Arial" panose="020B0604020202020204" pitchFamily="34" charset="0"/>
              </a:defRPr>
            </a:lvl5pPr>
            <a:lvl6pPr marL="2514600" indent="-228600" fontAlgn="base">
              <a:spcBef>
                <a:spcPct val="20000"/>
              </a:spcBef>
              <a:spcAft>
                <a:spcPct val="0"/>
              </a:spcAft>
              <a:buChar char="»"/>
              <a:defRPr>
                <a:solidFill>
                  <a:schemeClr val="bg1"/>
                </a:solidFill>
                <a:latin typeface="Arial" panose="020B0604020202020204" pitchFamily="34" charset="0"/>
              </a:defRPr>
            </a:lvl6pPr>
            <a:lvl7pPr marL="2971800" indent="-228600" fontAlgn="base">
              <a:spcBef>
                <a:spcPct val="20000"/>
              </a:spcBef>
              <a:spcAft>
                <a:spcPct val="0"/>
              </a:spcAft>
              <a:buChar char="»"/>
              <a:defRPr>
                <a:solidFill>
                  <a:schemeClr val="bg1"/>
                </a:solidFill>
                <a:latin typeface="Arial" panose="020B0604020202020204" pitchFamily="34" charset="0"/>
              </a:defRPr>
            </a:lvl7pPr>
            <a:lvl8pPr marL="3429000" indent="-228600" fontAlgn="base">
              <a:spcBef>
                <a:spcPct val="20000"/>
              </a:spcBef>
              <a:spcAft>
                <a:spcPct val="0"/>
              </a:spcAft>
              <a:buChar char="»"/>
              <a:defRPr>
                <a:solidFill>
                  <a:schemeClr val="bg1"/>
                </a:solidFill>
                <a:latin typeface="Arial" panose="020B0604020202020204" pitchFamily="34" charset="0"/>
              </a:defRPr>
            </a:lvl8pPr>
            <a:lvl9pPr marL="3886200" indent="-228600" fontAlgn="base">
              <a:spcBef>
                <a:spcPct val="20000"/>
              </a:spcBef>
              <a:spcAft>
                <a:spcPct val="0"/>
              </a:spcAft>
              <a:buChar char="»"/>
              <a:defRPr>
                <a:solidFill>
                  <a:schemeClr val="bg1"/>
                </a:solidFill>
                <a:latin typeface="Arial" panose="020B0604020202020204" pitchFamily="34" charset="0"/>
              </a:defRPr>
            </a:lvl9pPr>
          </a:lstStyle>
          <a:p>
            <a:pPr>
              <a:buFontTx/>
              <a:buNone/>
            </a:pPr>
            <a:r>
              <a:rPr lang="en-US" altLang="en-US" dirty="0">
                <a:solidFill>
                  <a:schemeClr val="tx1"/>
                </a:solidFill>
                <a:latin typeface="Century Schoolbook" panose="02040604050505020304" pitchFamily="18" charset="0"/>
              </a:rPr>
              <a:t>There are three types of interaction between bonded atoms:</a:t>
            </a:r>
          </a:p>
          <a:p>
            <a:pPr>
              <a:buFontTx/>
              <a:buNone/>
            </a:pPr>
            <a:endParaRPr lang="en-US" altLang="en-US" dirty="0">
              <a:solidFill>
                <a:schemeClr val="tx1"/>
              </a:solidFill>
              <a:latin typeface="Century Schoolbook" panose="02040604050505020304" pitchFamily="18" charset="0"/>
            </a:endParaRPr>
          </a:p>
          <a:p>
            <a:r>
              <a:rPr lang="en-US" altLang="en-US" dirty="0">
                <a:solidFill>
                  <a:schemeClr val="tx1"/>
                </a:solidFill>
                <a:latin typeface="Century Schoolbook" panose="02040604050505020304" pitchFamily="18" charset="0"/>
              </a:rPr>
              <a:t>Stretching along the bond</a:t>
            </a:r>
          </a:p>
          <a:p>
            <a:r>
              <a:rPr lang="en-US" altLang="en-US" dirty="0">
                <a:solidFill>
                  <a:schemeClr val="tx1"/>
                </a:solidFill>
                <a:latin typeface="Century Schoolbook" panose="02040604050505020304" pitchFamily="18" charset="0"/>
              </a:rPr>
              <a:t>Bending between bonds</a:t>
            </a:r>
          </a:p>
          <a:p>
            <a:r>
              <a:rPr lang="en-US" altLang="en-US" dirty="0">
                <a:solidFill>
                  <a:schemeClr val="tx1"/>
                </a:solidFill>
                <a:latin typeface="Century Schoolbook" panose="02040604050505020304" pitchFamily="18" charset="0"/>
              </a:rPr>
              <a:t>Rotating around bonds</a:t>
            </a:r>
          </a:p>
        </p:txBody>
      </p:sp>
      <p:sp>
        <p:nvSpPr>
          <p:cNvPr id="47117" name="Rectangle 13">
            <a:extLst>
              <a:ext uri="{FF2B5EF4-FFF2-40B4-BE49-F238E27FC236}">
                <a16:creationId xmlns:a16="http://schemas.microsoft.com/office/drawing/2014/main" id="{E934EA18-C1A3-48F8-8569-63F6306F3BBB}"/>
              </a:ext>
            </a:extLst>
          </p:cNvPr>
          <p:cNvSpPr>
            <a:spLocks noChangeArrowheads="1"/>
          </p:cNvSpPr>
          <p:nvPr/>
        </p:nvSpPr>
        <p:spPr bwMode="auto">
          <a:xfrm>
            <a:off x="4305300" y="6169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mc:AlternateContent xmlns:mc="http://schemas.openxmlformats.org/markup-compatibility/2006" xmlns:a14="http://schemas.microsoft.com/office/drawing/2010/main">
        <mc:Choice Requires="a14">
          <p:sp>
            <p:nvSpPr>
              <p:cNvPr id="47116" name="Object 12">
                <a:extLst>
                  <a:ext uri="{FF2B5EF4-FFF2-40B4-BE49-F238E27FC236}">
                    <a16:creationId xmlns:a16="http://schemas.microsoft.com/office/drawing/2014/main" id="{5ACCEEDD-6734-4D52-91ED-E61B0D1A0D52}"/>
                  </a:ext>
                </a:extLst>
              </p:cNvPr>
              <p:cNvSpPr txBox="1"/>
              <p:nvPr/>
            </p:nvSpPr>
            <p:spPr bwMode="auto">
              <a:xfrm>
                <a:off x="-79513" y="6052928"/>
                <a:ext cx="9899374" cy="610084"/>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𝑏𝑜𝑛𝑑𝑒𝑑</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𝑏𝑜𝑛𝑑</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𝑠𝑡𝑟𝑒𝑡𝑐h</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𝑎𝑛𝑔𝑙𝑒</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𝑏𝑒𝑛𝑑</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𝑟𝑜𝑡𝑎𝑡𝑒</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𝑎𝑙𝑜𝑛𝑔</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𝑏𝑜𝑛𝑑</m:t>
                          </m:r>
                        </m:sub>
                      </m:sSub>
                    </m:oMath>
                  </m:oMathPara>
                </a14:m>
                <a:endParaRPr lang="en-US" sz="2800" dirty="0">
                  <a:latin typeface="Century Schoolbook" panose="02040604050505020304" pitchFamily="18" charset="0"/>
                </a:endParaRPr>
              </a:p>
            </p:txBody>
          </p:sp>
        </mc:Choice>
        <mc:Fallback xmlns="">
          <p:sp>
            <p:nvSpPr>
              <p:cNvPr id="47116" name="Object 12">
                <a:extLst>
                  <a:ext uri="{FF2B5EF4-FFF2-40B4-BE49-F238E27FC236}">
                    <a16:creationId xmlns:a16="http://schemas.microsoft.com/office/drawing/2014/main" id="{5ACCEEDD-6734-4D52-91ED-E61B0D1A0D52}"/>
                  </a:ext>
                </a:extLst>
              </p:cNvPr>
              <p:cNvSpPr txBox="1">
                <a:spLocks noRot="1" noChangeAspect="1" noMove="1" noResize="1" noEditPoints="1" noAdjustHandles="1" noChangeArrowheads="1" noChangeShapeType="1" noTextEdit="1"/>
              </p:cNvSpPr>
              <p:nvPr/>
            </p:nvSpPr>
            <p:spPr bwMode="auto">
              <a:xfrm>
                <a:off x="-79513" y="6052928"/>
                <a:ext cx="9899374" cy="610084"/>
              </a:xfrm>
              <a:prstGeom prst="rect">
                <a:avLst/>
              </a:prstGeom>
              <a:blipFill>
                <a:blip r:embed="rId3"/>
                <a:stretch>
                  <a:fillRect/>
                </a:stretch>
              </a:blipFill>
            </p:spPr>
            <p:txBody>
              <a:bodyPr/>
              <a:lstStyle/>
              <a:p>
                <a:r>
                  <a:rPr 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9E78F4FA-F4A1-42F8-9C9A-CC61A1FA7F04}"/>
              </a:ext>
            </a:extLst>
          </p:cNvPr>
          <p:cNvSpPr>
            <a:spLocks noGrp="1" noChangeArrowheads="1"/>
          </p:cNvSpPr>
          <p:nvPr>
            <p:ph type="title"/>
          </p:nvPr>
        </p:nvSpPr>
        <p:spPr/>
        <p:txBody>
          <a:bodyPr/>
          <a:lstStyle/>
          <a:p>
            <a:r>
              <a:rPr lang="en-US" altLang="en-US" dirty="0">
                <a:latin typeface="Modern Love" panose="04090805081005020601" pitchFamily="82" charset="0"/>
              </a:rPr>
              <a:t>Bond Length Potentials</a:t>
            </a:r>
          </a:p>
        </p:txBody>
      </p:sp>
      <p:sp>
        <p:nvSpPr>
          <p:cNvPr id="51204" name="Rectangle 4">
            <a:extLst>
              <a:ext uri="{FF2B5EF4-FFF2-40B4-BE49-F238E27FC236}">
                <a16:creationId xmlns:a16="http://schemas.microsoft.com/office/drawing/2014/main" id="{88BE524F-4E10-47B6-8C99-94F202C7CA51}"/>
              </a:ext>
            </a:extLst>
          </p:cNvPr>
          <p:cNvSpPr>
            <a:spLocks noChangeArrowheads="1"/>
          </p:cNvSpPr>
          <p:nvPr/>
        </p:nvSpPr>
        <p:spPr bwMode="auto">
          <a:xfrm>
            <a:off x="-113287" y="1500811"/>
            <a:ext cx="5162365" cy="3902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bg1"/>
                </a:solidFill>
                <a:latin typeface="Arial" panose="020B0604020202020204" pitchFamily="34" charset="0"/>
              </a:defRPr>
            </a:lvl1pPr>
            <a:lvl2pPr marL="742950" indent="-285750">
              <a:spcBef>
                <a:spcPct val="20000"/>
              </a:spcBef>
              <a:buChar char="–"/>
              <a:defRPr sz="2400">
                <a:solidFill>
                  <a:schemeClr val="bg1"/>
                </a:solidFill>
                <a:latin typeface="Arial" panose="020B0604020202020204" pitchFamily="34" charset="0"/>
              </a:defRPr>
            </a:lvl2pPr>
            <a:lvl3pPr marL="1143000" indent="-228600">
              <a:spcBef>
                <a:spcPct val="20000"/>
              </a:spcBef>
              <a:buChar char="•"/>
              <a:defRPr sz="2000">
                <a:solidFill>
                  <a:schemeClr val="bg1"/>
                </a:solidFill>
                <a:latin typeface="Arial" panose="020B0604020202020204" pitchFamily="34" charset="0"/>
              </a:defRPr>
            </a:lvl3pPr>
            <a:lvl4pPr marL="1600200" indent="-228600">
              <a:spcBef>
                <a:spcPct val="20000"/>
              </a:spcBef>
              <a:buChar char="–"/>
              <a:defRPr>
                <a:solidFill>
                  <a:schemeClr val="bg1"/>
                </a:solidFill>
                <a:latin typeface="Arial" panose="020B0604020202020204" pitchFamily="34" charset="0"/>
              </a:defRPr>
            </a:lvl4pPr>
            <a:lvl5pPr marL="2057400" indent="-228600">
              <a:spcBef>
                <a:spcPct val="20000"/>
              </a:spcBef>
              <a:buChar char="»"/>
              <a:defRPr>
                <a:solidFill>
                  <a:schemeClr val="bg1"/>
                </a:solidFill>
                <a:latin typeface="Arial" panose="020B0604020202020204" pitchFamily="34" charset="0"/>
              </a:defRPr>
            </a:lvl5pPr>
            <a:lvl6pPr marL="2514600" indent="-228600" fontAlgn="base">
              <a:spcBef>
                <a:spcPct val="20000"/>
              </a:spcBef>
              <a:spcAft>
                <a:spcPct val="0"/>
              </a:spcAft>
              <a:buChar char="»"/>
              <a:defRPr>
                <a:solidFill>
                  <a:schemeClr val="bg1"/>
                </a:solidFill>
                <a:latin typeface="Arial" panose="020B0604020202020204" pitchFamily="34" charset="0"/>
              </a:defRPr>
            </a:lvl6pPr>
            <a:lvl7pPr marL="2971800" indent="-228600" fontAlgn="base">
              <a:spcBef>
                <a:spcPct val="20000"/>
              </a:spcBef>
              <a:spcAft>
                <a:spcPct val="0"/>
              </a:spcAft>
              <a:buChar char="»"/>
              <a:defRPr>
                <a:solidFill>
                  <a:schemeClr val="bg1"/>
                </a:solidFill>
                <a:latin typeface="Arial" panose="020B0604020202020204" pitchFamily="34" charset="0"/>
              </a:defRPr>
            </a:lvl7pPr>
            <a:lvl8pPr marL="3429000" indent="-228600" fontAlgn="base">
              <a:spcBef>
                <a:spcPct val="20000"/>
              </a:spcBef>
              <a:spcAft>
                <a:spcPct val="0"/>
              </a:spcAft>
              <a:buChar char="»"/>
              <a:defRPr>
                <a:solidFill>
                  <a:schemeClr val="bg1"/>
                </a:solidFill>
                <a:latin typeface="Arial" panose="020B0604020202020204" pitchFamily="34" charset="0"/>
              </a:defRPr>
            </a:lvl8pPr>
            <a:lvl9pPr marL="3886200" indent="-228600" fontAlgn="base">
              <a:spcBef>
                <a:spcPct val="20000"/>
              </a:spcBef>
              <a:spcAft>
                <a:spcPct val="0"/>
              </a:spcAft>
              <a:buChar char="»"/>
              <a:defRPr>
                <a:solidFill>
                  <a:schemeClr val="bg1"/>
                </a:solidFill>
                <a:latin typeface="Arial" panose="020B0604020202020204" pitchFamily="34" charset="0"/>
              </a:defRPr>
            </a:lvl9pPr>
          </a:lstStyle>
          <a:p>
            <a:pPr marL="0" indent="0">
              <a:buFontTx/>
              <a:buNone/>
            </a:pPr>
            <a:r>
              <a:rPr lang="en-US" altLang="en-US" dirty="0">
                <a:solidFill>
                  <a:schemeClr val="tx1"/>
                </a:solidFill>
                <a:latin typeface="Century Schoolbook" panose="02040604050505020304" pitchFamily="18" charset="0"/>
              </a:rPr>
              <a:t>Both the spring constant and the ideal bond length are dependent on the atoms involved.</a:t>
            </a:r>
          </a:p>
        </p:txBody>
      </p:sp>
      <p:pic>
        <p:nvPicPr>
          <p:cNvPr id="51206" name="Picture 6">
            <a:extLst>
              <a:ext uri="{FF2B5EF4-FFF2-40B4-BE49-F238E27FC236}">
                <a16:creationId xmlns:a16="http://schemas.microsoft.com/office/drawing/2014/main" id="{F73DD4EE-D4DD-4143-A270-AFBF3220B888}"/>
              </a:ext>
            </a:extLst>
          </p:cNvPr>
          <p:cNvPicPr>
            <a:picLocks noGrp="1" noChangeAspect="1" noChangeArrowheads="1" noCrop="1"/>
          </p:cNvPicPr>
          <p:nvPr>
            <p:ph sz="quarter" idx="3"/>
          </p:nvPr>
        </p:nvPicPr>
        <p:blipFill>
          <a:blip r:embed="rId2" cstate="email">
            <a:lum bright="-20000"/>
            <a:extLst>
              <a:ext uri="{28A0092B-C50C-407E-A947-70E740481C1C}">
                <a14:useLocalDpi xmlns:a14="http://schemas.microsoft.com/office/drawing/2010/main" val="0"/>
              </a:ext>
            </a:extLst>
          </a:blip>
          <a:srcRect/>
          <a:stretch>
            <a:fillRect/>
          </a:stretch>
        </p:blipFill>
        <p:spPr>
          <a:xfrm>
            <a:off x="5105400" y="2133600"/>
            <a:ext cx="2895600" cy="2889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11" name="Rectangle 11">
            <a:extLst>
              <a:ext uri="{FF2B5EF4-FFF2-40B4-BE49-F238E27FC236}">
                <a16:creationId xmlns:a16="http://schemas.microsoft.com/office/drawing/2014/main" id="{487111E8-62FA-4165-93E0-954F7AD561EF}"/>
              </a:ext>
            </a:extLst>
          </p:cNvPr>
          <p:cNvSpPr>
            <a:spLocks noChangeArrowheads="1"/>
          </p:cNvSpPr>
          <p:nvPr/>
        </p:nvSpPr>
        <p:spPr bwMode="auto">
          <a:xfrm>
            <a:off x="3355975" y="5856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mc:AlternateContent xmlns:mc="http://schemas.openxmlformats.org/markup-compatibility/2006" xmlns:a14="http://schemas.microsoft.com/office/drawing/2010/main">
        <mc:Choice Requires="a14">
          <p:sp>
            <p:nvSpPr>
              <p:cNvPr id="51210" name="Object 10">
                <a:extLst>
                  <a:ext uri="{FF2B5EF4-FFF2-40B4-BE49-F238E27FC236}">
                    <a16:creationId xmlns:a16="http://schemas.microsoft.com/office/drawing/2014/main" id="{CCFBFE93-21D3-4265-AD18-D68009357A56}"/>
                  </a:ext>
                </a:extLst>
              </p:cNvPr>
              <p:cNvSpPr txBox="1"/>
              <p:nvPr/>
            </p:nvSpPr>
            <p:spPr bwMode="auto">
              <a:xfrm>
                <a:off x="2355574" y="5631758"/>
                <a:ext cx="5797826" cy="1133475"/>
              </a:xfrm>
              <a:prstGeom prst="rect">
                <a:avLst/>
              </a:prstGeom>
              <a:noFill/>
            </p:spPr>
            <p:txBody>
              <a:bodyPr>
                <a:normAutofit fontScale="70000" lnSpcReduction="20000"/>
              </a:bodyPr>
              <a:lstStyle/>
              <a:p>
                <a:pPr/>
                <a14:m>
                  <m:oMathPara xmlns:m="http://schemas.openxmlformats.org/officeDocument/2006/math">
                    <m:oMathParaPr>
                      <m:jc m:val="left"/>
                    </m:oMathParaPr>
                    <m:oMath xmlns:m="http://schemas.openxmlformats.org/officeDocument/2006/math">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𝐸</m:t>
                          </m:r>
                        </m:e>
                        <m:sub>
                          <m:r>
                            <a:rPr lang="en-US" sz="3600" i="1">
                              <a:solidFill>
                                <a:srgbClr val="000000"/>
                              </a:solidFill>
                              <a:latin typeface="Cambria Math" panose="02040503050406030204" pitchFamily="18" charset="0"/>
                            </a:rPr>
                            <m:t>𝑏𝑜𝑛𝑑</m:t>
                          </m:r>
                          <m:r>
                            <a:rPr lang="en-US" sz="3600" i="1">
                              <a:solidFill>
                                <a:srgbClr val="000000"/>
                              </a:solidFill>
                              <a:latin typeface="Cambria Math" panose="02040503050406030204" pitchFamily="18" charset="0"/>
                            </a:rPr>
                            <m:t>−</m:t>
                          </m:r>
                          <m:r>
                            <a:rPr lang="en-US" sz="3600" i="1">
                              <a:solidFill>
                                <a:srgbClr val="000000"/>
                              </a:solidFill>
                              <a:latin typeface="Cambria Math" panose="02040503050406030204" pitchFamily="18" charset="0"/>
                            </a:rPr>
                            <m:t>𝑠𝑡𝑟𝑒𝑡𝑐h</m:t>
                          </m:r>
                        </m:sub>
                      </m:sSub>
                      <m:r>
                        <a:rPr lang="en-US" sz="3600" i="1">
                          <a:solidFill>
                            <a:srgbClr val="000000"/>
                          </a:solidFill>
                          <a:latin typeface="Cambria Math" panose="02040503050406030204" pitchFamily="18" charset="0"/>
                        </a:rPr>
                        <m:t>=</m:t>
                      </m:r>
                      <m:nary>
                        <m:naryPr>
                          <m:chr m:val="∑"/>
                          <m:supHide m:val="on"/>
                          <m:ctrlPr>
                            <a:rPr lang="en-US" sz="3600" i="1">
                              <a:solidFill>
                                <a:srgbClr val="000000"/>
                              </a:solidFill>
                              <a:latin typeface="Cambria Math" panose="02040503050406030204" pitchFamily="18" charset="0"/>
                            </a:rPr>
                          </m:ctrlPr>
                        </m:naryPr>
                        <m:sub>
                          <m:r>
                            <a:rPr lang="en-US" sz="3600" i="1">
                              <a:solidFill>
                                <a:srgbClr val="000000"/>
                              </a:solidFill>
                              <a:latin typeface="Cambria Math" panose="02040503050406030204" pitchFamily="18" charset="0"/>
                            </a:rPr>
                            <m:t>1,2</m:t>
                          </m:r>
                          <m:r>
                            <a:rPr lang="en-US" sz="3600" i="1">
                              <a:solidFill>
                                <a:srgbClr val="000000"/>
                              </a:solidFill>
                              <a:latin typeface="Cambria Math" panose="02040503050406030204" pitchFamily="18" charset="0"/>
                            </a:rPr>
                            <m:t>𝑝𝑎𝑖𝑟𝑠</m:t>
                          </m:r>
                        </m:sub>
                        <m:sup/>
                        <m:e>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𝐾</m:t>
                              </m:r>
                            </m:e>
                            <m:sub>
                              <m:r>
                                <a:rPr lang="en-US" sz="3600" i="1">
                                  <a:solidFill>
                                    <a:srgbClr val="000000"/>
                                  </a:solidFill>
                                  <a:latin typeface="Cambria Math" panose="02040503050406030204" pitchFamily="18" charset="0"/>
                                </a:rPr>
                                <m:t>𝑏</m:t>
                              </m:r>
                            </m:sub>
                          </m:sSub>
                          <m:r>
                            <a:rPr lang="en-US" sz="3600" i="1">
                              <a:solidFill>
                                <a:srgbClr val="000000"/>
                              </a:solidFill>
                              <a:latin typeface="Cambria Math" panose="02040503050406030204" pitchFamily="18" charset="0"/>
                            </a:rPr>
                            <m:t>(</m:t>
                          </m:r>
                          <m:r>
                            <a:rPr lang="en-US" sz="3600" i="1">
                              <a:solidFill>
                                <a:srgbClr val="000000"/>
                              </a:solidFill>
                              <a:latin typeface="Cambria Math" panose="02040503050406030204" pitchFamily="18" charset="0"/>
                            </a:rPr>
                            <m:t>𝑏</m:t>
                          </m:r>
                          <m:r>
                            <a:rPr lang="en-US" sz="3600" i="1">
                              <a:solidFill>
                                <a:srgbClr val="000000"/>
                              </a:solidFill>
                              <a:latin typeface="Cambria Math" panose="02040503050406030204" pitchFamily="18" charset="0"/>
                            </a:rPr>
                            <m:t>−</m:t>
                          </m:r>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𝑏</m:t>
                              </m:r>
                            </m:e>
                            <m:sub>
                              <m:r>
                                <a:rPr lang="en-US" sz="3600" i="1">
                                  <a:solidFill>
                                    <a:srgbClr val="000000"/>
                                  </a:solidFill>
                                  <a:latin typeface="Cambria Math" panose="02040503050406030204" pitchFamily="18" charset="0"/>
                                </a:rPr>
                                <m:t>0</m:t>
                              </m:r>
                            </m:sub>
                          </m:sSub>
                          <m:sSup>
                            <m:sSupPr>
                              <m:ctrlPr>
                                <a:rPr lang="en-US" sz="3600" i="1">
                                  <a:solidFill>
                                    <a:srgbClr val="000000"/>
                                  </a:solidFill>
                                  <a:latin typeface="Cambria Math" panose="02040503050406030204" pitchFamily="18" charset="0"/>
                                </a:rPr>
                              </m:ctrlPr>
                            </m:sSupPr>
                            <m:e>
                              <m:r>
                                <a:rPr lang="en-US" sz="3600" i="1">
                                  <a:solidFill>
                                    <a:srgbClr val="000000"/>
                                  </a:solidFill>
                                  <a:latin typeface="Cambria Math" panose="02040503050406030204" pitchFamily="18" charset="0"/>
                                </a:rPr>
                                <m:t>)</m:t>
                              </m:r>
                            </m:e>
                            <m:sup>
                              <m:r>
                                <a:rPr lang="en-US" sz="3600" i="1">
                                  <a:solidFill>
                                    <a:srgbClr val="000000"/>
                                  </a:solidFill>
                                  <a:latin typeface="Cambria Math" panose="02040503050406030204" pitchFamily="18" charset="0"/>
                                </a:rPr>
                                <m:t>2</m:t>
                              </m:r>
                            </m:sup>
                          </m:sSup>
                        </m:e>
                      </m:nary>
                    </m:oMath>
                  </m:oMathPara>
                </a14:m>
                <a:endParaRPr lang="en-US" sz="3600" dirty="0"/>
              </a:p>
            </p:txBody>
          </p:sp>
        </mc:Choice>
        <mc:Fallback xmlns="">
          <p:sp>
            <p:nvSpPr>
              <p:cNvPr id="51210" name="Object 10">
                <a:extLst>
                  <a:ext uri="{FF2B5EF4-FFF2-40B4-BE49-F238E27FC236}">
                    <a16:creationId xmlns:a16="http://schemas.microsoft.com/office/drawing/2014/main" id="{CCFBFE93-21D3-4265-AD18-D68009357A56}"/>
                  </a:ext>
                </a:extLst>
              </p:cNvPr>
              <p:cNvSpPr txBox="1">
                <a:spLocks noRot="1" noChangeAspect="1" noMove="1" noResize="1" noEditPoints="1" noAdjustHandles="1" noChangeArrowheads="1" noChangeShapeType="1" noTextEdit="1"/>
              </p:cNvSpPr>
              <p:nvPr/>
            </p:nvSpPr>
            <p:spPr bwMode="auto">
              <a:xfrm>
                <a:off x="2355574" y="5631758"/>
                <a:ext cx="5797826" cy="1133475"/>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EE562961-DEE3-40F4-A416-2C6711CD5187}"/>
              </a:ext>
            </a:extLst>
          </p:cNvPr>
          <p:cNvSpPr txBox="1"/>
          <p:nvPr/>
        </p:nvSpPr>
        <p:spPr>
          <a:xfrm>
            <a:off x="-28113" y="3328730"/>
            <a:ext cx="5028461" cy="2554545"/>
          </a:xfrm>
          <a:prstGeom prst="rect">
            <a:avLst/>
          </a:prstGeom>
          <a:noFill/>
        </p:spPr>
        <p:txBody>
          <a:bodyPr wrap="square">
            <a:spAutoFit/>
          </a:bodyPr>
          <a:lstStyle/>
          <a:p>
            <a:pPr algn="just"/>
            <a:r>
              <a:rPr lang="en-IN" sz="2000" b="0" i="0" dirty="0">
                <a:solidFill>
                  <a:srgbClr val="000000"/>
                </a:solidFill>
                <a:effectLst/>
                <a:latin typeface="Times New Roman" panose="02020603050405020304" pitchFamily="18" charset="0"/>
                <a:cs typeface="Times New Roman" panose="02020603050405020304" pitchFamily="18" charset="0"/>
              </a:rPr>
              <a:t>This is the approximation to the energy of a bond as a function of displacement from the ideal bond length, </a:t>
            </a:r>
            <a:r>
              <a:rPr lang="en-IN" sz="2000" b="0" i="1" dirty="0">
                <a:solidFill>
                  <a:srgbClr val="000000"/>
                </a:solidFill>
                <a:effectLst/>
                <a:latin typeface="Times New Roman" panose="02020603050405020304" pitchFamily="18" charset="0"/>
                <a:cs typeface="Times New Roman" panose="02020603050405020304" pitchFamily="18" charset="0"/>
              </a:rPr>
              <a:t>b</a:t>
            </a:r>
            <a:r>
              <a:rPr lang="en-IN" sz="2000" b="0" i="1" baseline="-25000" dirty="0">
                <a:solidFill>
                  <a:srgbClr val="000000"/>
                </a:solidFill>
                <a:effectLst/>
                <a:latin typeface="Times New Roman" panose="02020603050405020304" pitchFamily="18" charset="0"/>
                <a:cs typeface="Times New Roman" panose="02020603050405020304" pitchFamily="18" charset="0"/>
              </a:rPr>
              <a:t>0</a:t>
            </a:r>
            <a:r>
              <a:rPr lang="en-IN" sz="2000" b="0" i="1" dirty="0">
                <a:solidFill>
                  <a:srgbClr val="000000"/>
                </a:solidFill>
                <a:effectLst/>
                <a:latin typeface="Times New Roman" panose="02020603050405020304" pitchFamily="18" charset="0"/>
                <a:cs typeface="Times New Roman" panose="02020603050405020304" pitchFamily="18" charset="0"/>
              </a:rPr>
              <a:t>.</a:t>
            </a:r>
            <a:r>
              <a:rPr lang="en-IN" sz="2000" b="0" i="0" dirty="0">
                <a:solidFill>
                  <a:srgbClr val="000000"/>
                </a:solidFill>
                <a:effectLst/>
                <a:latin typeface="Times New Roman" panose="02020603050405020304" pitchFamily="18" charset="0"/>
                <a:cs typeface="Times New Roman" panose="02020603050405020304" pitchFamily="18" charset="0"/>
              </a:rPr>
              <a:t> The force constant, </a:t>
            </a:r>
            <a:r>
              <a:rPr lang="en-IN" sz="2000" b="0" i="1" dirty="0" err="1">
                <a:solidFill>
                  <a:srgbClr val="000000"/>
                </a:solidFill>
                <a:effectLst/>
                <a:latin typeface="Times New Roman" panose="02020603050405020304" pitchFamily="18" charset="0"/>
                <a:cs typeface="Times New Roman" panose="02020603050405020304" pitchFamily="18" charset="0"/>
              </a:rPr>
              <a:t>K</a:t>
            </a:r>
            <a:r>
              <a:rPr lang="en-IN" sz="2000" b="0" i="1" baseline="-25000" dirty="0" err="1">
                <a:solidFill>
                  <a:srgbClr val="000000"/>
                </a:solidFill>
                <a:effectLst/>
                <a:latin typeface="Times New Roman" panose="02020603050405020304" pitchFamily="18" charset="0"/>
                <a:cs typeface="Times New Roman" panose="02020603050405020304" pitchFamily="18" charset="0"/>
              </a:rPr>
              <a:t>b</a:t>
            </a:r>
            <a:r>
              <a:rPr lang="en-IN" sz="2000" b="0" i="1" dirty="0">
                <a:solidFill>
                  <a:srgbClr val="000000"/>
                </a:solidFill>
                <a:effectLst/>
                <a:latin typeface="Times New Roman" panose="02020603050405020304" pitchFamily="18" charset="0"/>
                <a:cs typeface="Times New Roman" panose="02020603050405020304" pitchFamily="18" charset="0"/>
              </a:rPr>
              <a:t>,</a:t>
            </a:r>
            <a:r>
              <a:rPr lang="en-IN" sz="2000" b="0" i="0" dirty="0">
                <a:solidFill>
                  <a:srgbClr val="000000"/>
                </a:solidFill>
                <a:effectLst/>
                <a:latin typeface="Times New Roman" panose="02020603050405020304" pitchFamily="18" charset="0"/>
                <a:cs typeface="Times New Roman" panose="02020603050405020304" pitchFamily="18" charset="0"/>
              </a:rPr>
              <a:t> determines the strength of the bond. Both ideal bond lengths </a:t>
            </a:r>
            <a:r>
              <a:rPr lang="en-IN" sz="2000" b="0" i="1" dirty="0">
                <a:solidFill>
                  <a:srgbClr val="000000"/>
                </a:solidFill>
                <a:effectLst/>
                <a:latin typeface="Times New Roman" panose="02020603050405020304" pitchFamily="18" charset="0"/>
                <a:cs typeface="Times New Roman" panose="02020603050405020304" pitchFamily="18" charset="0"/>
              </a:rPr>
              <a:t>b</a:t>
            </a:r>
            <a:r>
              <a:rPr lang="en-IN" sz="2000" b="0" i="1" baseline="-25000" dirty="0">
                <a:solidFill>
                  <a:srgbClr val="000000"/>
                </a:solidFill>
                <a:effectLst/>
                <a:latin typeface="Times New Roman" panose="02020603050405020304" pitchFamily="18" charset="0"/>
                <a:cs typeface="Times New Roman" panose="02020603050405020304" pitchFamily="18" charset="0"/>
              </a:rPr>
              <a:t>0</a:t>
            </a:r>
            <a:r>
              <a:rPr lang="en-IN" sz="2000" b="0" i="1" dirty="0">
                <a:solidFill>
                  <a:srgbClr val="000000"/>
                </a:solidFill>
                <a:effectLst/>
                <a:latin typeface="Times New Roman" panose="02020603050405020304" pitchFamily="18" charset="0"/>
                <a:cs typeface="Times New Roman" panose="02020603050405020304" pitchFamily="18" charset="0"/>
              </a:rPr>
              <a:t> </a:t>
            </a:r>
            <a:r>
              <a:rPr lang="en-IN" sz="2000" b="0" i="0" dirty="0">
                <a:solidFill>
                  <a:srgbClr val="000000"/>
                </a:solidFill>
                <a:effectLst/>
                <a:latin typeface="Times New Roman" panose="02020603050405020304" pitchFamily="18" charset="0"/>
                <a:cs typeface="Times New Roman" panose="02020603050405020304" pitchFamily="18" charset="0"/>
              </a:rPr>
              <a:t>and force constants </a:t>
            </a:r>
            <a:r>
              <a:rPr lang="en-IN" sz="2000" b="0" i="1" dirty="0" err="1">
                <a:solidFill>
                  <a:srgbClr val="000000"/>
                </a:solidFill>
                <a:effectLst/>
                <a:latin typeface="Times New Roman" panose="02020603050405020304" pitchFamily="18" charset="0"/>
                <a:cs typeface="Times New Roman" panose="02020603050405020304" pitchFamily="18" charset="0"/>
              </a:rPr>
              <a:t>K</a:t>
            </a:r>
            <a:r>
              <a:rPr lang="en-IN" sz="2000" b="0" i="1" baseline="-25000" dirty="0" err="1">
                <a:solidFill>
                  <a:srgbClr val="000000"/>
                </a:solidFill>
                <a:effectLst/>
                <a:latin typeface="Times New Roman" panose="02020603050405020304" pitchFamily="18" charset="0"/>
                <a:cs typeface="Times New Roman" panose="02020603050405020304" pitchFamily="18" charset="0"/>
              </a:rPr>
              <a:t>b</a:t>
            </a:r>
            <a:r>
              <a:rPr lang="en-IN" sz="2000" b="0" i="1" dirty="0">
                <a:solidFill>
                  <a:srgbClr val="000000"/>
                </a:solidFill>
                <a:effectLst/>
                <a:latin typeface="Times New Roman" panose="02020603050405020304" pitchFamily="18" charset="0"/>
                <a:cs typeface="Times New Roman" panose="02020603050405020304" pitchFamily="18" charset="0"/>
              </a:rPr>
              <a:t> </a:t>
            </a:r>
            <a:r>
              <a:rPr lang="en-IN" sz="2000" b="0" i="0" dirty="0">
                <a:solidFill>
                  <a:srgbClr val="000000"/>
                </a:solidFill>
                <a:effectLst/>
                <a:latin typeface="Times New Roman" panose="02020603050405020304" pitchFamily="18" charset="0"/>
                <a:cs typeface="Times New Roman" panose="02020603050405020304" pitchFamily="18" charset="0"/>
              </a:rPr>
              <a:t>are specific for each pair of bound atoms, i.e. depend on chemical type of atoms-constituents.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222C7BB-964D-4C38-8A20-453BF864A982}"/>
              </a:ext>
            </a:extLst>
          </p:cNvPr>
          <p:cNvSpPr>
            <a:spLocks noGrp="1" noChangeArrowheads="1"/>
          </p:cNvSpPr>
          <p:nvPr>
            <p:ph type="title"/>
          </p:nvPr>
        </p:nvSpPr>
        <p:spPr/>
        <p:txBody>
          <a:bodyPr/>
          <a:lstStyle/>
          <a:p>
            <a:r>
              <a:rPr lang="en-US" altLang="en-US" dirty="0">
                <a:latin typeface="Modern Love" panose="04090805081005020601" pitchFamily="82" charset="0"/>
              </a:rPr>
              <a:t>Bond Angle Potentials</a:t>
            </a:r>
          </a:p>
        </p:txBody>
      </p:sp>
      <p:sp>
        <p:nvSpPr>
          <p:cNvPr id="53252" name="Rectangle 4">
            <a:extLst>
              <a:ext uri="{FF2B5EF4-FFF2-40B4-BE49-F238E27FC236}">
                <a16:creationId xmlns:a16="http://schemas.microsoft.com/office/drawing/2014/main" id="{50CB1DCF-92F4-44FC-A47A-B3A255C52607}"/>
              </a:ext>
            </a:extLst>
          </p:cNvPr>
          <p:cNvSpPr>
            <a:spLocks noChangeArrowheads="1"/>
          </p:cNvSpPr>
          <p:nvPr/>
        </p:nvSpPr>
        <p:spPr bwMode="auto">
          <a:xfrm>
            <a:off x="79513" y="1676400"/>
            <a:ext cx="4949687"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bg1"/>
                </a:solidFill>
                <a:latin typeface="Arial" panose="020B0604020202020204" pitchFamily="34" charset="0"/>
              </a:defRPr>
            </a:lvl1pPr>
            <a:lvl2pPr marL="742950" indent="-285750">
              <a:spcBef>
                <a:spcPct val="20000"/>
              </a:spcBef>
              <a:buChar char="–"/>
              <a:defRPr sz="2400">
                <a:solidFill>
                  <a:schemeClr val="bg1"/>
                </a:solidFill>
                <a:latin typeface="Arial" panose="020B0604020202020204" pitchFamily="34" charset="0"/>
              </a:defRPr>
            </a:lvl2pPr>
            <a:lvl3pPr marL="1143000" indent="-228600">
              <a:spcBef>
                <a:spcPct val="20000"/>
              </a:spcBef>
              <a:buChar char="•"/>
              <a:defRPr sz="2000">
                <a:solidFill>
                  <a:schemeClr val="bg1"/>
                </a:solidFill>
                <a:latin typeface="Arial" panose="020B0604020202020204" pitchFamily="34" charset="0"/>
              </a:defRPr>
            </a:lvl3pPr>
            <a:lvl4pPr marL="1600200" indent="-228600">
              <a:spcBef>
                <a:spcPct val="20000"/>
              </a:spcBef>
              <a:buChar char="–"/>
              <a:defRPr>
                <a:solidFill>
                  <a:schemeClr val="bg1"/>
                </a:solidFill>
                <a:latin typeface="Arial" panose="020B0604020202020204" pitchFamily="34" charset="0"/>
              </a:defRPr>
            </a:lvl4pPr>
            <a:lvl5pPr marL="2057400" indent="-228600">
              <a:spcBef>
                <a:spcPct val="20000"/>
              </a:spcBef>
              <a:buChar char="»"/>
              <a:defRPr>
                <a:solidFill>
                  <a:schemeClr val="bg1"/>
                </a:solidFill>
                <a:latin typeface="Arial" panose="020B0604020202020204" pitchFamily="34" charset="0"/>
              </a:defRPr>
            </a:lvl5pPr>
            <a:lvl6pPr marL="2514600" indent="-228600" fontAlgn="base">
              <a:spcBef>
                <a:spcPct val="20000"/>
              </a:spcBef>
              <a:spcAft>
                <a:spcPct val="0"/>
              </a:spcAft>
              <a:buChar char="»"/>
              <a:defRPr>
                <a:solidFill>
                  <a:schemeClr val="bg1"/>
                </a:solidFill>
                <a:latin typeface="Arial" panose="020B0604020202020204" pitchFamily="34" charset="0"/>
              </a:defRPr>
            </a:lvl6pPr>
            <a:lvl7pPr marL="2971800" indent="-228600" fontAlgn="base">
              <a:spcBef>
                <a:spcPct val="20000"/>
              </a:spcBef>
              <a:spcAft>
                <a:spcPct val="0"/>
              </a:spcAft>
              <a:buChar char="»"/>
              <a:defRPr>
                <a:solidFill>
                  <a:schemeClr val="bg1"/>
                </a:solidFill>
                <a:latin typeface="Arial" panose="020B0604020202020204" pitchFamily="34" charset="0"/>
              </a:defRPr>
            </a:lvl7pPr>
            <a:lvl8pPr marL="3429000" indent="-228600" fontAlgn="base">
              <a:spcBef>
                <a:spcPct val="20000"/>
              </a:spcBef>
              <a:spcAft>
                <a:spcPct val="0"/>
              </a:spcAft>
              <a:buChar char="»"/>
              <a:defRPr>
                <a:solidFill>
                  <a:schemeClr val="bg1"/>
                </a:solidFill>
                <a:latin typeface="Arial" panose="020B0604020202020204" pitchFamily="34" charset="0"/>
              </a:defRPr>
            </a:lvl8pPr>
            <a:lvl9pPr marL="3886200" indent="-228600" fontAlgn="base">
              <a:spcBef>
                <a:spcPct val="20000"/>
              </a:spcBef>
              <a:spcAft>
                <a:spcPct val="0"/>
              </a:spcAft>
              <a:buChar char="»"/>
              <a:defRPr>
                <a:solidFill>
                  <a:schemeClr val="bg1"/>
                </a:solidFill>
                <a:latin typeface="Arial" panose="020B0604020202020204" pitchFamily="34" charset="0"/>
              </a:defRPr>
            </a:lvl9pPr>
          </a:lstStyle>
          <a:p>
            <a:pPr marL="0" indent="0">
              <a:buFontTx/>
              <a:buNone/>
            </a:pPr>
            <a:r>
              <a:rPr lang="en-US" altLang="en-US" dirty="0">
                <a:solidFill>
                  <a:schemeClr val="tx1"/>
                </a:solidFill>
                <a:latin typeface="Century Schoolbook" panose="02040604050505020304" pitchFamily="18" charset="0"/>
              </a:rPr>
              <a:t>The spring constant and the ideal angle are also dependent on the chemical type of the atoms.</a:t>
            </a:r>
          </a:p>
        </p:txBody>
      </p:sp>
      <p:pic>
        <p:nvPicPr>
          <p:cNvPr id="53254" name="Picture 6">
            <a:extLst>
              <a:ext uri="{FF2B5EF4-FFF2-40B4-BE49-F238E27FC236}">
                <a16:creationId xmlns:a16="http://schemas.microsoft.com/office/drawing/2014/main" id="{6B7F239F-D704-41A0-966B-45C5EC81C5C7}"/>
              </a:ext>
            </a:extLst>
          </p:cNvPr>
          <p:cNvPicPr>
            <a:picLocks noGrp="1" noChangeAspect="1" noChangeArrowheads="1" noCrop="1"/>
          </p:cNvPicPr>
          <p:nvPr>
            <p:ph sz="quarter" idx="3"/>
          </p:nvPr>
        </p:nvPicPr>
        <p:blipFill>
          <a:blip r:embed="rId2">
            <a:lum bright="-20000"/>
            <a:extLst>
              <a:ext uri="{28A0092B-C50C-407E-A947-70E740481C1C}">
                <a14:useLocalDpi xmlns:a14="http://schemas.microsoft.com/office/drawing/2010/main" val="0"/>
              </a:ext>
            </a:extLst>
          </a:blip>
          <a:srcRect/>
          <a:stretch>
            <a:fillRect/>
          </a:stretch>
        </p:blipFill>
        <p:spPr>
          <a:xfrm>
            <a:off x="5029200" y="2133600"/>
            <a:ext cx="2971800" cy="2971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3260" name="Rectangle 12">
            <a:extLst>
              <a:ext uri="{FF2B5EF4-FFF2-40B4-BE49-F238E27FC236}">
                <a16:creationId xmlns:a16="http://schemas.microsoft.com/office/drawing/2014/main" id="{5C3CF71F-4946-4ABE-B643-19110A638EEC}"/>
              </a:ext>
            </a:extLst>
          </p:cNvPr>
          <p:cNvSpPr>
            <a:spLocks noChangeArrowheads="1"/>
          </p:cNvSpPr>
          <p:nvPr/>
        </p:nvSpPr>
        <p:spPr bwMode="auto">
          <a:xfrm>
            <a:off x="3911600" y="576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mc:AlternateContent xmlns:mc="http://schemas.openxmlformats.org/markup-compatibility/2006" xmlns:a14="http://schemas.microsoft.com/office/drawing/2010/main">
        <mc:Choice Requires="a14">
          <p:sp>
            <p:nvSpPr>
              <p:cNvPr id="53259" name="Object 11">
                <a:extLst>
                  <a:ext uri="{FF2B5EF4-FFF2-40B4-BE49-F238E27FC236}">
                    <a16:creationId xmlns:a16="http://schemas.microsoft.com/office/drawing/2014/main" id="{527C58B4-CB5E-44F4-AEE8-ECAD41977E1E}"/>
                  </a:ext>
                </a:extLst>
              </p:cNvPr>
              <p:cNvSpPr txBox="1"/>
              <p:nvPr/>
            </p:nvSpPr>
            <p:spPr bwMode="auto">
              <a:xfrm>
                <a:off x="1229138" y="5486399"/>
                <a:ext cx="5791200" cy="1186001"/>
              </a:xfrm>
              <a:prstGeom prst="rect">
                <a:avLst/>
              </a:prstGeom>
              <a:noFill/>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𝐸</m:t>
                          </m:r>
                        </m:e>
                        <m:sub>
                          <m:r>
                            <a:rPr lang="en-US" sz="3600" i="1">
                              <a:solidFill>
                                <a:srgbClr val="000000"/>
                              </a:solidFill>
                              <a:latin typeface="Cambria Math" panose="02040503050406030204" pitchFamily="18" charset="0"/>
                            </a:rPr>
                            <m:t>𝑏𝑜𝑛𝑑</m:t>
                          </m:r>
                          <m:r>
                            <a:rPr lang="en-US" sz="3600" i="1">
                              <a:solidFill>
                                <a:srgbClr val="000000"/>
                              </a:solidFill>
                              <a:latin typeface="Cambria Math" panose="02040503050406030204" pitchFamily="18" charset="0"/>
                            </a:rPr>
                            <m:t>−</m:t>
                          </m:r>
                          <m:r>
                            <a:rPr lang="en-US" sz="3600" i="1">
                              <a:solidFill>
                                <a:srgbClr val="000000"/>
                              </a:solidFill>
                              <a:latin typeface="Cambria Math" panose="02040503050406030204" pitchFamily="18" charset="0"/>
                            </a:rPr>
                            <m:t>𝑏𝑒𝑛𝑑</m:t>
                          </m:r>
                        </m:sub>
                      </m:sSub>
                      <m:r>
                        <a:rPr lang="en-US" sz="3600" i="1">
                          <a:solidFill>
                            <a:srgbClr val="000000"/>
                          </a:solidFill>
                          <a:latin typeface="Cambria Math" panose="02040503050406030204" pitchFamily="18" charset="0"/>
                        </a:rPr>
                        <m:t>=</m:t>
                      </m:r>
                      <m:nary>
                        <m:naryPr>
                          <m:chr m:val="∑"/>
                          <m:supHide m:val="on"/>
                          <m:ctrlPr>
                            <a:rPr lang="en-US" sz="3600" i="1">
                              <a:solidFill>
                                <a:srgbClr val="000000"/>
                              </a:solidFill>
                              <a:latin typeface="Cambria Math" panose="02040503050406030204" pitchFamily="18" charset="0"/>
                            </a:rPr>
                          </m:ctrlPr>
                        </m:naryPr>
                        <m:sub>
                          <m:r>
                            <a:rPr lang="en-US" sz="3600" i="1">
                              <a:solidFill>
                                <a:srgbClr val="000000"/>
                              </a:solidFill>
                              <a:latin typeface="Cambria Math" panose="02040503050406030204" pitchFamily="18" charset="0"/>
                            </a:rPr>
                            <m:t>𝑎𝑛𝑔𝑙𝑒𝑠</m:t>
                          </m:r>
                        </m:sub>
                        <m:sup/>
                        <m:e>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𝐾</m:t>
                              </m:r>
                            </m:e>
                            <m:sub>
                              <m:r>
                                <a:rPr lang="en-US" sz="3600" i="1">
                                  <a:solidFill>
                                    <a:srgbClr val="000000"/>
                                  </a:solidFill>
                                  <a:latin typeface="Cambria Math" panose="02040503050406030204" pitchFamily="18" charset="0"/>
                                </a:rPr>
                                <m:t>𝜃</m:t>
                              </m:r>
                            </m:sub>
                          </m:sSub>
                          <m:r>
                            <a:rPr lang="en-US" sz="3600" i="1">
                              <a:solidFill>
                                <a:srgbClr val="000000"/>
                              </a:solidFill>
                              <a:latin typeface="Cambria Math" panose="02040503050406030204" pitchFamily="18" charset="0"/>
                            </a:rPr>
                            <m:t>(</m:t>
                          </m:r>
                          <m:r>
                            <a:rPr lang="en-US" sz="3600" i="1">
                              <a:solidFill>
                                <a:srgbClr val="000000"/>
                              </a:solidFill>
                              <a:latin typeface="Cambria Math" panose="02040503050406030204" pitchFamily="18" charset="0"/>
                            </a:rPr>
                            <m:t>𝜃</m:t>
                          </m:r>
                          <m:r>
                            <a:rPr lang="en-US" sz="3600" i="1">
                              <a:solidFill>
                                <a:srgbClr val="000000"/>
                              </a:solidFill>
                              <a:latin typeface="Cambria Math" panose="02040503050406030204" pitchFamily="18" charset="0"/>
                            </a:rPr>
                            <m:t>−</m:t>
                          </m:r>
                          <m:sSub>
                            <m:sSubPr>
                              <m:ctrlPr>
                                <a:rPr lang="en-US" sz="3600" i="1">
                                  <a:solidFill>
                                    <a:srgbClr val="000000"/>
                                  </a:solidFill>
                                  <a:latin typeface="Cambria Math" panose="02040503050406030204" pitchFamily="18" charset="0"/>
                                </a:rPr>
                              </m:ctrlPr>
                            </m:sSubPr>
                            <m:e>
                              <m:r>
                                <a:rPr lang="en-US" sz="3600" i="1">
                                  <a:solidFill>
                                    <a:srgbClr val="000000"/>
                                  </a:solidFill>
                                  <a:latin typeface="Cambria Math" panose="02040503050406030204" pitchFamily="18" charset="0"/>
                                </a:rPr>
                                <m:t>𝜃</m:t>
                              </m:r>
                            </m:e>
                            <m:sub>
                              <m:r>
                                <a:rPr lang="en-US" sz="3600" i="1">
                                  <a:solidFill>
                                    <a:srgbClr val="000000"/>
                                  </a:solidFill>
                                  <a:latin typeface="Cambria Math" panose="02040503050406030204" pitchFamily="18" charset="0"/>
                                </a:rPr>
                                <m:t>0</m:t>
                              </m:r>
                            </m:sub>
                          </m:sSub>
                          <m:sSup>
                            <m:sSupPr>
                              <m:ctrlPr>
                                <a:rPr lang="en-US" sz="3600" i="1">
                                  <a:solidFill>
                                    <a:srgbClr val="000000"/>
                                  </a:solidFill>
                                  <a:latin typeface="Cambria Math" panose="02040503050406030204" pitchFamily="18" charset="0"/>
                                </a:rPr>
                              </m:ctrlPr>
                            </m:sSupPr>
                            <m:e>
                              <m:r>
                                <a:rPr lang="en-US" sz="3600" i="1">
                                  <a:solidFill>
                                    <a:srgbClr val="000000"/>
                                  </a:solidFill>
                                  <a:latin typeface="Cambria Math" panose="02040503050406030204" pitchFamily="18" charset="0"/>
                                </a:rPr>
                                <m:t>)</m:t>
                              </m:r>
                            </m:e>
                            <m:sup>
                              <m:r>
                                <a:rPr lang="en-US" sz="3600" i="1">
                                  <a:solidFill>
                                    <a:srgbClr val="000000"/>
                                  </a:solidFill>
                                  <a:latin typeface="Cambria Math" panose="02040503050406030204" pitchFamily="18" charset="0"/>
                                </a:rPr>
                                <m:t>2</m:t>
                              </m:r>
                            </m:sup>
                          </m:sSup>
                        </m:e>
                      </m:nary>
                    </m:oMath>
                  </m:oMathPara>
                </a14:m>
                <a:endParaRPr lang="en-US" sz="3600" dirty="0"/>
              </a:p>
            </p:txBody>
          </p:sp>
        </mc:Choice>
        <mc:Fallback xmlns="">
          <p:sp>
            <p:nvSpPr>
              <p:cNvPr id="53259" name="Object 11">
                <a:extLst>
                  <a:ext uri="{FF2B5EF4-FFF2-40B4-BE49-F238E27FC236}">
                    <a16:creationId xmlns:a16="http://schemas.microsoft.com/office/drawing/2014/main" id="{527C58B4-CB5E-44F4-AEE8-ECAD41977E1E}"/>
                  </a:ext>
                </a:extLst>
              </p:cNvPr>
              <p:cNvSpPr txBox="1">
                <a:spLocks noRot="1" noChangeAspect="1" noMove="1" noResize="1" noEditPoints="1" noAdjustHandles="1" noChangeArrowheads="1" noChangeShapeType="1" noTextEdit="1"/>
              </p:cNvSpPr>
              <p:nvPr/>
            </p:nvSpPr>
            <p:spPr bwMode="auto">
              <a:xfrm>
                <a:off x="1229138" y="5486399"/>
                <a:ext cx="5791200" cy="1186001"/>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A340D646-086B-483E-8D76-FEF7B5681232}"/>
              </a:ext>
            </a:extLst>
          </p:cNvPr>
          <p:cNvSpPr txBox="1"/>
          <p:nvPr/>
        </p:nvSpPr>
        <p:spPr>
          <a:xfrm>
            <a:off x="203200" y="3683913"/>
            <a:ext cx="4826000" cy="1938992"/>
          </a:xfrm>
          <a:prstGeom prst="rect">
            <a:avLst/>
          </a:prstGeom>
          <a:noFill/>
        </p:spPr>
        <p:txBody>
          <a:bodyPr wrap="square">
            <a:spAutoFit/>
          </a:bodyPr>
          <a:lstStyle/>
          <a:p>
            <a:r>
              <a:rPr lang="en-IN" sz="2000" b="0" i="0" dirty="0">
                <a:solidFill>
                  <a:srgbClr val="000000"/>
                </a:solidFill>
                <a:effectLst/>
                <a:latin typeface="Times New Roman" panose="02020603050405020304" pitchFamily="18" charset="0"/>
                <a:cs typeface="Times New Roman" panose="02020603050405020304" pitchFamily="18" charset="0"/>
              </a:rPr>
              <a:t>It is the alteration of bond angles theta from ideal values </a:t>
            </a:r>
            <a:r>
              <a:rPr lang="en-IN" sz="2000" b="0" i="1" dirty="0">
                <a:solidFill>
                  <a:srgbClr val="000000"/>
                </a:solidFill>
                <a:effectLst/>
                <a:latin typeface="Times New Roman" panose="02020603050405020304" pitchFamily="18" charset="0"/>
                <a:cs typeface="Times New Roman" panose="02020603050405020304" pitchFamily="18" charset="0"/>
              </a:rPr>
              <a:t>q</a:t>
            </a:r>
            <a:r>
              <a:rPr lang="en-IN" sz="2000" b="0" i="1" baseline="-25000" dirty="0">
                <a:solidFill>
                  <a:srgbClr val="000000"/>
                </a:solidFill>
                <a:effectLst/>
                <a:latin typeface="Times New Roman" panose="02020603050405020304" pitchFamily="18" charset="0"/>
                <a:cs typeface="Times New Roman" panose="02020603050405020304" pitchFamily="18" charset="0"/>
              </a:rPr>
              <a:t>0</a:t>
            </a:r>
            <a:r>
              <a:rPr lang="en-IN" sz="2000" b="0" i="1" dirty="0">
                <a:solidFill>
                  <a:srgbClr val="000000"/>
                </a:solidFill>
                <a:effectLst/>
                <a:latin typeface="Times New Roman" panose="02020603050405020304" pitchFamily="18" charset="0"/>
                <a:cs typeface="Times New Roman" panose="02020603050405020304" pitchFamily="18" charset="0"/>
              </a:rPr>
              <a:t> </a:t>
            </a:r>
            <a:r>
              <a:rPr lang="en-IN" sz="2000" b="0" i="0" dirty="0">
                <a:solidFill>
                  <a:srgbClr val="000000"/>
                </a:solidFill>
                <a:effectLst/>
                <a:latin typeface="Times New Roman" panose="02020603050405020304" pitchFamily="18" charset="0"/>
                <a:cs typeface="Times New Roman" panose="02020603050405020304" pitchFamily="18" charset="0"/>
              </a:rPr>
              <a:t>, which is also represented by a harmonic potential. </a:t>
            </a:r>
          </a:p>
          <a:p>
            <a:endParaRPr lang="en-IN" sz="2000" dirty="0">
              <a:solidFill>
                <a:srgbClr val="000000"/>
              </a:solidFill>
              <a:latin typeface="Times New Roman" panose="02020603050405020304" pitchFamily="18" charset="0"/>
              <a:cs typeface="Times New Roman" panose="02020603050405020304" pitchFamily="18" charset="0"/>
            </a:endParaRPr>
          </a:p>
          <a:p>
            <a:r>
              <a:rPr lang="en-IN" sz="2000" b="0" i="0" dirty="0">
                <a:solidFill>
                  <a:srgbClr val="000000"/>
                </a:solidFill>
                <a:effectLst/>
                <a:latin typeface="Times New Roman" panose="02020603050405020304" pitchFamily="18" charset="0"/>
                <a:cs typeface="Times New Roman" panose="02020603050405020304" pitchFamily="18" charset="0"/>
              </a:rPr>
              <a:t>Values of </a:t>
            </a:r>
            <a:r>
              <a:rPr lang="en-IN" sz="2000" b="0" i="1" dirty="0">
                <a:solidFill>
                  <a:srgbClr val="000000"/>
                </a:solidFill>
                <a:effectLst/>
                <a:latin typeface="Times New Roman" panose="02020603050405020304" pitchFamily="18" charset="0"/>
                <a:cs typeface="Times New Roman" panose="02020603050405020304" pitchFamily="18" charset="0"/>
              </a:rPr>
              <a:t>q</a:t>
            </a:r>
            <a:r>
              <a:rPr lang="en-IN" sz="2000" b="0" i="1" baseline="-25000" dirty="0">
                <a:solidFill>
                  <a:srgbClr val="000000"/>
                </a:solidFill>
                <a:effectLst/>
                <a:latin typeface="Times New Roman" panose="02020603050405020304" pitchFamily="18" charset="0"/>
                <a:cs typeface="Times New Roman" panose="02020603050405020304" pitchFamily="18" charset="0"/>
              </a:rPr>
              <a:t>0</a:t>
            </a:r>
            <a:r>
              <a:rPr lang="en-IN" sz="2000" b="0" i="1" dirty="0">
                <a:solidFill>
                  <a:srgbClr val="000000"/>
                </a:solidFill>
                <a:effectLst/>
                <a:latin typeface="Times New Roman" panose="02020603050405020304" pitchFamily="18" charset="0"/>
                <a:cs typeface="Times New Roman" panose="02020603050405020304" pitchFamily="18" charset="0"/>
              </a:rPr>
              <a:t> </a:t>
            </a:r>
            <a:r>
              <a:rPr lang="en-IN" sz="2000" b="0" i="0" dirty="0">
                <a:solidFill>
                  <a:srgbClr val="000000"/>
                </a:solidFill>
                <a:effectLst/>
                <a:latin typeface="Times New Roman" panose="02020603050405020304" pitchFamily="18" charset="0"/>
                <a:cs typeface="Times New Roman" panose="02020603050405020304" pitchFamily="18" charset="0"/>
              </a:rPr>
              <a:t>and </a:t>
            </a:r>
            <a:r>
              <a:rPr lang="en-IN" sz="2000" b="0" i="1" dirty="0" err="1">
                <a:solidFill>
                  <a:srgbClr val="000000"/>
                </a:solidFill>
                <a:effectLst/>
                <a:latin typeface="Times New Roman" panose="02020603050405020304" pitchFamily="18" charset="0"/>
                <a:cs typeface="Times New Roman" panose="02020603050405020304" pitchFamily="18" charset="0"/>
              </a:rPr>
              <a:t>K</a:t>
            </a:r>
            <a:r>
              <a:rPr lang="en-IN" sz="2000" b="0" i="1" baseline="-25000" dirty="0" err="1">
                <a:solidFill>
                  <a:srgbClr val="000000"/>
                </a:solidFill>
                <a:effectLst/>
                <a:latin typeface="Times New Roman" panose="02020603050405020304" pitchFamily="18" charset="0"/>
                <a:cs typeface="Times New Roman" panose="02020603050405020304" pitchFamily="18" charset="0"/>
              </a:rPr>
              <a:t>q</a:t>
            </a:r>
            <a:r>
              <a:rPr lang="en-IN" sz="2000" b="0" i="0" dirty="0">
                <a:solidFill>
                  <a:srgbClr val="000000"/>
                </a:solidFill>
                <a:effectLst/>
                <a:latin typeface="Times New Roman" panose="02020603050405020304" pitchFamily="18" charset="0"/>
                <a:cs typeface="Times New Roman" panose="02020603050405020304" pitchFamily="18" charset="0"/>
              </a:rPr>
              <a:t> depend on chemical type of atoms constituting the angle.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29B8614-8479-4787-83CA-5BE34F47AB4E}"/>
              </a:ext>
            </a:extLst>
          </p:cNvPr>
          <p:cNvSpPr>
            <a:spLocks noGrp="1" noChangeArrowheads="1"/>
          </p:cNvSpPr>
          <p:nvPr>
            <p:ph type="title"/>
          </p:nvPr>
        </p:nvSpPr>
        <p:spPr/>
        <p:txBody>
          <a:bodyPr/>
          <a:lstStyle/>
          <a:p>
            <a:r>
              <a:rPr lang="en-US" altLang="en-US" dirty="0">
                <a:latin typeface="Modern Love" panose="04090805081005020601" pitchFamily="82" charset="0"/>
              </a:rPr>
              <a:t>Torsional Potentials</a:t>
            </a:r>
          </a:p>
        </p:txBody>
      </p:sp>
      <p:sp>
        <p:nvSpPr>
          <p:cNvPr id="55300" name="Rectangle 4">
            <a:extLst>
              <a:ext uri="{FF2B5EF4-FFF2-40B4-BE49-F238E27FC236}">
                <a16:creationId xmlns:a16="http://schemas.microsoft.com/office/drawing/2014/main" id="{DEA1931A-94E6-417C-8B1F-0136268A7F71}"/>
              </a:ext>
            </a:extLst>
          </p:cNvPr>
          <p:cNvSpPr>
            <a:spLocks noChangeArrowheads="1"/>
          </p:cNvSpPr>
          <p:nvPr/>
        </p:nvSpPr>
        <p:spPr bwMode="auto">
          <a:xfrm>
            <a:off x="89452" y="1676400"/>
            <a:ext cx="4482548"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bg1"/>
                </a:solidFill>
                <a:latin typeface="Arial" panose="020B0604020202020204" pitchFamily="34" charset="0"/>
              </a:defRPr>
            </a:lvl1pPr>
            <a:lvl2pPr marL="742950" indent="-285750">
              <a:spcBef>
                <a:spcPct val="20000"/>
              </a:spcBef>
              <a:buChar char="–"/>
              <a:defRPr sz="2400">
                <a:solidFill>
                  <a:schemeClr val="bg1"/>
                </a:solidFill>
                <a:latin typeface="Arial" panose="020B0604020202020204" pitchFamily="34" charset="0"/>
              </a:defRPr>
            </a:lvl2pPr>
            <a:lvl3pPr marL="1143000" indent="-228600">
              <a:spcBef>
                <a:spcPct val="20000"/>
              </a:spcBef>
              <a:buChar char="•"/>
              <a:defRPr sz="2000">
                <a:solidFill>
                  <a:schemeClr val="bg1"/>
                </a:solidFill>
                <a:latin typeface="Arial" panose="020B0604020202020204" pitchFamily="34" charset="0"/>
              </a:defRPr>
            </a:lvl3pPr>
            <a:lvl4pPr marL="1600200" indent="-228600">
              <a:spcBef>
                <a:spcPct val="20000"/>
              </a:spcBef>
              <a:buChar char="–"/>
              <a:defRPr>
                <a:solidFill>
                  <a:schemeClr val="bg1"/>
                </a:solidFill>
                <a:latin typeface="Arial" panose="020B0604020202020204" pitchFamily="34" charset="0"/>
              </a:defRPr>
            </a:lvl4pPr>
            <a:lvl5pPr marL="2057400" indent="-228600">
              <a:spcBef>
                <a:spcPct val="20000"/>
              </a:spcBef>
              <a:buChar char="»"/>
              <a:defRPr>
                <a:solidFill>
                  <a:schemeClr val="bg1"/>
                </a:solidFill>
                <a:latin typeface="Arial" panose="020B0604020202020204" pitchFamily="34" charset="0"/>
              </a:defRPr>
            </a:lvl5pPr>
            <a:lvl6pPr marL="2514600" indent="-228600" fontAlgn="base">
              <a:spcBef>
                <a:spcPct val="20000"/>
              </a:spcBef>
              <a:spcAft>
                <a:spcPct val="0"/>
              </a:spcAft>
              <a:buChar char="»"/>
              <a:defRPr>
                <a:solidFill>
                  <a:schemeClr val="bg1"/>
                </a:solidFill>
                <a:latin typeface="Arial" panose="020B0604020202020204" pitchFamily="34" charset="0"/>
              </a:defRPr>
            </a:lvl6pPr>
            <a:lvl7pPr marL="2971800" indent="-228600" fontAlgn="base">
              <a:spcBef>
                <a:spcPct val="20000"/>
              </a:spcBef>
              <a:spcAft>
                <a:spcPct val="0"/>
              </a:spcAft>
              <a:buChar char="»"/>
              <a:defRPr>
                <a:solidFill>
                  <a:schemeClr val="bg1"/>
                </a:solidFill>
                <a:latin typeface="Arial" panose="020B0604020202020204" pitchFamily="34" charset="0"/>
              </a:defRPr>
            </a:lvl7pPr>
            <a:lvl8pPr marL="3429000" indent="-228600" fontAlgn="base">
              <a:spcBef>
                <a:spcPct val="20000"/>
              </a:spcBef>
              <a:spcAft>
                <a:spcPct val="0"/>
              </a:spcAft>
              <a:buChar char="»"/>
              <a:defRPr>
                <a:solidFill>
                  <a:schemeClr val="bg1"/>
                </a:solidFill>
                <a:latin typeface="Arial" panose="020B0604020202020204" pitchFamily="34" charset="0"/>
              </a:defRPr>
            </a:lvl8pPr>
            <a:lvl9pPr marL="3886200" indent="-228600" fontAlgn="base">
              <a:spcBef>
                <a:spcPct val="20000"/>
              </a:spcBef>
              <a:spcAft>
                <a:spcPct val="0"/>
              </a:spcAft>
              <a:buChar char="»"/>
              <a:defRPr>
                <a:solidFill>
                  <a:schemeClr val="bg1"/>
                </a:solidFill>
                <a:latin typeface="Arial" panose="020B0604020202020204" pitchFamily="34" charset="0"/>
              </a:defRPr>
            </a:lvl9pPr>
          </a:lstStyle>
          <a:p>
            <a:pPr marL="0" indent="0">
              <a:buFontTx/>
              <a:buNone/>
            </a:pPr>
            <a:r>
              <a:rPr lang="en-US" altLang="en-US" dirty="0">
                <a:solidFill>
                  <a:schemeClr val="tx1"/>
                </a:solidFill>
                <a:latin typeface="Century Schoolbook" panose="02040604050505020304" pitchFamily="18" charset="0"/>
              </a:rPr>
              <a:t>Described by a dihedral angle and coefficient of symmetry (</a:t>
            </a:r>
            <a:r>
              <a:rPr lang="en-US" altLang="en-US" i="1" dirty="0">
                <a:solidFill>
                  <a:schemeClr val="tx1"/>
                </a:solidFill>
                <a:latin typeface="Century Schoolbook" panose="02040604050505020304" pitchFamily="18" charset="0"/>
              </a:rPr>
              <a:t>n=1,2,3</a:t>
            </a:r>
            <a:r>
              <a:rPr lang="en-US" altLang="en-US" dirty="0">
                <a:solidFill>
                  <a:schemeClr val="tx1"/>
                </a:solidFill>
                <a:latin typeface="Century Schoolbook" panose="02040604050505020304" pitchFamily="18" charset="0"/>
              </a:rPr>
              <a:t>), around the middle bond.</a:t>
            </a:r>
          </a:p>
          <a:p>
            <a:pPr>
              <a:buFontTx/>
              <a:buNone/>
            </a:pPr>
            <a:endParaRPr lang="en-US" altLang="en-US" dirty="0">
              <a:solidFill>
                <a:schemeClr val="tx1"/>
              </a:solidFill>
              <a:latin typeface="Century Schoolbook" panose="02040604050505020304" pitchFamily="18" charset="0"/>
            </a:endParaRPr>
          </a:p>
        </p:txBody>
      </p:sp>
      <p:pic>
        <p:nvPicPr>
          <p:cNvPr id="55303" name="Picture 7">
            <a:extLst>
              <a:ext uri="{FF2B5EF4-FFF2-40B4-BE49-F238E27FC236}">
                <a16:creationId xmlns:a16="http://schemas.microsoft.com/office/drawing/2014/main" id="{BDE47EAC-C321-4F10-B7EF-B342837ECDF1}"/>
              </a:ext>
            </a:extLst>
          </p:cNvPr>
          <p:cNvPicPr>
            <a:picLocks noGrp="1" noChangeAspect="1" noChangeArrowheads="1" noCrop="1"/>
          </p:cNvPicPr>
          <p:nvPr>
            <p:ph sz="quarter" idx="3"/>
          </p:nvPr>
        </p:nvPicPr>
        <p:blipFill>
          <a:blip r:embed="rId2" cstate="email">
            <a:lum bright="-20000"/>
            <a:extLst>
              <a:ext uri="{28A0092B-C50C-407E-A947-70E740481C1C}">
                <a14:useLocalDpi xmlns:a14="http://schemas.microsoft.com/office/drawing/2010/main" val="0"/>
              </a:ext>
            </a:extLst>
          </a:blip>
          <a:srcRect/>
          <a:stretch>
            <a:fillRect/>
          </a:stretch>
        </p:blipFill>
        <p:spPr>
          <a:xfrm>
            <a:off x="4953000" y="2286000"/>
            <a:ext cx="3200400" cy="2673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5305" name="Rectangle 9">
            <a:extLst>
              <a:ext uri="{FF2B5EF4-FFF2-40B4-BE49-F238E27FC236}">
                <a16:creationId xmlns:a16="http://schemas.microsoft.com/office/drawing/2014/main" id="{F8A2B79C-69E7-4E42-AF9F-E52379754C32}"/>
              </a:ext>
            </a:extLst>
          </p:cNvPr>
          <p:cNvSpPr>
            <a:spLocks noChangeArrowheads="1"/>
          </p:cNvSpPr>
          <p:nvPr/>
        </p:nvSpPr>
        <p:spPr bwMode="auto">
          <a:xfrm>
            <a:off x="3865563" y="6042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mc:AlternateContent xmlns:mc="http://schemas.openxmlformats.org/markup-compatibility/2006" xmlns:a14="http://schemas.microsoft.com/office/drawing/2010/main">
        <mc:Choice Requires="a14">
          <p:sp>
            <p:nvSpPr>
              <p:cNvPr id="55304" name="Object 8">
                <a:extLst>
                  <a:ext uri="{FF2B5EF4-FFF2-40B4-BE49-F238E27FC236}">
                    <a16:creationId xmlns:a16="http://schemas.microsoft.com/office/drawing/2014/main" id="{FE8A0EA6-94CE-4095-944F-81E416CFFF93}"/>
                  </a:ext>
                </a:extLst>
              </p:cNvPr>
              <p:cNvSpPr txBox="1"/>
              <p:nvPr/>
            </p:nvSpPr>
            <p:spPr bwMode="auto">
              <a:xfrm>
                <a:off x="457200" y="5410200"/>
                <a:ext cx="8305800" cy="1119188"/>
              </a:xfrm>
              <a:prstGeom prst="rect">
                <a:avLst/>
              </a:prstGeom>
              <a:noFill/>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en-US" sz="4000" i="1">
                              <a:solidFill>
                                <a:srgbClr val="000000"/>
                              </a:solidFill>
                              <a:latin typeface="Cambria Math" panose="02040503050406030204" pitchFamily="18" charset="0"/>
                            </a:rPr>
                          </m:ctrlPr>
                        </m:sSubPr>
                        <m:e>
                          <m:r>
                            <a:rPr lang="en-US" sz="4000" i="1">
                              <a:solidFill>
                                <a:srgbClr val="000000"/>
                              </a:solidFill>
                              <a:latin typeface="Cambria Math" panose="02040503050406030204" pitchFamily="18" charset="0"/>
                            </a:rPr>
                            <m:t>𝐸</m:t>
                          </m:r>
                        </m:e>
                        <m:sub>
                          <m:r>
                            <a:rPr lang="en-US" sz="4000" i="1">
                              <a:solidFill>
                                <a:srgbClr val="000000"/>
                              </a:solidFill>
                              <a:latin typeface="Cambria Math" panose="02040503050406030204" pitchFamily="18" charset="0"/>
                            </a:rPr>
                            <m:t>𝑟𝑜𝑡𝑎𝑡𝑒</m:t>
                          </m:r>
                          <m:r>
                            <a:rPr lang="en-US" sz="4000" i="1">
                              <a:solidFill>
                                <a:srgbClr val="000000"/>
                              </a:solidFill>
                              <a:latin typeface="Cambria Math" panose="02040503050406030204" pitchFamily="18" charset="0"/>
                            </a:rPr>
                            <m:t>−</m:t>
                          </m:r>
                          <m:r>
                            <a:rPr lang="en-US" sz="4000" i="1">
                              <a:solidFill>
                                <a:srgbClr val="000000"/>
                              </a:solidFill>
                              <a:latin typeface="Cambria Math" panose="02040503050406030204" pitchFamily="18" charset="0"/>
                            </a:rPr>
                            <m:t>𝑎𝑙𝑜𝑛𝑔</m:t>
                          </m:r>
                          <m:r>
                            <a:rPr lang="en-US" sz="4000" i="1">
                              <a:solidFill>
                                <a:srgbClr val="000000"/>
                              </a:solidFill>
                              <a:latin typeface="Cambria Math" panose="02040503050406030204" pitchFamily="18" charset="0"/>
                            </a:rPr>
                            <m:t>−</m:t>
                          </m:r>
                          <m:r>
                            <a:rPr lang="en-US" sz="4000" i="1">
                              <a:solidFill>
                                <a:srgbClr val="000000"/>
                              </a:solidFill>
                              <a:latin typeface="Cambria Math" panose="02040503050406030204" pitchFamily="18" charset="0"/>
                            </a:rPr>
                            <m:t>𝑏𝑜𝑛𝑑</m:t>
                          </m:r>
                        </m:sub>
                      </m:sSub>
                      <m:r>
                        <a:rPr lang="en-US" sz="4000" i="1">
                          <a:solidFill>
                            <a:srgbClr val="000000"/>
                          </a:solidFill>
                          <a:latin typeface="Cambria Math" panose="02040503050406030204" pitchFamily="18" charset="0"/>
                        </a:rPr>
                        <m:t>=</m:t>
                      </m:r>
                      <m:nary>
                        <m:naryPr>
                          <m:chr m:val="∑"/>
                          <m:supHide m:val="on"/>
                          <m:ctrlPr>
                            <a:rPr lang="en-US" sz="4000" i="1">
                              <a:solidFill>
                                <a:srgbClr val="000000"/>
                              </a:solidFill>
                              <a:latin typeface="Cambria Math" panose="02040503050406030204" pitchFamily="18" charset="0"/>
                            </a:rPr>
                          </m:ctrlPr>
                        </m:naryPr>
                        <m:sub>
                          <m:r>
                            <a:rPr lang="en-US" sz="4000" i="1">
                              <a:solidFill>
                                <a:srgbClr val="000000"/>
                              </a:solidFill>
                              <a:latin typeface="Cambria Math" panose="02040503050406030204" pitchFamily="18" charset="0"/>
                            </a:rPr>
                            <m:t>1,4</m:t>
                          </m:r>
                          <m:r>
                            <a:rPr lang="en-US" sz="4000" i="1">
                              <a:solidFill>
                                <a:srgbClr val="000000"/>
                              </a:solidFill>
                              <a:latin typeface="Cambria Math" panose="02040503050406030204" pitchFamily="18" charset="0"/>
                            </a:rPr>
                            <m:t>𝑝𝑎𝑖𝑟𝑠</m:t>
                          </m:r>
                        </m:sub>
                        <m:sup/>
                        <m:e>
                          <m:sSub>
                            <m:sSubPr>
                              <m:ctrlPr>
                                <a:rPr lang="en-US" sz="4000" i="1">
                                  <a:solidFill>
                                    <a:srgbClr val="000000"/>
                                  </a:solidFill>
                                  <a:latin typeface="Cambria Math" panose="02040503050406030204" pitchFamily="18" charset="0"/>
                                </a:rPr>
                              </m:ctrlPr>
                            </m:sSubPr>
                            <m:e>
                              <m:r>
                                <a:rPr lang="en-US" sz="4000" i="1">
                                  <a:solidFill>
                                    <a:srgbClr val="000000"/>
                                  </a:solidFill>
                                  <a:latin typeface="Cambria Math" panose="02040503050406030204" pitchFamily="18" charset="0"/>
                                </a:rPr>
                                <m:t>𝐾</m:t>
                              </m:r>
                            </m:e>
                            <m:sub>
                              <m:r>
                                <a:rPr lang="en-US" sz="4000" i="1">
                                  <a:solidFill>
                                    <a:srgbClr val="000000"/>
                                  </a:solidFill>
                                  <a:latin typeface="Cambria Math" panose="02040503050406030204" pitchFamily="18" charset="0"/>
                                </a:rPr>
                                <m:t>𝜑</m:t>
                              </m:r>
                            </m:sub>
                          </m:sSub>
                          <m:r>
                            <a:rPr lang="en-US" sz="4000" i="1">
                              <a:solidFill>
                                <a:srgbClr val="000000"/>
                              </a:solidFill>
                              <a:latin typeface="Cambria Math" panose="02040503050406030204" pitchFamily="18" charset="0"/>
                            </a:rPr>
                            <m:t>(1−</m:t>
                          </m:r>
                          <m:func>
                            <m:funcPr>
                              <m:ctrlPr>
                                <a:rPr lang="en-US" sz="4000" i="1">
                                  <a:solidFill>
                                    <a:srgbClr val="000000"/>
                                  </a:solidFill>
                                  <a:latin typeface="Cambria Math" panose="02040503050406030204" pitchFamily="18" charset="0"/>
                                </a:rPr>
                              </m:ctrlPr>
                            </m:funcPr>
                            <m:fName>
                              <m:r>
                                <m:rPr>
                                  <m:sty m:val="p"/>
                                </m:rPr>
                                <a:rPr lang="en-US" sz="4000" i="0">
                                  <a:solidFill>
                                    <a:srgbClr val="000000"/>
                                  </a:solidFill>
                                  <a:latin typeface="Cambria Math" panose="02040503050406030204" pitchFamily="18" charset="0"/>
                                </a:rPr>
                                <m:t>cos</m:t>
                              </m:r>
                            </m:fName>
                            <m:e>
                              <m:r>
                                <a:rPr lang="en-US" sz="4000" i="1">
                                  <a:solidFill>
                                    <a:srgbClr val="000000"/>
                                  </a:solidFill>
                                  <a:latin typeface="Cambria Math" panose="02040503050406030204" pitchFamily="18" charset="0"/>
                                </a:rPr>
                                <m:t>(</m:t>
                              </m:r>
                            </m:e>
                          </m:func>
                          <m:r>
                            <a:rPr lang="en-US" sz="4000" i="1">
                              <a:solidFill>
                                <a:srgbClr val="000000"/>
                              </a:solidFill>
                              <a:latin typeface="Cambria Math" panose="02040503050406030204" pitchFamily="18" charset="0"/>
                            </a:rPr>
                            <m:t>𝑛</m:t>
                          </m:r>
                          <m:r>
                            <a:rPr lang="en-US" sz="4000" i="1">
                              <a:solidFill>
                                <a:srgbClr val="000000"/>
                              </a:solidFill>
                              <a:latin typeface="Cambria Math" panose="02040503050406030204" pitchFamily="18" charset="0"/>
                            </a:rPr>
                            <m:t>𝜑</m:t>
                          </m:r>
                          <m:r>
                            <a:rPr lang="en-US" sz="4000" i="1">
                              <a:solidFill>
                                <a:srgbClr val="000000"/>
                              </a:solidFill>
                              <a:latin typeface="Cambria Math" panose="02040503050406030204" pitchFamily="18" charset="0"/>
                            </a:rPr>
                            <m:t>)</m:t>
                          </m:r>
                          <m:sSup>
                            <m:sSupPr>
                              <m:ctrlPr>
                                <a:rPr lang="en-US" sz="4000" i="1">
                                  <a:solidFill>
                                    <a:srgbClr val="000000"/>
                                  </a:solidFill>
                                  <a:latin typeface="Cambria Math" panose="02040503050406030204" pitchFamily="18" charset="0"/>
                                </a:rPr>
                              </m:ctrlPr>
                            </m:sSupPr>
                            <m:e>
                              <m:r>
                                <a:rPr lang="en-US" sz="4000" i="1">
                                  <a:solidFill>
                                    <a:srgbClr val="000000"/>
                                  </a:solidFill>
                                  <a:latin typeface="Cambria Math" panose="02040503050406030204" pitchFamily="18" charset="0"/>
                                </a:rPr>
                                <m:t>)</m:t>
                              </m:r>
                            </m:e>
                            <m:sup/>
                          </m:sSup>
                        </m:e>
                      </m:nary>
                    </m:oMath>
                  </m:oMathPara>
                </a14:m>
                <a:endParaRPr lang="en-US" sz="4000" dirty="0"/>
              </a:p>
            </p:txBody>
          </p:sp>
        </mc:Choice>
        <mc:Fallback xmlns="">
          <p:sp>
            <p:nvSpPr>
              <p:cNvPr id="55304" name="Object 8">
                <a:extLst>
                  <a:ext uri="{FF2B5EF4-FFF2-40B4-BE49-F238E27FC236}">
                    <a16:creationId xmlns:a16="http://schemas.microsoft.com/office/drawing/2014/main" id="{FE8A0EA6-94CE-4095-944F-81E416CFFF93}"/>
                  </a:ext>
                </a:extLst>
              </p:cNvPr>
              <p:cNvSpPr txBox="1">
                <a:spLocks noRot="1" noChangeAspect="1" noMove="1" noResize="1" noEditPoints="1" noAdjustHandles="1" noChangeArrowheads="1" noChangeShapeType="1" noTextEdit="1"/>
              </p:cNvSpPr>
              <p:nvPr/>
            </p:nvSpPr>
            <p:spPr bwMode="auto">
              <a:xfrm>
                <a:off x="457200" y="5410200"/>
                <a:ext cx="8305800" cy="1119188"/>
              </a:xfrm>
              <a:prstGeom prst="rect">
                <a:avLst/>
              </a:prstGeom>
              <a:blipFill>
                <a:blip r:embed="rId3"/>
                <a:stretch>
                  <a:fillRect/>
                </a:stretch>
              </a:blipFill>
            </p:spPr>
            <p:txBody>
              <a:bodyPr/>
              <a:lstStyle/>
              <a:p>
                <a:r>
                  <a:rPr lang="en-US">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13468-709D-4534-926E-43205352DEFB}"/>
              </a:ext>
            </a:extLst>
          </p:cNvPr>
          <p:cNvSpPr>
            <a:spLocks noGrp="1"/>
          </p:cNvSpPr>
          <p:nvPr>
            <p:ph type="title"/>
          </p:nvPr>
        </p:nvSpPr>
        <p:spPr/>
        <p:txBody>
          <a:bodyPr/>
          <a:lstStyle/>
          <a:p>
            <a:r>
              <a:rPr lang="en-IN" dirty="0">
                <a:latin typeface="Modern Love" panose="04090805081005020601" pitchFamily="82" charset="0"/>
              </a:rPr>
              <a:t>Pair-wise additivity</a:t>
            </a:r>
          </a:p>
        </p:txBody>
      </p:sp>
      <p:sp>
        <p:nvSpPr>
          <p:cNvPr id="3" name="Content Placeholder 2">
            <a:extLst>
              <a:ext uri="{FF2B5EF4-FFF2-40B4-BE49-F238E27FC236}">
                <a16:creationId xmlns:a16="http://schemas.microsoft.com/office/drawing/2014/main" id="{CBE29D50-34C8-43F8-8B4E-955160E2C00E}"/>
              </a:ext>
            </a:extLst>
          </p:cNvPr>
          <p:cNvSpPr>
            <a:spLocks noGrp="1"/>
          </p:cNvSpPr>
          <p:nvPr>
            <p:ph idx="1"/>
          </p:nvPr>
        </p:nvSpPr>
        <p:spPr>
          <a:xfrm>
            <a:off x="0" y="1676400"/>
            <a:ext cx="9144000" cy="4525963"/>
          </a:xfrm>
        </p:spPr>
        <p:txBody>
          <a:bodyPr>
            <a:noAutofit/>
          </a:bodyPr>
          <a:lstStyle/>
          <a:p>
            <a:pPr algn="just"/>
            <a:r>
              <a:rPr lang="en-IN" sz="2400" b="0" i="0" dirty="0">
                <a:solidFill>
                  <a:srgbClr val="000000"/>
                </a:solidFill>
                <a:effectLst/>
                <a:latin typeface="Century Schoolbook" panose="02040604050505020304" pitchFamily="18" charset="0"/>
                <a:cs typeface="Times New Roman" panose="02020603050405020304" pitchFamily="18" charset="0"/>
              </a:rPr>
              <a:t>An approximation introduced to decrease the computational demand is the pair-wise additive approximation, i.e., interaction energy between one atom and the rest of the system is calculated as a sum of pair-wise (on atom to one atom) interactions, or as if the pair of atoms do not see the other atoms in the system. </a:t>
            </a:r>
          </a:p>
          <a:p>
            <a:pPr algn="just"/>
            <a:r>
              <a:rPr lang="en-IN" sz="2400" b="0" i="0" dirty="0">
                <a:solidFill>
                  <a:srgbClr val="000000"/>
                </a:solidFill>
                <a:effectLst/>
                <a:latin typeface="Century Schoolbook" panose="02040604050505020304" pitchFamily="18" charset="0"/>
                <a:cs typeface="Times New Roman" panose="02020603050405020304" pitchFamily="18" charset="0"/>
              </a:rPr>
              <a:t>The simultaneous interaction between three or more atoms is not calculated, so certain polarization effects are not explicitly included in the force field.</a:t>
            </a:r>
          </a:p>
          <a:p>
            <a:pPr algn="just"/>
            <a:r>
              <a:rPr lang="en-IN" sz="2400" b="0" i="0" dirty="0">
                <a:solidFill>
                  <a:srgbClr val="000000"/>
                </a:solidFill>
                <a:effectLst/>
                <a:latin typeface="Century Schoolbook" panose="02040604050505020304" pitchFamily="18" charset="0"/>
                <a:cs typeface="Times New Roman" panose="02020603050405020304" pitchFamily="18" charset="0"/>
              </a:rPr>
              <a:t>This can lead to subtle differences between calculated and experimental results, for example, in the calculation of experimentally observable </a:t>
            </a:r>
            <a:r>
              <a:rPr lang="en-IN" sz="2400" b="0" i="0" dirty="0" err="1">
                <a:solidFill>
                  <a:srgbClr val="000000"/>
                </a:solidFill>
                <a:effectLst/>
                <a:latin typeface="Century Schoolbook" panose="02040604050505020304" pitchFamily="18" charset="0"/>
                <a:cs typeface="Times New Roman" panose="02020603050405020304" pitchFamily="18" charset="0"/>
              </a:rPr>
              <a:t>pK</a:t>
            </a:r>
            <a:r>
              <a:rPr lang="en-IN" sz="2400" b="0" i="0" dirty="0">
                <a:solidFill>
                  <a:srgbClr val="000000"/>
                </a:solidFill>
                <a:effectLst/>
                <a:latin typeface="Century Schoolbook" panose="02040604050505020304" pitchFamily="18" charset="0"/>
                <a:cs typeface="Times New Roman" panose="02020603050405020304" pitchFamily="18" charset="0"/>
              </a:rPr>
              <a:t> shifts of ionizable amino acid residue side chains induced by electrostatic field of the whole protein .</a:t>
            </a:r>
          </a:p>
          <a:p>
            <a:pPr marL="0" indent="0">
              <a:buNone/>
            </a:pPr>
            <a:endParaRPr lang="en-IN" sz="2400" dirty="0">
              <a:latin typeface="Century Schoolbook" panose="02040604050505020304" pitchFamily="18" charset="0"/>
            </a:endParaRPr>
          </a:p>
        </p:txBody>
      </p:sp>
    </p:spTree>
    <p:extLst>
      <p:ext uri="{BB962C8B-B14F-4D97-AF65-F5344CB8AC3E}">
        <p14:creationId xmlns:p14="http://schemas.microsoft.com/office/powerpoint/2010/main" val="12405306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4" name="Rectangle 8">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The Hand"/>
            </a:endParaRPr>
          </a:p>
        </p:txBody>
      </p:sp>
      <p:sp>
        <p:nvSpPr>
          <p:cNvPr id="2" name="Title 1">
            <a:extLst>
              <a:ext uri="{FF2B5EF4-FFF2-40B4-BE49-F238E27FC236}">
                <a16:creationId xmlns:a16="http://schemas.microsoft.com/office/drawing/2014/main" id="{8C3A9E2C-079D-4E24-A59C-EEAF30B570C6}"/>
              </a:ext>
            </a:extLst>
          </p:cNvPr>
          <p:cNvSpPr>
            <a:spLocks noGrp="1"/>
          </p:cNvSpPr>
          <p:nvPr>
            <p:ph type="ctrTitle"/>
          </p:nvPr>
        </p:nvSpPr>
        <p:spPr>
          <a:xfrm>
            <a:off x="479162" y="3592743"/>
            <a:ext cx="8182230" cy="1290515"/>
          </a:xfrm>
        </p:spPr>
        <p:txBody>
          <a:bodyPr anchor="b">
            <a:normAutofit/>
          </a:bodyPr>
          <a:lstStyle/>
          <a:p>
            <a:pPr algn="ctr"/>
            <a:r>
              <a:rPr lang="en-US" sz="6000" dirty="0"/>
              <a:t>Thank you</a:t>
            </a:r>
            <a:endParaRPr lang="en-US" sz="2325" dirty="0"/>
          </a:p>
        </p:txBody>
      </p:sp>
      <p:sp>
        <p:nvSpPr>
          <p:cNvPr id="145"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7" y="4989039"/>
            <a:ext cx="3429000" cy="20574"/>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4242A7"/>
          </a:solidFill>
          <a:ln w="38100" cap="rnd">
            <a:solidFill>
              <a:srgbClr val="4242A7"/>
            </a:solidFill>
            <a:round/>
            <a:extLst>
              <a:ext uri="{C807C97D-BFC1-408E-A445-0C87EB9F89A2}">
                <ask:lineSketchStyleProps xmlns:ask="http://schemas.microsoft.com/office/drawing/2018/sketchyshapes" sd="1219033472">
                  <a:custGeom>
                    <a:avLst/>
                    <a:gdLst>
                      <a:gd name="connsiteX0" fmla="*/ 0 w 3429000"/>
                      <a:gd name="connsiteY0" fmla="*/ 0 h 20574"/>
                      <a:gd name="connsiteX1" fmla="*/ 651510 w 3429000"/>
                      <a:gd name="connsiteY1" fmla="*/ 0 h 20574"/>
                      <a:gd name="connsiteX2" fmla="*/ 1337310 w 3429000"/>
                      <a:gd name="connsiteY2" fmla="*/ 0 h 20574"/>
                      <a:gd name="connsiteX3" fmla="*/ 2057400 w 3429000"/>
                      <a:gd name="connsiteY3" fmla="*/ 0 h 20574"/>
                      <a:gd name="connsiteX4" fmla="*/ 2777490 w 3429000"/>
                      <a:gd name="connsiteY4" fmla="*/ 0 h 20574"/>
                      <a:gd name="connsiteX5" fmla="*/ 3429000 w 3429000"/>
                      <a:gd name="connsiteY5" fmla="*/ 0 h 20574"/>
                      <a:gd name="connsiteX6" fmla="*/ 3429000 w 3429000"/>
                      <a:gd name="connsiteY6" fmla="*/ 20574 h 20574"/>
                      <a:gd name="connsiteX7" fmla="*/ 2674620 w 3429000"/>
                      <a:gd name="connsiteY7" fmla="*/ 20574 h 20574"/>
                      <a:gd name="connsiteX8" fmla="*/ 1920240 w 3429000"/>
                      <a:gd name="connsiteY8" fmla="*/ 20574 h 20574"/>
                      <a:gd name="connsiteX9" fmla="*/ 1234440 w 3429000"/>
                      <a:gd name="connsiteY9" fmla="*/ 20574 h 20574"/>
                      <a:gd name="connsiteX10" fmla="*/ 0 w 3429000"/>
                      <a:gd name="connsiteY10" fmla="*/ 20574 h 20574"/>
                      <a:gd name="connsiteX11" fmla="*/ 0 w 3429000"/>
                      <a:gd name="connsiteY11" fmla="*/ 0 h 20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9000" h="20574" fill="none" extrusionOk="0">
                        <a:moveTo>
                          <a:pt x="0" y="0"/>
                        </a:moveTo>
                        <a:cubicBezTo>
                          <a:pt x="134033" y="-6176"/>
                          <a:pt x="393312" y="-724"/>
                          <a:pt x="651510" y="0"/>
                        </a:cubicBezTo>
                        <a:cubicBezTo>
                          <a:pt x="909708" y="724"/>
                          <a:pt x="1063218" y="-2211"/>
                          <a:pt x="1337310" y="0"/>
                        </a:cubicBezTo>
                        <a:cubicBezTo>
                          <a:pt x="1611402" y="2211"/>
                          <a:pt x="1767318" y="-34251"/>
                          <a:pt x="2057400" y="0"/>
                        </a:cubicBezTo>
                        <a:cubicBezTo>
                          <a:pt x="2347482" y="34251"/>
                          <a:pt x="2520601" y="14672"/>
                          <a:pt x="2777490" y="0"/>
                        </a:cubicBezTo>
                        <a:cubicBezTo>
                          <a:pt x="3034379" y="-14672"/>
                          <a:pt x="3208225" y="22331"/>
                          <a:pt x="3429000" y="0"/>
                        </a:cubicBezTo>
                        <a:cubicBezTo>
                          <a:pt x="3428177" y="8892"/>
                          <a:pt x="3429388" y="12703"/>
                          <a:pt x="3429000" y="20574"/>
                        </a:cubicBezTo>
                        <a:cubicBezTo>
                          <a:pt x="3254513" y="-3629"/>
                          <a:pt x="2996008" y="-3143"/>
                          <a:pt x="2674620" y="20574"/>
                        </a:cubicBezTo>
                        <a:cubicBezTo>
                          <a:pt x="2353232" y="44291"/>
                          <a:pt x="2172773" y="-16000"/>
                          <a:pt x="1920240" y="20574"/>
                        </a:cubicBezTo>
                        <a:cubicBezTo>
                          <a:pt x="1667707" y="57148"/>
                          <a:pt x="1571981" y="52040"/>
                          <a:pt x="1234440" y="20574"/>
                        </a:cubicBezTo>
                        <a:cubicBezTo>
                          <a:pt x="896899" y="-10892"/>
                          <a:pt x="605178" y="66897"/>
                          <a:pt x="0" y="20574"/>
                        </a:cubicBezTo>
                        <a:cubicBezTo>
                          <a:pt x="-161" y="11630"/>
                          <a:pt x="139" y="4527"/>
                          <a:pt x="0" y="0"/>
                        </a:cubicBezTo>
                        <a:close/>
                      </a:path>
                      <a:path w="3429000" h="20574" stroke="0" extrusionOk="0">
                        <a:moveTo>
                          <a:pt x="0" y="0"/>
                        </a:moveTo>
                        <a:cubicBezTo>
                          <a:pt x="296065" y="-25938"/>
                          <a:pt x="508101" y="15049"/>
                          <a:pt x="651510" y="0"/>
                        </a:cubicBezTo>
                        <a:cubicBezTo>
                          <a:pt x="794919" y="-15049"/>
                          <a:pt x="977878" y="13267"/>
                          <a:pt x="1234440" y="0"/>
                        </a:cubicBezTo>
                        <a:cubicBezTo>
                          <a:pt x="1491002" y="-13267"/>
                          <a:pt x="1758685" y="-13612"/>
                          <a:pt x="1988820" y="0"/>
                        </a:cubicBezTo>
                        <a:cubicBezTo>
                          <a:pt x="2218955" y="13612"/>
                          <a:pt x="2387946" y="-27527"/>
                          <a:pt x="2640330" y="0"/>
                        </a:cubicBezTo>
                        <a:cubicBezTo>
                          <a:pt x="2892714" y="27527"/>
                          <a:pt x="3237953" y="9759"/>
                          <a:pt x="3429000" y="0"/>
                        </a:cubicBezTo>
                        <a:cubicBezTo>
                          <a:pt x="3429536" y="8886"/>
                          <a:pt x="3428355" y="10327"/>
                          <a:pt x="3429000" y="20574"/>
                        </a:cubicBezTo>
                        <a:cubicBezTo>
                          <a:pt x="3086957" y="22115"/>
                          <a:pt x="3046990" y="41209"/>
                          <a:pt x="2743200" y="20574"/>
                        </a:cubicBezTo>
                        <a:cubicBezTo>
                          <a:pt x="2439410" y="-61"/>
                          <a:pt x="2155452" y="43848"/>
                          <a:pt x="1988820" y="20574"/>
                        </a:cubicBezTo>
                        <a:cubicBezTo>
                          <a:pt x="1822188" y="-2700"/>
                          <a:pt x="1528974" y="-3574"/>
                          <a:pt x="1405890" y="20574"/>
                        </a:cubicBezTo>
                        <a:cubicBezTo>
                          <a:pt x="1282806" y="44722"/>
                          <a:pt x="990983" y="26866"/>
                          <a:pt x="720090" y="20574"/>
                        </a:cubicBezTo>
                        <a:cubicBezTo>
                          <a:pt x="449197" y="14282"/>
                          <a:pt x="296143" y="23103"/>
                          <a:pt x="0" y="20574"/>
                        </a:cubicBezTo>
                        <a:cubicBezTo>
                          <a:pt x="271" y="13936"/>
                          <a:pt x="-429" y="8006"/>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The Hand"/>
            </a:endParaRPr>
          </a:p>
        </p:txBody>
      </p:sp>
      <p:sp>
        <p:nvSpPr>
          <p:cNvPr id="146"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5624513"/>
            <a:ext cx="2057400" cy="273844"/>
          </a:xfrm>
          <a:prstGeom prst="rect">
            <a:avLst/>
          </a:prstGeom>
        </p:spPr>
        <p:txBody>
          <a:bodyPr vert="horz" lIns="68580" tIns="34290" rIns="68580" bIns="3429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200" dirty="0">
              <a:solidFill>
                <a:prstClr val="black"/>
              </a:solidFill>
              <a:latin typeface="The Hand"/>
            </a:endParaRPr>
          </a:p>
        </p:txBody>
      </p:sp>
      <p:sp>
        <p:nvSpPr>
          <p:cNvPr id="15"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8950" y="5624513"/>
            <a:ext cx="3086100" cy="273844"/>
          </a:xfrm>
          <a:prstGeom prst="rect">
            <a:avLst/>
          </a:prstGeom>
        </p:spPr>
        <p:txBody>
          <a:bodyPr vert="horz" lIns="68580" tIns="34290" rIns="68580" bIns="3429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200" dirty="0">
              <a:solidFill>
                <a:prstClr val="black"/>
              </a:solidFill>
              <a:latin typeface="The Hand"/>
            </a:endParaRPr>
          </a:p>
        </p:txBody>
      </p:sp>
      <p:sp>
        <p:nvSpPr>
          <p:cNvPr id="17"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7950" y="562451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200" dirty="0">
              <a:solidFill>
                <a:prstClr val="black"/>
              </a:solidFill>
              <a:latin typeface="The Hand"/>
            </a:endParaRPr>
          </a:p>
        </p:txBody>
      </p:sp>
      <p:pic>
        <p:nvPicPr>
          <p:cNvPr id="3" name="Picture 2">
            <a:extLst>
              <a:ext uri="{FF2B5EF4-FFF2-40B4-BE49-F238E27FC236}">
                <a16:creationId xmlns:a16="http://schemas.microsoft.com/office/drawing/2014/main" id="{7ECF3561-8EF0-426A-922F-10B9E2C8FA81}"/>
              </a:ext>
            </a:extLst>
          </p:cNvPr>
          <p:cNvPicPr>
            <a:picLocks noChangeAspect="1"/>
          </p:cNvPicPr>
          <p:nvPr/>
        </p:nvPicPr>
        <p:blipFill>
          <a:blip r:embed="rId2"/>
          <a:stretch>
            <a:fillRect/>
          </a:stretch>
        </p:blipFill>
        <p:spPr>
          <a:xfrm>
            <a:off x="2401469" y="1231559"/>
            <a:ext cx="4357494" cy="2487383"/>
          </a:xfrm>
          <a:prstGeom prst="rect">
            <a:avLst/>
          </a:prstGeom>
        </p:spPr>
      </p:pic>
    </p:spTree>
    <p:extLst>
      <p:ext uri="{BB962C8B-B14F-4D97-AF65-F5344CB8AC3E}">
        <p14:creationId xmlns:p14="http://schemas.microsoft.com/office/powerpoint/2010/main" val="33957201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7506</TotalTime>
  <Words>2206</Words>
  <Application>Microsoft Office PowerPoint</Application>
  <PresentationFormat>On-screen Show (4:3)</PresentationFormat>
  <Paragraphs>238</Paragraphs>
  <Slides>50</Slides>
  <Notes>18</Notes>
  <HiddenSlides>1</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3</vt:i4>
      </vt:variant>
      <vt:variant>
        <vt:lpstr>Slide Titles</vt:lpstr>
      </vt:variant>
      <vt:variant>
        <vt:i4>50</vt:i4>
      </vt:variant>
    </vt:vector>
  </HeadingPairs>
  <TitlesOfParts>
    <vt:vector size="67" baseType="lpstr">
      <vt:lpstr>Arial</vt:lpstr>
      <vt:lpstr>Calibri</vt:lpstr>
      <vt:lpstr>Calibri Light</vt:lpstr>
      <vt:lpstr>Cambria Math</vt:lpstr>
      <vt:lpstr>Century</vt:lpstr>
      <vt:lpstr>Century Schoolbook</vt:lpstr>
      <vt:lpstr>Courier New</vt:lpstr>
      <vt:lpstr>Modern Love</vt:lpstr>
      <vt:lpstr>The Hand</vt:lpstr>
      <vt:lpstr>Times</vt:lpstr>
      <vt:lpstr>Times New Roman</vt:lpstr>
      <vt:lpstr>Wingdings</vt:lpstr>
      <vt:lpstr>Office Theme</vt:lpstr>
      <vt:lpstr>SketchyVTI</vt:lpstr>
      <vt:lpstr>CS ChemDraw Drawing</vt:lpstr>
      <vt:lpstr>Microsoft Equation 3.0</vt:lpstr>
      <vt:lpstr>Equation</vt:lpstr>
      <vt:lpstr>Intermolecular Forces and Potential Energy Surfaces  Dr. Saurav Prasad</vt:lpstr>
      <vt:lpstr>States of Matter</vt:lpstr>
      <vt:lpstr>Differences in the States of Matter</vt:lpstr>
      <vt:lpstr>Which State of Matter?</vt:lpstr>
      <vt:lpstr>intER vs. intRA molecular forces </vt:lpstr>
      <vt:lpstr>Intermolecular Forces</vt:lpstr>
      <vt:lpstr>Types of Intermolecular Force</vt:lpstr>
      <vt:lpstr>Dispersion Forces</vt:lpstr>
      <vt:lpstr>Factors Which Affect Amount of Dispersion Force in a Molecule</vt:lpstr>
      <vt:lpstr>Dipole–Dipole Interactions</vt:lpstr>
      <vt:lpstr>Dipole–Dipole Interactions</vt:lpstr>
      <vt:lpstr>Question</vt:lpstr>
      <vt:lpstr>Which Have a Greater Effect: Dipole–Dipole Interactions or Dispersion Forces?</vt:lpstr>
      <vt:lpstr>What Does This Graph Show Us?</vt:lpstr>
      <vt:lpstr>Hydrogen Bonding</vt:lpstr>
      <vt:lpstr>What Forms Hydrogen Bonds?</vt:lpstr>
      <vt:lpstr>Ion–Dipole Interactions</vt:lpstr>
      <vt:lpstr>Summarizing Intermolecular Forces</vt:lpstr>
      <vt:lpstr>Liquid Properties Affected by Intermolecular Forces</vt:lpstr>
      <vt:lpstr>Viscosity</vt:lpstr>
      <vt:lpstr>Surface Tension</vt:lpstr>
      <vt:lpstr>Cohesion and Adhesion</vt:lpstr>
      <vt:lpstr>Capillary 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Force-field</vt:lpstr>
      <vt:lpstr>Interactions in molecules</vt:lpstr>
      <vt:lpstr>What is the Potential?</vt:lpstr>
      <vt:lpstr>Non-Bonded Atoms</vt:lpstr>
      <vt:lpstr>Bonded Atoms</vt:lpstr>
      <vt:lpstr>The Electrostatic Potential</vt:lpstr>
      <vt:lpstr>The van der Waals Potential</vt:lpstr>
      <vt:lpstr>PowerPoint Presentation</vt:lpstr>
      <vt:lpstr>Bonded Atoms</vt:lpstr>
      <vt:lpstr>Bond Length Potentials</vt:lpstr>
      <vt:lpstr>Bond Angle Potentials</vt:lpstr>
      <vt:lpstr>Torsional Potentials</vt:lpstr>
      <vt:lpstr>Pair-wise additivity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Intermolecular Forces and Potential Energy Surfaces  Dr. Saurav Prasad</dc:title>
  <dc:creator>Saurav Prasad</dc:creator>
  <cp:lastModifiedBy>Author</cp:lastModifiedBy>
  <cp:revision>18</cp:revision>
  <dcterms:created xsi:type="dcterms:W3CDTF">2021-06-28T18:37:07Z</dcterms:created>
  <dcterms:modified xsi:type="dcterms:W3CDTF">2023-12-13T18:43:52Z</dcterms:modified>
</cp:coreProperties>
</file>