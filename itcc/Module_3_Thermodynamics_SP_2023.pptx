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5" r:id="rId1"/>
    <p:sldMasterId id="2147483697" r:id="rId2"/>
  </p:sldMasterIdLst>
  <p:sldIdLst>
    <p:sldId id="1126" r:id="rId3"/>
    <p:sldId id="1049" r:id="rId4"/>
    <p:sldId id="1050" r:id="rId5"/>
    <p:sldId id="1051" r:id="rId6"/>
    <p:sldId id="1052" r:id="rId7"/>
    <p:sldId id="1053" r:id="rId8"/>
    <p:sldId id="1054" r:id="rId9"/>
    <p:sldId id="1055" r:id="rId10"/>
    <p:sldId id="1056" r:id="rId11"/>
    <p:sldId id="1057" r:id="rId12"/>
    <p:sldId id="1058" r:id="rId13"/>
    <p:sldId id="1059" r:id="rId14"/>
    <p:sldId id="1060" r:id="rId15"/>
    <p:sldId id="1061" r:id="rId16"/>
    <p:sldId id="1062" r:id="rId17"/>
    <p:sldId id="1063" r:id="rId18"/>
    <p:sldId id="1064" r:id="rId19"/>
    <p:sldId id="1065" r:id="rId20"/>
    <p:sldId id="1066" r:id="rId21"/>
    <p:sldId id="1067" r:id="rId22"/>
    <p:sldId id="1069" r:id="rId23"/>
    <p:sldId id="1070" r:id="rId24"/>
    <p:sldId id="1068" r:id="rId25"/>
    <p:sldId id="1071" r:id="rId26"/>
    <p:sldId id="1072" r:id="rId27"/>
    <p:sldId id="1073" r:id="rId28"/>
    <p:sldId id="1074" r:id="rId29"/>
    <p:sldId id="1075" r:id="rId30"/>
    <p:sldId id="1076" r:id="rId31"/>
    <p:sldId id="1127" r:id="rId32"/>
    <p:sldId id="1129" r:id="rId33"/>
    <p:sldId id="1077" r:id="rId34"/>
    <p:sldId id="1078" r:id="rId35"/>
    <p:sldId id="1079" r:id="rId36"/>
    <p:sldId id="1080" r:id="rId37"/>
    <p:sldId id="1081" r:id="rId38"/>
    <p:sldId id="1082" r:id="rId39"/>
    <p:sldId id="1083" r:id="rId40"/>
    <p:sldId id="1084" r:id="rId41"/>
    <p:sldId id="1085" r:id="rId42"/>
    <p:sldId id="1086" r:id="rId43"/>
    <p:sldId id="1087" r:id="rId44"/>
    <p:sldId id="1128" r:id="rId45"/>
    <p:sldId id="1088" r:id="rId46"/>
    <p:sldId id="1089" r:id="rId47"/>
    <p:sldId id="1090" r:id="rId48"/>
    <p:sldId id="1091" r:id="rId49"/>
    <p:sldId id="1092" r:id="rId50"/>
    <p:sldId id="1093" r:id="rId51"/>
    <p:sldId id="1094" r:id="rId52"/>
    <p:sldId id="1107" r:id="rId53"/>
    <p:sldId id="1108" r:id="rId54"/>
    <p:sldId id="1109" r:id="rId55"/>
    <p:sldId id="1110" r:id="rId56"/>
    <p:sldId id="1111" r:id="rId57"/>
    <p:sldId id="1112" r:id="rId58"/>
    <p:sldId id="1113" r:id="rId59"/>
    <p:sldId id="1114" r:id="rId60"/>
    <p:sldId id="1115" r:id="rId61"/>
    <p:sldId id="1116" r:id="rId62"/>
    <p:sldId id="1117" r:id="rId63"/>
    <p:sldId id="1118" r:id="rId64"/>
    <p:sldId id="1119" r:id="rId65"/>
    <p:sldId id="1120" r:id="rId66"/>
    <p:sldId id="1121" r:id="rId67"/>
    <p:sldId id="1122" r:id="rId68"/>
    <p:sldId id="1123" r:id="rId69"/>
    <p:sldId id="1124" r:id="rId70"/>
    <p:sldId id="1125" r:id="rId71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72"/>
    </p:embeddedFont>
    <p:embeddedFont>
      <p:font typeface="Calibri" panose="020F0502020204030204" pitchFamily="34" charset="0"/>
      <p:regular r:id="rId73"/>
      <p:bold r:id="rId74"/>
      <p:italic r:id="rId75"/>
      <p:boldItalic r:id="rId76"/>
    </p:embeddedFont>
    <p:embeddedFont>
      <p:font typeface="Calibri Light" panose="020F0302020204030204" pitchFamily="34" charset="0"/>
      <p:regular r:id="rId77"/>
      <p:italic r:id="rId78"/>
    </p:embeddedFont>
    <p:embeddedFont>
      <p:font typeface="Cambria Math" panose="02040503050406030204" pitchFamily="18" charset="0"/>
      <p:regular r:id="rId79"/>
    </p:embeddedFont>
    <p:embeddedFont>
      <p:font typeface="Modern Love" panose="04090805081005020601" pitchFamily="82" charset="0"/>
      <p:regular r:id="rId80"/>
    </p:embeddedFont>
    <p:embeddedFont>
      <p:font typeface="The Hand" panose="03070502030502020204" pitchFamily="66" charset="0"/>
      <p:regular r:id="rId81"/>
      <p:bold r:id="rId8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42" autoAdjust="0"/>
  </p:normalViewPr>
  <p:slideViewPr>
    <p:cSldViewPr snapToGrid="0">
      <p:cViewPr varScale="1">
        <p:scale>
          <a:sx n="60" d="100"/>
          <a:sy n="60" d="100"/>
        </p:scale>
        <p:origin x="1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font" Target="fonts/font5.fntdata"/><Relationship Id="rId84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font" Target="fonts/font11.fntdata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font" Target="fonts/font6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font" Target="fonts/font4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E44EB-571D-4D88-94E7-5BE48B0FAF32}" type="datetime1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BC6C-734C-954C-B1EA-9285570DF1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81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9156-A9FB-4EB1-817D-2A94D069E9B5}" type="datetime1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C6DFE3-B218-4F6F-8CEC-C5F88265FFC1}"/>
              </a:ext>
            </a:extLst>
          </p:cNvPr>
          <p:cNvGrpSpPr/>
          <p:nvPr userDrawn="1"/>
        </p:nvGrpSpPr>
        <p:grpSpPr>
          <a:xfrm>
            <a:off x="0" y="0"/>
            <a:ext cx="9144000" cy="609600"/>
            <a:chOff x="0" y="0"/>
            <a:chExt cx="9144000" cy="762000"/>
          </a:xfrm>
        </p:grpSpPr>
        <p:pic>
          <p:nvPicPr>
            <p:cNvPr id="8" name="Picture 7" descr="Screen Shot 2017-06-27 at 2.50.45 PM.png">
              <a:extLst>
                <a:ext uri="{FF2B5EF4-FFF2-40B4-BE49-F238E27FC236}">
                  <a16:creationId xmlns:a16="http://schemas.microsoft.com/office/drawing/2014/main" id="{EE695828-5339-44A4-BC33-0B0D393FDB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762000"/>
            </a:xfrm>
            <a:prstGeom prst="rect">
              <a:avLst/>
            </a:prstGeom>
          </p:spPr>
        </p:pic>
        <p:pic>
          <p:nvPicPr>
            <p:cNvPr id="9" name="Picture 8" descr="Screen Shot 2017-06-27 at 2.39.30 PM.png">
              <a:extLst>
                <a:ext uri="{FF2B5EF4-FFF2-40B4-BE49-F238E27FC236}">
                  <a16:creationId xmlns:a16="http://schemas.microsoft.com/office/drawing/2014/main" id="{FB37AF88-D0F0-4A27-90EE-6924EEC30A3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5" t="16430" r="8567"/>
            <a:stretch/>
          </p:blipFill>
          <p:spPr>
            <a:xfrm>
              <a:off x="7696200" y="0"/>
              <a:ext cx="1447800" cy="741041"/>
            </a:xfrm>
            <a:prstGeom prst="rect">
              <a:avLst/>
            </a:prstGeom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5B98D5-67B8-4EBB-AA67-A1D603F0B1E9}"/>
              </a:ext>
            </a:extLst>
          </p:cNvPr>
          <p:cNvCxnSpPr/>
          <p:nvPr userDrawn="1"/>
        </p:nvCxnSpPr>
        <p:spPr>
          <a:xfrm>
            <a:off x="0" y="6781800"/>
            <a:ext cx="9144000" cy="0"/>
          </a:xfrm>
          <a:prstGeom prst="line">
            <a:avLst/>
          </a:prstGeom>
          <a:ln>
            <a:solidFill>
              <a:srgbClr val="3C4FBD"/>
            </a:solidFill>
          </a:ln>
          <a:effectLst>
            <a:glow rad="101600">
              <a:schemeClr val="accent1">
                <a:alpha val="75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creen Shot 2017-06-27 at 2.39.30 PM.png">
            <a:extLst>
              <a:ext uri="{FF2B5EF4-FFF2-40B4-BE49-F238E27FC236}">
                <a16:creationId xmlns:a16="http://schemas.microsoft.com/office/drawing/2014/main" id="{59F3C6C6-89B3-44D5-AEB6-1445231B38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8000" contrast="-5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03" t="924" r="8507" b="355"/>
          <a:stretch/>
        </p:blipFill>
        <p:spPr>
          <a:xfrm>
            <a:off x="1" y="990600"/>
            <a:ext cx="918895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93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BB50-88AA-41F5-86F2-A28CBECE6C38}" type="datetime1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8F41-487A-214C-BEC3-687F4FA1AE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7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1F14-F873-4175-ADED-A2BD91AE506B}" type="datetime1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3B62-5097-D647-8933-71776893D4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1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F643-BA9A-4F76-B3DE-91A972E31D03}" type="datetime1">
              <a:rPr lang="en-US" smtClean="0"/>
              <a:t>1/2/2023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41227-184C-7740-8AD2-FF79A1EB08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9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0FA0-EB65-4C87-9370-654E30A89F68}" type="datetime1">
              <a:rPr lang="en-US" smtClean="0"/>
              <a:t>1/2/2023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DDD5C-C214-D04F-980C-2CFFAAE5D1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3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B6FFD-D37E-4CA2-BAD0-BC368DDBCC75}" type="datetime1">
              <a:rPr lang="en-US" smtClean="0"/>
              <a:t>1/2/2023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42C3-8250-494D-BE09-42B561D9C5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4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D02FE-7214-4942-BB7F-3C9E433FAE2D}" type="datetime1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7CB7E-F011-704A-B5BC-CEE962CD4D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28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83235-9B81-41FC-9460-B06FF79D4850}" type="datetime1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DA2AF-43F1-3F47-A3CC-3BC98EA670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5D9D-E57C-4FF3-8370-021FDF76948F}" type="datetime1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DAA67-30A6-1340-AF8B-36EC9F2936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8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4600F-FDE4-4A99-8401-132EFC405350}" type="datetime1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E823-F5B1-7345-BFCD-F9956EF50C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628650" y="4736883"/>
            <a:ext cx="3182692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182692"/>
                      <a:gd name="connsiteY0" fmla="*/ 0 h 27432"/>
                      <a:gd name="connsiteX1" fmla="*/ 604711 w 3182692"/>
                      <a:gd name="connsiteY1" fmla="*/ 0 h 27432"/>
                      <a:gd name="connsiteX2" fmla="*/ 1241250 w 3182692"/>
                      <a:gd name="connsiteY2" fmla="*/ 0 h 27432"/>
                      <a:gd name="connsiteX3" fmla="*/ 1909615 w 3182692"/>
                      <a:gd name="connsiteY3" fmla="*/ 0 h 27432"/>
                      <a:gd name="connsiteX4" fmla="*/ 2577981 w 3182692"/>
                      <a:gd name="connsiteY4" fmla="*/ 0 h 27432"/>
                      <a:gd name="connsiteX5" fmla="*/ 3182692 w 3182692"/>
                      <a:gd name="connsiteY5" fmla="*/ 0 h 27432"/>
                      <a:gd name="connsiteX6" fmla="*/ 3182692 w 3182692"/>
                      <a:gd name="connsiteY6" fmla="*/ 27432 h 27432"/>
                      <a:gd name="connsiteX7" fmla="*/ 2482500 w 3182692"/>
                      <a:gd name="connsiteY7" fmla="*/ 27432 h 27432"/>
                      <a:gd name="connsiteX8" fmla="*/ 1782308 w 3182692"/>
                      <a:gd name="connsiteY8" fmla="*/ 27432 h 27432"/>
                      <a:gd name="connsiteX9" fmla="*/ 1145769 w 3182692"/>
                      <a:gd name="connsiteY9" fmla="*/ 27432 h 27432"/>
                      <a:gd name="connsiteX10" fmla="*/ 0 w 3182692"/>
                      <a:gd name="connsiteY10" fmla="*/ 27432 h 27432"/>
                      <a:gd name="connsiteX11" fmla="*/ 0 w 3182692"/>
                      <a:gd name="connsiteY11" fmla="*/ 0 h 27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182692" h="27432" fill="none" extrusionOk="0">
                        <a:moveTo>
                          <a:pt x="0" y="0"/>
                        </a:moveTo>
                        <a:cubicBezTo>
                          <a:pt x="126686" y="-21366"/>
                          <a:pt x="467788" y="9025"/>
                          <a:pt x="604711" y="0"/>
                        </a:cubicBezTo>
                        <a:cubicBezTo>
                          <a:pt x="741634" y="-9025"/>
                          <a:pt x="1061620" y="6814"/>
                          <a:pt x="1241250" y="0"/>
                        </a:cubicBezTo>
                        <a:cubicBezTo>
                          <a:pt x="1420880" y="-6814"/>
                          <a:pt x="1713773" y="13383"/>
                          <a:pt x="1909615" y="0"/>
                        </a:cubicBezTo>
                        <a:cubicBezTo>
                          <a:pt x="2105457" y="-13383"/>
                          <a:pt x="2257256" y="13567"/>
                          <a:pt x="2577981" y="0"/>
                        </a:cubicBezTo>
                        <a:cubicBezTo>
                          <a:pt x="2898706" y="-13567"/>
                          <a:pt x="3026063" y="6328"/>
                          <a:pt x="3182692" y="0"/>
                        </a:cubicBezTo>
                        <a:cubicBezTo>
                          <a:pt x="3181526" y="7395"/>
                          <a:pt x="3182737" y="21864"/>
                          <a:pt x="3182692" y="27432"/>
                        </a:cubicBezTo>
                        <a:cubicBezTo>
                          <a:pt x="2998421" y="30886"/>
                          <a:pt x="2675038" y="28158"/>
                          <a:pt x="2482500" y="27432"/>
                        </a:cubicBezTo>
                        <a:cubicBezTo>
                          <a:pt x="2289962" y="26706"/>
                          <a:pt x="1930644" y="15978"/>
                          <a:pt x="1782308" y="27432"/>
                        </a:cubicBezTo>
                        <a:cubicBezTo>
                          <a:pt x="1633972" y="38886"/>
                          <a:pt x="1287388" y="7152"/>
                          <a:pt x="1145769" y="27432"/>
                        </a:cubicBezTo>
                        <a:cubicBezTo>
                          <a:pt x="1004150" y="47712"/>
                          <a:pt x="256377" y="-28294"/>
                          <a:pt x="0" y="27432"/>
                        </a:cubicBezTo>
                        <a:cubicBezTo>
                          <a:pt x="-503" y="20663"/>
                          <a:pt x="1168" y="5855"/>
                          <a:pt x="0" y="0"/>
                        </a:cubicBezTo>
                        <a:close/>
                      </a:path>
                      <a:path w="3182692" h="27432" stroke="0" extrusionOk="0">
                        <a:moveTo>
                          <a:pt x="0" y="0"/>
                        </a:moveTo>
                        <a:cubicBezTo>
                          <a:pt x="283446" y="18201"/>
                          <a:pt x="432812" y="7290"/>
                          <a:pt x="604711" y="0"/>
                        </a:cubicBezTo>
                        <a:cubicBezTo>
                          <a:pt x="776610" y="-7290"/>
                          <a:pt x="982253" y="15478"/>
                          <a:pt x="1145769" y="0"/>
                        </a:cubicBezTo>
                        <a:cubicBezTo>
                          <a:pt x="1309285" y="-15478"/>
                          <a:pt x="1514247" y="-25520"/>
                          <a:pt x="1845961" y="0"/>
                        </a:cubicBezTo>
                        <a:cubicBezTo>
                          <a:pt x="2177675" y="25520"/>
                          <a:pt x="2297588" y="16646"/>
                          <a:pt x="2450673" y="0"/>
                        </a:cubicBezTo>
                        <a:cubicBezTo>
                          <a:pt x="2603758" y="-16646"/>
                          <a:pt x="3023048" y="-21196"/>
                          <a:pt x="3182692" y="0"/>
                        </a:cubicBezTo>
                        <a:cubicBezTo>
                          <a:pt x="3182885" y="12649"/>
                          <a:pt x="3181704" y="17989"/>
                          <a:pt x="3182692" y="27432"/>
                        </a:cubicBezTo>
                        <a:cubicBezTo>
                          <a:pt x="3039109" y="-3557"/>
                          <a:pt x="2823860" y="22992"/>
                          <a:pt x="2546154" y="27432"/>
                        </a:cubicBezTo>
                        <a:cubicBezTo>
                          <a:pt x="2268448" y="31872"/>
                          <a:pt x="2098674" y="14435"/>
                          <a:pt x="1845961" y="27432"/>
                        </a:cubicBezTo>
                        <a:cubicBezTo>
                          <a:pt x="1593248" y="40429"/>
                          <a:pt x="1456743" y="36704"/>
                          <a:pt x="1304904" y="27432"/>
                        </a:cubicBezTo>
                        <a:cubicBezTo>
                          <a:pt x="1153065" y="18160"/>
                          <a:pt x="947204" y="20270"/>
                          <a:pt x="668365" y="27432"/>
                        </a:cubicBezTo>
                        <a:cubicBezTo>
                          <a:pt x="389526" y="34594"/>
                          <a:pt x="288244" y="4516"/>
                          <a:pt x="0" y="27432"/>
                        </a:cubicBezTo>
                        <a:cubicBezTo>
                          <a:pt x="1300" y="19678"/>
                          <a:pt x="-86" y="1204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448056"/>
            <a:ext cx="7886700" cy="4069080"/>
          </a:xfrm>
        </p:spPr>
        <p:txBody>
          <a:bodyPr anchor="b">
            <a:no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4983480"/>
            <a:ext cx="7886700" cy="1124712"/>
          </a:xfrm>
        </p:spPr>
        <p:txBody>
          <a:bodyPr>
            <a:normAutofit/>
          </a:bodyPr>
          <a:lstStyle>
            <a:lvl1pPr marL="0" indent="0" algn="l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F322-E785-4A08-A76C-2FE55AF734D3}" type="datetime2">
              <a:rPr lang="en-US" smtClean="0"/>
              <a:t>Monday, January 2,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23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CCC4-2C95-41B1-8E9F-8A9A11E4C63A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628649" y="1709928"/>
            <a:ext cx="78867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886700"/>
                      <a:gd name="connsiteY0" fmla="*/ 0 h 27432"/>
                      <a:gd name="connsiteX1" fmla="*/ 420624 w 7886700"/>
                      <a:gd name="connsiteY1" fmla="*/ 0 h 27432"/>
                      <a:gd name="connsiteX2" fmla="*/ 1156716 w 7886700"/>
                      <a:gd name="connsiteY2" fmla="*/ 0 h 27432"/>
                      <a:gd name="connsiteX3" fmla="*/ 1577340 w 7886700"/>
                      <a:gd name="connsiteY3" fmla="*/ 0 h 27432"/>
                      <a:gd name="connsiteX4" fmla="*/ 2155698 w 7886700"/>
                      <a:gd name="connsiteY4" fmla="*/ 0 h 27432"/>
                      <a:gd name="connsiteX5" fmla="*/ 2970657 w 7886700"/>
                      <a:gd name="connsiteY5" fmla="*/ 0 h 27432"/>
                      <a:gd name="connsiteX6" fmla="*/ 3627882 w 7886700"/>
                      <a:gd name="connsiteY6" fmla="*/ 0 h 27432"/>
                      <a:gd name="connsiteX7" fmla="*/ 4363974 w 7886700"/>
                      <a:gd name="connsiteY7" fmla="*/ 0 h 27432"/>
                      <a:gd name="connsiteX8" fmla="*/ 4942332 w 7886700"/>
                      <a:gd name="connsiteY8" fmla="*/ 0 h 27432"/>
                      <a:gd name="connsiteX9" fmla="*/ 5599557 w 7886700"/>
                      <a:gd name="connsiteY9" fmla="*/ 0 h 27432"/>
                      <a:gd name="connsiteX10" fmla="*/ 6414516 w 7886700"/>
                      <a:gd name="connsiteY10" fmla="*/ 0 h 27432"/>
                      <a:gd name="connsiteX11" fmla="*/ 6914007 w 7886700"/>
                      <a:gd name="connsiteY11" fmla="*/ 0 h 27432"/>
                      <a:gd name="connsiteX12" fmla="*/ 7886700 w 7886700"/>
                      <a:gd name="connsiteY12" fmla="*/ 0 h 27432"/>
                      <a:gd name="connsiteX13" fmla="*/ 7886700 w 7886700"/>
                      <a:gd name="connsiteY13" fmla="*/ 27432 h 27432"/>
                      <a:gd name="connsiteX14" fmla="*/ 7308342 w 7886700"/>
                      <a:gd name="connsiteY14" fmla="*/ 27432 h 27432"/>
                      <a:gd name="connsiteX15" fmla="*/ 6887718 w 7886700"/>
                      <a:gd name="connsiteY15" fmla="*/ 27432 h 27432"/>
                      <a:gd name="connsiteX16" fmla="*/ 6230493 w 7886700"/>
                      <a:gd name="connsiteY16" fmla="*/ 27432 h 27432"/>
                      <a:gd name="connsiteX17" fmla="*/ 5731002 w 7886700"/>
                      <a:gd name="connsiteY17" fmla="*/ 27432 h 27432"/>
                      <a:gd name="connsiteX18" fmla="*/ 5073777 w 7886700"/>
                      <a:gd name="connsiteY18" fmla="*/ 27432 h 27432"/>
                      <a:gd name="connsiteX19" fmla="*/ 4416552 w 7886700"/>
                      <a:gd name="connsiteY19" fmla="*/ 27432 h 27432"/>
                      <a:gd name="connsiteX20" fmla="*/ 3759327 w 7886700"/>
                      <a:gd name="connsiteY20" fmla="*/ 27432 h 27432"/>
                      <a:gd name="connsiteX21" fmla="*/ 3102102 w 7886700"/>
                      <a:gd name="connsiteY21" fmla="*/ 27432 h 27432"/>
                      <a:gd name="connsiteX22" fmla="*/ 2523744 w 7886700"/>
                      <a:gd name="connsiteY22" fmla="*/ 27432 h 27432"/>
                      <a:gd name="connsiteX23" fmla="*/ 1787652 w 7886700"/>
                      <a:gd name="connsiteY23" fmla="*/ 27432 h 27432"/>
                      <a:gd name="connsiteX24" fmla="*/ 1130427 w 7886700"/>
                      <a:gd name="connsiteY24" fmla="*/ 27432 h 27432"/>
                      <a:gd name="connsiteX25" fmla="*/ 0 w 7886700"/>
                      <a:gd name="connsiteY25" fmla="*/ 27432 h 27432"/>
                      <a:gd name="connsiteX26" fmla="*/ 0 w 7886700"/>
                      <a:gd name="connsiteY26" fmla="*/ 0 h 27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886700" h="27432" fill="none" extrusionOk="0">
                        <a:moveTo>
                          <a:pt x="0" y="0"/>
                        </a:moveTo>
                        <a:cubicBezTo>
                          <a:pt x="157525" y="2723"/>
                          <a:pt x="287389" y="-6453"/>
                          <a:pt x="420624" y="0"/>
                        </a:cubicBezTo>
                        <a:cubicBezTo>
                          <a:pt x="553859" y="6453"/>
                          <a:pt x="825625" y="29874"/>
                          <a:pt x="1156716" y="0"/>
                        </a:cubicBezTo>
                        <a:cubicBezTo>
                          <a:pt x="1487807" y="-29874"/>
                          <a:pt x="1467015" y="9632"/>
                          <a:pt x="1577340" y="0"/>
                        </a:cubicBezTo>
                        <a:cubicBezTo>
                          <a:pt x="1687665" y="-9632"/>
                          <a:pt x="2024250" y="19395"/>
                          <a:pt x="2155698" y="0"/>
                        </a:cubicBezTo>
                        <a:cubicBezTo>
                          <a:pt x="2287146" y="-19395"/>
                          <a:pt x="2775210" y="-36481"/>
                          <a:pt x="2970657" y="0"/>
                        </a:cubicBezTo>
                        <a:cubicBezTo>
                          <a:pt x="3166104" y="36481"/>
                          <a:pt x="3456933" y="2822"/>
                          <a:pt x="3627882" y="0"/>
                        </a:cubicBezTo>
                        <a:cubicBezTo>
                          <a:pt x="3798831" y="-2822"/>
                          <a:pt x="4063535" y="23706"/>
                          <a:pt x="4363974" y="0"/>
                        </a:cubicBezTo>
                        <a:cubicBezTo>
                          <a:pt x="4664413" y="-23706"/>
                          <a:pt x="4721338" y="-85"/>
                          <a:pt x="4942332" y="0"/>
                        </a:cubicBezTo>
                        <a:cubicBezTo>
                          <a:pt x="5163326" y="85"/>
                          <a:pt x="5298512" y="10710"/>
                          <a:pt x="5599557" y="0"/>
                        </a:cubicBezTo>
                        <a:cubicBezTo>
                          <a:pt x="5900603" y="-10710"/>
                          <a:pt x="6095214" y="3467"/>
                          <a:pt x="6414516" y="0"/>
                        </a:cubicBezTo>
                        <a:cubicBezTo>
                          <a:pt x="6733818" y="-3467"/>
                          <a:pt x="6803711" y="5617"/>
                          <a:pt x="6914007" y="0"/>
                        </a:cubicBezTo>
                        <a:cubicBezTo>
                          <a:pt x="7024303" y="-5617"/>
                          <a:pt x="7602090" y="-33929"/>
                          <a:pt x="7886700" y="0"/>
                        </a:cubicBezTo>
                        <a:cubicBezTo>
                          <a:pt x="7886111" y="10802"/>
                          <a:pt x="7886030" y="18406"/>
                          <a:pt x="7886700" y="27432"/>
                        </a:cubicBezTo>
                        <a:cubicBezTo>
                          <a:pt x="7637258" y="17142"/>
                          <a:pt x="7575695" y="16729"/>
                          <a:pt x="7308342" y="27432"/>
                        </a:cubicBezTo>
                        <a:cubicBezTo>
                          <a:pt x="7040989" y="38135"/>
                          <a:pt x="7003134" y="44021"/>
                          <a:pt x="6887718" y="27432"/>
                        </a:cubicBezTo>
                        <a:cubicBezTo>
                          <a:pt x="6772302" y="10843"/>
                          <a:pt x="6488136" y="58247"/>
                          <a:pt x="6230493" y="27432"/>
                        </a:cubicBezTo>
                        <a:cubicBezTo>
                          <a:pt x="5972851" y="-3383"/>
                          <a:pt x="5929971" y="35622"/>
                          <a:pt x="5731002" y="27432"/>
                        </a:cubicBezTo>
                        <a:cubicBezTo>
                          <a:pt x="5532033" y="19242"/>
                          <a:pt x="5381360" y="28708"/>
                          <a:pt x="5073777" y="27432"/>
                        </a:cubicBezTo>
                        <a:cubicBezTo>
                          <a:pt x="4766194" y="26156"/>
                          <a:pt x="4713365" y="29311"/>
                          <a:pt x="4416552" y="27432"/>
                        </a:cubicBezTo>
                        <a:cubicBezTo>
                          <a:pt x="4119740" y="25553"/>
                          <a:pt x="3915304" y="28418"/>
                          <a:pt x="3759327" y="27432"/>
                        </a:cubicBezTo>
                        <a:cubicBezTo>
                          <a:pt x="3603351" y="26446"/>
                          <a:pt x="3375414" y="21218"/>
                          <a:pt x="3102102" y="27432"/>
                        </a:cubicBezTo>
                        <a:cubicBezTo>
                          <a:pt x="2828791" y="33646"/>
                          <a:pt x="2795766" y="19461"/>
                          <a:pt x="2523744" y="27432"/>
                        </a:cubicBezTo>
                        <a:cubicBezTo>
                          <a:pt x="2251722" y="35403"/>
                          <a:pt x="1947642" y="32293"/>
                          <a:pt x="1787652" y="27432"/>
                        </a:cubicBezTo>
                        <a:cubicBezTo>
                          <a:pt x="1627662" y="22571"/>
                          <a:pt x="1413335" y="29665"/>
                          <a:pt x="1130427" y="27432"/>
                        </a:cubicBezTo>
                        <a:cubicBezTo>
                          <a:pt x="847520" y="25199"/>
                          <a:pt x="292942" y="-13628"/>
                          <a:pt x="0" y="27432"/>
                        </a:cubicBezTo>
                        <a:cubicBezTo>
                          <a:pt x="586" y="19291"/>
                          <a:pt x="-218" y="13009"/>
                          <a:pt x="0" y="0"/>
                        </a:cubicBezTo>
                        <a:close/>
                      </a:path>
                      <a:path w="7886700" h="27432" stroke="0" extrusionOk="0">
                        <a:moveTo>
                          <a:pt x="0" y="0"/>
                        </a:moveTo>
                        <a:cubicBezTo>
                          <a:pt x="165412" y="-21137"/>
                          <a:pt x="322344" y="-21985"/>
                          <a:pt x="578358" y="0"/>
                        </a:cubicBezTo>
                        <a:cubicBezTo>
                          <a:pt x="834372" y="21985"/>
                          <a:pt x="888520" y="-5136"/>
                          <a:pt x="998982" y="0"/>
                        </a:cubicBezTo>
                        <a:cubicBezTo>
                          <a:pt x="1109444" y="5136"/>
                          <a:pt x="1622600" y="-36529"/>
                          <a:pt x="1813941" y="0"/>
                        </a:cubicBezTo>
                        <a:cubicBezTo>
                          <a:pt x="2005282" y="36529"/>
                          <a:pt x="2177619" y="19108"/>
                          <a:pt x="2392299" y="0"/>
                        </a:cubicBezTo>
                        <a:cubicBezTo>
                          <a:pt x="2606979" y="-19108"/>
                          <a:pt x="2788556" y="-21788"/>
                          <a:pt x="2970657" y="0"/>
                        </a:cubicBezTo>
                        <a:cubicBezTo>
                          <a:pt x="3152758" y="21788"/>
                          <a:pt x="3596738" y="18723"/>
                          <a:pt x="3785616" y="0"/>
                        </a:cubicBezTo>
                        <a:cubicBezTo>
                          <a:pt x="3974494" y="-18723"/>
                          <a:pt x="4136501" y="9985"/>
                          <a:pt x="4285107" y="0"/>
                        </a:cubicBezTo>
                        <a:cubicBezTo>
                          <a:pt x="4433713" y="-9985"/>
                          <a:pt x="4710656" y="-6143"/>
                          <a:pt x="5100066" y="0"/>
                        </a:cubicBezTo>
                        <a:cubicBezTo>
                          <a:pt x="5489476" y="6143"/>
                          <a:pt x="5703885" y="5883"/>
                          <a:pt x="5915025" y="0"/>
                        </a:cubicBezTo>
                        <a:cubicBezTo>
                          <a:pt x="6126165" y="-5883"/>
                          <a:pt x="6308797" y="30350"/>
                          <a:pt x="6572250" y="0"/>
                        </a:cubicBezTo>
                        <a:cubicBezTo>
                          <a:pt x="6835703" y="-30350"/>
                          <a:pt x="7286910" y="4832"/>
                          <a:pt x="7886700" y="0"/>
                        </a:cubicBezTo>
                        <a:cubicBezTo>
                          <a:pt x="7885340" y="10164"/>
                          <a:pt x="7886783" y="19377"/>
                          <a:pt x="7886700" y="27432"/>
                        </a:cubicBezTo>
                        <a:cubicBezTo>
                          <a:pt x="7752936" y="37838"/>
                          <a:pt x="7671143" y="22240"/>
                          <a:pt x="7466076" y="27432"/>
                        </a:cubicBezTo>
                        <a:cubicBezTo>
                          <a:pt x="7261009" y="32624"/>
                          <a:pt x="7039949" y="45892"/>
                          <a:pt x="6651117" y="27432"/>
                        </a:cubicBezTo>
                        <a:cubicBezTo>
                          <a:pt x="6262285" y="8972"/>
                          <a:pt x="6379660" y="21432"/>
                          <a:pt x="6151626" y="27432"/>
                        </a:cubicBezTo>
                        <a:cubicBezTo>
                          <a:pt x="5923592" y="33432"/>
                          <a:pt x="5816137" y="49453"/>
                          <a:pt x="5494401" y="27432"/>
                        </a:cubicBezTo>
                        <a:cubicBezTo>
                          <a:pt x="5172665" y="5411"/>
                          <a:pt x="5022009" y="14146"/>
                          <a:pt x="4679442" y="27432"/>
                        </a:cubicBezTo>
                        <a:cubicBezTo>
                          <a:pt x="4336875" y="40718"/>
                          <a:pt x="4169241" y="-4552"/>
                          <a:pt x="4022217" y="27432"/>
                        </a:cubicBezTo>
                        <a:cubicBezTo>
                          <a:pt x="3875193" y="59416"/>
                          <a:pt x="3723776" y="46198"/>
                          <a:pt x="3601593" y="27432"/>
                        </a:cubicBezTo>
                        <a:cubicBezTo>
                          <a:pt x="3479410" y="8666"/>
                          <a:pt x="3283834" y="20447"/>
                          <a:pt x="3102102" y="27432"/>
                        </a:cubicBezTo>
                        <a:cubicBezTo>
                          <a:pt x="2920370" y="34417"/>
                          <a:pt x="2467386" y="35404"/>
                          <a:pt x="2287143" y="27432"/>
                        </a:cubicBezTo>
                        <a:cubicBezTo>
                          <a:pt x="2106900" y="19460"/>
                          <a:pt x="1798848" y="59556"/>
                          <a:pt x="1629918" y="27432"/>
                        </a:cubicBezTo>
                        <a:cubicBezTo>
                          <a:pt x="1460989" y="-4692"/>
                          <a:pt x="1324115" y="34913"/>
                          <a:pt x="1130427" y="27432"/>
                        </a:cubicBezTo>
                        <a:cubicBezTo>
                          <a:pt x="936739" y="19951"/>
                          <a:pt x="302034" y="30143"/>
                          <a:pt x="0" y="27432"/>
                        </a:cubicBezTo>
                        <a:cubicBezTo>
                          <a:pt x="-383" y="21019"/>
                          <a:pt x="-503" y="1243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35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8056"/>
            <a:ext cx="7886700" cy="406908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983480"/>
            <a:ext cx="7886700" cy="1124712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0FC6F-68C3-4EDF-80E8-F72323475786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628650" y="4736883"/>
            <a:ext cx="3182692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182692"/>
                      <a:gd name="connsiteY0" fmla="*/ 0 h 27432"/>
                      <a:gd name="connsiteX1" fmla="*/ 604711 w 3182692"/>
                      <a:gd name="connsiteY1" fmla="*/ 0 h 27432"/>
                      <a:gd name="connsiteX2" fmla="*/ 1241250 w 3182692"/>
                      <a:gd name="connsiteY2" fmla="*/ 0 h 27432"/>
                      <a:gd name="connsiteX3" fmla="*/ 1909615 w 3182692"/>
                      <a:gd name="connsiteY3" fmla="*/ 0 h 27432"/>
                      <a:gd name="connsiteX4" fmla="*/ 2577981 w 3182692"/>
                      <a:gd name="connsiteY4" fmla="*/ 0 h 27432"/>
                      <a:gd name="connsiteX5" fmla="*/ 3182692 w 3182692"/>
                      <a:gd name="connsiteY5" fmla="*/ 0 h 27432"/>
                      <a:gd name="connsiteX6" fmla="*/ 3182692 w 3182692"/>
                      <a:gd name="connsiteY6" fmla="*/ 27432 h 27432"/>
                      <a:gd name="connsiteX7" fmla="*/ 2482500 w 3182692"/>
                      <a:gd name="connsiteY7" fmla="*/ 27432 h 27432"/>
                      <a:gd name="connsiteX8" fmla="*/ 1782308 w 3182692"/>
                      <a:gd name="connsiteY8" fmla="*/ 27432 h 27432"/>
                      <a:gd name="connsiteX9" fmla="*/ 1145769 w 3182692"/>
                      <a:gd name="connsiteY9" fmla="*/ 27432 h 27432"/>
                      <a:gd name="connsiteX10" fmla="*/ 0 w 3182692"/>
                      <a:gd name="connsiteY10" fmla="*/ 27432 h 27432"/>
                      <a:gd name="connsiteX11" fmla="*/ 0 w 3182692"/>
                      <a:gd name="connsiteY11" fmla="*/ 0 h 27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182692" h="27432" fill="none" extrusionOk="0">
                        <a:moveTo>
                          <a:pt x="0" y="0"/>
                        </a:moveTo>
                        <a:cubicBezTo>
                          <a:pt x="126686" y="-21366"/>
                          <a:pt x="467788" y="9025"/>
                          <a:pt x="604711" y="0"/>
                        </a:cubicBezTo>
                        <a:cubicBezTo>
                          <a:pt x="741634" y="-9025"/>
                          <a:pt x="1061620" y="6814"/>
                          <a:pt x="1241250" y="0"/>
                        </a:cubicBezTo>
                        <a:cubicBezTo>
                          <a:pt x="1420880" y="-6814"/>
                          <a:pt x="1713773" y="13383"/>
                          <a:pt x="1909615" y="0"/>
                        </a:cubicBezTo>
                        <a:cubicBezTo>
                          <a:pt x="2105457" y="-13383"/>
                          <a:pt x="2257256" y="13567"/>
                          <a:pt x="2577981" y="0"/>
                        </a:cubicBezTo>
                        <a:cubicBezTo>
                          <a:pt x="2898706" y="-13567"/>
                          <a:pt x="3026063" y="6328"/>
                          <a:pt x="3182692" y="0"/>
                        </a:cubicBezTo>
                        <a:cubicBezTo>
                          <a:pt x="3181526" y="7395"/>
                          <a:pt x="3182737" y="21864"/>
                          <a:pt x="3182692" y="27432"/>
                        </a:cubicBezTo>
                        <a:cubicBezTo>
                          <a:pt x="2998421" y="30886"/>
                          <a:pt x="2675038" y="28158"/>
                          <a:pt x="2482500" y="27432"/>
                        </a:cubicBezTo>
                        <a:cubicBezTo>
                          <a:pt x="2289962" y="26706"/>
                          <a:pt x="1930644" y="15978"/>
                          <a:pt x="1782308" y="27432"/>
                        </a:cubicBezTo>
                        <a:cubicBezTo>
                          <a:pt x="1633972" y="38886"/>
                          <a:pt x="1287388" y="7152"/>
                          <a:pt x="1145769" y="27432"/>
                        </a:cubicBezTo>
                        <a:cubicBezTo>
                          <a:pt x="1004150" y="47712"/>
                          <a:pt x="256377" y="-28294"/>
                          <a:pt x="0" y="27432"/>
                        </a:cubicBezTo>
                        <a:cubicBezTo>
                          <a:pt x="-503" y="20663"/>
                          <a:pt x="1168" y="5855"/>
                          <a:pt x="0" y="0"/>
                        </a:cubicBezTo>
                        <a:close/>
                      </a:path>
                      <a:path w="3182692" h="27432" stroke="0" extrusionOk="0">
                        <a:moveTo>
                          <a:pt x="0" y="0"/>
                        </a:moveTo>
                        <a:cubicBezTo>
                          <a:pt x="283446" y="18201"/>
                          <a:pt x="432812" y="7290"/>
                          <a:pt x="604711" y="0"/>
                        </a:cubicBezTo>
                        <a:cubicBezTo>
                          <a:pt x="776610" y="-7290"/>
                          <a:pt x="982253" y="15478"/>
                          <a:pt x="1145769" y="0"/>
                        </a:cubicBezTo>
                        <a:cubicBezTo>
                          <a:pt x="1309285" y="-15478"/>
                          <a:pt x="1514247" y="-25520"/>
                          <a:pt x="1845961" y="0"/>
                        </a:cubicBezTo>
                        <a:cubicBezTo>
                          <a:pt x="2177675" y="25520"/>
                          <a:pt x="2297588" y="16646"/>
                          <a:pt x="2450673" y="0"/>
                        </a:cubicBezTo>
                        <a:cubicBezTo>
                          <a:pt x="2603758" y="-16646"/>
                          <a:pt x="3023048" y="-21196"/>
                          <a:pt x="3182692" y="0"/>
                        </a:cubicBezTo>
                        <a:cubicBezTo>
                          <a:pt x="3182885" y="12649"/>
                          <a:pt x="3181704" y="17989"/>
                          <a:pt x="3182692" y="27432"/>
                        </a:cubicBezTo>
                        <a:cubicBezTo>
                          <a:pt x="3039109" y="-3557"/>
                          <a:pt x="2823860" y="22992"/>
                          <a:pt x="2546154" y="27432"/>
                        </a:cubicBezTo>
                        <a:cubicBezTo>
                          <a:pt x="2268448" y="31872"/>
                          <a:pt x="2098674" y="14435"/>
                          <a:pt x="1845961" y="27432"/>
                        </a:cubicBezTo>
                        <a:cubicBezTo>
                          <a:pt x="1593248" y="40429"/>
                          <a:pt x="1456743" y="36704"/>
                          <a:pt x="1304904" y="27432"/>
                        </a:cubicBezTo>
                        <a:cubicBezTo>
                          <a:pt x="1153065" y="18160"/>
                          <a:pt x="947204" y="20270"/>
                          <a:pt x="668365" y="27432"/>
                        </a:cubicBezTo>
                        <a:cubicBezTo>
                          <a:pt x="389526" y="34594"/>
                          <a:pt x="288244" y="4516"/>
                          <a:pt x="0" y="27432"/>
                        </a:cubicBezTo>
                        <a:cubicBezTo>
                          <a:pt x="1300" y="19678"/>
                          <a:pt x="-86" y="1204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459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929384"/>
            <a:ext cx="38862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929384"/>
            <a:ext cx="38862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93982-C8E7-4C91-8425-A3A3E16E4DD3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628649" y="1709928"/>
            <a:ext cx="78867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886700"/>
                      <a:gd name="connsiteY0" fmla="*/ 0 h 27432"/>
                      <a:gd name="connsiteX1" fmla="*/ 420624 w 7886700"/>
                      <a:gd name="connsiteY1" fmla="*/ 0 h 27432"/>
                      <a:gd name="connsiteX2" fmla="*/ 1156716 w 7886700"/>
                      <a:gd name="connsiteY2" fmla="*/ 0 h 27432"/>
                      <a:gd name="connsiteX3" fmla="*/ 1577340 w 7886700"/>
                      <a:gd name="connsiteY3" fmla="*/ 0 h 27432"/>
                      <a:gd name="connsiteX4" fmla="*/ 2155698 w 7886700"/>
                      <a:gd name="connsiteY4" fmla="*/ 0 h 27432"/>
                      <a:gd name="connsiteX5" fmla="*/ 2970657 w 7886700"/>
                      <a:gd name="connsiteY5" fmla="*/ 0 h 27432"/>
                      <a:gd name="connsiteX6" fmla="*/ 3627882 w 7886700"/>
                      <a:gd name="connsiteY6" fmla="*/ 0 h 27432"/>
                      <a:gd name="connsiteX7" fmla="*/ 4363974 w 7886700"/>
                      <a:gd name="connsiteY7" fmla="*/ 0 h 27432"/>
                      <a:gd name="connsiteX8" fmla="*/ 4942332 w 7886700"/>
                      <a:gd name="connsiteY8" fmla="*/ 0 h 27432"/>
                      <a:gd name="connsiteX9" fmla="*/ 5599557 w 7886700"/>
                      <a:gd name="connsiteY9" fmla="*/ 0 h 27432"/>
                      <a:gd name="connsiteX10" fmla="*/ 6414516 w 7886700"/>
                      <a:gd name="connsiteY10" fmla="*/ 0 h 27432"/>
                      <a:gd name="connsiteX11" fmla="*/ 6914007 w 7886700"/>
                      <a:gd name="connsiteY11" fmla="*/ 0 h 27432"/>
                      <a:gd name="connsiteX12" fmla="*/ 7886700 w 7886700"/>
                      <a:gd name="connsiteY12" fmla="*/ 0 h 27432"/>
                      <a:gd name="connsiteX13" fmla="*/ 7886700 w 7886700"/>
                      <a:gd name="connsiteY13" fmla="*/ 27432 h 27432"/>
                      <a:gd name="connsiteX14" fmla="*/ 7308342 w 7886700"/>
                      <a:gd name="connsiteY14" fmla="*/ 27432 h 27432"/>
                      <a:gd name="connsiteX15" fmla="*/ 6887718 w 7886700"/>
                      <a:gd name="connsiteY15" fmla="*/ 27432 h 27432"/>
                      <a:gd name="connsiteX16" fmla="*/ 6230493 w 7886700"/>
                      <a:gd name="connsiteY16" fmla="*/ 27432 h 27432"/>
                      <a:gd name="connsiteX17" fmla="*/ 5731002 w 7886700"/>
                      <a:gd name="connsiteY17" fmla="*/ 27432 h 27432"/>
                      <a:gd name="connsiteX18" fmla="*/ 5073777 w 7886700"/>
                      <a:gd name="connsiteY18" fmla="*/ 27432 h 27432"/>
                      <a:gd name="connsiteX19" fmla="*/ 4416552 w 7886700"/>
                      <a:gd name="connsiteY19" fmla="*/ 27432 h 27432"/>
                      <a:gd name="connsiteX20" fmla="*/ 3759327 w 7886700"/>
                      <a:gd name="connsiteY20" fmla="*/ 27432 h 27432"/>
                      <a:gd name="connsiteX21" fmla="*/ 3102102 w 7886700"/>
                      <a:gd name="connsiteY21" fmla="*/ 27432 h 27432"/>
                      <a:gd name="connsiteX22" fmla="*/ 2523744 w 7886700"/>
                      <a:gd name="connsiteY22" fmla="*/ 27432 h 27432"/>
                      <a:gd name="connsiteX23" fmla="*/ 1787652 w 7886700"/>
                      <a:gd name="connsiteY23" fmla="*/ 27432 h 27432"/>
                      <a:gd name="connsiteX24" fmla="*/ 1130427 w 7886700"/>
                      <a:gd name="connsiteY24" fmla="*/ 27432 h 27432"/>
                      <a:gd name="connsiteX25" fmla="*/ 0 w 7886700"/>
                      <a:gd name="connsiteY25" fmla="*/ 27432 h 27432"/>
                      <a:gd name="connsiteX26" fmla="*/ 0 w 7886700"/>
                      <a:gd name="connsiteY26" fmla="*/ 0 h 27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886700" h="27432" fill="none" extrusionOk="0">
                        <a:moveTo>
                          <a:pt x="0" y="0"/>
                        </a:moveTo>
                        <a:cubicBezTo>
                          <a:pt x="157525" y="2723"/>
                          <a:pt x="287389" y="-6453"/>
                          <a:pt x="420624" y="0"/>
                        </a:cubicBezTo>
                        <a:cubicBezTo>
                          <a:pt x="553859" y="6453"/>
                          <a:pt x="825625" y="29874"/>
                          <a:pt x="1156716" y="0"/>
                        </a:cubicBezTo>
                        <a:cubicBezTo>
                          <a:pt x="1487807" y="-29874"/>
                          <a:pt x="1467015" y="9632"/>
                          <a:pt x="1577340" y="0"/>
                        </a:cubicBezTo>
                        <a:cubicBezTo>
                          <a:pt x="1687665" y="-9632"/>
                          <a:pt x="2024250" y="19395"/>
                          <a:pt x="2155698" y="0"/>
                        </a:cubicBezTo>
                        <a:cubicBezTo>
                          <a:pt x="2287146" y="-19395"/>
                          <a:pt x="2775210" y="-36481"/>
                          <a:pt x="2970657" y="0"/>
                        </a:cubicBezTo>
                        <a:cubicBezTo>
                          <a:pt x="3166104" y="36481"/>
                          <a:pt x="3456933" y="2822"/>
                          <a:pt x="3627882" y="0"/>
                        </a:cubicBezTo>
                        <a:cubicBezTo>
                          <a:pt x="3798831" y="-2822"/>
                          <a:pt x="4063535" y="23706"/>
                          <a:pt x="4363974" y="0"/>
                        </a:cubicBezTo>
                        <a:cubicBezTo>
                          <a:pt x="4664413" y="-23706"/>
                          <a:pt x="4721338" y="-85"/>
                          <a:pt x="4942332" y="0"/>
                        </a:cubicBezTo>
                        <a:cubicBezTo>
                          <a:pt x="5163326" y="85"/>
                          <a:pt x="5298512" y="10710"/>
                          <a:pt x="5599557" y="0"/>
                        </a:cubicBezTo>
                        <a:cubicBezTo>
                          <a:pt x="5900603" y="-10710"/>
                          <a:pt x="6095214" y="3467"/>
                          <a:pt x="6414516" y="0"/>
                        </a:cubicBezTo>
                        <a:cubicBezTo>
                          <a:pt x="6733818" y="-3467"/>
                          <a:pt x="6803711" y="5617"/>
                          <a:pt x="6914007" y="0"/>
                        </a:cubicBezTo>
                        <a:cubicBezTo>
                          <a:pt x="7024303" y="-5617"/>
                          <a:pt x="7602090" y="-33929"/>
                          <a:pt x="7886700" y="0"/>
                        </a:cubicBezTo>
                        <a:cubicBezTo>
                          <a:pt x="7886111" y="10802"/>
                          <a:pt x="7886030" y="18406"/>
                          <a:pt x="7886700" y="27432"/>
                        </a:cubicBezTo>
                        <a:cubicBezTo>
                          <a:pt x="7637258" y="17142"/>
                          <a:pt x="7575695" y="16729"/>
                          <a:pt x="7308342" y="27432"/>
                        </a:cubicBezTo>
                        <a:cubicBezTo>
                          <a:pt x="7040989" y="38135"/>
                          <a:pt x="7003134" y="44021"/>
                          <a:pt x="6887718" y="27432"/>
                        </a:cubicBezTo>
                        <a:cubicBezTo>
                          <a:pt x="6772302" y="10843"/>
                          <a:pt x="6488136" y="58247"/>
                          <a:pt x="6230493" y="27432"/>
                        </a:cubicBezTo>
                        <a:cubicBezTo>
                          <a:pt x="5972851" y="-3383"/>
                          <a:pt x="5929971" y="35622"/>
                          <a:pt x="5731002" y="27432"/>
                        </a:cubicBezTo>
                        <a:cubicBezTo>
                          <a:pt x="5532033" y="19242"/>
                          <a:pt x="5381360" y="28708"/>
                          <a:pt x="5073777" y="27432"/>
                        </a:cubicBezTo>
                        <a:cubicBezTo>
                          <a:pt x="4766194" y="26156"/>
                          <a:pt x="4713365" y="29311"/>
                          <a:pt x="4416552" y="27432"/>
                        </a:cubicBezTo>
                        <a:cubicBezTo>
                          <a:pt x="4119740" y="25553"/>
                          <a:pt x="3915304" y="28418"/>
                          <a:pt x="3759327" y="27432"/>
                        </a:cubicBezTo>
                        <a:cubicBezTo>
                          <a:pt x="3603351" y="26446"/>
                          <a:pt x="3375414" y="21218"/>
                          <a:pt x="3102102" y="27432"/>
                        </a:cubicBezTo>
                        <a:cubicBezTo>
                          <a:pt x="2828791" y="33646"/>
                          <a:pt x="2795766" y="19461"/>
                          <a:pt x="2523744" y="27432"/>
                        </a:cubicBezTo>
                        <a:cubicBezTo>
                          <a:pt x="2251722" y="35403"/>
                          <a:pt x="1947642" y="32293"/>
                          <a:pt x="1787652" y="27432"/>
                        </a:cubicBezTo>
                        <a:cubicBezTo>
                          <a:pt x="1627662" y="22571"/>
                          <a:pt x="1413335" y="29665"/>
                          <a:pt x="1130427" y="27432"/>
                        </a:cubicBezTo>
                        <a:cubicBezTo>
                          <a:pt x="847520" y="25199"/>
                          <a:pt x="292942" y="-13628"/>
                          <a:pt x="0" y="27432"/>
                        </a:cubicBezTo>
                        <a:cubicBezTo>
                          <a:pt x="586" y="19291"/>
                          <a:pt x="-218" y="13009"/>
                          <a:pt x="0" y="0"/>
                        </a:cubicBezTo>
                        <a:close/>
                      </a:path>
                      <a:path w="7886700" h="27432" stroke="0" extrusionOk="0">
                        <a:moveTo>
                          <a:pt x="0" y="0"/>
                        </a:moveTo>
                        <a:cubicBezTo>
                          <a:pt x="165412" y="-21137"/>
                          <a:pt x="322344" y="-21985"/>
                          <a:pt x="578358" y="0"/>
                        </a:cubicBezTo>
                        <a:cubicBezTo>
                          <a:pt x="834372" y="21985"/>
                          <a:pt x="888520" y="-5136"/>
                          <a:pt x="998982" y="0"/>
                        </a:cubicBezTo>
                        <a:cubicBezTo>
                          <a:pt x="1109444" y="5136"/>
                          <a:pt x="1622600" y="-36529"/>
                          <a:pt x="1813941" y="0"/>
                        </a:cubicBezTo>
                        <a:cubicBezTo>
                          <a:pt x="2005282" y="36529"/>
                          <a:pt x="2177619" y="19108"/>
                          <a:pt x="2392299" y="0"/>
                        </a:cubicBezTo>
                        <a:cubicBezTo>
                          <a:pt x="2606979" y="-19108"/>
                          <a:pt x="2788556" y="-21788"/>
                          <a:pt x="2970657" y="0"/>
                        </a:cubicBezTo>
                        <a:cubicBezTo>
                          <a:pt x="3152758" y="21788"/>
                          <a:pt x="3596738" y="18723"/>
                          <a:pt x="3785616" y="0"/>
                        </a:cubicBezTo>
                        <a:cubicBezTo>
                          <a:pt x="3974494" y="-18723"/>
                          <a:pt x="4136501" y="9985"/>
                          <a:pt x="4285107" y="0"/>
                        </a:cubicBezTo>
                        <a:cubicBezTo>
                          <a:pt x="4433713" y="-9985"/>
                          <a:pt x="4710656" y="-6143"/>
                          <a:pt x="5100066" y="0"/>
                        </a:cubicBezTo>
                        <a:cubicBezTo>
                          <a:pt x="5489476" y="6143"/>
                          <a:pt x="5703885" y="5883"/>
                          <a:pt x="5915025" y="0"/>
                        </a:cubicBezTo>
                        <a:cubicBezTo>
                          <a:pt x="6126165" y="-5883"/>
                          <a:pt x="6308797" y="30350"/>
                          <a:pt x="6572250" y="0"/>
                        </a:cubicBezTo>
                        <a:cubicBezTo>
                          <a:pt x="6835703" y="-30350"/>
                          <a:pt x="7286910" y="4832"/>
                          <a:pt x="7886700" y="0"/>
                        </a:cubicBezTo>
                        <a:cubicBezTo>
                          <a:pt x="7885340" y="10164"/>
                          <a:pt x="7886783" y="19377"/>
                          <a:pt x="7886700" y="27432"/>
                        </a:cubicBezTo>
                        <a:cubicBezTo>
                          <a:pt x="7752936" y="37838"/>
                          <a:pt x="7671143" y="22240"/>
                          <a:pt x="7466076" y="27432"/>
                        </a:cubicBezTo>
                        <a:cubicBezTo>
                          <a:pt x="7261009" y="32624"/>
                          <a:pt x="7039949" y="45892"/>
                          <a:pt x="6651117" y="27432"/>
                        </a:cubicBezTo>
                        <a:cubicBezTo>
                          <a:pt x="6262285" y="8972"/>
                          <a:pt x="6379660" y="21432"/>
                          <a:pt x="6151626" y="27432"/>
                        </a:cubicBezTo>
                        <a:cubicBezTo>
                          <a:pt x="5923592" y="33432"/>
                          <a:pt x="5816137" y="49453"/>
                          <a:pt x="5494401" y="27432"/>
                        </a:cubicBezTo>
                        <a:cubicBezTo>
                          <a:pt x="5172665" y="5411"/>
                          <a:pt x="5022009" y="14146"/>
                          <a:pt x="4679442" y="27432"/>
                        </a:cubicBezTo>
                        <a:cubicBezTo>
                          <a:pt x="4336875" y="40718"/>
                          <a:pt x="4169241" y="-4552"/>
                          <a:pt x="4022217" y="27432"/>
                        </a:cubicBezTo>
                        <a:cubicBezTo>
                          <a:pt x="3875193" y="59416"/>
                          <a:pt x="3723776" y="46198"/>
                          <a:pt x="3601593" y="27432"/>
                        </a:cubicBezTo>
                        <a:cubicBezTo>
                          <a:pt x="3479410" y="8666"/>
                          <a:pt x="3283834" y="20447"/>
                          <a:pt x="3102102" y="27432"/>
                        </a:cubicBezTo>
                        <a:cubicBezTo>
                          <a:pt x="2920370" y="34417"/>
                          <a:pt x="2467386" y="35404"/>
                          <a:pt x="2287143" y="27432"/>
                        </a:cubicBezTo>
                        <a:cubicBezTo>
                          <a:pt x="2106900" y="19460"/>
                          <a:pt x="1798848" y="59556"/>
                          <a:pt x="1629918" y="27432"/>
                        </a:cubicBezTo>
                        <a:cubicBezTo>
                          <a:pt x="1460989" y="-4692"/>
                          <a:pt x="1324115" y="34913"/>
                          <a:pt x="1130427" y="27432"/>
                        </a:cubicBezTo>
                        <a:cubicBezTo>
                          <a:pt x="936739" y="19951"/>
                          <a:pt x="302034" y="30143"/>
                          <a:pt x="0" y="27432"/>
                        </a:cubicBezTo>
                        <a:cubicBezTo>
                          <a:pt x="-383" y="21019"/>
                          <a:pt x="-503" y="1243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659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938528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7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926080"/>
            <a:ext cx="3868340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938528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7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926080"/>
            <a:ext cx="3887391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4CB-6CA2-492F-B0CC-0A62828107B1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628649" y="1709928"/>
            <a:ext cx="78867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886700"/>
                      <a:gd name="connsiteY0" fmla="*/ 0 h 27432"/>
                      <a:gd name="connsiteX1" fmla="*/ 420624 w 7886700"/>
                      <a:gd name="connsiteY1" fmla="*/ 0 h 27432"/>
                      <a:gd name="connsiteX2" fmla="*/ 1156716 w 7886700"/>
                      <a:gd name="connsiteY2" fmla="*/ 0 h 27432"/>
                      <a:gd name="connsiteX3" fmla="*/ 1577340 w 7886700"/>
                      <a:gd name="connsiteY3" fmla="*/ 0 h 27432"/>
                      <a:gd name="connsiteX4" fmla="*/ 2155698 w 7886700"/>
                      <a:gd name="connsiteY4" fmla="*/ 0 h 27432"/>
                      <a:gd name="connsiteX5" fmla="*/ 2970657 w 7886700"/>
                      <a:gd name="connsiteY5" fmla="*/ 0 h 27432"/>
                      <a:gd name="connsiteX6" fmla="*/ 3627882 w 7886700"/>
                      <a:gd name="connsiteY6" fmla="*/ 0 h 27432"/>
                      <a:gd name="connsiteX7" fmla="*/ 4363974 w 7886700"/>
                      <a:gd name="connsiteY7" fmla="*/ 0 h 27432"/>
                      <a:gd name="connsiteX8" fmla="*/ 4942332 w 7886700"/>
                      <a:gd name="connsiteY8" fmla="*/ 0 h 27432"/>
                      <a:gd name="connsiteX9" fmla="*/ 5599557 w 7886700"/>
                      <a:gd name="connsiteY9" fmla="*/ 0 h 27432"/>
                      <a:gd name="connsiteX10" fmla="*/ 6414516 w 7886700"/>
                      <a:gd name="connsiteY10" fmla="*/ 0 h 27432"/>
                      <a:gd name="connsiteX11" fmla="*/ 6914007 w 7886700"/>
                      <a:gd name="connsiteY11" fmla="*/ 0 h 27432"/>
                      <a:gd name="connsiteX12" fmla="*/ 7886700 w 7886700"/>
                      <a:gd name="connsiteY12" fmla="*/ 0 h 27432"/>
                      <a:gd name="connsiteX13" fmla="*/ 7886700 w 7886700"/>
                      <a:gd name="connsiteY13" fmla="*/ 27432 h 27432"/>
                      <a:gd name="connsiteX14" fmla="*/ 7308342 w 7886700"/>
                      <a:gd name="connsiteY14" fmla="*/ 27432 h 27432"/>
                      <a:gd name="connsiteX15" fmla="*/ 6887718 w 7886700"/>
                      <a:gd name="connsiteY15" fmla="*/ 27432 h 27432"/>
                      <a:gd name="connsiteX16" fmla="*/ 6230493 w 7886700"/>
                      <a:gd name="connsiteY16" fmla="*/ 27432 h 27432"/>
                      <a:gd name="connsiteX17" fmla="*/ 5731002 w 7886700"/>
                      <a:gd name="connsiteY17" fmla="*/ 27432 h 27432"/>
                      <a:gd name="connsiteX18" fmla="*/ 5073777 w 7886700"/>
                      <a:gd name="connsiteY18" fmla="*/ 27432 h 27432"/>
                      <a:gd name="connsiteX19" fmla="*/ 4416552 w 7886700"/>
                      <a:gd name="connsiteY19" fmla="*/ 27432 h 27432"/>
                      <a:gd name="connsiteX20" fmla="*/ 3759327 w 7886700"/>
                      <a:gd name="connsiteY20" fmla="*/ 27432 h 27432"/>
                      <a:gd name="connsiteX21" fmla="*/ 3102102 w 7886700"/>
                      <a:gd name="connsiteY21" fmla="*/ 27432 h 27432"/>
                      <a:gd name="connsiteX22" fmla="*/ 2523744 w 7886700"/>
                      <a:gd name="connsiteY22" fmla="*/ 27432 h 27432"/>
                      <a:gd name="connsiteX23" fmla="*/ 1787652 w 7886700"/>
                      <a:gd name="connsiteY23" fmla="*/ 27432 h 27432"/>
                      <a:gd name="connsiteX24" fmla="*/ 1130427 w 7886700"/>
                      <a:gd name="connsiteY24" fmla="*/ 27432 h 27432"/>
                      <a:gd name="connsiteX25" fmla="*/ 0 w 7886700"/>
                      <a:gd name="connsiteY25" fmla="*/ 27432 h 27432"/>
                      <a:gd name="connsiteX26" fmla="*/ 0 w 7886700"/>
                      <a:gd name="connsiteY26" fmla="*/ 0 h 27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886700" h="27432" fill="none" extrusionOk="0">
                        <a:moveTo>
                          <a:pt x="0" y="0"/>
                        </a:moveTo>
                        <a:cubicBezTo>
                          <a:pt x="157525" y="2723"/>
                          <a:pt x="287389" y="-6453"/>
                          <a:pt x="420624" y="0"/>
                        </a:cubicBezTo>
                        <a:cubicBezTo>
                          <a:pt x="553859" y="6453"/>
                          <a:pt x="825625" y="29874"/>
                          <a:pt x="1156716" y="0"/>
                        </a:cubicBezTo>
                        <a:cubicBezTo>
                          <a:pt x="1487807" y="-29874"/>
                          <a:pt x="1467015" y="9632"/>
                          <a:pt x="1577340" y="0"/>
                        </a:cubicBezTo>
                        <a:cubicBezTo>
                          <a:pt x="1687665" y="-9632"/>
                          <a:pt x="2024250" y="19395"/>
                          <a:pt x="2155698" y="0"/>
                        </a:cubicBezTo>
                        <a:cubicBezTo>
                          <a:pt x="2287146" y="-19395"/>
                          <a:pt x="2775210" y="-36481"/>
                          <a:pt x="2970657" y="0"/>
                        </a:cubicBezTo>
                        <a:cubicBezTo>
                          <a:pt x="3166104" y="36481"/>
                          <a:pt x="3456933" y="2822"/>
                          <a:pt x="3627882" y="0"/>
                        </a:cubicBezTo>
                        <a:cubicBezTo>
                          <a:pt x="3798831" y="-2822"/>
                          <a:pt x="4063535" y="23706"/>
                          <a:pt x="4363974" y="0"/>
                        </a:cubicBezTo>
                        <a:cubicBezTo>
                          <a:pt x="4664413" y="-23706"/>
                          <a:pt x="4721338" y="-85"/>
                          <a:pt x="4942332" y="0"/>
                        </a:cubicBezTo>
                        <a:cubicBezTo>
                          <a:pt x="5163326" y="85"/>
                          <a:pt x="5298512" y="10710"/>
                          <a:pt x="5599557" y="0"/>
                        </a:cubicBezTo>
                        <a:cubicBezTo>
                          <a:pt x="5900603" y="-10710"/>
                          <a:pt x="6095214" y="3467"/>
                          <a:pt x="6414516" y="0"/>
                        </a:cubicBezTo>
                        <a:cubicBezTo>
                          <a:pt x="6733818" y="-3467"/>
                          <a:pt x="6803711" y="5617"/>
                          <a:pt x="6914007" y="0"/>
                        </a:cubicBezTo>
                        <a:cubicBezTo>
                          <a:pt x="7024303" y="-5617"/>
                          <a:pt x="7602090" y="-33929"/>
                          <a:pt x="7886700" y="0"/>
                        </a:cubicBezTo>
                        <a:cubicBezTo>
                          <a:pt x="7886111" y="10802"/>
                          <a:pt x="7886030" y="18406"/>
                          <a:pt x="7886700" y="27432"/>
                        </a:cubicBezTo>
                        <a:cubicBezTo>
                          <a:pt x="7637258" y="17142"/>
                          <a:pt x="7575695" y="16729"/>
                          <a:pt x="7308342" y="27432"/>
                        </a:cubicBezTo>
                        <a:cubicBezTo>
                          <a:pt x="7040989" y="38135"/>
                          <a:pt x="7003134" y="44021"/>
                          <a:pt x="6887718" y="27432"/>
                        </a:cubicBezTo>
                        <a:cubicBezTo>
                          <a:pt x="6772302" y="10843"/>
                          <a:pt x="6488136" y="58247"/>
                          <a:pt x="6230493" y="27432"/>
                        </a:cubicBezTo>
                        <a:cubicBezTo>
                          <a:pt x="5972851" y="-3383"/>
                          <a:pt x="5929971" y="35622"/>
                          <a:pt x="5731002" y="27432"/>
                        </a:cubicBezTo>
                        <a:cubicBezTo>
                          <a:pt x="5532033" y="19242"/>
                          <a:pt x="5381360" y="28708"/>
                          <a:pt x="5073777" y="27432"/>
                        </a:cubicBezTo>
                        <a:cubicBezTo>
                          <a:pt x="4766194" y="26156"/>
                          <a:pt x="4713365" y="29311"/>
                          <a:pt x="4416552" y="27432"/>
                        </a:cubicBezTo>
                        <a:cubicBezTo>
                          <a:pt x="4119740" y="25553"/>
                          <a:pt x="3915304" y="28418"/>
                          <a:pt x="3759327" y="27432"/>
                        </a:cubicBezTo>
                        <a:cubicBezTo>
                          <a:pt x="3603351" y="26446"/>
                          <a:pt x="3375414" y="21218"/>
                          <a:pt x="3102102" y="27432"/>
                        </a:cubicBezTo>
                        <a:cubicBezTo>
                          <a:pt x="2828791" y="33646"/>
                          <a:pt x="2795766" y="19461"/>
                          <a:pt x="2523744" y="27432"/>
                        </a:cubicBezTo>
                        <a:cubicBezTo>
                          <a:pt x="2251722" y="35403"/>
                          <a:pt x="1947642" y="32293"/>
                          <a:pt x="1787652" y="27432"/>
                        </a:cubicBezTo>
                        <a:cubicBezTo>
                          <a:pt x="1627662" y="22571"/>
                          <a:pt x="1413335" y="29665"/>
                          <a:pt x="1130427" y="27432"/>
                        </a:cubicBezTo>
                        <a:cubicBezTo>
                          <a:pt x="847520" y="25199"/>
                          <a:pt x="292942" y="-13628"/>
                          <a:pt x="0" y="27432"/>
                        </a:cubicBezTo>
                        <a:cubicBezTo>
                          <a:pt x="586" y="19291"/>
                          <a:pt x="-218" y="13009"/>
                          <a:pt x="0" y="0"/>
                        </a:cubicBezTo>
                        <a:close/>
                      </a:path>
                      <a:path w="7886700" h="27432" stroke="0" extrusionOk="0">
                        <a:moveTo>
                          <a:pt x="0" y="0"/>
                        </a:moveTo>
                        <a:cubicBezTo>
                          <a:pt x="165412" y="-21137"/>
                          <a:pt x="322344" y="-21985"/>
                          <a:pt x="578358" y="0"/>
                        </a:cubicBezTo>
                        <a:cubicBezTo>
                          <a:pt x="834372" y="21985"/>
                          <a:pt x="888520" y="-5136"/>
                          <a:pt x="998982" y="0"/>
                        </a:cubicBezTo>
                        <a:cubicBezTo>
                          <a:pt x="1109444" y="5136"/>
                          <a:pt x="1622600" y="-36529"/>
                          <a:pt x="1813941" y="0"/>
                        </a:cubicBezTo>
                        <a:cubicBezTo>
                          <a:pt x="2005282" y="36529"/>
                          <a:pt x="2177619" y="19108"/>
                          <a:pt x="2392299" y="0"/>
                        </a:cubicBezTo>
                        <a:cubicBezTo>
                          <a:pt x="2606979" y="-19108"/>
                          <a:pt x="2788556" y="-21788"/>
                          <a:pt x="2970657" y="0"/>
                        </a:cubicBezTo>
                        <a:cubicBezTo>
                          <a:pt x="3152758" y="21788"/>
                          <a:pt x="3596738" y="18723"/>
                          <a:pt x="3785616" y="0"/>
                        </a:cubicBezTo>
                        <a:cubicBezTo>
                          <a:pt x="3974494" y="-18723"/>
                          <a:pt x="4136501" y="9985"/>
                          <a:pt x="4285107" y="0"/>
                        </a:cubicBezTo>
                        <a:cubicBezTo>
                          <a:pt x="4433713" y="-9985"/>
                          <a:pt x="4710656" y="-6143"/>
                          <a:pt x="5100066" y="0"/>
                        </a:cubicBezTo>
                        <a:cubicBezTo>
                          <a:pt x="5489476" y="6143"/>
                          <a:pt x="5703885" y="5883"/>
                          <a:pt x="5915025" y="0"/>
                        </a:cubicBezTo>
                        <a:cubicBezTo>
                          <a:pt x="6126165" y="-5883"/>
                          <a:pt x="6308797" y="30350"/>
                          <a:pt x="6572250" y="0"/>
                        </a:cubicBezTo>
                        <a:cubicBezTo>
                          <a:pt x="6835703" y="-30350"/>
                          <a:pt x="7286910" y="4832"/>
                          <a:pt x="7886700" y="0"/>
                        </a:cubicBezTo>
                        <a:cubicBezTo>
                          <a:pt x="7885340" y="10164"/>
                          <a:pt x="7886783" y="19377"/>
                          <a:pt x="7886700" y="27432"/>
                        </a:cubicBezTo>
                        <a:cubicBezTo>
                          <a:pt x="7752936" y="37838"/>
                          <a:pt x="7671143" y="22240"/>
                          <a:pt x="7466076" y="27432"/>
                        </a:cubicBezTo>
                        <a:cubicBezTo>
                          <a:pt x="7261009" y="32624"/>
                          <a:pt x="7039949" y="45892"/>
                          <a:pt x="6651117" y="27432"/>
                        </a:cubicBezTo>
                        <a:cubicBezTo>
                          <a:pt x="6262285" y="8972"/>
                          <a:pt x="6379660" y="21432"/>
                          <a:pt x="6151626" y="27432"/>
                        </a:cubicBezTo>
                        <a:cubicBezTo>
                          <a:pt x="5923592" y="33432"/>
                          <a:pt x="5816137" y="49453"/>
                          <a:pt x="5494401" y="27432"/>
                        </a:cubicBezTo>
                        <a:cubicBezTo>
                          <a:pt x="5172665" y="5411"/>
                          <a:pt x="5022009" y="14146"/>
                          <a:pt x="4679442" y="27432"/>
                        </a:cubicBezTo>
                        <a:cubicBezTo>
                          <a:pt x="4336875" y="40718"/>
                          <a:pt x="4169241" y="-4552"/>
                          <a:pt x="4022217" y="27432"/>
                        </a:cubicBezTo>
                        <a:cubicBezTo>
                          <a:pt x="3875193" y="59416"/>
                          <a:pt x="3723776" y="46198"/>
                          <a:pt x="3601593" y="27432"/>
                        </a:cubicBezTo>
                        <a:cubicBezTo>
                          <a:pt x="3479410" y="8666"/>
                          <a:pt x="3283834" y="20447"/>
                          <a:pt x="3102102" y="27432"/>
                        </a:cubicBezTo>
                        <a:cubicBezTo>
                          <a:pt x="2920370" y="34417"/>
                          <a:pt x="2467386" y="35404"/>
                          <a:pt x="2287143" y="27432"/>
                        </a:cubicBezTo>
                        <a:cubicBezTo>
                          <a:pt x="2106900" y="19460"/>
                          <a:pt x="1798848" y="59556"/>
                          <a:pt x="1629918" y="27432"/>
                        </a:cubicBezTo>
                        <a:cubicBezTo>
                          <a:pt x="1460989" y="-4692"/>
                          <a:pt x="1324115" y="34913"/>
                          <a:pt x="1130427" y="27432"/>
                        </a:cubicBezTo>
                        <a:cubicBezTo>
                          <a:pt x="936739" y="19951"/>
                          <a:pt x="302034" y="30143"/>
                          <a:pt x="0" y="27432"/>
                        </a:cubicBezTo>
                        <a:cubicBezTo>
                          <a:pt x="-383" y="21019"/>
                          <a:pt x="-503" y="1243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026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778" y="1728216"/>
            <a:ext cx="5836158" cy="3392424"/>
          </a:xfrm>
        </p:spPr>
        <p:txBody>
          <a:bodyPr>
            <a:normAutofit/>
          </a:bodyPr>
          <a:lstStyle>
            <a:lvl1pPr algn="ctr">
              <a:defRPr sz="5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E500-7A72-4DDB-9FE3-A1694FEB585E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2980655" y="5126892"/>
            <a:ext cx="3182692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182692"/>
                      <a:gd name="connsiteY0" fmla="*/ 0 h 27432"/>
                      <a:gd name="connsiteX1" fmla="*/ 604711 w 3182692"/>
                      <a:gd name="connsiteY1" fmla="*/ 0 h 27432"/>
                      <a:gd name="connsiteX2" fmla="*/ 1241250 w 3182692"/>
                      <a:gd name="connsiteY2" fmla="*/ 0 h 27432"/>
                      <a:gd name="connsiteX3" fmla="*/ 1909615 w 3182692"/>
                      <a:gd name="connsiteY3" fmla="*/ 0 h 27432"/>
                      <a:gd name="connsiteX4" fmla="*/ 2577981 w 3182692"/>
                      <a:gd name="connsiteY4" fmla="*/ 0 h 27432"/>
                      <a:gd name="connsiteX5" fmla="*/ 3182692 w 3182692"/>
                      <a:gd name="connsiteY5" fmla="*/ 0 h 27432"/>
                      <a:gd name="connsiteX6" fmla="*/ 3182692 w 3182692"/>
                      <a:gd name="connsiteY6" fmla="*/ 27432 h 27432"/>
                      <a:gd name="connsiteX7" fmla="*/ 2482500 w 3182692"/>
                      <a:gd name="connsiteY7" fmla="*/ 27432 h 27432"/>
                      <a:gd name="connsiteX8" fmla="*/ 1782308 w 3182692"/>
                      <a:gd name="connsiteY8" fmla="*/ 27432 h 27432"/>
                      <a:gd name="connsiteX9" fmla="*/ 1145769 w 3182692"/>
                      <a:gd name="connsiteY9" fmla="*/ 27432 h 27432"/>
                      <a:gd name="connsiteX10" fmla="*/ 0 w 3182692"/>
                      <a:gd name="connsiteY10" fmla="*/ 27432 h 27432"/>
                      <a:gd name="connsiteX11" fmla="*/ 0 w 3182692"/>
                      <a:gd name="connsiteY11" fmla="*/ 0 h 27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182692" h="27432" fill="none" extrusionOk="0">
                        <a:moveTo>
                          <a:pt x="0" y="0"/>
                        </a:moveTo>
                        <a:cubicBezTo>
                          <a:pt x="126686" y="-21366"/>
                          <a:pt x="467788" y="9025"/>
                          <a:pt x="604711" y="0"/>
                        </a:cubicBezTo>
                        <a:cubicBezTo>
                          <a:pt x="741634" y="-9025"/>
                          <a:pt x="1061620" y="6814"/>
                          <a:pt x="1241250" y="0"/>
                        </a:cubicBezTo>
                        <a:cubicBezTo>
                          <a:pt x="1420880" y="-6814"/>
                          <a:pt x="1713773" y="13383"/>
                          <a:pt x="1909615" y="0"/>
                        </a:cubicBezTo>
                        <a:cubicBezTo>
                          <a:pt x="2105457" y="-13383"/>
                          <a:pt x="2257256" y="13567"/>
                          <a:pt x="2577981" y="0"/>
                        </a:cubicBezTo>
                        <a:cubicBezTo>
                          <a:pt x="2898706" y="-13567"/>
                          <a:pt x="3026063" y="6328"/>
                          <a:pt x="3182692" y="0"/>
                        </a:cubicBezTo>
                        <a:cubicBezTo>
                          <a:pt x="3181526" y="7395"/>
                          <a:pt x="3182737" y="21864"/>
                          <a:pt x="3182692" y="27432"/>
                        </a:cubicBezTo>
                        <a:cubicBezTo>
                          <a:pt x="2998421" y="30886"/>
                          <a:pt x="2675038" y="28158"/>
                          <a:pt x="2482500" y="27432"/>
                        </a:cubicBezTo>
                        <a:cubicBezTo>
                          <a:pt x="2289962" y="26706"/>
                          <a:pt x="1930644" y="15978"/>
                          <a:pt x="1782308" y="27432"/>
                        </a:cubicBezTo>
                        <a:cubicBezTo>
                          <a:pt x="1633972" y="38886"/>
                          <a:pt x="1287388" y="7152"/>
                          <a:pt x="1145769" y="27432"/>
                        </a:cubicBezTo>
                        <a:cubicBezTo>
                          <a:pt x="1004150" y="47712"/>
                          <a:pt x="256377" y="-28294"/>
                          <a:pt x="0" y="27432"/>
                        </a:cubicBezTo>
                        <a:cubicBezTo>
                          <a:pt x="-503" y="20663"/>
                          <a:pt x="1168" y="5855"/>
                          <a:pt x="0" y="0"/>
                        </a:cubicBezTo>
                        <a:close/>
                      </a:path>
                      <a:path w="3182692" h="27432" stroke="0" extrusionOk="0">
                        <a:moveTo>
                          <a:pt x="0" y="0"/>
                        </a:moveTo>
                        <a:cubicBezTo>
                          <a:pt x="283446" y="18201"/>
                          <a:pt x="432812" y="7290"/>
                          <a:pt x="604711" y="0"/>
                        </a:cubicBezTo>
                        <a:cubicBezTo>
                          <a:pt x="776610" y="-7290"/>
                          <a:pt x="982253" y="15478"/>
                          <a:pt x="1145769" y="0"/>
                        </a:cubicBezTo>
                        <a:cubicBezTo>
                          <a:pt x="1309285" y="-15478"/>
                          <a:pt x="1514247" y="-25520"/>
                          <a:pt x="1845961" y="0"/>
                        </a:cubicBezTo>
                        <a:cubicBezTo>
                          <a:pt x="2177675" y="25520"/>
                          <a:pt x="2297588" y="16646"/>
                          <a:pt x="2450673" y="0"/>
                        </a:cubicBezTo>
                        <a:cubicBezTo>
                          <a:pt x="2603758" y="-16646"/>
                          <a:pt x="3023048" y="-21196"/>
                          <a:pt x="3182692" y="0"/>
                        </a:cubicBezTo>
                        <a:cubicBezTo>
                          <a:pt x="3182885" y="12649"/>
                          <a:pt x="3181704" y="17989"/>
                          <a:pt x="3182692" y="27432"/>
                        </a:cubicBezTo>
                        <a:cubicBezTo>
                          <a:pt x="3039109" y="-3557"/>
                          <a:pt x="2823860" y="22992"/>
                          <a:pt x="2546154" y="27432"/>
                        </a:cubicBezTo>
                        <a:cubicBezTo>
                          <a:pt x="2268448" y="31872"/>
                          <a:pt x="2098674" y="14435"/>
                          <a:pt x="1845961" y="27432"/>
                        </a:cubicBezTo>
                        <a:cubicBezTo>
                          <a:pt x="1593248" y="40429"/>
                          <a:pt x="1456743" y="36704"/>
                          <a:pt x="1304904" y="27432"/>
                        </a:cubicBezTo>
                        <a:cubicBezTo>
                          <a:pt x="1153065" y="18160"/>
                          <a:pt x="947204" y="20270"/>
                          <a:pt x="668365" y="27432"/>
                        </a:cubicBezTo>
                        <a:cubicBezTo>
                          <a:pt x="389526" y="34594"/>
                          <a:pt x="288244" y="4516"/>
                          <a:pt x="0" y="27432"/>
                        </a:cubicBezTo>
                        <a:cubicBezTo>
                          <a:pt x="1300" y="19678"/>
                          <a:pt x="-86" y="1204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2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74432-6BE7-4D58-AF85-70092D415FD4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661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3429000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7640" y="548640"/>
            <a:ext cx="4539996" cy="5431536"/>
          </a:xfrm>
        </p:spPr>
        <p:txBody>
          <a:bodyPr anchor="ctr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3977640"/>
            <a:ext cx="2949178" cy="200253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5D60-7456-4F11-A71C-BF7A3D02EC66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1538049" y="3257572"/>
            <a:ext cx="4480560" cy="20574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20574"/>
                      <a:gd name="connsiteX1" fmla="*/ 595274 w 4480560"/>
                      <a:gd name="connsiteY1" fmla="*/ 0 h 20574"/>
                      <a:gd name="connsiteX2" fmla="*/ 1100938 w 4480560"/>
                      <a:gd name="connsiteY2" fmla="*/ 0 h 20574"/>
                      <a:gd name="connsiteX3" fmla="*/ 1651406 w 4480560"/>
                      <a:gd name="connsiteY3" fmla="*/ 0 h 20574"/>
                      <a:gd name="connsiteX4" fmla="*/ 2336292 w 4480560"/>
                      <a:gd name="connsiteY4" fmla="*/ 0 h 20574"/>
                      <a:gd name="connsiteX5" fmla="*/ 2931566 w 4480560"/>
                      <a:gd name="connsiteY5" fmla="*/ 0 h 20574"/>
                      <a:gd name="connsiteX6" fmla="*/ 3482035 w 4480560"/>
                      <a:gd name="connsiteY6" fmla="*/ 0 h 20574"/>
                      <a:gd name="connsiteX7" fmla="*/ 4480560 w 4480560"/>
                      <a:gd name="connsiteY7" fmla="*/ 0 h 20574"/>
                      <a:gd name="connsiteX8" fmla="*/ 4480560 w 4480560"/>
                      <a:gd name="connsiteY8" fmla="*/ 20574 h 20574"/>
                      <a:gd name="connsiteX9" fmla="*/ 3840480 w 4480560"/>
                      <a:gd name="connsiteY9" fmla="*/ 20574 h 20574"/>
                      <a:gd name="connsiteX10" fmla="*/ 3290011 w 4480560"/>
                      <a:gd name="connsiteY10" fmla="*/ 20574 h 20574"/>
                      <a:gd name="connsiteX11" fmla="*/ 2560320 w 4480560"/>
                      <a:gd name="connsiteY11" fmla="*/ 20574 h 20574"/>
                      <a:gd name="connsiteX12" fmla="*/ 1965046 w 4480560"/>
                      <a:gd name="connsiteY12" fmla="*/ 20574 h 20574"/>
                      <a:gd name="connsiteX13" fmla="*/ 1459382 w 4480560"/>
                      <a:gd name="connsiteY13" fmla="*/ 20574 h 20574"/>
                      <a:gd name="connsiteX14" fmla="*/ 774497 w 4480560"/>
                      <a:gd name="connsiteY14" fmla="*/ 20574 h 20574"/>
                      <a:gd name="connsiteX15" fmla="*/ 0 w 4480560"/>
                      <a:gd name="connsiteY15" fmla="*/ 20574 h 20574"/>
                      <a:gd name="connsiteX16" fmla="*/ 0 w 4480560"/>
                      <a:gd name="connsiteY16" fmla="*/ 0 h 20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20574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0616" y="4822"/>
                          <a:pt x="4479740" y="14232"/>
                          <a:pt x="4480560" y="20574"/>
                        </a:cubicBezTo>
                        <a:cubicBezTo>
                          <a:pt x="4314132" y="17210"/>
                          <a:pt x="4028383" y="38918"/>
                          <a:pt x="3840480" y="20574"/>
                        </a:cubicBezTo>
                        <a:cubicBezTo>
                          <a:pt x="3652577" y="2230"/>
                          <a:pt x="3547615" y="5134"/>
                          <a:pt x="3290011" y="20574"/>
                        </a:cubicBezTo>
                        <a:cubicBezTo>
                          <a:pt x="3032407" y="36014"/>
                          <a:pt x="2830268" y="11005"/>
                          <a:pt x="2560320" y="20574"/>
                        </a:cubicBezTo>
                        <a:cubicBezTo>
                          <a:pt x="2290372" y="30143"/>
                          <a:pt x="2147422" y="9014"/>
                          <a:pt x="1965046" y="20574"/>
                        </a:cubicBezTo>
                        <a:cubicBezTo>
                          <a:pt x="1782670" y="32134"/>
                          <a:pt x="1689791" y="42966"/>
                          <a:pt x="1459382" y="20574"/>
                        </a:cubicBezTo>
                        <a:cubicBezTo>
                          <a:pt x="1228973" y="-1818"/>
                          <a:pt x="915486" y="38787"/>
                          <a:pt x="774497" y="20574"/>
                        </a:cubicBezTo>
                        <a:cubicBezTo>
                          <a:pt x="633508" y="2361"/>
                          <a:pt x="361442" y="-8821"/>
                          <a:pt x="0" y="20574"/>
                        </a:cubicBezTo>
                        <a:cubicBezTo>
                          <a:pt x="666" y="15709"/>
                          <a:pt x="595" y="5181"/>
                          <a:pt x="0" y="0"/>
                        </a:cubicBezTo>
                        <a:close/>
                      </a:path>
                      <a:path w="4480560" h="20574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1388" y="4289"/>
                          <a:pt x="4480809" y="12348"/>
                          <a:pt x="4480560" y="20574"/>
                        </a:cubicBezTo>
                        <a:cubicBezTo>
                          <a:pt x="4279652" y="-4564"/>
                          <a:pt x="4200762" y="43852"/>
                          <a:pt x="3930091" y="20574"/>
                        </a:cubicBezTo>
                        <a:cubicBezTo>
                          <a:pt x="3659420" y="-2704"/>
                          <a:pt x="3456052" y="24580"/>
                          <a:pt x="3290011" y="20574"/>
                        </a:cubicBezTo>
                        <a:cubicBezTo>
                          <a:pt x="3123970" y="16568"/>
                          <a:pt x="2882392" y="35104"/>
                          <a:pt x="2649931" y="20574"/>
                        </a:cubicBezTo>
                        <a:cubicBezTo>
                          <a:pt x="2417470" y="6044"/>
                          <a:pt x="2238426" y="9623"/>
                          <a:pt x="2054657" y="20574"/>
                        </a:cubicBezTo>
                        <a:cubicBezTo>
                          <a:pt x="1870888" y="31525"/>
                          <a:pt x="1566368" y="47326"/>
                          <a:pt x="1324966" y="20574"/>
                        </a:cubicBezTo>
                        <a:cubicBezTo>
                          <a:pt x="1083564" y="-6178"/>
                          <a:pt x="787410" y="13232"/>
                          <a:pt x="595274" y="20574"/>
                        </a:cubicBezTo>
                        <a:cubicBezTo>
                          <a:pt x="403138" y="27916"/>
                          <a:pt x="169622" y="12785"/>
                          <a:pt x="0" y="20574"/>
                        </a:cubicBezTo>
                        <a:cubicBezTo>
                          <a:pt x="553" y="10436"/>
                          <a:pt x="-908" y="876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3076008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8940" cy="3429000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77640" y="548640"/>
            <a:ext cx="4539996" cy="5431536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3977640"/>
            <a:ext cx="2948940" cy="200253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F8A9-92BA-4B1A-9C66-F05D2D465879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1538478" y="3257572"/>
            <a:ext cx="4480560" cy="20574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20574"/>
                      <a:gd name="connsiteX1" fmla="*/ 595274 w 4480560"/>
                      <a:gd name="connsiteY1" fmla="*/ 0 h 20574"/>
                      <a:gd name="connsiteX2" fmla="*/ 1100938 w 4480560"/>
                      <a:gd name="connsiteY2" fmla="*/ 0 h 20574"/>
                      <a:gd name="connsiteX3" fmla="*/ 1651406 w 4480560"/>
                      <a:gd name="connsiteY3" fmla="*/ 0 h 20574"/>
                      <a:gd name="connsiteX4" fmla="*/ 2336292 w 4480560"/>
                      <a:gd name="connsiteY4" fmla="*/ 0 h 20574"/>
                      <a:gd name="connsiteX5" fmla="*/ 2931566 w 4480560"/>
                      <a:gd name="connsiteY5" fmla="*/ 0 h 20574"/>
                      <a:gd name="connsiteX6" fmla="*/ 3482035 w 4480560"/>
                      <a:gd name="connsiteY6" fmla="*/ 0 h 20574"/>
                      <a:gd name="connsiteX7" fmla="*/ 4480560 w 4480560"/>
                      <a:gd name="connsiteY7" fmla="*/ 0 h 20574"/>
                      <a:gd name="connsiteX8" fmla="*/ 4480560 w 4480560"/>
                      <a:gd name="connsiteY8" fmla="*/ 20574 h 20574"/>
                      <a:gd name="connsiteX9" fmla="*/ 3840480 w 4480560"/>
                      <a:gd name="connsiteY9" fmla="*/ 20574 h 20574"/>
                      <a:gd name="connsiteX10" fmla="*/ 3290011 w 4480560"/>
                      <a:gd name="connsiteY10" fmla="*/ 20574 h 20574"/>
                      <a:gd name="connsiteX11" fmla="*/ 2560320 w 4480560"/>
                      <a:gd name="connsiteY11" fmla="*/ 20574 h 20574"/>
                      <a:gd name="connsiteX12" fmla="*/ 1965046 w 4480560"/>
                      <a:gd name="connsiteY12" fmla="*/ 20574 h 20574"/>
                      <a:gd name="connsiteX13" fmla="*/ 1459382 w 4480560"/>
                      <a:gd name="connsiteY13" fmla="*/ 20574 h 20574"/>
                      <a:gd name="connsiteX14" fmla="*/ 774497 w 4480560"/>
                      <a:gd name="connsiteY14" fmla="*/ 20574 h 20574"/>
                      <a:gd name="connsiteX15" fmla="*/ 0 w 4480560"/>
                      <a:gd name="connsiteY15" fmla="*/ 20574 h 20574"/>
                      <a:gd name="connsiteX16" fmla="*/ 0 w 4480560"/>
                      <a:gd name="connsiteY16" fmla="*/ 0 h 20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20574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0616" y="4822"/>
                          <a:pt x="4479740" y="14232"/>
                          <a:pt x="4480560" y="20574"/>
                        </a:cubicBezTo>
                        <a:cubicBezTo>
                          <a:pt x="4314132" y="17210"/>
                          <a:pt x="4028383" y="38918"/>
                          <a:pt x="3840480" y="20574"/>
                        </a:cubicBezTo>
                        <a:cubicBezTo>
                          <a:pt x="3652577" y="2230"/>
                          <a:pt x="3547615" y="5134"/>
                          <a:pt x="3290011" y="20574"/>
                        </a:cubicBezTo>
                        <a:cubicBezTo>
                          <a:pt x="3032407" y="36014"/>
                          <a:pt x="2830268" y="11005"/>
                          <a:pt x="2560320" y="20574"/>
                        </a:cubicBezTo>
                        <a:cubicBezTo>
                          <a:pt x="2290372" y="30143"/>
                          <a:pt x="2147422" y="9014"/>
                          <a:pt x="1965046" y="20574"/>
                        </a:cubicBezTo>
                        <a:cubicBezTo>
                          <a:pt x="1782670" y="32134"/>
                          <a:pt x="1689791" y="42966"/>
                          <a:pt x="1459382" y="20574"/>
                        </a:cubicBezTo>
                        <a:cubicBezTo>
                          <a:pt x="1228973" y="-1818"/>
                          <a:pt x="915486" y="38787"/>
                          <a:pt x="774497" y="20574"/>
                        </a:cubicBezTo>
                        <a:cubicBezTo>
                          <a:pt x="633508" y="2361"/>
                          <a:pt x="361442" y="-8821"/>
                          <a:pt x="0" y="20574"/>
                        </a:cubicBezTo>
                        <a:cubicBezTo>
                          <a:pt x="666" y="15709"/>
                          <a:pt x="595" y="5181"/>
                          <a:pt x="0" y="0"/>
                        </a:cubicBezTo>
                        <a:close/>
                      </a:path>
                      <a:path w="4480560" h="20574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1388" y="4289"/>
                          <a:pt x="4480809" y="12348"/>
                          <a:pt x="4480560" y="20574"/>
                        </a:cubicBezTo>
                        <a:cubicBezTo>
                          <a:pt x="4279652" y="-4564"/>
                          <a:pt x="4200762" y="43852"/>
                          <a:pt x="3930091" y="20574"/>
                        </a:cubicBezTo>
                        <a:cubicBezTo>
                          <a:pt x="3659420" y="-2704"/>
                          <a:pt x="3456052" y="24580"/>
                          <a:pt x="3290011" y="20574"/>
                        </a:cubicBezTo>
                        <a:cubicBezTo>
                          <a:pt x="3123970" y="16568"/>
                          <a:pt x="2882392" y="35104"/>
                          <a:pt x="2649931" y="20574"/>
                        </a:cubicBezTo>
                        <a:cubicBezTo>
                          <a:pt x="2417470" y="6044"/>
                          <a:pt x="2238426" y="9623"/>
                          <a:pt x="2054657" y="20574"/>
                        </a:cubicBezTo>
                        <a:cubicBezTo>
                          <a:pt x="1870888" y="31525"/>
                          <a:pt x="1566368" y="47326"/>
                          <a:pt x="1324966" y="20574"/>
                        </a:cubicBezTo>
                        <a:cubicBezTo>
                          <a:pt x="1083564" y="-6178"/>
                          <a:pt x="787410" y="13232"/>
                          <a:pt x="595274" y="20574"/>
                        </a:cubicBezTo>
                        <a:cubicBezTo>
                          <a:pt x="403138" y="27916"/>
                          <a:pt x="169622" y="12785"/>
                          <a:pt x="0" y="20574"/>
                        </a:cubicBezTo>
                        <a:cubicBezTo>
                          <a:pt x="553" y="10436"/>
                          <a:pt x="-908" y="876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946067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E608A-2DFA-4039-860A-A1A49F003D55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262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3C5C-F291-4348-8BE2-C052912A9EF8}" type="datetime2">
              <a:rPr lang="en-US" smtClean="0"/>
              <a:t>Monday, January 2,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Saurav Prasad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753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8311F34-7403-473A-A1F0-A692ECD17D72}" type="datetime2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Monday, January 2, 2023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Dr. Saurav Prasad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50B6346-900B-6247-A13F-CFA21336E5A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90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481" y="273629"/>
            <a:ext cx="8226720" cy="1143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>
          <a:xfrm>
            <a:off x="456481" y="6247376"/>
            <a:ext cx="2128320" cy="470930"/>
          </a:xfrm>
        </p:spPr>
        <p:txBody>
          <a:bodyPr/>
          <a:lstStyle>
            <a:lvl1pPr>
              <a:defRPr/>
            </a:lvl1pPr>
          </a:lstStyle>
          <a:p>
            <a:fld id="{F78DD1BC-F3A0-4D5F-A4D1-FEE2A5453FE0}" type="datetime2">
              <a:rPr lang="en-US" altLang="x-none" smtClean="0">
                <a:solidFill>
                  <a:prstClr val="black">
                    <a:tint val="75000"/>
                  </a:prstClr>
                </a:solidFill>
              </a:rPr>
              <a:t>Monday, January 2, 2023</a:t>
            </a:fld>
            <a:endParaRPr lang="en-US" altLang="x-non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>
          <a:xfrm>
            <a:off x="3127680" y="6247376"/>
            <a:ext cx="2897280" cy="47093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x-none">
                <a:solidFill>
                  <a:prstClr val="black">
                    <a:tint val="75000"/>
                  </a:prstClr>
                </a:solidFill>
              </a:rPr>
              <a:t>Dr. Saurav Prasad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>
          <a:xfrm>
            <a:off x="6556321" y="6247376"/>
            <a:ext cx="2128320" cy="470930"/>
          </a:xfrm>
        </p:spPr>
        <p:txBody>
          <a:bodyPr/>
          <a:lstStyle>
            <a:lvl1pPr>
              <a:defRPr/>
            </a:lvl1pPr>
          </a:lstStyle>
          <a:p>
            <a:fld id="{2C4BE03E-BE5B-D74E-93AA-D77FF87E4E71}" type="slidenum">
              <a:rPr lang="en-US" altLang="x-none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x-non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24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F5216-D94A-4D56-AE46-C3400340BBCB}" type="datetime1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528DD-6B36-3F4F-831A-378B618B2C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97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1C50C-0EAD-4235-8BC0-4FD7E602E67E}" type="datetime2">
              <a:rPr lang="en-US" smtClean="0"/>
              <a:t>Monday, January 2,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Saurav Prasad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63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vox.com/2014/9/4/6105631/map-galaxy-supercluster-laniakea-milky-wa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26.png"/><Relationship Id="rId7" Type="http://schemas.openxmlformats.org/officeDocument/2006/relationships/image" Target="../media/image300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30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8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The Hand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A9E2C-079D-4E24-A59C-EEAF30B57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162" y="3592743"/>
            <a:ext cx="8182230" cy="1290515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6000" dirty="0"/>
              <a:t>Thermodynamics</a:t>
            </a:r>
            <a:br>
              <a:rPr lang="en-US" sz="6000" dirty="0"/>
            </a:br>
            <a:r>
              <a:rPr lang="en-US" sz="2325" dirty="0"/>
              <a:t>Dr. Saurav Prasad</a:t>
            </a:r>
          </a:p>
        </p:txBody>
      </p:sp>
      <p:sp>
        <p:nvSpPr>
          <p:cNvPr id="145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7" y="4989039"/>
            <a:ext cx="3429000" cy="20574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4242A7"/>
          </a:solidFill>
          <a:ln w="38100" cap="rnd">
            <a:solidFill>
              <a:srgbClr val="4242A7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429000"/>
                      <a:gd name="connsiteY0" fmla="*/ 0 h 20574"/>
                      <a:gd name="connsiteX1" fmla="*/ 651510 w 3429000"/>
                      <a:gd name="connsiteY1" fmla="*/ 0 h 20574"/>
                      <a:gd name="connsiteX2" fmla="*/ 1337310 w 3429000"/>
                      <a:gd name="connsiteY2" fmla="*/ 0 h 20574"/>
                      <a:gd name="connsiteX3" fmla="*/ 2057400 w 3429000"/>
                      <a:gd name="connsiteY3" fmla="*/ 0 h 20574"/>
                      <a:gd name="connsiteX4" fmla="*/ 2777490 w 3429000"/>
                      <a:gd name="connsiteY4" fmla="*/ 0 h 20574"/>
                      <a:gd name="connsiteX5" fmla="*/ 3429000 w 3429000"/>
                      <a:gd name="connsiteY5" fmla="*/ 0 h 20574"/>
                      <a:gd name="connsiteX6" fmla="*/ 3429000 w 3429000"/>
                      <a:gd name="connsiteY6" fmla="*/ 20574 h 20574"/>
                      <a:gd name="connsiteX7" fmla="*/ 2674620 w 3429000"/>
                      <a:gd name="connsiteY7" fmla="*/ 20574 h 20574"/>
                      <a:gd name="connsiteX8" fmla="*/ 1920240 w 3429000"/>
                      <a:gd name="connsiteY8" fmla="*/ 20574 h 20574"/>
                      <a:gd name="connsiteX9" fmla="*/ 1234440 w 3429000"/>
                      <a:gd name="connsiteY9" fmla="*/ 20574 h 20574"/>
                      <a:gd name="connsiteX10" fmla="*/ 0 w 3429000"/>
                      <a:gd name="connsiteY10" fmla="*/ 20574 h 20574"/>
                      <a:gd name="connsiteX11" fmla="*/ 0 w 3429000"/>
                      <a:gd name="connsiteY11" fmla="*/ 0 h 20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429000" h="20574" fill="none" extrusionOk="0">
                        <a:moveTo>
                          <a:pt x="0" y="0"/>
                        </a:moveTo>
                        <a:cubicBezTo>
                          <a:pt x="134033" y="-6176"/>
                          <a:pt x="393312" y="-724"/>
                          <a:pt x="651510" y="0"/>
                        </a:cubicBezTo>
                        <a:cubicBezTo>
                          <a:pt x="909708" y="724"/>
                          <a:pt x="1063218" y="-2211"/>
                          <a:pt x="1337310" y="0"/>
                        </a:cubicBezTo>
                        <a:cubicBezTo>
                          <a:pt x="1611402" y="2211"/>
                          <a:pt x="1767318" y="-34251"/>
                          <a:pt x="2057400" y="0"/>
                        </a:cubicBezTo>
                        <a:cubicBezTo>
                          <a:pt x="2347482" y="34251"/>
                          <a:pt x="2520601" y="14672"/>
                          <a:pt x="2777490" y="0"/>
                        </a:cubicBezTo>
                        <a:cubicBezTo>
                          <a:pt x="3034379" y="-14672"/>
                          <a:pt x="3208225" y="22331"/>
                          <a:pt x="3429000" y="0"/>
                        </a:cubicBezTo>
                        <a:cubicBezTo>
                          <a:pt x="3428177" y="8892"/>
                          <a:pt x="3429388" y="12703"/>
                          <a:pt x="3429000" y="20574"/>
                        </a:cubicBezTo>
                        <a:cubicBezTo>
                          <a:pt x="3254513" y="-3629"/>
                          <a:pt x="2996008" y="-3143"/>
                          <a:pt x="2674620" y="20574"/>
                        </a:cubicBezTo>
                        <a:cubicBezTo>
                          <a:pt x="2353232" y="44291"/>
                          <a:pt x="2172773" y="-16000"/>
                          <a:pt x="1920240" y="20574"/>
                        </a:cubicBezTo>
                        <a:cubicBezTo>
                          <a:pt x="1667707" y="57148"/>
                          <a:pt x="1571981" y="52040"/>
                          <a:pt x="1234440" y="20574"/>
                        </a:cubicBezTo>
                        <a:cubicBezTo>
                          <a:pt x="896899" y="-10892"/>
                          <a:pt x="605178" y="66897"/>
                          <a:pt x="0" y="20574"/>
                        </a:cubicBezTo>
                        <a:cubicBezTo>
                          <a:pt x="-161" y="11630"/>
                          <a:pt x="139" y="4527"/>
                          <a:pt x="0" y="0"/>
                        </a:cubicBezTo>
                        <a:close/>
                      </a:path>
                      <a:path w="3429000" h="20574" stroke="0" extrusionOk="0">
                        <a:moveTo>
                          <a:pt x="0" y="0"/>
                        </a:moveTo>
                        <a:cubicBezTo>
                          <a:pt x="296065" y="-25938"/>
                          <a:pt x="508101" y="15049"/>
                          <a:pt x="651510" y="0"/>
                        </a:cubicBezTo>
                        <a:cubicBezTo>
                          <a:pt x="794919" y="-15049"/>
                          <a:pt x="977878" y="13267"/>
                          <a:pt x="1234440" y="0"/>
                        </a:cubicBezTo>
                        <a:cubicBezTo>
                          <a:pt x="1491002" y="-13267"/>
                          <a:pt x="1758685" y="-13612"/>
                          <a:pt x="1988820" y="0"/>
                        </a:cubicBezTo>
                        <a:cubicBezTo>
                          <a:pt x="2218955" y="13612"/>
                          <a:pt x="2387946" y="-27527"/>
                          <a:pt x="2640330" y="0"/>
                        </a:cubicBezTo>
                        <a:cubicBezTo>
                          <a:pt x="2892714" y="27527"/>
                          <a:pt x="3237953" y="9759"/>
                          <a:pt x="3429000" y="0"/>
                        </a:cubicBezTo>
                        <a:cubicBezTo>
                          <a:pt x="3429536" y="8886"/>
                          <a:pt x="3428355" y="10327"/>
                          <a:pt x="3429000" y="20574"/>
                        </a:cubicBezTo>
                        <a:cubicBezTo>
                          <a:pt x="3086957" y="22115"/>
                          <a:pt x="3046990" y="41209"/>
                          <a:pt x="2743200" y="20574"/>
                        </a:cubicBezTo>
                        <a:cubicBezTo>
                          <a:pt x="2439410" y="-61"/>
                          <a:pt x="2155452" y="43848"/>
                          <a:pt x="1988820" y="20574"/>
                        </a:cubicBezTo>
                        <a:cubicBezTo>
                          <a:pt x="1822188" y="-2700"/>
                          <a:pt x="1528974" y="-3574"/>
                          <a:pt x="1405890" y="20574"/>
                        </a:cubicBezTo>
                        <a:cubicBezTo>
                          <a:pt x="1282806" y="44722"/>
                          <a:pt x="990983" y="26866"/>
                          <a:pt x="720090" y="20574"/>
                        </a:cubicBezTo>
                        <a:cubicBezTo>
                          <a:pt x="449197" y="14282"/>
                          <a:pt x="296143" y="23103"/>
                          <a:pt x="0" y="20574"/>
                        </a:cubicBezTo>
                        <a:cubicBezTo>
                          <a:pt x="271" y="13936"/>
                          <a:pt x="-429" y="800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The Hand"/>
            </a:endParaRPr>
          </a:p>
        </p:txBody>
      </p:sp>
      <p:sp>
        <p:nvSpPr>
          <p:cNvPr id="146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56245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en-US" sz="1200" dirty="0">
              <a:solidFill>
                <a:prstClr val="black"/>
              </a:solidFill>
              <a:latin typeface="The Hand"/>
            </a:endParaRPr>
          </a:p>
        </p:txBody>
      </p:sp>
      <p:sp>
        <p:nvSpPr>
          <p:cNvPr id="15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en-US" sz="1200" dirty="0">
              <a:solidFill>
                <a:prstClr val="black"/>
              </a:solidFill>
              <a:latin typeface="The Hand"/>
            </a:endParaRPr>
          </a:p>
        </p:txBody>
      </p:sp>
      <p:sp>
        <p:nvSpPr>
          <p:cNvPr id="17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defRPr/>
            </a:pPr>
            <a:endParaRPr lang="en-US" sz="1200" dirty="0">
              <a:solidFill>
                <a:prstClr val="black"/>
              </a:solidFill>
              <a:latin typeface="The Han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AAA1A-816C-40F3-9CE9-84DB12AB6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73" y="1081058"/>
            <a:ext cx="4357567" cy="24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32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C995A2-3602-7B49-8782-ECF09C4759E4}" type="slidenum">
              <a:rPr lang="en-US">
                <a:latin typeface="Arial" charset="0"/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22B5A-B00C-46BD-B608-F89465366C0C}"/>
              </a:ext>
            </a:extLst>
          </p:cNvPr>
          <p:cNvSpPr txBox="1"/>
          <p:nvPr/>
        </p:nvSpPr>
        <p:spPr>
          <a:xfrm>
            <a:off x="1043609" y="1928194"/>
            <a:ext cx="72058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Thermodynamics</a:t>
            </a:r>
          </a:p>
          <a:p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of thermodynamics: Industrial revolution in the late 1700s or early 1800s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till then, heavy work was performed by horses: horsepower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Fantastic new invention: Heat Engine, thermodynamics: to gain the maximum efficiency from such heat engines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science: modern day heat engines, Bugatti Veyron: world’s fastest production car, 883 kilowatts, 1184 brake horsepower, 268 miles/hour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77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C995A2-3602-7B49-8782-ECF09C4759E4}" type="slidenum">
              <a:rPr lang="en-US">
                <a:latin typeface="Arial" charset="0"/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134AD-415E-4BC0-994D-873A79E0F3F0}"/>
              </a:ext>
            </a:extLst>
          </p:cNvPr>
          <p:cNvSpPr txBox="1"/>
          <p:nvPr/>
        </p:nvSpPr>
        <p:spPr>
          <a:xfrm>
            <a:off x="-19877" y="-59634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Thermodynamic 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EA480-F448-49E9-88DD-65EE6F17773C}"/>
              </a:ext>
            </a:extLst>
          </p:cNvPr>
          <p:cNvSpPr txBox="1"/>
          <p:nvPr/>
        </p:nvSpPr>
        <p:spPr>
          <a:xfrm>
            <a:off x="9942" y="675865"/>
            <a:ext cx="9064484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Thermodynamic System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thermodynamic system is defined as any part of the Universe under consideration.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be something as similar as a beaker of water, a chemical reaction taking place in a test tube, oil refinery or as complicated as an entire galaxy.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1000 Milliliter Low Form Borosilicate Glass Measuring Beaker For E-Waste  And Gold Recovery | Science fair, Science fair projects, Beaker">
            <a:extLst>
              <a:ext uri="{FF2B5EF4-FFF2-40B4-BE49-F238E27FC236}">
                <a16:creationId xmlns:a16="http://schemas.microsoft.com/office/drawing/2014/main" id="{BFDAB515-1906-42AD-8A98-B35AC033F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9" y="4032183"/>
            <a:ext cx="19335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n on Learning Spaces">
            <a:extLst>
              <a:ext uri="{FF2B5EF4-FFF2-40B4-BE49-F238E27FC236}">
                <a16:creationId xmlns:a16="http://schemas.microsoft.com/office/drawing/2014/main" id="{4E3FA4A3-DD8F-44B0-AAF8-AD8EA1E16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045" y="4042950"/>
            <a:ext cx="191452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CC70F0-16E8-4AEC-9110-17EAA5032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964" y="4356032"/>
            <a:ext cx="2647950" cy="1724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B8D431-5FE9-45BD-93E0-DDBA0CC75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447" y="4246494"/>
            <a:ext cx="235267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02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C995A2-3602-7B49-8782-ECF09C4759E4}" type="slidenum">
              <a:rPr lang="en-US">
                <a:latin typeface="Arial" charset="0"/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134AD-415E-4BC0-994D-873A79E0F3F0}"/>
              </a:ext>
            </a:extLst>
          </p:cNvPr>
          <p:cNvSpPr txBox="1"/>
          <p:nvPr/>
        </p:nvSpPr>
        <p:spPr>
          <a:xfrm>
            <a:off x="-19877" y="-59634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Thermodynamic Definitions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EA480-F448-49E9-88DD-65EE6F17773C}"/>
              </a:ext>
            </a:extLst>
          </p:cNvPr>
          <p:cNvSpPr txBox="1"/>
          <p:nvPr/>
        </p:nvSpPr>
        <p:spPr>
          <a:xfrm>
            <a:off x="9942" y="576475"/>
            <a:ext cx="9064484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Thermodynamic Surroundings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Thermodynamics surroundings are defined as everything other than the thermodynamic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the entire rest of the universe.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Universe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b="1" dirty="0">
              <a:solidFill>
                <a:srgbClr val="ED7D31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universe is therefore the system plus the surroundings.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513C68-0147-408B-851B-BB05B977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50" y="4418951"/>
            <a:ext cx="2573406" cy="2251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31B6B7-FA99-499C-8BCA-6DF9ACA2E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384" y="4418952"/>
            <a:ext cx="2573406" cy="222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5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C995A2-3602-7B49-8782-ECF09C4759E4}" type="slidenum">
              <a:rPr lang="en-US">
                <a:latin typeface="Arial" charset="0"/>
                <a:ea typeface="ＭＳ Ｐゴシック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EA480-F448-49E9-88DD-65EE6F17773C}"/>
              </a:ext>
            </a:extLst>
          </p:cNvPr>
          <p:cNvSpPr txBox="1"/>
          <p:nvPr/>
        </p:nvSpPr>
        <p:spPr>
          <a:xfrm>
            <a:off x="9942" y="576475"/>
            <a:ext cx="492212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Vastness of the Universe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4C4E4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Milky Way is just one of billions of galaxies in the universe. Recently, scientists mapped the 100,000 or so galaxies near the Milky Way and found that it's part of a broader supercluster called </a:t>
            </a:r>
            <a:r>
              <a:rPr lang="en-US" b="1" i="0" dirty="0" err="1">
                <a:solidFill>
                  <a:srgbClr val="4F717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Laniakea</a:t>
            </a:r>
            <a:r>
              <a:rPr lang="en-US" b="0" i="0" dirty="0">
                <a:solidFill>
                  <a:srgbClr val="4C4E4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rgbClr val="ED7D31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BC6DD0-C412-4F01-9ADF-06ED1ED1C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9" y="2425557"/>
            <a:ext cx="7191375" cy="4295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28FBEA-4FC1-47D4-B47D-4E80A5AB4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66" y="616950"/>
            <a:ext cx="4142360" cy="31507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0FD524-DCF6-45A2-A349-100019BD0016}"/>
              </a:ext>
            </a:extLst>
          </p:cNvPr>
          <p:cNvSpPr txBox="1"/>
          <p:nvPr/>
        </p:nvSpPr>
        <p:spPr>
          <a:xfrm>
            <a:off x="7221191" y="4164492"/>
            <a:ext cx="17737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observable Universe: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Sphere with a radius 4.66 x 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light years, a light years is 9.46 x 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6CD6F7-68F1-40FD-A34C-EAAF5ED930C1}"/>
              </a:ext>
            </a:extLst>
          </p:cNvPr>
          <p:cNvSpPr txBox="1"/>
          <p:nvPr/>
        </p:nvSpPr>
        <p:spPr>
          <a:xfrm>
            <a:off x="-44723" y="-55426"/>
            <a:ext cx="67735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Definitions</a:t>
            </a:r>
          </a:p>
        </p:txBody>
      </p:sp>
    </p:spTree>
    <p:extLst>
      <p:ext uri="{BB962C8B-B14F-4D97-AF65-F5344CB8AC3E}">
        <p14:creationId xmlns:p14="http://schemas.microsoft.com/office/powerpoint/2010/main" val="1077091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EA480-F448-49E9-88DD-65EE6F17773C}"/>
              </a:ext>
            </a:extLst>
          </p:cNvPr>
          <p:cNvSpPr txBox="1"/>
          <p:nvPr/>
        </p:nvSpPr>
        <p:spPr>
          <a:xfrm>
            <a:off x="9942" y="576475"/>
            <a:ext cx="6096661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Surroundings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Thermite reaction: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Intensely exothermic, used even today to weld railway lines in remote location.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energy released, but impact of this on next town is negligible.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Supernova explosion: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violent energetic process, dying stars explode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impact on distant galaxies is negligible. How many times you have observed this phenomena in your life?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42440-A73C-48FB-A72F-0E6E0BAF6D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" r="50397" b="15451"/>
          <a:stretch/>
        </p:blipFill>
        <p:spPr>
          <a:xfrm>
            <a:off x="6815009" y="648253"/>
            <a:ext cx="1961245" cy="30367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D9D7E1-2E1D-4C3C-B2B6-053CBADBBB18}"/>
                  </a:ext>
                </a:extLst>
              </p:cNvPr>
              <p:cNvSpPr txBox="1"/>
              <p:nvPr/>
            </p:nvSpPr>
            <p:spPr>
              <a:xfrm>
                <a:off x="556591" y="2310853"/>
                <a:ext cx="400622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𝑭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𝑨𝒍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𝑭𝒆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D9D7E1-2E1D-4C3C-B2B6-053CBADBB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1" y="2310853"/>
                <a:ext cx="4006225" cy="369332"/>
              </a:xfrm>
              <a:prstGeom prst="rect">
                <a:avLst/>
              </a:prstGeom>
              <a:blipFill>
                <a:blip r:embed="rId3"/>
                <a:stretch>
                  <a:fillRect l="-1218" r="-45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9C5A9A2-B95B-4021-AEC7-E1523E18E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04" y="3940659"/>
            <a:ext cx="2598254" cy="25982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C4DFA08-12E6-4846-BC83-06E7F861C0B3}"/>
              </a:ext>
            </a:extLst>
          </p:cNvPr>
          <p:cNvSpPr txBox="1"/>
          <p:nvPr/>
        </p:nvSpPr>
        <p:spPr>
          <a:xfrm>
            <a:off x="-24846" y="-115063"/>
            <a:ext cx="70617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Definitions</a:t>
            </a:r>
          </a:p>
        </p:txBody>
      </p:sp>
    </p:spTree>
    <p:extLst>
      <p:ext uri="{BB962C8B-B14F-4D97-AF65-F5344CB8AC3E}">
        <p14:creationId xmlns:p14="http://schemas.microsoft.com/office/powerpoint/2010/main" val="162095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9DC22-2332-4B4A-BC16-D96722732EFC}"/>
              </a:ext>
            </a:extLst>
          </p:cNvPr>
          <p:cNvSpPr txBox="1"/>
          <p:nvPr/>
        </p:nvSpPr>
        <p:spPr>
          <a:xfrm>
            <a:off x="0" y="617379"/>
            <a:ext cx="91440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Surroundings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Surroundings are assumed to be infinite and  remain at constant temperature and pressure.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vast size of the universe validates this assumption.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boundary may be actual or notional.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 controls transfer of work, heat, and matter from the system to the surroundings and </a:t>
            </a:r>
            <a:r>
              <a:rPr kumimoji="0" lang="en-US" sz="24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vice-versa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boundary may or may not impose restrictions on such transfers.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6932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Definitions</a:t>
            </a:r>
          </a:p>
        </p:txBody>
      </p:sp>
    </p:spTree>
    <p:extLst>
      <p:ext uri="{BB962C8B-B14F-4D97-AF65-F5344CB8AC3E}">
        <p14:creationId xmlns:p14="http://schemas.microsoft.com/office/powerpoint/2010/main" val="3302348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9DC22-2332-4B4A-BC16-D96722732EFC}"/>
              </a:ext>
            </a:extLst>
          </p:cNvPr>
          <p:cNvSpPr txBox="1"/>
          <p:nvPr/>
        </p:nvSpPr>
        <p:spPr>
          <a:xfrm>
            <a:off x="0" y="617379"/>
            <a:ext cx="7305261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Open, Closed, and Isolated Systems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b="1" dirty="0">
              <a:solidFill>
                <a:srgbClr val="ED7D31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 System: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 open system may exchange both energy and matter with its surroundings.</a:t>
            </a:r>
            <a:r>
              <a:rPr kumimoji="0" lang="en-US" sz="24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Changes in composition are therefore possible.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Closed System: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closed system may exchange energy but not matter with its surroundings. Pressure build-up</a:t>
            </a:r>
            <a:r>
              <a:rPr kumimoji="0" lang="en-US" sz="24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a distinct possibility.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srgbClr val="ED7D31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Isolated System: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isolated system may exchange neither energy nor matter with its surroundings.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 build-up is a possibility.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srgbClr val="ED7D31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6932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Definitions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2FCCC6-66CC-4DBB-AE20-E363D4F760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" t="10260" r="83994" b="-10656"/>
          <a:stretch/>
        </p:blipFill>
        <p:spPr>
          <a:xfrm>
            <a:off x="7486650" y="1249289"/>
            <a:ext cx="1141463" cy="51365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4B43D5-E910-4FAF-804C-126E43377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29" t="498" r="51772" b="498"/>
          <a:stretch/>
        </p:blipFill>
        <p:spPr>
          <a:xfrm>
            <a:off x="7486650" y="1249289"/>
            <a:ext cx="1297754" cy="5265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485959-11A8-4C6D-A301-7EBA0DD9B9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998" r="2"/>
          <a:stretch/>
        </p:blipFill>
        <p:spPr>
          <a:xfrm>
            <a:off x="7270693" y="1470224"/>
            <a:ext cx="1873307" cy="363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9DC22-2332-4B4A-BC16-D96722732EFC}"/>
              </a:ext>
            </a:extLst>
          </p:cNvPr>
          <p:cNvSpPr txBox="1"/>
          <p:nvPr/>
        </p:nvSpPr>
        <p:spPr>
          <a:xfrm>
            <a:off x="0" y="617379"/>
            <a:ext cx="9144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Diathermic and Adiabatic Systems/Walls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diathermic system allows heat flow into or out of the system.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adiabatic system prevents heat flow into or out of the system.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6932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Definitions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0BD3B-434D-4126-825E-DFA12FE57A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83" r="5320"/>
          <a:stretch/>
        </p:blipFill>
        <p:spPr>
          <a:xfrm>
            <a:off x="5652383" y="2870787"/>
            <a:ext cx="2560320" cy="3632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09C902-B879-4791-865F-F1B4C2DAD3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1" r="57979"/>
          <a:stretch/>
        </p:blipFill>
        <p:spPr>
          <a:xfrm>
            <a:off x="768791" y="2870787"/>
            <a:ext cx="2697480" cy="366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5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9DC22-2332-4B4A-BC16-D96722732EFC}"/>
              </a:ext>
            </a:extLst>
          </p:cNvPr>
          <p:cNvSpPr txBox="1"/>
          <p:nvPr/>
        </p:nvSpPr>
        <p:spPr>
          <a:xfrm>
            <a:off x="0" y="617379"/>
            <a:ext cx="9144000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Isothermal,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Isobaric, and Isochoric Processes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Isothermal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implies constant temperature, 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aseline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Isobaric implies constant pressure, P.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aseline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Isochoric implies constant volume, V.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State Functions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800" b="1" baseline="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state function describes the state of the system.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all state functions: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Pressure, P; Volume, V; Temperature, T; Mass, m; Quantity, n        	    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Internal Energy, U; Enthalpy, H; Entropy, S; Gibbs Energy, G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6932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Definitions</a:t>
            </a:r>
          </a:p>
        </p:txBody>
      </p:sp>
    </p:spTree>
    <p:extLst>
      <p:ext uri="{BB962C8B-B14F-4D97-AF65-F5344CB8AC3E}">
        <p14:creationId xmlns:p14="http://schemas.microsoft.com/office/powerpoint/2010/main" val="167821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9DC22-2332-4B4A-BC16-D96722732EFC}"/>
              </a:ext>
            </a:extLst>
          </p:cNvPr>
          <p:cNvSpPr txBox="1"/>
          <p:nvPr/>
        </p:nvSpPr>
        <p:spPr>
          <a:xfrm>
            <a:off x="0" y="617379"/>
            <a:ext cx="4840358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Functions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state function describes the current state of a system.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How the system came to be in that particular state is of no consequence.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Functions governing transition between the states are called path functions.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noProof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Heat, q &amp; Work, w: are both forms of energy. State of a system is changed by supply or removal of energy in the form of heat or work.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6932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Definitions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A42E4F-1398-4909-9F2B-2057653510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00" t="17947" r="15610" b="7366"/>
          <a:stretch/>
        </p:blipFill>
        <p:spPr>
          <a:xfrm>
            <a:off x="4840359" y="1778935"/>
            <a:ext cx="4303642" cy="33814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6677A9-C88C-49C3-9737-C83A8732CD35}"/>
              </a:ext>
            </a:extLst>
          </p:cNvPr>
          <p:cNvSpPr txBox="1"/>
          <p:nvPr/>
        </p:nvSpPr>
        <p:spPr>
          <a:xfrm>
            <a:off x="5337315" y="884583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molecular motion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059C2AD-D132-48C7-9031-2AA58DC63ECF}"/>
              </a:ext>
            </a:extLst>
          </p:cNvPr>
          <p:cNvSpPr/>
          <p:nvPr/>
        </p:nvSpPr>
        <p:spPr>
          <a:xfrm rot="17712329">
            <a:off x="5575852" y="1401416"/>
            <a:ext cx="318052" cy="2962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7B7B801-51E9-4979-9D68-841A1A6BCB6F}"/>
              </a:ext>
            </a:extLst>
          </p:cNvPr>
          <p:cNvSpPr/>
          <p:nvPr/>
        </p:nvSpPr>
        <p:spPr>
          <a:xfrm rot="6823606">
            <a:off x="8156747" y="5217440"/>
            <a:ext cx="318052" cy="2962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A35362-ADC1-4A7D-84F0-4EF6F80C76F8}"/>
              </a:ext>
            </a:extLst>
          </p:cNvPr>
          <p:cNvSpPr txBox="1"/>
          <p:nvPr/>
        </p:nvSpPr>
        <p:spPr>
          <a:xfrm>
            <a:off x="5650389" y="5504043"/>
            <a:ext cx="47608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molecular motion</a:t>
            </a:r>
          </a:p>
        </p:txBody>
      </p:sp>
    </p:spTree>
    <p:extLst>
      <p:ext uri="{BB962C8B-B14F-4D97-AF65-F5344CB8AC3E}">
        <p14:creationId xmlns:p14="http://schemas.microsoft.com/office/powerpoint/2010/main" val="3272532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9DC22-2332-4B4A-BC16-D96722732EFC}"/>
              </a:ext>
            </a:extLst>
          </p:cNvPr>
          <p:cNvSpPr txBox="1"/>
          <p:nvPr/>
        </p:nvSpPr>
        <p:spPr>
          <a:xfrm>
            <a:off x="0" y="617379"/>
            <a:ext cx="511865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Heat and Work Conventions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Path functions are positive when energy enters the system.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Path functions are negative when energy leaves the system.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They are often defined as: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Heat supplied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Mechanical work done </a:t>
            </a:r>
            <a:r>
              <a:rPr kumimoji="0" lang="en-US" sz="24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	system, </a:t>
            </a:r>
            <a:r>
              <a:rPr kumimoji="0" lang="en-US" sz="240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</a:t>
            </a:r>
            <a:r>
              <a:rPr kumimoji="0" lang="en-US" sz="240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6932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Thermodynamic Definitions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0901AE-B673-4DC9-8B01-E1BAC0B79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050" y="1818861"/>
            <a:ext cx="4182180" cy="322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42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6932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Laws of Thermodynamics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72E33-F282-4CE2-AD89-6EB41AE0EB26}"/>
              </a:ext>
            </a:extLst>
          </p:cNvPr>
          <p:cNvSpPr txBox="1"/>
          <p:nvPr/>
        </p:nvSpPr>
        <p:spPr>
          <a:xfrm>
            <a:off x="69574" y="473555"/>
            <a:ext cx="9074425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Zeroth Law of Thermodynamics and Temperature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Ironically named 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law; last of the four laws to be discovered.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true meaning of temperature.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Law of Thermodynamics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around 1850 by Rudolf Clausius.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Adaption of the Law of Conservation of Energy for Thermodynamic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change in the state function, internal energy of the system based on the energy flow into or out of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to the definition of a new state function called enthalpy.</a:t>
            </a:r>
          </a:p>
        </p:txBody>
      </p:sp>
    </p:spTree>
    <p:extLst>
      <p:ext uri="{BB962C8B-B14F-4D97-AF65-F5344CB8AC3E}">
        <p14:creationId xmlns:p14="http://schemas.microsoft.com/office/powerpoint/2010/main" val="1300438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6932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Laws of Thermodynamics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72E33-F282-4CE2-AD89-6EB41AE0EB26}"/>
              </a:ext>
            </a:extLst>
          </p:cNvPr>
          <p:cNvSpPr txBox="1"/>
          <p:nvPr/>
        </p:nvSpPr>
        <p:spPr>
          <a:xfrm>
            <a:off x="69574" y="513311"/>
            <a:ext cx="907442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Second Law of Thermodynamics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around 1850 by Rudolf Clausius by following initial work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Carnot in 1824.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the direction in which all processes spontaneously occur, e. g. a hot object loses heat to the surroundings.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state function: Entropy, fundamentally measures disorder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Law of Thermodynamics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German chemist Walter Nernst in 1912; While considering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matter at absolute zero.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to the definition of zero on the entropy scale; determination of absolute entropy.</a:t>
            </a:r>
          </a:p>
        </p:txBody>
      </p:sp>
    </p:spTree>
    <p:extLst>
      <p:ext uri="{BB962C8B-B14F-4D97-AF65-F5344CB8AC3E}">
        <p14:creationId xmlns:p14="http://schemas.microsoft.com/office/powerpoint/2010/main" val="1151374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5563A2-852D-4E28-9E56-5634FCA95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869" y="697602"/>
            <a:ext cx="2542555" cy="254255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8279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Zeroth Law of Thermodynamics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72E33-F282-4CE2-AD89-6EB41AE0EB26}"/>
              </a:ext>
            </a:extLst>
          </p:cNvPr>
          <p:cNvSpPr txBox="1"/>
          <p:nvPr/>
        </p:nvSpPr>
        <p:spPr>
          <a:xfrm>
            <a:off x="69577" y="487025"/>
            <a:ext cx="624177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 of Temperature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routinely by a thermometer; Think how the thermometer works?     </a:t>
            </a:r>
          </a:p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Law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two objects are separately in thermodynamic  equilibrium with a third object, they are in thermodynamic equilibrium with each other.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two objects are in contact with one another, energy will flow between them until they reach a state of thermodynamic equilibrium. Upon reaching this state we say that the two objects are at the same temperature.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6B470-6B38-4196-91D9-C0ACC367E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350" y="3899245"/>
            <a:ext cx="2773013" cy="226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212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-85246"/>
            <a:ext cx="86072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Zeroth Law of Thermodynamics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C2043F-ED20-473D-A9E1-30EFAADFE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3" y="889552"/>
            <a:ext cx="8774894" cy="3369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C3153E-E83D-4A3E-8AA6-839C85AFCD71}"/>
              </a:ext>
            </a:extLst>
          </p:cNvPr>
          <p:cNvSpPr txBox="1"/>
          <p:nvPr/>
        </p:nvSpPr>
        <p:spPr>
          <a:xfrm>
            <a:off x="75223" y="4452730"/>
            <a:ext cx="89481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sounds obvious but it has vital ramifications for the measurement of temperature by thermometer.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obvious nature of this statement explains why it did not become a law of thermodynamics until well after the other three laws. </a:t>
            </a:r>
          </a:p>
        </p:txBody>
      </p:sp>
    </p:spTree>
    <p:extLst>
      <p:ext uri="{BB962C8B-B14F-4D97-AF65-F5344CB8AC3E}">
        <p14:creationId xmlns:p14="http://schemas.microsoft.com/office/powerpoint/2010/main" val="3574278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8E3F8B-3052-44F8-BDC4-B03B98168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694" y="3429000"/>
            <a:ext cx="2107678" cy="32192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4205"/>
            <a:ext cx="902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First Law of Thermodynamics and Enthalpy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C3153E-E83D-4A3E-8AA6-839C85AFCD71}"/>
                  </a:ext>
                </a:extLst>
              </p:cNvPr>
              <p:cNvSpPr txBox="1"/>
              <p:nvPr/>
            </p:nvSpPr>
            <p:spPr>
              <a:xfrm>
                <a:off x="75223" y="655990"/>
                <a:ext cx="8948149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Rudolf Clausius, 1850.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Law of Conservation of Energy: Energy can neither be created nor destroyed, merely changed from one form to another. Used this law for thermodynamic systems.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thermodynamic system (even all matter) possesses an internal energy, U.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400" i="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</a:endParaRPr>
              </a:p>
              <a:p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Chemical work done during a chemical reaction</a:t>
                </a:r>
              </a:p>
              <a:p>
                <a:endParaRPr lang="en-US" sz="2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Emerging gas performs a chemical work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C3153E-E83D-4A3E-8AA6-839C85AFC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3" y="655990"/>
                <a:ext cx="8948149" cy="5632311"/>
              </a:xfrm>
              <a:prstGeom prst="rect">
                <a:avLst/>
              </a:prstGeom>
              <a:blipFill>
                <a:blip r:embed="rId3"/>
                <a:stretch>
                  <a:fillRect l="-1022" t="-866" r="-341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556B9E7-182A-4D3F-B219-B7D5A9AD2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21" y="4570207"/>
            <a:ext cx="6312529" cy="91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41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4205"/>
            <a:ext cx="902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Work Done by an Expanding gas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B5058-7426-4C0E-8FC2-AE80A876C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532" y="877692"/>
            <a:ext cx="5308836" cy="3507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B74693-8F65-426B-889B-62FE9887FD45}"/>
                  </a:ext>
                </a:extLst>
              </p:cNvPr>
              <p:cNvSpPr txBox="1"/>
              <p:nvPr/>
            </p:nvSpPr>
            <p:spPr>
              <a:xfrm>
                <a:off x="280752" y="667466"/>
                <a:ext cx="2514600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𝐹𝑑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B74693-8F65-426B-889B-62FE9887F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52" y="667466"/>
                <a:ext cx="2514600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C0906F-5C79-48EB-B086-B6C5DA84571E}"/>
                  </a:ext>
                </a:extLst>
              </p:cNvPr>
              <p:cNvSpPr txBox="1"/>
              <p:nvPr/>
            </p:nvSpPr>
            <p:spPr>
              <a:xfrm>
                <a:off x="583720" y="1529952"/>
                <a:ext cx="4631635" cy="1355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C0906F-5C79-48EB-B086-B6C5DA845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20" y="1529952"/>
                <a:ext cx="4631635" cy="13555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F003AA-1A81-4F27-9950-8BF39F84F084}"/>
                  </a:ext>
                </a:extLst>
              </p:cNvPr>
              <p:cNvSpPr txBox="1"/>
              <p:nvPr/>
            </p:nvSpPr>
            <p:spPr>
              <a:xfrm>
                <a:off x="2027079" y="2862468"/>
                <a:ext cx="190712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𝑝𝐴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F003AA-1A81-4F27-9950-8BF39F84F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079" y="2862468"/>
                <a:ext cx="1907125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AA46F8-C607-44D7-9FF6-D53F7487CDDA}"/>
                  </a:ext>
                </a:extLst>
              </p:cNvPr>
              <p:cNvSpPr txBox="1"/>
              <p:nvPr/>
            </p:nvSpPr>
            <p:spPr>
              <a:xfrm>
                <a:off x="490819" y="3633633"/>
                <a:ext cx="231313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𝑝𝐴𝑑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AA46F8-C607-44D7-9FF6-D53F7487C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19" y="3633633"/>
                <a:ext cx="2313134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CED73C-DB85-48CA-9853-A00DBF98D70A}"/>
                  </a:ext>
                </a:extLst>
              </p:cNvPr>
              <p:cNvSpPr txBox="1"/>
              <p:nvPr/>
            </p:nvSpPr>
            <p:spPr>
              <a:xfrm>
                <a:off x="387628" y="5782432"/>
                <a:ext cx="2842591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440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CED73C-DB85-48CA-9853-A00DBF98D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28" y="5782432"/>
                <a:ext cx="2842591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8F0DDC-2958-4177-903E-DBC80E0EAA36}"/>
                  </a:ext>
                </a:extLst>
              </p:cNvPr>
              <p:cNvSpPr txBox="1"/>
              <p:nvPr/>
            </p:nvSpPr>
            <p:spPr>
              <a:xfrm>
                <a:off x="4373218" y="5078893"/>
                <a:ext cx="3227358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440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8F0DDC-2958-4177-903E-DBC80E0EA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218" y="5078893"/>
                <a:ext cx="3227358" cy="677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row: Down 16">
            <a:extLst>
              <a:ext uri="{FF2B5EF4-FFF2-40B4-BE49-F238E27FC236}">
                <a16:creationId xmlns:a16="http://schemas.microsoft.com/office/drawing/2014/main" id="{4860F2C8-AC39-447F-A4FB-1A01CA243790}"/>
              </a:ext>
            </a:extLst>
          </p:cNvPr>
          <p:cNvSpPr/>
          <p:nvPr/>
        </p:nvSpPr>
        <p:spPr>
          <a:xfrm>
            <a:off x="1123122" y="1411359"/>
            <a:ext cx="427385" cy="2017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F79BB904-1053-4F4C-AE64-D01A4EEC8811}"/>
              </a:ext>
            </a:extLst>
          </p:cNvPr>
          <p:cNvSpPr/>
          <p:nvPr/>
        </p:nvSpPr>
        <p:spPr>
          <a:xfrm flipH="1">
            <a:off x="1281330" y="4631402"/>
            <a:ext cx="366056" cy="9939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07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F6F61FF-7F88-4632-9D7E-8110F3E5C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999" y="618967"/>
            <a:ext cx="3379305" cy="225287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4205"/>
            <a:ext cx="9023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First Law of Thermodynamics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8F0DDC-2958-4177-903E-DBC80E0EAA36}"/>
                  </a:ext>
                </a:extLst>
              </p:cNvPr>
              <p:cNvSpPr txBox="1"/>
              <p:nvPr/>
            </p:nvSpPr>
            <p:spPr>
              <a:xfrm>
                <a:off x="1227485" y="1103875"/>
                <a:ext cx="3227358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8F0DDC-2958-4177-903E-DBC80E0EA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85" y="1103875"/>
                <a:ext cx="322735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row: Down 16">
            <a:extLst>
              <a:ext uri="{FF2B5EF4-FFF2-40B4-BE49-F238E27FC236}">
                <a16:creationId xmlns:a16="http://schemas.microsoft.com/office/drawing/2014/main" id="{4860F2C8-AC39-447F-A4FB-1A01CA243790}"/>
              </a:ext>
            </a:extLst>
          </p:cNvPr>
          <p:cNvSpPr/>
          <p:nvPr/>
        </p:nvSpPr>
        <p:spPr>
          <a:xfrm>
            <a:off x="964096" y="1065696"/>
            <a:ext cx="616233" cy="7534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05C5CD-842E-4497-8464-331C53B93C6E}"/>
                  </a:ext>
                </a:extLst>
              </p:cNvPr>
              <p:cNvSpPr txBox="1"/>
              <p:nvPr/>
            </p:nvSpPr>
            <p:spPr>
              <a:xfrm>
                <a:off x="-800092" y="486231"/>
                <a:ext cx="47608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3200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3200" i="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05C5CD-842E-4497-8464-331C53B93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0092" y="486231"/>
                <a:ext cx="476084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49B6A5-814D-4BB2-8792-83405DDEC0A4}"/>
                  </a:ext>
                </a:extLst>
              </p:cNvPr>
              <p:cNvSpPr txBox="1"/>
              <p:nvPr/>
            </p:nvSpPr>
            <p:spPr>
              <a:xfrm>
                <a:off x="-11593" y="1831322"/>
                <a:ext cx="47608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32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US" sz="3200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3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49B6A5-814D-4BB2-8792-83405DDEC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93" y="1831322"/>
                <a:ext cx="476084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366990-A96E-4611-AF7F-8F9C9630A670}"/>
                  </a:ext>
                </a:extLst>
              </p:cNvPr>
              <p:cNvSpPr txBox="1"/>
              <p:nvPr/>
            </p:nvSpPr>
            <p:spPr>
              <a:xfrm>
                <a:off x="1" y="2305878"/>
                <a:ext cx="6013174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Expansion work clearly depends 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 Expansion</a:t>
                </a:r>
              </a:p>
              <a:p>
                <a:endParaRPr lang="en-US" sz="2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but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space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</a:rPr>
                  <a:t> = 0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</a:rPr>
                  <a:t>. However, relatively very few experiments are carried out in space.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366990-A96E-4611-AF7F-8F9C9630A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305878"/>
                <a:ext cx="6013174" cy="2677656"/>
              </a:xfrm>
              <a:prstGeom prst="rect">
                <a:avLst/>
              </a:prstGeom>
              <a:blipFill>
                <a:blip r:embed="rId6"/>
                <a:stretch>
                  <a:fillRect l="-1521" t="-1818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0FAE2A22-43B4-45DE-B6BF-2ADE8E6E11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7999" y="2881469"/>
            <a:ext cx="3376001" cy="2403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2F7855-0E63-4AAD-9D2D-5E167F31E3AE}"/>
                  </a:ext>
                </a:extLst>
              </p:cNvPr>
              <p:cNvSpPr txBox="1"/>
              <p:nvPr/>
            </p:nvSpPr>
            <p:spPr>
              <a:xfrm>
                <a:off x="0" y="5200318"/>
                <a:ext cx="9143999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50000"/>
                      </a:srgb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Reactions at Constant Volume (Domain of Heavy Industries)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𝑈</m:t>
                    </m:r>
                    <m:r>
                      <a: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𝑖𝑛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m:rPr>
                        <m:sty m:val="p"/>
                      </m:rP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; but at constant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 = 0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𝑈</m:t>
                    </m:r>
                    <m:r>
                      <a: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rPr>
                  <a:t> Constant volume reactors must withstand massive pressure changes, heavy chemical industries; very expensive.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2F7855-0E63-4AAD-9D2D-5E167F31E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00318"/>
                <a:ext cx="9143999" cy="1938992"/>
              </a:xfrm>
              <a:prstGeom prst="rect">
                <a:avLst/>
              </a:prstGeom>
              <a:blipFill>
                <a:blip r:embed="rId8"/>
                <a:stretch>
                  <a:fillRect l="-1000" t="-2516" r="-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033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ED01FB-D414-4AED-9008-A45E25376AF5}"/>
                  </a:ext>
                </a:extLst>
              </p:cNvPr>
              <p:cNvSpPr txBox="1"/>
              <p:nvPr/>
            </p:nvSpPr>
            <p:spPr>
              <a:xfrm>
                <a:off x="14911" y="615439"/>
                <a:ext cx="9008461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</a:rPr>
                  <a:t>Reactions at Constant Pressure (Domain of Chemists)</a:t>
                </a:r>
              </a:p>
              <a:p>
                <a:endParaRPr lang="en-US" sz="2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</a:endParaRPr>
              </a:p>
              <a:p>
                <a:endParaRPr lang="en-US" sz="2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</a:rPr>
                  <a:t>Now we define a new state function, enthalpy:</a:t>
                </a:r>
              </a:p>
              <a:p>
                <a:endParaRPr lang="en-US" sz="24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∆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𝑝𝑉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, Use produc</a:t>
                </a:r>
                <a:r>
                  <a:rPr lang="en-US" sz="2400" dirty="0">
                    <a:latin typeface="Times New Roman" panose="02020603050405020304" pitchFamily="18" charset="0"/>
                  </a:rPr>
                  <a:t>t rule</a:t>
                </a:r>
              </a:p>
              <a:p>
                <a:endParaRPr lang="en-US" sz="2400" dirty="0">
                  <a:latin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, but at constant pressure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ED01FB-D414-4AED-9008-A45E25376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1" y="615439"/>
                <a:ext cx="9008461" cy="4524315"/>
              </a:xfrm>
              <a:prstGeom prst="rect">
                <a:avLst/>
              </a:prstGeom>
              <a:blipFill>
                <a:blip r:embed="rId2"/>
                <a:stretch>
                  <a:fillRect l="-1015" t="-1078" r="-68" b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5B4B9AF-B867-4B2A-897F-BF2AF47AE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676" y="4412973"/>
            <a:ext cx="4482548" cy="22567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6D16E-4C86-4CE3-8898-D632007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C995A2-3602-7B49-8782-ECF09C475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F371B-1AD3-4E3F-8F45-9495A2C276D7}"/>
              </a:ext>
            </a:extLst>
          </p:cNvPr>
          <p:cNvSpPr txBox="1"/>
          <p:nvPr/>
        </p:nvSpPr>
        <p:spPr>
          <a:xfrm>
            <a:off x="0" y="4205"/>
            <a:ext cx="9023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First Law of Thermodynamics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15643E-D792-49CB-B547-94EE3FA6CC69}"/>
                  </a:ext>
                </a:extLst>
              </p:cNvPr>
              <p:cNvSpPr txBox="1"/>
              <p:nvPr/>
            </p:nvSpPr>
            <p:spPr>
              <a:xfrm>
                <a:off x="94423" y="1092514"/>
                <a:ext cx="47608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15643E-D792-49CB-B547-94EE3FA6C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3" y="1092514"/>
                <a:ext cx="4760842" cy="461665"/>
              </a:xfrm>
              <a:prstGeom prst="rect">
                <a:avLst/>
              </a:prstGeom>
              <a:blipFill>
                <a:blip r:embed="rId4"/>
                <a:stretch>
                  <a:fillRect l="-256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48A85098-33C5-4F94-9B9C-30500CD4056C}"/>
              </a:ext>
            </a:extLst>
          </p:cNvPr>
          <p:cNvSpPr/>
          <p:nvPr/>
        </p:nvSpPr>
        <p:spPr>
          <a:xfrm>
            <a:off x="2464909" y="1209049"/>
            <a:ext cx="268357" cy="2484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43458A0-67FA-4A81-8619-E153D66B1FEB}"/>
                  </a:ext>
                </a:extLst>
              </p:cNvPr>
              <p:cNvSpPr txBox="1"/>
              <p:nvPr/>
            </p:nvSpPr>
            <p:spPr>
              <a:xfrm>
                <a:off x="2817745" y="1092515"/>
                <a:ext cx="54019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constant pressure</a:t>
                </a:r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43458A0-67FA-4A81-8619-E153D66B1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745" y="1092515"/>
                <a:ext cx="5401916" cy="461665"/>
              </a:xfrm>
              <a:prstGeom prst="rect">
                <a:avLst/>
              </a:prstGeom>
              <a:blipFill>
                <a:blip r:embed="rId5"/>
                <a:stretch>
                  <a:fillRect l="-226" t="-118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Down 13">
            <a:extLst>
              <a:ext uri="{FF2B5EF4-FFF2-40B4-BE49-F238E27FC236}">
                <a16:creationId xmlns:a16="http://schemas.microsoft.com/office/drawing/2014/main" id="{36212971-8FC5-4307-94E2-5BDC278CEED0}"/>
              </a:ext>
            </a:extLst>
          </p:cNvPr>
          <p:cNvSpPr/>
          <p:nvPr/>
        </p:nvSpPr>
        <p:spPr>
          <a:xfrm>
            <a:off x="763962" y="5134134"/>
            <a:ext cx="268356" cy="3804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5A757F-074A-4628-9408-9C2A53D06DAF}"/>
                  </a:ext>
                </a:extLst>
              </p:cNvPr>
              <p:cNvSpPr txBox="1"/>
              <p:nvPr/>
            </p:nvSpPr>
            <p:spPr>
              <a:xfrm>
                <a:off x="-1467373" y="5648951"/>
                <a:ext cx="4760842" cy="490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5A757F-074A-4628-9408-9C2A53D06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67373" y="5648951"/>
                <a:ext cx="4760842" cy="490199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45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99BFB-423D-4478-A99D-B45FEBD0C1C1}"/>
              </a:ext>
            </a:extLst>
          </p:cNvPr>
          <p:cNvSpPr txBox="1"/>
          <p:nvPr/>
        </p:nvSpPr>
        <p:spPr>
          <a:xfrm flipH="1">
            <a:off x="-39757" y="-1"/>
            <a:ext cx="88458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Gas Vs Real Gas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4E3BE-D90E-47C1-B6B2-95582B486913}"/>
              </a:ext>
            </a:extLst>
          </p:cNvPr>
          <p:cNvSpPr txBox="1"/>
          <p:nvPr/>
        </p:nvSpPr>
        <p:spPr>
          <a:xfrm>
            <a:off x="0" y="616227"/>
            <a:ext cx="555597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Gas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gas laws, completely abide kinetic molecular theory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Occupy zero volume; no attractive forces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true ideal 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behave according to the kinetic molecular theory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0137EC-C093-4D9E-B9B7-91BC5BB01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669" y="2682037"/>
            <a:ext cx="2819400" cy="2105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EBD9-6581-48FB-A107-B5278F0C9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974" y="4747847"/>
            <a:ext cx="3593712" cy="1962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EE3907-E908-462B-94DA-058F1C9DA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983" y="600507"/>
            <a:ext cx="28575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80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99BFB-423D-4478-A99D-B45FEBD0C1C1}"/>
              </a:ext>
            </a:extLst>
          </p:cNvPr>
          <p:cNvSpPr txBox="1"/>
          <p:nvPr/>
        </p:nvSpPr>
        <p:spPr>
          <a:xfrm flipH="1">
            <a:off x="-39757" y="31826"/>
            <a:ext cx="8825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 from Ideal Gas; Compressibility Factor (Z)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26884-A59E-49F7-A005-D0FCB1DC2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" y="767114"/>
            <a:ext cx="5163379" cy="3979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3B85AA-5135-4674-83AF-2370B904B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329" y="4341947"/>
            <a:ext cx="4462671" cy="224842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619FE037-EEFF-49C1-9BBC-D74056710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008" y="548130"/>
            <a:ext cx="365425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PV/RT plotted against pressure for 1mol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a gas at three different temperatures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 defTabSz="9144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gas would have a value of 1 for that ratio at all temperatures and pressures and the graph would simply be a horizontal line.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092E719-5D51-4A4F-9BF6-BA8D65B75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32997"/>
            <a:ext cx="504907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magnitude of the deviations from ideality is greatest for the gas at 200 K and least for the gas at 1000 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1098270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99BFB-423D-4478-A99D-B45FEBD0C1C1}"/>
              </a:ext>
            </a:extLst>
          </p:cNvPr>
          <p:cNvSpPr txBox="1"/>
          <p:nvPr/>
        </p:nvSpPr>
        <p:spPr>
          <a:xfrm flipH="1">
            <a:off x="-39757" y="-29818"/>
            <a:ext cx="88259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Reversible Isothermal Expansion of an Ideal Gas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94E3BE-D90E-47C1-B6B2-95582B486913}"/>
                  </a:ext>
                </a:extLst>
              </p:cNvPr>
              <p:cNvSpPr txBox="1"/>
              <p:nvPr/>
            </p:nvSpPr>
            <p:spPr>
              <a:xfrm>
                <a:off x="-9939" y="695739"/>
                <a:ext cx="9064487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Leads to maximum amount of work performed by the gas.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Ideal Gas Equation: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𝑛𝑅𝑇</m:t>
                    </m:r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 = Pressure; V = Volume; T =     Absolute temperature measure in K; n = quantity; R = Ideal gas constant, 8.314 J K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mol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</a:p>
              <a:p>
                <a:endPara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94E3BE-D90E-47C1-B6B2-95582B486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939" y="695739"/>
                <a:ext cx="9064487" cy="3539430"/>
              </a:xfrm>
              <a:prstGeom prst="rect">
                <a:avLst/>
              </a:prstGeom>
              <a:blipFill>
                <a:blip r:embed="rId2"/>
                <a:stretch>
                  <a:fillRect l="-1009" t="-1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619F81-746A-4FD6-871B-12A659E855B6}"/>
                  </a:ext>
                </a:extLst>
              </p:cNvPr>
              <p:cNvSpPr txBox="1"/>
              <p:nvPr/>
            </p:nvSpPr>
            <p:spPr>
              <a:xfrm>
                <a:off x="4104861" y="2971800"/>
                <a:ext cx="1553567" cy="6916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𝑛𝑅𝑇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619F81-746A-4FD6-871B-12A659E85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861" y="2971800"/>
                <a:ext cx="1553567" cy="691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86BDD3A-896E-4DA1-9A68-4A7C02EF4062}"/>
              </a:ext>
            </a:extLst>
          </p:cNvPr>
          <p:cNvSpPr txBox="1"/>
          <p:nvPr/>
        </p:nvSpPr>
        <p:spPr>
          <a:xfrm>
            <a:off x="0" y="4052644"/>
            <a:ext cx="91439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1 mol an ideal gas at 298 K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2477.572 J/V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above equation, calculate the pressure of the gas for volumes 1, 3, 5, 7, 9, and 11 m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5580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79A8B-6089-4AF3-B05C-224047A9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8D073-A6F0-4686-A590-C3B8404E12C0}"/>
              </a:ext>
            </a:extLst>
          </p:cNvPr>
          <p:cNvSpPr txBox="1"/>
          <p:nvPr/>
        </p:nvSpPr>
        <p:spPr>
          <a:xfrm>
            <a:off x="-69576" y="-59631"/>
            <a:ext cx="51385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Isothermal Expansion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098C5A-4D63-4EA3-B927-7671A933BB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0" t="13515" r="-63" b="17789"/>
          <a:stretch/>
        </p:blipFill>
        <p:spPr>
          <a:xfrm>
            <a:off x="1737460" y="1051559"/>
            <a:ext cx="5672103" cy="26358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1A9328-1291-457D-AD64-EA4063A444FC}"/>
              </a:ext>
            </a:extLst>
          </p:cNvPr>
          <p:cNvSpPr txBox="1"/>
          <p:nvPr/>
        </p:nvSpPr>
        <p:spPr>
          <a:xfrm>
            <a:off x="327994" y="4293703"/>
            <a:ext cx="82892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pressure, p = 2478 Pa         Volume = 1 m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imagine the gas pressure suddenly drops to 826 Pa. What happens to the gas?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548884-E5EA-4CD4-AB56-3CE3028ED77D}"/>
              </a:ext>
            </a:extLst>
          </p:cNvPr>
          <p:cNvCxnSpPr>
            <a:cxnSpLocks/>
          </p:cNvCxnSpPr>
          <p:nvPr/>
        </p:nvCxnSpPr>
        <p:spPr>
          <a:xfrm>
            <a:off x="4919870" y="4591878"/>
            <a:ext cx="536713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06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782CD-C0CF-4945-A262-682E93A7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06655"/>
            <a:ext cx="2057400" cy="365125"/>
          </a:xfrm>
        </p:spPr>
        <p:txBody>
          <a:bodyPr/>
          <a:lstStyle/>
          <a:p>
            <a:fld id="{D3C995A2-3602-7B49-8782-ECF09C4759E4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23627-EFD6-4B76-A3AA-A3B348A7E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90" y="1220373"/>
            <a:ext cx="7478460" cy="4258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31E5F6-646A-48DB-B270-30CA112051B6}"/>
              </a:ext>
            </a:extLst>
          </p:cNvPr>
          <p:cNvSpPr txBox="1"/>
          <p:nvPr/>
        </p:nvSpPr>
        <p:spPr>
          <a:xfrm>
            <a:off x="628650" y="5794514"/>
            <a:ext cx="8169752" cy="646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Fits ideal gas equation perfectly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gas is performing work as it expands; the system is performing work: W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??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1D32F-B151-49D1-894C-FB2363EA88AB}"/>
              </a:ext>
            </a:extLst>
          </p:cNvPr>
          <p:cNvSpPr txBox="1"/>
          <p:nvPr/>
        </p:nvSpPr>
        <p:spPr>
          <a:xfrm>
            <a:off x="-24842" y="-15693"/>
            <a:ext cx="4721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Isothermal Expansion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A452DAE-2626-4346-9740-D95D2AB2A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35" y="1180309"/>
            <a:ext cx="7505596" cy="429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2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41BAD-EF7C-4562-A0F4-FAE7FBE9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83BAE-62F5-4B6F-B4B5-0A9DE5540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28" y="1907058"/>
            <a:ext cx="7478459" cy="4305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25B683-3FB7-44F3-B43F-CDEEB5155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75" y="1925436"/>
            <a:ext cx="7505596" cy="4324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C2CCD9-712C-47C3-84D0-C5F4F72D8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85" y="1909326"/>
            <a:ext cx="7505596" cy="4293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D72F3B-19C9-4063-979F-EAF5FDFB9222}"/>
              </a:ext>
            </a:extLst>
          </p:cNvPr>
          <p:cNvSpPr txBox="1"/>
          <p:nvPr/>
        </p:nvSpPr>
        <p:spPr>
          <a:xfrm>
            <a:off x="0" y="553591"/>
            <a:ext cx="9144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change the expansion, so that the gas performs more work?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6F3CA1-7AE5-41BE-B868-E258A184E7A4}"/>
              </a:ext>
            </a:extLst>
          </p:cNvPr>
          <p:cNvSpPr txBox="1"/>
          <p:nvPr/>
        </p:nvSpPr>
        <p:spPr>
          <a:xfrm>
            <a:off x="-24842" y="-15693"/>
            <a:ext cx="4721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Isothermal Expansion</a:t>
            </a:r>
          </a:p>
        </p:txBody>
      </p:sp>
    </p:spTree>
    <p:extLst>
      <p:ext uri="{BB962C8B-B14F-4D97-AF65-F5344CB8AC3E}">
        <p14:creationId xmlns:p14="http://schemas.microsoft.com/office/powerpoint/2010/main" val="240273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4A905-5EDE-4110-9B9E-5EB0837D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06F6E-1618-4BC8-9DA6-8AE9FF33D899}"/>
              </a:ext>
            </a:extLst>
          </p:cNvPr>
          <p:cNvSpPr txBox="1"/>
          <p:nvPr/>
        </p:nvSpPr>
        <p:spPr>
          <a:xfrm>
            <a:off x="6" y="-19879"/>
            <a:ext cx="7126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Reversible Isothermal Expansion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4DC85C-2701-4007-98DE-5E76632FA3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" r="-503" b="-166"/>
          <a:stretch/>
        </p:blipFill>
        <p:spPr>
          <a:xfrm>
            <a:off x="788672" y="1342561"/>
            <a:ext cx="749808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8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FFA75AD-14C6-418D-916C-6552AC8DA5A4}"/>
              </a:ext>
            </a:extLst>
          </p:cNvPr>
          <p:cNvSpPr txBox="1"/>
          <p:nvPr/>
        </p:nvSpPr>
        <p:spPr>
          <a:xfrm>
            <a:off x="129213" y="636106"/>
            <a:ext cx="83985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From previous slides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9D344-B018-46BD-B1A8-4932226E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BA2BC-EF1D-4C56-A00E-B9E98C5149DC}"/>
              </a:ext>
            </a:extLst>
          </p:cNvPr>
          <p:cNvSpPr txBox="1"/>
          <p:nvPr/>
        </p:nvSpPr>
        <p:spPr>
          <a:xfrm>
            <a:off x="6" y="-19879"/>
            <a:ext cx="8070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Reversible Isothermal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8179F6-BD69-46C3-8521-57D60A63BFD5}"/>
                  </a:ext>
                </a:extLst>
              </p:cNvPr>
              <p:cNvSpPr txBox="1"/>
              <p:nvPr/>
            </p:nvSpPr>
            <p:spPr>
              <a:xfrm>
                <a:off x="149096" y="785195"/>
                <a:ext cx="3227358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𝑝𝑑𝑉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8179F6-BD69-46C3-8521-57D60A63B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96" y="785195"/>
                <a:ext cx="3227358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82FB93-5FF7-4D2A-9F67-B40471784436}"/>
                  </a:ext>
                </a:extLst>
              </p:cNvPr>
              <p:cNvSpPr txBox="1"/>
              <p:nvPr/>
            </p:nvSpPr>
            <p:spPr>
              <a:xfrm>
                <a:off x="2276075" y="1574563"/>
                <a:ext cx="47310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𝑛𝑅𝑇</m:t>
                    </m:r>
                  </m:oMath>
                </a14:m>
                <a:r>
                  <a:rPr lang="en-US" sz="3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82FB93-5FF7-4D2A-9F67-B40471784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075" y="1574563"/>
                <a:ext cx="4731026" cy="646331"/>
              </a:xfrm>
              <a:prstGeom prst="rect">
                <a:avLst/>
              </a:prstGeom>
              <a:blipFill>
                <a:blip r:embed="rId3"/>
                <a:stretch>
                  <a:fillRect l="-3866" t="-15094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6E4F6F-3C9B-48D7-A2AD-C5710998CAAD}"/>
                  </a:ext>
                </a:extLst>
              </p:cNvPr>
              <p:cNvSpPr txBox="1"/>
              <p:nvPr/>
            </p:nvSpPr>
            <p:spPr>
              <a:xfrm>
                <a:off x="2445024" y="2246239"/>
                <a:ext cx="1604414" cy="922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𝑛𝑅𝑇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6E4F6F-3C9B-48D7-A2AD-C5710998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024" y="2246239"/>
                <a:ext cx="1604414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A8063D-501F-4054-A811-A699394C0DA7}"/>
                  </a:ext>
                </a:extLst>
              </p:cNvPr>
              <p:cNvSpPr txBox="1"/>
              <p:nvPr/>
            </p:nvSpPr>
            <p:spPr>
              <a:xfrm>
                <a:off x="-1030355" y="3313047"/>
                <a:ext cx="6039669" cy="11065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𝑛𝑅𝑇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A8063D-501F-4054-A811-A699394C0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0355" y="3313047"/>
                <a:ext cx="6039669" cy="11065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8E67D01-F469-40F5-8A38-EC97E57DAC7A}"/>
              </a:ext>
            </a:extLst>
          </p:cNvPr>
          <p:cNvSpPr txBox="1"/>
          <p:nvPr/>
        </p:nvSpPr>
        <p:spPr>
          <a:xfrm>
            <a:off x="129213" y="4353329"/>
            <a:ext cx="7613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consider an expansion from Vi to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8D7BE8-6FE0-435C-89EB-0CC56783C423}"/>
                  </a:ext>
                </a:extLst>
              </p:cNvPr>
              <p:cNvSpPr txBox="1"/>
              <p:nvPr/>
            </p:nvSpPr>
            <p:spPr>
              <a:xfrm>
                <a:off x="1547199" y="5045772"/>
                <a:ext cx="6039669" cy="1590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𝑛𝑅𝑇</m:t>
                      </m:r>
                      <m:nary>
                        <m:naryPr>
                          <m:limLoc m:val="undOvr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8D7BE8-6FE0-435C-89EB-0CC56783C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199" y="5045772"/>
                <a:ext cx="6039669" cy="15902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594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9D344-B018-46BD-B1A8-4932226E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BA2BC-EF1D-4C56-A00E-B9E98C5149DC}"/>
              </a:ext>
            </a:extLst>
          </p:cNvPr>
          <p:cNvSpPr txBox="1"/>
          <p:nvPr/>
        </p:nvSpPr>
        <p:spPr>
          <a:xfrm>
            <a:off x="6" y="-19879"/>
            <a:ext cx="8070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Reversible Isothermal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8D7BE8-6FE0-435C-89EB-0CC56783C423}"/>
                  </a:ext>
                </a:extLst>
              </p:cNvPr>
              <p:cNvSpPr txBox="1"/>
              <p:nvPr/>
            </p:nvSpPr>
            <p:spPr>
              <a:xfrm>
                <a:off x="1239087" y="573172"/>
                <a:ext cx="6039669" cy="1590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𝑛𝑅𝑇</m:t>
                      </m:r>
                      <m:nary>
                        <m:naryPr>
                          <m:limLoc m:val="undOvr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8D7BE8-6FE0-435C-89EB-0CC56783C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087" y="573172"/>
                <a:ext cx="6039669" cy="15902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74969E-1EC2-469F-AB93-DFC74EFFFAB4}"/>
                  </a:ext>
                </a:extLst>
              </p:cNvPr>
              <p:cNvSpPr txBox="1"/>
              <p:nvPr/>
            </p:nvSpPr>
            <p:spPr>
              <a:xfrm>
                <a:off x="1123132" y="2206501"/>
                <a:ext cx="6039669" cy="10165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𝑛𝑅𝑇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74969E-1EC2-469F-AB93-DFC74EFFF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132" y="2206501"/>
                <a:ext cx="6039669" cy="1016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BAD3B7-968C-4D5D-90B6-C25AE8CD04FE}"/>
                  </a:ext>
                </a:extLst>
              </p:cNvPr>
              <p:cNvSpPr txBox="1"/>
              <p:nvPr/>
            </p:nvSpPr>
            <p:spPr>
              <a:xfrm>
                <a:off x="79519" y="3433175"/>
                <a:ext cx="893527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en-US" sz="32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- 1 mol × 8.314 J K</a:t>
                </a:r>
                <a:r>
                  <a:rPr lang="en-US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mol</a:t>
                </a:r>
                <a:r>
                  <a:rPr lang="en-US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× 298 K × ln(11)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BAD3B7-968C-4D5D-90B6-C25AE8CD0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9" y="3433175"/>
                <a:ext cx="8935272" cy="584775"/>
              </a:xfrm>
              <a:prstGeom prst="rect">
                <a:avLst/>
              </a:prstGeom>
              <a:blipFill>
                <a:blip r:embed="rId4"/>
                <a:stretch>
                  <a:fillRect t="-14583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36D699-3579-4245-BB40-1E162BD70A54}"/>
                  </a:ext>
                </a:extLst>
              </p:cNvPr>
              <p:cNvSpPr txBox="1"/>
              <p:nvPr/>
            </p:nvSpPr>
            <p:spPr>
              <a:xfrm>
                <a:off x="2196548" y="4089161"/>
                <a:ext cx="473102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??</m:t>
                      </m:r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36D699-3579-4245-BB40-1E162BD70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548" y="4089161"/>
                <a:ext cx="473102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9AE3F8B-51C5-4787-ADD6-91A64BAC1910}"/>
              </a:ext>
            </a:extLst>
          </p:cNvPr>
          <p:cNvSpPr txBox="1"/>
          <p:nvPr/>
        </p:nvSpPr>
        <p:spPr>
          <a:xfrm>
            <a:off x="79519" y="5277678"/>
            <a:ext cx="8666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Reversible change is a theoretical construct.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maximum possible expansion work.</a:t>
            </a:r>
          </a:p>
        </p:txBody>
      </p:sp>
    </p:spTree>
    <p:extLst>
      <p:ext uri="{BB962C8B-B14F-4D97-AF65-F5344CB8AC3E}">
        <p14:creationId xmlns:p14="http://schemas.microsoft.com/office/powerpoint/2010/main" val="1482357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8BAC-A7B1-4D8A-B8A5-4102A53C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346074"/>
            <a:ext cx="78867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E1D2DB-1818-4487-B2DC-021D5AA37C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1066800"/>
                <a:ext cx="8768080" cy="5110163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sz="28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Q1. Suppose that the attractions are important between gas molecules, and the equation of state is</a:t>
                </a:r>
                <a:r>
                  <a:rPr lang="en-US" sz="2800" b="0" i="0" u="none" strike="noStrike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US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8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Derive an expression for the reversible isothermal expansion of the gas. </a:t>
                </a:r>
              </a:p>
              <a:p>
                <a:pPr marL="0" indent="0" algn="just">
                  <a:buNone/>
                </a:pPr>
                <a:endParaRPr lang="en-US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Q2. Write the first law of thermodynamics, its significance and application. What is the change in internal energy when a gas contracts from 287 mL to 157 mL under a constant pressure of 1520 mm of Hg, while at the same time 124 J heat is released?</a:t>
                </a:r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 mm of Hg = 1 torr = 1/760 atm &amp; 1 atm L = 101.3 J</a:t>
                </a:r>
                <a:endParaRPr lang="en-US" sz="2800" b="0" i="0" u="none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b="0" i="0" u="none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E1D2DB-1818-4487-B2DC-021D5AA37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066800"/>
                <a:ext cx="8768080" cy="5110163"/>
              </a:xfrm>
              <a:blipFill>
                <a:blip r:embed="rId2"/>
                <a:stretch>
                  <a:fillRect l="-1391" t="-2864" r="-1391" b="-1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C7D57-DB88-4B5E-B6B3-9720D2B5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90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5126C-EB75-25F6-0DBD-FC7F7620C4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329" y="845124"/>
                <a:ext cx="7886700" cy="4351338"/>
              </a:xfrm>
            </p:spPr>
            <p:txBody>
              <a:bodyPr/>
              <a:lstStyle/>
              <a:p>
                <a:pPr marL="0" marR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Q3. </a:t>
                </a:r>
                <a:r>
                  <a:rPr lang="en-I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One mole of an ideal gas does 2000 J of work on its surroundings as it expands isothermally to a final pressure of 1.5 </a:t>
                </a:r>
                <a:r>
                  <a:rPr lang="en-IN" sz="2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atm</a:t>
                </a:r>
                <a:r>
                  <a:rPr lang="en-I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volume of 22 L. Determine (a) the initial volume and (b) the temperature of the gas.</a:t>
                </a:r>
                <a:endPara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Given: 1 </a:t>
                </a:r>
                <a:r>
                  <a:rPr lang="en-IN" sz="2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atm</a:t>
                </a:r>
                <a:r>
                  <a:rPr lang="en-I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101325 Pa and 1 L =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0.001 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5126C-EB75-25F6-0DBD-FC7F7620C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329" y="845124"/>
                <a:ext cx="7886700" cy="4351338"/>
              </a:xfrm>
              <a:blipFill>
                <a:blip r:embed="rId2"/>
                <a:stretch>
                  <a:fillRect l="-1623" t="-2525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FA2E1-B60D-2975-D51A-D7A9886E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10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5F58B-B75F-43A4-867A-1880E6B9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17CA8-7070-4367-B256-DB8C058089B6}"/>
              </a:ext>
            </a:extLst>
          </p:cNvPr>
          <p:cNvSpPr txBox="1"/>
          <p:nvPr/>
        </p:nvSpPr>
        <p:spPr>
          <a:xfrm>
            <a:off x="308113" y="0"/>
            <a:ext cx="61498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Heating Objects: Heat Capacity</a:t>
            </a:r>
          </a:p>
          <a:p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48764-4A56-47B9-AA6B-0B505EEAA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34" y="683407"/>
            <a:ext cx="8165784" cy="3278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DA2AAE-FCC6-42A2-A8F3-AF42EE71740D}"/>
              </a:ext>
            </a:extLst>
          </p:cNvPr>
          <p:cNvSpPr txBox="1"/>
          <p:nvPr/>
        </p:nvSpPr>
        <p:spPr>
          <a:xfrm>
            <a:off x="308113" y="4236856"/>
            <a:ext cx="86612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capacity, C, is the heat energy required to raise the temperature of an object by 1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or 1 K.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in J/K.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87EF64-6404-4298-B4CC-DD6025A3531E}"/>
                  </a:ext>
                </a:extLst>
              </p:cNvPr>
              <p:cNvSpPr txBox="1"/>
              <p:nvPr/>
            </p:nvSpPr>
            <p:spPr>
              <a:xfrm>
                <a:off x="3061252" y="5784574"/>
                <a:ext cx="243950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4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400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den>
                      </m:f>
                      <m:r>
                        <a:rPr lang="en-US" sz="400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87EF64-6404-4298-B4CC-DD6025A35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252" y="5784574"/>
                <a:ext cx="2439509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357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88B5A-B0CF-4DAD-B7AB-2CC390CC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3CAFC-9B09-4B36-856D-37872CC638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09"/>
          <a:stretch/>
        </p:blipFill>
        <p:spPr>
          <a:xfrm>
            <a:off x="0" y="636939"/>
            <a:ext cx="9144000" cy="608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361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6932D-0058-4F4F-B170-04855932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F6F668-6821-4483-89D8-9D386D720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74" y="679507"/>
            <a:ext cx="8601978" cy="550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22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6932D-0058-4F4F-B170-04855932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C0CDC5-6C3E-46D3-9115-E5517DF02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8" y="694363"/>
            <a:ext cx="5545764" cy="463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DD4908-0E20-4CF5-B0B0-2310A8698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37" y="1326372"/>
            <a:ext cx="8179266" cy="453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68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F0977-74F5-4417-9099-5B28FEF0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41584-014E-4705-8E07-C272E4374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59" y="755009"/>
            <a:ext cx="8628044" cy="52431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85978B-A73E-4307-9833-1347581AE72B}"/>
              </a:ext>
            </a:extLst>
          </p:cNvPr>
          <p:cNvSpPr/>
          <p:nvPr/>
        </p:nvSpPr>
        <p:spPr>
          <a:xfrm>
            <a:off x="7743039" y="1921079"/>
            <a:ext cx="1140902" cy="2416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88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80D51-C47B-4620-A4FF-61402D7D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17926-41C3-485E-885F-B52B27FD5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0" y="671119"/>
            <a:ext cx="8755602" cy="531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05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A9A4C-FA63-4F56-8882-0847504D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C3A1B-5ED3-42B6-BE64-01D2D96F9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01" y="889232"/>
            <a:ext cx="8717539" cy="50921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F7A378-4426-4E70-9BD9-793313CE1DC7}"/>
              </a:ext>
            </a:extLst>
          </p:cNvPr>
          <p:cNvSpPr/>
          <p:nvPr/>
        </p:nvSpPr>
        <p:spPr>
          <a:xfrm>
            <a:off x="7784983" y="4144161"/>
            <a:ext cx="1156557" cy="1367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82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BC8BF-C241-4D42-81E4-5C793D89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875068-79C5-4FA9-8490-B7DC598F4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17" y="822122"/>
            <a:ext cx="8572866" cy="52850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5FDB3E-89DB-4D41-82CE-FFB72BFF2482}"/>
              </a:ext>
            </a:extLst>
          </p:cNvPr>
          <p:cNvSpPr/>
          <p:nvPr/>
        </p:nvSpPr>
        <p:spPr>
          <a:xfrm>
            <a:off x="7592037" y="5318620"/>
            <a:ext cx="1177946" cy="788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83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3963B-2202-48C7-85A4-0E0895FE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FDA28A-8FDB-4B40-A35A-D486612D0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13" y="855676"/>
            <a:ext cx="8644779" cy="52095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89121B2-D64B-4961-90D7-131D86E44056}"/>
              </a:ext>
            </a:extLst>
          </p:cNvPr>
          <p:cNvSpPr/>
          <p:nvPr/>
        </p:nvSpPr>
        <p:spPr>
          <a:xfrm>
            <a:off x="7664241" y="4890781"/>
            <a:ext cx="1177946" cy="788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89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7F054-10E4-4810-BC15-A2F46B6E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F8E302-5DFD-41A2-BC08-03021C65B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9" y="819559"/>
            <a:ext cx="8976220" cy="545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1584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50523-8A22-4372-B4EE-5A5F0951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2E281C-FBF9-4EED-8CD0-7B7C2262F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46" y="695647"/>
            <a:ext cx="9026554" cy="553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1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0062-60B3-42C8-8459-92122424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512" y="-347871"/>
            <a:ext cx="8249477" cy="128318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 and Time!!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7E571-1C56-4F14-8986-7399DE7A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5" name="Brian Cox explains why time travels in one direction - Wonders of the Universe - BBC Two">
            <a:hlinkClick r:id="" action="ppaction://media"/>
            <a:extLst>
              <a:ext uri="{FF2B5EF4-FFF2-40B4-BE49-F238E27FC236}">
                <a16:creationId xmlns:a16="http://schemas.microsoft.com/office/drawing/2014/main" id="{98D4BC5F-4D2B-41E0-90B9-2B06B26B97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57250"/>
            <a:ext cx="9144000" cy="58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2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241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5F8C3-7EF8-4F44-AE69-DE5DCB78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BA5CF4-291E-49A3-ACF6-12F4E3859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961"/>
            <a:ext cx="9068499" cy="573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04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E929A-1CF1-494B-B557-091291DF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5A21A-0699-4298-BD43-E854EF22D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6549"/>
            <a:ext cx="9157427" cy="519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691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1C98D-482D-4386-9E3E-5CBDC6D6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814917-5B3E-47D8-8497-9D5957EED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5275"/>
            <a:ext cx="9144000" cy="554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547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4140E-E6EC-4AC3-B681-D9AD9819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A213B8-C184-4332-B83E-828A66DDD2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8"/>
          <a:stretch/>
        </p:blipFill>
        <p:spPr>
          <a:xfrm>
            <a:off x="0" y="637563"/>
            <a:ext cx="9144000" cy="49578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E257E58-7B8D-4F18-A35D-1A30E9D93C63}"/>
              </a:ext>
            </a:extLst>
          </p:cNvPr>
          <p:cNvSpPr/>
          <p:nvPr/>
        </p:nvSpPr>
        <p:spPr>
          <a:xfrm>
            <a:off x="7756520" y="3951214"/>
            <a:ext cx="1177946" cy="788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8E2BBE-3287-4F72-8B40-AE5EB3BED2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55" b="12470"/>
          <a:stretch/>
        </p:blipFill>
        <p:spPr>
          <a:xfrm>
            <a:off x="0" y="5595456"/>
            <a:ext cx="8881174" cy="10419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B7A45E-C4FB-4CB9-9BE4-FF360D636061}"/>
              </a:ext>
            </a:extLst>
          </p:cNvPr>
          <p:cNvSpPr/>
          <p:nvPr/>
        </p:nvSpPr>
        <p:spPr>
          <a:xfrm>
            <a:off x="7756520" y="3347207"/>
            <a:ext cx="1177946" cy="788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124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9FB39-9E05-4101-9554-9C2A7C60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E6D330-D8BD-4E02-B24B-3C20936B1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640"/>
            <a:ext cx="9144000" cy="5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54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D7131-0390-4C29-83F8-0797A84C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63AEF5-E02B-4CA9-A5D0-0C154C653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007"/>
            <a:ext cx="9144000" cy="556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571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CDC62-4531-4B53-A2EC-4ABFB4C8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C5EF1-AC2D-490F-9F0E-021679052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4" y="1023457"/>
            <a:ext cx="8814951" cy="497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856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CB626-0C0F-443B-9C72-C9B5C3AB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FDFE90-384F-4F26-BDFA-CFA40F99D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8413"/>
            <a:ext cx="9144000" cy="519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633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BFD11-6863-4633-9E35-810FD1A5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C1DB8A-307D-4DC6-AFE3-8522A5105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313"/>
            <a:ext cx="9144000" cy="567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631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B6C0C-3B8A-4D46-BBC3-9CC62DB4B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14665F-3C63-4055-BEFA-D473B9B6A9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7" b="3429"/>
          <a:stretch/>
        </p:blipFill>
        <p:spPr>
          <a:xfrm>
            <a:off x="0" y="629174"/>
            <a:ext cx="9144000" cy="4202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73186C-1872-4158-ADCD-5D71C23749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25"/>
          <a:stretch/>
        </p:blipFill>
        <p:spPr>
          <a:xfrm>
            <a:off x="0" y="4745664"/>
            <a:ext cx="9145333" cy="19758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E4FADB-724F-425C-9B1B-B3B122D2D05C}"/>
              </a:ext>
            </a:extLst>
          </p:cNvPr>
          <p:cNvSpPr/>
          <p:nvPr/>
        </p:nvSpPr>
        <p:spPr>
          <a:xfrm>
            <a:off x="6761527" y="4253217"/>
            <a:ext cx="2164550" cy="1560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244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3E256-4A40-4F0F-83BD-84B7FCF1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14277B-7DE6-4A55-92C8-C64DE750D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" y="711987"/>
            <a:ext cx="9135130" cy="542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658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4ED96-4B39-4F3C-A474-182F11A6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BF27A5-AC40-427E-938F-12086ADE1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17" y="1015068"/>
            <a:ext cx="9132091" cy="512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15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EFA4A-F191-4784-AB9E-935D734E2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FA8AD-FBFE-4861-BB14-6F36D9493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2027"/>
            <a:ext cx="9144000" cy="561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573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E932A-165E-4291-AB41-D998F6DF0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91551"/>
            <a:ext cx="7886700" cy="1325563"/>
          </a:xfrm>
        </p:spPr>
        <p:txBody>
          <a:bodyPr/>
          <a:lstStyle/>
          <a:p>
            <a:r>
              <a:rPr lang="en-US" dirty="0"/>
              <a:t>Hess’s 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2559C-3FC8-496E-A832-BD181D0E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590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784DD-4DCF-4F31-9559-546B24D33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92F34-A7F5-4418-A529-10B221484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78" y="1040235"/>
            <a:ext cx="9127747" cy="493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654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4A771-A892-472A-B3DF-D1DEA239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CE5F0A-B295-4775-9A6B-D9350BB98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" y="801962"/>
            <a:ext cx="9118118" cy="533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40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2CB0C-7E41-4BF9-B59C-167A24C2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4291C7-CC63-444F-91A9-75B4A72B6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25" y="1838325"/>
            <a:ext cx="5340350" cy="3181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2A102B-F519-43FF-868F-D48773C11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7288"/>
            <a:ext cx="9155708" cy="539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1758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BC34D-1CA2-419E-B0D1-B5949484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BC4B88-D7BD-4EB6-B0D5-0AF44DA26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0" y="780872"/>
            <a:ext cx="9095880" cy="54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055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538D2-3AFB-48A7-A40E-C1CCE634A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21E76-61B4-4ED4-AC89-DFF821D42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42" y="973124"/>
            <a:ext cx="9132652" cy="49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431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0C627-6CC7-4247-A53C-051CBC408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04F33A-45C2-4E2A-A24B-F4904072D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583"/>
            <a:ext cx="9144000" cy="571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4875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ABA9A-479F-41CA-BD75-0EBD4077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ED004B-1724-4452-A458-99EFDF260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389"/>
            <a:ext cx="9076888" cy="541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199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B4D45-4877-4DE8-BED9-1FFDD535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2AECE-C80C-4643-8DA2-DE5EFD333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" y="1224619"/>
            <a:ext cx="9133360" cy="475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35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FD94A-AF41-4425-91A8-26580346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5B02ED-F783-4522-A8C6-6A5906049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6911"/>
            <a:ext cx="9144000" cy="510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795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E4FD8-6169-43E2-A4F9-0D2C62DB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BEA570-4B7C-4AAA-B738-2624871E8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03" y="973792"/>
            <a:ext cx="8515350" cy="523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6344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F58D-6B2E-4073-8353-653B208B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3106"/>
            <a:ext cx="8515350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Self-Study: Maxwell Relations and Gibbs Helmholtz Equation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3C432-FA49-4231-9F88-D996A581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A75A6B-1E91-425D-8273-957B19BF7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0784"/>
            <a:ext cx="5111496" cy="594582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AutoShape 4" descr="{\displaystyle \left({\frac {\partial \left({\frac {G}{T}}\right)}{\partial T}}\right)_{p}=-{\frac {H}{T^{2}}},}">
            <a:extLst>
              <a:ext uri="{FF2B5EF4-FFF2-40B4-BE49-F238E27FC236}">
                <a16:creationId xmlns:a16="http://schemas.microsoft.com/office/drawing/2014/main" id="{B0F7DDA3-5B5A-4F55-A05A-22C1ADDF01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Gibbs–Helmholtz equation - Wikipedia">
            <a:extLst>
              <a:ext uri="{FF2B5EF4-FFF2-40B4-BE49-F238E27FC236}">
                <a16:creationId xmlns:a16="http://schemas.microsoft.com/office/drawing/2014/main" id="{E3E5B928-1BBB-407D-B457-52C4F4F51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260" y="2912659"/>
            <a:ext cx="2767203" cy="133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2287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0959-B4AB-4701-988E-4366CD2E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88286"/>
            <a:ext cx="7886700" cy="132556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39AE8-02D9-4C97-BB4C-67DC12FE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995A2-3602-7B49-8782-ECF09C4759E4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46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23105</TotalTime>
  <Words>2032</Words>
  <Application>Microsoft Office PowerPoint</Application>
  <PresentationFormat>On-screen Show (4:3)</PresentationFormat>
  <Paragraphs>352</Paragraphs>
  <Slides>69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The Hand</vt:lpstr>
      <vt:lpstr>Modern Love</vt:lpstr>
      <vt:lpstr>Arial</vt:lpstr>
      <vt:lpstr>Wingdings</vt:lpstr>
      <vt:lpstr>Times New Roman</vt:lpstr>
      <vt:lpstr>Calibri</vt:lpstr>
      <vt:lpstr>Arial Black</vt:lpstr>
      <vt:lpstr>Cambria Math</vt:lpstr>
      <vt:lpstr>Calibri Light</vt:lpstr>
      <vt:lpstr>Office Theme</vt:lpstr>
      <vt:lpstr>SketchyVTI</vt:lpstr>
      <vt:lpstr>Thermodynamics Dr. Saurav Prasad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Entropy and Time!!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Hess’s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Self-Study: Maxwell Relations and Gibbs Helmholtz Equation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Saurav</dc:creator>
  <cp:lastModifiedBy>Author</cp:lastModifiedBy>
  <cp:revision>107</cp:revision>
  <dcterms:created xsi:type="dcterms:W3CDTF">2020-10-30T03:01:30Z</dcterms:created>
  <dcterms:modified xsi:type="dcterms:W3CDTF">2023-01-04T09:13:08Z</dcterms:modified>
</cp:coreProperties>
</file>