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9"/>
  </p:notesMasterIdLst>
  <p:sldIdLst>
    <p:sldId id="299" r:id="rId5"/>
    <p:sldId id="294" r:id="rId6"/>
    <p:sldId id="295" r:id="rId7"/>
    <p:sldId id="296" r:id="rId8"/>
    <p:sldId id="297" r:id="rId9"/>
    <p:sldId id="298" r:id="rId10"/>
    <p:sldId id="302" r:id="rId11"/>
    <p:sldId id="293" r:id="rId12"/>
    <p:sldId id="257" r:id="rId13"/>
    <p:sldId id="258" r:id="rId14"/>
    <p:sldId id="259" r:id="rId15"/>
    <p:sldId id="260" r:id="rId16"/>
    <p:sldId id="261" r:id="rId17"/>
    <p:sldId id="262" r:id="rId18"/>
    <p:sldId id="263" r:id="rId19"/>
    <p:sldId id="282" r:id="rId20"/>
    <p:sldId id="300" r:id="rId21"/>
    <p:sldId id="301" r:id="rId22"/>
    <p:sldId id="286" r:id="rId23"/>
    <p:sldId id="264" r:id="rId24"/>
    <p:sldId id="265" r:id="rId25"/>
    <p:sldId id="266" r:id="rId26"/>
    <p:sldId id="267" r:id="rId27"/>
    <p:sldId id="283" r:id="rId28"/>
    <p:sldId id="268" r:id="rId29"/>
    <p:sldId id="269" r:id="rId30"/>
    <p:sldId id="270" r:id="rId31"/>
    <p:sldId id="271" r:id="rId32"/>
    <p:sldId id="272" r:id="rId33"/>
    <p:sldId id="273" r:id="rId34"/>
    <p:sldId id="274" r:id="rId35"/>
    <p:sldId id="275" r:id="rId36"/>
    <p:sldId id="276" r:id="rId37"/>
    <p:sldId id="277" r:id="rId38"/>
    <p:sldId id="278" r:id="rId39"/>
    <p:sldId id="284" r:id="rId40"/>
    <p:sldId id="279" r:id="rId41"/>
    <p:sldId id="280" r:id="rId42"/>
    <p:sldId id="288" r:id="rId43"/>
    <p:sldId id="289" r:id="rId44"/>
    <p:sldId id="290" r:id="rId45"/>
    <p:sldId id="291" r:id="rId46"/>
    <p:sldId id="287" r:id="rId47"/>
    <p:sldId id="281"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3" d="100"/>
          <a:sy n="83" d="100"/>
        </p:scale>
        <p:origin x="1450"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127B706-AF7A-4861-B179-B5C8CBA0FB70}" type="datetimeFigureOut">
              <a:rPr lang="en-IN" smtClean="0"/>
              <a:t>05-09-2024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75B30B-AA6E-49E2-A2AD-03A8369D59B5}" type="slidenum">
              <a:rPr lang="en-IN" smtClean="0"/>
              <a:t>‹#›</a:t>
            </a:fld>
            <a:endParaRPr lang="en-IN"/>
          </a:p>
        </p:txBody>
      </p:sp>
    </p:spTree>
    <p:extLst>
      <p:ext uri="{BB962C8B-B14F-4D97-AF65-F5344CB8AC3E}">
        <p14:creationId xmlns:p14="http://schemas.microsoft.com/office/powerpoint/2010/main" val="1511567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BA09934-FFE1-4252-B72B-4940AF98B98C}" type="slidenum">
              <a:rPr lang="en-IN" smtClean="0"/>
              <a:t>18</a:t>
            </a:fld>
            <a:endParaRPr lang="en-IN"/>
          </a:p>
        </p:txBody>
      </p:sp>
    </p:spTree>
    <p:extLst>
      <p:ext uri="{BB962C8B-B14F-4D97-AF65-F5344CB8AC3E}">
        <p14:creationId xmlns:p14="http://schemas.microsoft.com/office/powerpoint/2010/main" val="17955945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B75B30B-AA6E-49E2-A2AD-03A8369D59B5}" type="slidenum">
              <a:rPr lang="en-IN" smtClean="0"/>
              <a:t>40</a:t>
            </a:fld>
            <a:endParaRPr lang="en-IN"/>
          </a:p>
        </p:txBody>
      </p:sp>
    </p:spTree>
    <p:extLst>
      <p:ext uri="{BB962C8B-B14F-4D97-AF65-F5344CB8AC3E}">
        <p14:creationId xmlns:p14="http://schemas.microsoft.com/office/powerpoint/2010/main" val="1080035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9B956C2-4784-4D0E-9595-F2CBA39EC02B}" type="datetimeFigureOut">
              <a:rPr lang="en-IN" smtClean="0"/>
              <a:t>05-09-2024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B8050E-AEB9-4357-9C53-02BB071A6CA7}" type="slidenum">
              <a:rPr lang="en-IN" smtClean="0"/>
              <a:t>‹#›</a:t>
            </a:fld>
            <a:endParaRPr lang="en-IN"/>
          </a:p>
        </p:txBody>
      </p:sp>
    </p:spTree>
    <p:extLst>
      <p:ext uri="{BB962C8B-B14F-4D97-AF65-F5344CB8AC3E}">
        <p14:creationId xmlns:p14="http://schemas.microsoft.com/office/powerpoint/2010/main" val="3565755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9B956C2-4784-4D0E-9595-F2CBA39EC02B}" type="datetimeFigureOut">
              <a:rPr lang="en-IN" smtClean="0"/>
              <a:t>05-09-2024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B8050E-AEB9-4357-9C53-02BB071A6CA7}" type="slidenum">
              <a:rPr lang="en-IN" smtClean="0"/>
              <a:t>‹#›</a:t>
            </a:fld>
            <a:endParaRPr lang="en-IN"/>
          </a:p>
        </p:txBody>
      </p:sp>
    </p:spTree>
    <p:extLst>
      <p:ext uri="{BB962C8B-B14F-4D97-AF65-F5344CB8AC3E}">
        <p14:creationId xmlns:p14="http://schemas.microsoft.com/office/powerpoint/2010/main" val="660185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B956C2-4784-4D0E-9595-F2CBA39EC02B}" type="datetimeFigureOut">
              <a:rPr lang="en-IN" smtClean="0"/>
              <a:t>05-09-2024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B8050E-AEB9-4357-9C53-02BB071A6CA7}" type="slidenum">
              <a:rPr lang="en-IN" smtClean="0"/>
              <a:t>‹#›</a:t>
            </a:fld>
            <a:endParaRPr lang="en-IN"/>
          </a:p>
        </p:txBody>
      </p:sp>
    </p:spTree>
    <p:extLst>
      <p:ext uri="{BB962C8B-B14F-4D97-AF65-F5344CB8AC3E}">
        <p14:creationId xmlns:p14="http://schemas.microsoft.com/office/powerpoint/2010/main" val="2792446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9B956C2-4784-4D0E-9595-F2CBA39EC02B}" type="datetimeFigureOut">
              <a:rPr lang="en-IN" smtClean="0"/>
              <a:t>05-09-2024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0B8050E-AEB9-4357-9C53-02BB071A6CA7}" type="slidenum">
              <a:rPr lang="en-IN" smtClean="0"/>
              <a:t>‹#›</a:t>
            </a:fld>
            <a:endParaRPr lang="en-IN"/>
          </a:p>
        </p:txBody>
      </p:sp>
    </p:spTree>
    <p:extLst>
      <p:ext uri="{BB962C8B-B14F-4D97-AF65-F5344CB8AC3E}">
        <p14:creationId xmlns:p14="http://schemas.microsoft.com/office/powerpoint/2010/main" val="3083551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9B956C2-4784-4D0E-9595-F2CBA39EC02B}" type="datetimeFigureOut">
              <a:rPr lang="en-IN" smtClean="0"/>
              <a:t>05-09-2024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0B8050E-AEB9-4357-9C53-02BB071A6CA7}" type="slidenum">
              <a:rPr lang="en-IN" smtClean="0"/>
              <a:t>‹#›</a:t>
            </a:fld>
            <a:endParaRPr lang="en-IN"/>
          </a:p>
        </p:txBody>
      </p:sp>
    </p:spTree>
    <p:extLst>
      <p:ext uri="{BB962C8B-B14F-4D97-AF65-F5344CB8AC3E}">
        <p14:creationId xmlns:p14="http://schemas.microsoft.com/office/powerpoint/2010/main" val="1705610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9B956C2-4784-4D0E-9595-F2CBA39EC02B}" type="datetimeFigureOut">
              <a:rPr lang="en-IN" smtClean="0"/>
              <a:t>05-09-2024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0B8050E-AEB9-4357-9C53-02BB071A6CA7}" type="slidenum">
              <a:rPr lang="en-IN" smtClean="0"/>
              <a:t>‹#›</a:t>
            </a:fld>
            <a:endParaRPr lang="en-IN"/>
          </a:p>
        </p:txBody>
      </p:sp>
    </p:spTree>
    <p:extLst>
      <p:ext uri="{BB962C8B-B14F-4D97-AF65-F5344CB8AC3E}">
        <p14:creationId xmlns:p14="http://schemas.microsoft.com/office/powerpoint/2010/main" val="905119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B956C2-4784-4D0E-9595-F2CBA39EC02B}" type="datetimeFigureOut">
              <a:rPr lang="en-IN" smtClean="0"/>
              <a:t>05-09-2024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0B8050E-AEB9-4357-9C53-02BB071A6CA7}" type="slidenum">
              <a:rPr lang="en-IN" smtClean="0"/>
              <a:t>‹#›</a:t>
            </a:fld>
            <a:endParaRPr lang="en-IN"/>
          </a:p>
        </p:txBody>
      </p:sp>
    </p:spTree>
    <p:extLst>
      <p:ext uri="{BB962C8B-B14F-4D97-AF65-F5344CB8AC3E}">
        <p14:creationId xmlns:p14="http://schemas.microsoft.com/office/powerpoint/2010/main" val="3699992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9B956C2-4784-4D0E-9595-F2CBA39EC02B}" type="datetimeFigureOut">
              <a:rPr lang="en-IN" smtClean="0"/>
              <a:t>05-09-2024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0B8050E-AEB9-4357-9C53-02BB071A6CA7}" type="slidenum">
              <a:rPr lang="en-IN" smtClean="0"/>
              <a:t>‹#›</a:t>
            </a:fld>
            <a:endParaRPr lang="en-IN"/>
          </a:p>
        </p:txBody>
      </p:sp>
    </p:spTree>
    <p:extLst>
      <p:ext uri="{BB962C8B-B14F-4D97-AF65-F5344CB8AC3E}">
        <p14:creationId xmlns:p14="http://schemas.microsoft.com/office/powerpoint/2010/main" val="1404634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9B956C2-4784-4D0E-9595-F2CBA39EC02B}" type="datetimeFigureOut">
              <a:rPr lang="en-IN" smtClean="0"/>
              <a:t>05-09-2024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0B8050E-AEB9-4357-9C53-02BB071A6CA7}" type="slidenum">
              <a:rPr lang="en-IN" smtClean="0"/>
              <a:t>‹#›</a:t>
            </a:fld>
            <a:endParaRPr lang="en-IN"/>
          </a:p>
        </p:txBody>
      </p:sp>
    </p:spTree>
    <p:extLst>
      <p:ext uri="{BB962C8B-B14F-4D97-AF65-F5344CB8AC3E}">
        <p14:creationId xmlns:p14="http://schemas.microsoft.com/office/powerpoint/2010/main" val="3100691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9B956C2-4784-4D0E-9595-F2CBA39EC02B}" type="datetimeFigureOut">
              <a:rPr lang="en-IN" smtClean="0"/>
              <a:t>05-09-2024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B8050E-AEB9-4357-9C53-02BB071A6CA7}" type="slidenum">
              <a:rPr lang="en-IN" smtClean="0"/>
              <a:t>‹#›</a:t>
            </a:fld>
            <a:endParaRPr lang="en-IN"/>
          </a:p>
        </p:txBody>
      </p:sp>
    </p:spTree>
    <p:extLst>
      <p:ext uri="{BB962C8B-B14F-4D97-AF65-F5344CB8AC3E}">
        <p14:creationId xmlns:p14="http://schemas.microsoft.com/office/powerpoint/2010/main" val="26551839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9B956C2-4784-4D0E-9595-F2CBA39EC02B}" type="datetimeFigureOut">
              <a:rPr lang="en-IN" smtClean="0"/>
              <a:t>05-09-2024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B8050E-AEB9-4357-9C53-02BB071A6CA7}" type="slidenum">
              <a:rPr lang="en-IN" smtClean="0"/>
              <a:t>‹#›</a:t>
            </a:fld>
            <a:endParaRPr lang="en-IN"/>
          </a:p>
        </p:txBody>
      </p:sp>
    </p:spTree>
    <p:extLst>
      <p:ext uri="{BB962C8B-B14F-4D97-AF65-F5344CB8AC3E}">
        <p14:creationId xmlns:p14="http://schemas.microsoft.com/office/powerpoint/2010/main" val="596832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B956C2-4784-4D0E-9595-F2CBA39EC02B}" type="datetimeFigureOut">
              <a:rPr lang="en-IN" smtClean="0"/>
              <a:t>05-09-2024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B8050E-AEB9-4357-9C53-02BB071A6CA7}" type="slidenum">
              <a:rPr lang="en-IN" smtClean="0"/>
              <a:t>‹#›</a:t>
            </a:fld>
            <a:endParaRPr lang="en-IN"/>
          </a:p>
        </p:txBody>
      </p:sp>
    </p:spTree>
    <p:extLst>
      <p:ext uri="{BB962C8B-B14F-4D97-AF65-F5344CB8AC3E}">
        <p14:creationId xmlns:p14="http://schemas.microsoft.com/office/powerpoint/2010/main" val="16141710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gif"/><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w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w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image" Target="../media/image28.gi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4283968" y="4437112"/>
            <a:ext cx="4752528" cy="1080120"/>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IN" dirty="0"/>
              <a:t>Course Name: PHY 1001</a:t>
            </a:r>
          </a:p>
          <a:p>
            <a:pPr marL="0" indent="0" algn="ctr">
              <a:buNone/>
            </a:pPr>
            <a:r>
              <a:rPr lang="en-IN" dirty="0"/>
              <a:t>L-T-P 	4</a:t>
            </a:r>
          </a:p>
        </p:txBody>
      </p:sp>
      <p:sp>
        <p:nvSpPr>
          <p:cNvPr id="5" name="Footer Placeholder 4"/>
          <p:cNvSpPr>
            <a:spLocks noGrp="1"/>
          </p:cNvSpPr>
          <p:nvPr>
            <p:ph type="ftr" sz="quarter" idx="11"/>
          </p:nvPr>
        </p:nvSpPr>
        <p:spPr/>
        <p:txBody>
          <a:bodyPr/>
          <a:lstStyle/>
          <a:p>
            <a:r>
              <a:rPr lang="en-IN"/>
              <a:t>VIT Bhopal University (SAS; Physics division)</a:t>
            </a:r>
          </a:p>
        </p:txBody>
      </p:sp>
      <p:sp>
        <p:nvSpPr>
          <p:cNvPr id="3" name="Title 2"/>
          <p:cNvSpPr>
            <a:spLocks noGrp="1"/>
          </p:cNvSpPr>
          <p:nvPr>
            <p:ph type="title"/>
          </p:nvPr>
        </p:nvSpPr>
        <p:spPr>
          <a:xfrm>
            <a:off x="3419872" y="836712"/>
            <a:ext cx="5442992" cy="2295128"/>
          </a:xfrm>
        </p:spPr>
        <p:style>
          <a:lnRef idx="1">
            <a:schemeClr val="accent5"/>
          </a:lnRef>
          <a:fillRef idx="2">
            <a:schemeClr val="accent5"/>
          </a:fillRef>
          <a:effectRef idx="1">
            <a:schemeClr val="accent5"/>
          </a:effectRef>
          <a:fontRef idx="minor">
            <a:schemeClr val="dk1"/>
          </a:fontRef>
        </p:style>
        <p:txBody>
          <a:bodyPr>
            <a:normAutofit/>
          </a:bodyPr>
          <a:lstStyle/>
          <a:p>
            <a:r>
              <a:rPr lang="en-IN" b="1" dirty="0">
                <a:solidFill>
                  <a:schemeClr val="accent2">
                    <a:lumMod val="50000"/>
                  </a:schemeClr>
                </a:solidFill>
              </a:rPr>
              <a:t>VIT University, Bhopal</a:t>
            </a:r>
            <a:br>
              <a:rPr lang="en-IN" dirty="0">
                <a:solidFill>
                  <a:schemeClr val="accent2">
                    <a:lumMod val="50000"/>
                  </a:schemeClr>
                </a:solidFill>
              </a:rPr>
            </a:br>
            <a:r>
              <a:rPr lang="en-US" b="1" dirty="0"/>
              <a:t>SASL</a:t>
            </a:r>
            <a:endParaRPr lang="en-IN" dirty="0"/>
          </a:p>
        </p:txBody>
      </p:sp>
    </p:spTree>
    <p:extLst>
      <p:ext uri="{BB962C8B-B14F-4D97-AF65-F5344CB8AC3E}">
        <p14:creationId xmlns:p14="http://schemas.microsoft.com/office/powerpoint/2010/main" val="1298842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Marks break up</a:t>
            </a:r>
          </a:p>
        </p:txBody>
      </p:sp>
      <p:sp>
        <p:nvSpPr>
          <p:cNvPr id="3" name="Content Placeholder 2"/>
          <p:cNvSpPr>
            <a:spLocks noGrp="1"/>
          </p:cNvSpPr>
          <p:nvPr>
            <p:ph idx="1"/>
          </p:nvPr>
        </p:nvSpPr>
        <p:spPr>
          <a:xfrm>
            <a:off x="3203848" y="1600200"/>
            <a:ext cx="5482952" cy="4525963"/>
          </a:xfrm>
        </p:spPr>
        <p:txBody>
          <a:bodyPr>
            <a:normAutofit lnSpcReduction="10000"/>
          </a:bodyPr>
          <a:lstStyle/>
          <a:p>
            <a:pPr marL="0" indent="0">
              <a:buNone/>
            </a:pPr>
            <a:r>
              <a:rPr lang="en-IN" dirty="0"/>
              <a:t>Total marks 100</a:t>
            </a:r>
          </a:p>
          <a:p>
            <a:r>
              <a:rPr lang="en-IN" dirty="0"/>
              <a:t>Cat 1 				15%		</a:t>
            </a:r>
          </a:p>
          <a:p>
            <a:r>
              <a:rPr lang="en-IN" dirty="0"/>
              <a:t>Cat 2				15%</a:t>
            </a:r>
          </a:p>
          <a:p>
            <a:r>
              <a:rPr lang="en-IN" dirty="0"/>
              <a:t>Fat 				30%</a:t>
            </a:r>
          </a:p>
          <a:p>
            <a:r>
              <a:rPr lang="en-IN" dirty="0"/>
              <a:t>Internal assessment		25%</a:t>
            </a:r>
          </a:p>
          <a:p>
            <a:r>
              <a:rPr lang="en-IN" dirty="0"/>
              <a:t>Attendance			5% </a:t>
            </a:r>
          </a:p>
          <a:p>
            <a:r>
              <a:rPr lang="en-IN" dirty="0"/>
              <a:t>Assignment			10%</a:t>
            </a:r>
          </a:p>
        </p:txBody>
      </p:sp>
      <p:sp>
        <p:nvSpPr>
          <p:cNvPr id="4" name="Footer Placeholder 3"/>
          <p:cNvSpPr>
            <a:spLocks noGrp="1"/>
          </p:cNvSpPr>
          <p:nvPr>
            <p:ph type="ftr" sz="quarter" idx="11"/>
          </p:nvPr>
        </p:nvSpPr>
        <p:spPr/>
        <p:txBody>
          <a:bodyPr/>
          <a:lstStyle/>
          <a:p>
            <a:r>
              <a:rPr lang="en-IN"/>
              <a:t>VIT Bhopal University (SAS; Physics division)</a:t>
            </a:r>
          </a:p>
        </p:txBody>
      </p:sp>
    </p:spTree>
    <p:extLst>
      <p:ext uri="{BB962C8B-B14F-4D97-AF65-F5344CB8AC3E}">
        <p14:creationId xmlns:p14="http://schemas.microsoft.com/office/powerpoint/2010/main" val="3608771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a:t>VIT Bhopal University (SAS; Physics division)</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59832" y="-381000"/>
            <a:ext cx="5034831" cy="7050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0280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a:t>VIT Bhopal University (SAS; Physics division)</a:t>
            </a: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47864" y="1844824"/>
            <a:ext cx="5822826" cy="3767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17263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a:t>VIT Bhopal University (SAS; Physics division)</a:t>
            </a:r>
          </a:p>
        </p:txBody>
      </p:sp>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427984" y="908720"/>
            <a:ext cx="4680520" cy="5320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53927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Books</a:t>
            </a:r>
          </a:p>
        </p:txBody>
      </p:sp>
      <p:sp>
        <p:nvSpPr>
          <p:cNvPr id="3" name="Content Placeholder 2"/>
          <p:cNvSpPr>
            <a:spLocks noGrp="1"/>
          </p:cNvSpPr>
          <p:nvPr>
            <p:ph idx="1"/>
          </p:nvPr>
        </p:nvSpPr>
        <p:spPr>
          <a:xfrm>
            <a:off x="4283968" y="1772816"/>
            <a:ext cx="4413176" cy="2890931"/>
          </a:xfrm>
        </p:spPr>
        <p:txBody>
          <a:bodyPr>
            <a:normAutofit fontScale="70000" lnSpcReduction="20000"/>
          </a:bodyPr>
          <a:lstStyle/>
          <a:p>
            <a:r>
              <a:rPr lang="en-US" dirty="0"/>
              <a:t>Mechanics, Keith R. </a:t>
            </a:r>
            <a:r>
              <a:rPr lang="en-US" dirty="0" err="1"/>
              <a:t>Symon</a:t>
            </a:r>
            <a:endParaRPr lang="en-US" dirty="0"/>
          </a:p>
          <a:p>
            <a:r>
              <a:rPr lang="en-US" dirty="0"/>
              <a:t>Fundamental Physics, </a:t>
            </a:r>
            <a:r>
              <a:rPr lang="en-US" dirty="0" err="1"/>
              <a:t>Halliday</a:t>
            </a:r>
            <a:r>
              <a:rPr lang="en-US" dirty="0"/>
              <a:t> – </a:t>
            </a:r>
            <a:r>
              <a:rPr lang="en-US" dirty="0" err="1"/>
              <a:t>Resnick</a:t>
            </a:r>
            <a:r>
              <a:rPr lang="en-US" dirty="0"/>
              <a:t>,</a:t>
            </a:r>
          </a:p>
          <a:p>
            <a:r>
              <a:rPr lang="en-US" dirty="0"/>
              <a:t>Concepts of Modern Physics, Arthur </a:t>
            </a:r>
            <a:r>
              <a:rPr lang="en-US" dirty="0" err="1"/>
              <a:t>Beiser</a:t>
            </a:r>
            <a:r>
              <a:rPr lang="en-US" dirty="0"/>
              <a:t> </a:t>
            </a:r>
          </a:p>
          <a:p>
            <a:r>
              <a:rPr lang="en-IN" dirty="0"/>
              <a:t> </a:t>
            </a:r>
            <a:r>
              <a:rPr lang="en-US" dirty="0"/>
              <a:t>Laser Fundamentals, William T. </a:t>
            </a:r>
            <a:r>
              <a:rPr lang="en-US" dirty="0" err="1"/>
              <a:t>Silfvast</a:t>
            </a:r>
            <a:endParaRPr lang="en-US" dirty="0"/>
          </a:p>
          <a:p>
            <a:r>
              <a:rPr lang="en-US" dirty="0"/>
              <a:t>Introduction to Electrodynamics, D. J. Griffith</a:t>
            </a:r>
          </a:p>
          <a:p>
            <a:endParaRPr lang="en-IN" dirty="0"/>
          </a:p>
        </p:txBody>
      </p:sp>
      <p:sp>
        <p:nvSpPr>
          <p:cNvPr id="4" name="Footer Placeholder 3"/>
          <p:cNvSpPr>
            <a:spLocks noGrp="1"/>
          </p:cNvSpPr>
          <p:nvPr>
            <p:ph type="ftr" sz="quarter" idx="11"/>
          </p:nvPr>
        </p:nvSpPr>
        <p:spPr/>
        <p:txBody>
          <a:bodyPr/>
          <a:lstStyle/>
          <a:p>
            <a:r>
              <a:rPr lang="en-IN"/>
              <a:t>VIT Bhopal University (SAS; Physics division)</a:t>
            </a:r>
          </a:p>
        </p:txBody>
      </p:sp>
    </p:spTree>
    <p:extLst>
      <p:ext uri="{BB962C8B-B14F-4D97-AF65-F5344CB8AC3E}">
        <p14:creationId xmlns:p14="http://schemas.microsoft.com/office/powerpoint/2010/main" val="1515333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335681-5B0E-4B31-E030-4DFE9CC9A892}"/>
              </a:ext>
            </a:extLst>
          </p:cNvPr>
          <p:cNvSpPr txBox="1"/>
          <p:nvPr/>
        </p:nvSpPr>
        <p:spPr>
          <a:xfrm>
            <a:off x="2123728" y="3244334"/>
            <a:ext cx="4572000" cy="369332"/>
          </a:xfrm>
          <a:prstGeom prst="rect">
            <a:avLst/>
          </a:prstGeom>
          <a:noFill/>
        </p:spPr>
        <p:txBody>
          <a:bodyPr wrap="square">
            <a:spAutoFit/>
          </a:bodyPr>
          <a:lstStyle/>
          <a:p>
            <a:r>
              <a:rPr lang="en-IN" dirty="0"/>
              <a:t>https://youtu.be/64RvhCyGFlM</a:t>
            </a:r>
          </a:p>
        </p:txBody>
      </p:sp>
    </p:spTree>
    <p:extLst>
      <p:ext uri="{BB962C8B-B14F-4D97-AF65-F5344CB8AC3E}">
        <p14:creationId xmlns:p14="http://schemas.microsoft.com/office/powerpoint/2010/main" val="2612486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43675" y="143534"/>
            <a:ext cx="3676199" cy="769441"/>
          </a:xfrm>
          <a:prstGeom prst="rect">
            <a:avLst/>
          </a:prstGeom>
          <a:noFill/>
        </p:spPr>
        <p:txBody>
          <a:bodyPr wrap="none" rtlCol="0">
            <a:spAutoFit/>
          </a:bodyPr>
          <a:lstStyle/>
          <a:p>
            <a:pPr algn="ctr"/>
            <a:r>
              <a:rPr lang="en-IN" sz="4400" b="1" dirty="0">
                <a:solidFill>
                  <a:srgbClr val="C00000"/>
                </a:solidFill>
              </a:rPr>
              <a:t>Newton’s Laws</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8064" y="4077072"/>
            <a:ext cx="3983737" cy="2769096"/>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7384"/>
            <a:ext cx="2555776" cy="3096344"/>
          </a:xfrm>
          <a:prstGeom prst="rect">
            <a:avLst/>
          </a:prstGeom>
        </p:spPr>
      </p:pic>
      <p:sp>
        <p:nvSpPr>
          <p:cNvPr id="10" name="TextBox 9"/>
          <p:cNvSpPr txBox="1"/>
          <p:nvPr/>
        </p:nvSpPr>
        <p:spPr>
          <a:xfrm>
            <a:off x="5792688" y="2591906"/>
            <a:ext cx="2815194" cy="954107"/>
          </a:xfrm>
          <a:prstGeom prst="rect">
            <a:avLst/>
          </a:prstGeom>
          <a:noFill/>
        </p:spPr>
        <p:txBody>
          <a:bodyPr wrap="none" rtlCol="0">
            <a:spAutoFit/>
          </a:bodyPr>
          <a:lstStyle/>
          <a:p>
            <a:pPr marL="285750" indent="-285750">
              <a:buFont typeface="Arial" pitchFamily="34" charset="0"/>
              <a:buChar char="•"/>
            </a:pPr>
            <a:r>
              <a:rPr lang="en-US" sz="2800" b="1" dirty="0"/>
              <a:t>State of Rest</a:t>
            </a:r>
          </a:p>
          <a:p>
            <a:pPr marL="285750" indent="-285750">
              <a:buFont typeface="Arial" pitchFamily="34" charset="0"/>
              <a:buChar char="•"/>
            </a:pPr>
            <a:r>
              <a:rPr lang="en-US" sz="2800" b="1" dirty="0"/>
              <a:t>State of Motion</a:t>
            </a:r>
          </a:p>
        </p:txBody>
      </p:sp>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0643" y="4653136"/>
            <a:ext cx="2143125" cy="2143125"/>
          </a:xfrm>
          <a:prstGeom prst="rect">
            <a:avLst/>
          </a:prstGeom>
        </p:spPr>
      </p:pic>
      <p:sp>
        <p:nvSpPr>
          <p:cNvPr id="7" name="Rectangle 6"/>
          <p:cNvSpPr>
            <a:spLocks noGrp="1" noChangeArrowheads="1"/>
          </p:cNvSpPr>
          <p:nvPr/>
        </p:nvSpPr>
        <p:spPr bwMode="auto">
          <a:xfrm>
            <a:off x="2699792" y="905197"/>
            <a:ext cx="6264696" cy="1686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just" eaLnBrk="1" hangingPunct="1">
              <a:buFontTx/>
              <a:buNone/>
            </a:pPr>
            <a:r>
              <a:rPr lang="en-US" sz="2400" dirty="0">
                <a:solidFill>
                  <a:srgbClr val="FF0000"/>
                </a:solidFill>
              </a:rPr>
              <a:t>“</a:t>
            </a:r>
            <a:r>
              <a:rPr lang="en-US" sz="2400" dirty="0">
                <a:solidFill>
                  <a:srgbClr val="FF0000"/>
                </a:solidFill>
                <a:latin typeface="Bookman Old Style" pitchFamily="1" charset="0"/>
              </a:rPr>
              <a:t>If I have ever made any valuable discoveries, it has been owing more to patient attention, than to any other talent.”		-Sir Isaac Newton</a:t>
            </a:r>
            <a:r>
              <a:rPr lang="en-US" sz="2400" dirty="0">
                <a:solidFill>
                  <a:srgbClr val="FF0000"/>
                </a:solidFill>
              </a:rPr>
              <a:t> </a:t>
            </a:r>
          </a:p>
        </p:txBody>
      </p:sp>
    </p:spTree>
    <p:extLst>
      <p:ext uri="{BB962C8B-B14F-4D97-AF65-F5344CB8AC3E}">
        <p14:creationId xmlns:p14="http://schemas.microsoft.com/office/powerpoint/2010/main" val="826367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025" y="542925"/>
            <a:ext cx="7981950" cy="577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7655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666750"/>
            <a:ext cx="7343775" cy="552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6129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100" y="809625"/>
            <a:ext cx="7543800" cy="523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7956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463" y="604838"/>
            <a:ext cx="7839075" cy="564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6360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25012"/>
          <a:stretch/>
        </p:blipFill>
        <p:spPr bwMode="auto">
          <a:xfrm>
            <a:off x="600075" y="642939"/>
            <a:ext cx="7943850" cy="4178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7703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457200" y="914400"/>
            <a:ext cx="82296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eaLnBrk="1" hangingPunct="1">
              <a:buFontTx/>
              <a:buNone/>
            </a:pPr>
            <a:r>
              <a:rPr lang="en-US" sz="2800">
                <a:latin typeface="Bookman Old Style" pitchFamily="1" charset="0"/>
              </a:rPr>
              <a:t>Sir Isaac Newton (1643-1727) an English scientist and mathematician famous for his discovery of the law of gravity also discovered the three </a:t>
            </a:r>
            <a:r>
              <a:rPr lang="en-US" sz="2800" i="1">
                <a:latin typeface="Bookman Old Style" pitchFamily="1" charset="0"/>
              </a:rPr>
              <a:t>laws of motion</a:t>
            </a:r>
            <a:r>
              <a:rPr lang="en-US" sz="2800">
                <a:latin typeface="Bookman Old Style" pitchFamily="1" charset="0"/>
              </a:rPr>
              <a:t>. </a:t>
            </a:r>
            <a:r>
              <a:rPr lang="en-US" sz="2800">
                <a:solidFill>
                  <a:srgbClr val="FF0000"/>
                </a:solidFill>
                <a:latin typeface="Bookman Old Style" pitchFamily="1" charset="0"/>
              </a:rPr>
              <a:t>He published them in his book </a:t>
            </a:r>
            <a:r>
              <a:rPr lang="en-US" sz="2800" u="sng">
                <a:solidFill>
                  <a:srgbClr val="FF0000"/>
                </a:solidFill>
                <a:latin typeface="Bookman Old Style" pitchFamily="1" charset="0"/>
              </a:rPr>
              <a:t>Philosophiae Naturalis Principia Mathematica</a:t>
            </a:r>
            <a:r>
              <a:rPr lang="en-US" sz="2800">
                <a:solidFill>
                  <a:srgbClr val="FF0000"/>
                </a:solidFill>
                <a:latin typeface="Bookman Old Style" pitchFamily="1" charset="0"/>
              </a:rPr>
              <a:t> (mathematic principles of natural philosophy) in 1687</a:t>
            </a:r>
            <a:r>
              <a:rPr lang="en-US" sz="2800">
                <a:latin typeface="Bookman Old Style" pitchFamily="1" charset="0"/>
              </a:rPr>
              <a:t>.  Today these laws are known as </a:t>
            </a:r>
            <a:r>
              <a:rPr lang="en-US" sz="2800" i="1">
                <a:latin typeface="Bookman Old Style" pitchFamily="1" charset="0"/>
              </a:rPr>
              <a:t>Newton’s Laws of Motion</a:t>
            </a:r>
            <a:r>
              <a:rPr lang="en-US" sz="2800">
                <a:latin typeface="Bookman Old Style" pitchFamily="1" charset="0"/>
              </a:rPr>
              <a:t> and describe the motion of all objects on the scale we experience in our everyday lives.</a:t>
            </a:r>
          </a:p>
        </p:txBody>
      </p:sp>
    </p:spTree>
    <p:extLst>
      <p:ext uri="{BB962C8B-B14F-4D97-AF65-F5344CB8AC3E}">
        <p14:creationId xmlns:p14="http://schemas.microsoft.com/office/powerpoint/2010/main" val="1033480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nvSpPr>
        <p:spPr bwMode="auto">
          <a:xfrm>
            <a:off x="611560" y="116632"/>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en-US">
                <a:latin typeface="Bookman Old Style" pitchFamily="1" charset="0"/>
              </a:rPr>
              <a:t>Newton’s Laws of Motion</a:t>
            </a:r>
          </a:p>
        </p:txBody>
      </p:sp>
      <p:sp>
        <p:nvSpPr>
          <p:cNvPr id="4" name="Rectangle 3"/>
          <p:cNvSpPr>
            <a:spLocks noGrp="1" noChangeArrowheads="1"/>
          </p:cNvSpPr>
          <p:nvPr/>
        </p:nvSpPr>
        <p:spPr bwMode="auto">
          <a:xfrm>
            <a:off x="457200" y="1166019"/>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just" eaLnBrk="1" hangingPunct="1">
              <a:buFontTx/>
              <a:buNone/>
            </a:pPr>
            <a:r>
              <a:rPr lang="en-US" dirty="0">
                <a:latin typeface="Bookman Old Style" pitchFamily="1" charset="0"/>
              </a:rPr>
              <a:t>1.  </a:t>
            </a:r>
            <a:r>
              <a:rPr lang="en-US" dirty="0">
                <a:solidFill>
                  <a:srgbClr val="FF0000"/>
                </a:solidFill>
                <a:latin typeface="Bookman Old Style" pitchFamily="1" charset="0"/>
              </a:rPr>
              <a:t>An object in motion tends to stay in    motion and an object at rest tends to   stay at rest unless acted upon by an   unbalanced force.</a:t>
            </a:r>
          </a:p>
          <a:p>
            <a:pPr algn="just" eaLnBrk="1" hangingPunct="1">
              <a:buFontTx/>
              <a:buNone/>
            </a:pPr>
            <a:r>
              <a:rPr lang="en-US" dirty="0">
                <a:latin typeface="Bookman Old Style" pitchFamily="1" charset="0"/>
              </a:rPr>
              <a:t>2. </a:t>
            </a:r>
            <a:r>
              <a:rPr lang="en-US" dirty="0">
                <a:solidFill>
                  <a:srgbClr val="002060"/>
                </a:solidFill>
                <a:latin typeface="Bookman Old Style" pitchFamily="1" charset="0"/>
              </a:rPr>
              <a:t>Force equals mass times acceleration </a:t>
            </a:r>
            <a:br>
              <a:rPr lang="en-US" dirty="0">
                <a:solidFill>
                  <a:srgbClr val="002060"/>
                </a:solidFill>
                <a:latin typeface="Bookman Old Style" pitchFamily="1" charset="0"/>
              </a:rPr>
            </a:br>
            <a:r>
              <a:rPr lang="en-US" dirty="0">
                <a:solidFill>
                  <a:srgbClr val="002060"/>
                </a:solidFill>
                <a:latin typeface="Bookman Old Style" pitchFamily="1" charset="0"/>
              </a:rPr>
              <a:t>  (F = ma).</a:t>
            </a:r>
          </a:p>
          <a:p>
            <a:pPr algn="just" eaLnBrk="1" hangingPunct="1">
              <a:buFontTx/>
              <a:buNone/>
            </a:pPr>
            <a:r>
              <a:rPr lang="en-US" dirty="0">
                <a:latin typeface="Bookman Old Style" pitchFamily="1" charset="0"/>
              </a:rPr>
              <a:t>3.  </a:t>
            </a:r>
            <a:r>
              <a:rPr lang="en-US" dirty="0">
                <a:solidFill>
                  <a:srgbClr val="FF0000"/>
                </a:solidFill>
                <a:latin typeface="Bookman Old Style" pitchFamily="1" charset="0"/>
              </a:rPr>
              <a:t>For every action there is an equal     and opposite reaction.</a:t>
            </a:r>
          </a:p>
        </p:txBody>
      </p:sp>
    </p:spTree>
    <p:extLst>
      <p:ext uri="{BB962C8B-B14F-4D97-AF65-F5344CB8AC3E}">
        <p14:creationId xmlns:p14="http://schemas.microsoft.com/office/powerpoint/2010/main" val="39073830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nvSpPr>
        <p:spPr bwMode="auto">
          <a:xfrm>
            <a:off x="800100" y="266700"/>
            <a:ext cx="7772400" cy="1143000"/>
          </a:xfrm>
          <a:prstGeom prst="rect">
            <a:avLst/>
          </a:prstGeom>
          <a:noFill/>
          <a:ln>
            <a:noFill/>
          </a:ln>
          <a:effectLst>
            <a:outerShdw blurRad="12700" dist="12699" dir="10200039" algn="ctr" rotWithShape="0">
              <a:srgbClr val="FFFFFF">
                <a:alpha val="7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Trebuchet MS" pitchFamily="64" charset="0"/>
                <a:ea typeface="ヒラギノ角ゴ Pro W3" pitchFamily="64" charset="-128"/>
              </a:defRPr>
            </a:lvl2pPr>
            <a:lvl3pPr algn="ctr" rtl="0" fontAlgn="base">
              <a:spcBef>
                <a:spcPct val="0"/>
              </a:spcBef>
              <a:spcAft>
                <a:spcPct val="0"/>
              </a:spcAft>
              <a:defRPr sz="4400">
                <a:solidFill>
                  <a:schemeClr val="tx2"/>
                </a:solidFill>
                <a:latin typeface="Trebuchet MS" pitchFamily="64" charset="0"/>
                <a:ea typeface="ヒラギノ角ゴ Pro W3" pitchFamily="64" charset="-128"/>
              </a:defRPr>
            </a:lvl3pPr>
            <a:lvl4pPr algn="ctr" rtl="0" fontAlgn="base">
              <a:spcBef>
                <a:spcPct val="0"/>
              </a:spcBef>
              <a:spcAft>
                <a:spcPct val="0"/>
              </a:spcAft>
              <a:defRPr sz="4400">
                <a:solidFill>
                  <a:schemeClr val="tx2"/>
                </a:solidFill>
                <a:latin typeface="Trebuchet MS" pitchFamily="64" charset="0"/>
                <a:ea typeface="ヒラギノ角ゴ Pro W3" pitchFamily="64" charset="-128"/>
              </a:defRPr>
            </a:lvl4pPr>
            <a:lvl5pPr algn="ctr" rtl="0" fontAlgn="base">
              <a:spcBef>
                <a:spcPct val="0"/>
              </a:spcBef>
              <a:spcAft>
                <a:spcPct val="0"/>
              </a:spcAft>
              <a:defRPr sz="4400">
                <a:solidFill>
                  <a:schemeClr val="tx2"/>
                </a:solidFill>
                <a:latin typeface="Trebuchet MS" pitchFamily="64" charset="0"/>
                <a:ea typeface="ヒラギノ角ゴ Pro W3" pitchFamily="64" charset="-128"/>
              </a:defRPr>
            </a:lvl5pPr>
            <a:lvl6pPr marL="457200" algn="ctr" rtl="0" fontAlgn="base">
              <a:spcBef>
                <a:spcPct val="0"/>
              </a:spcBef>
              <a:spcAft>
                <a:spcPct val="0"/>
              </a:spcAft>
              <a:defRPr sz="4400">
                <a:solidFill>
                  <a:schemeClr val="tx2"/>
                </a:solidFill>
                <a:latin typeface="Trebuchet MS" pitchFamily="64" charset="0"/>
                <a:ea typeface="ヒラギノ角ゴ Pro W3" pitchFamily="64" charset="-128"/>
              </a:defRPr>
            </a:lvl6pPr>
            <a:lvl7pPr marL="914400" algn="ctr" rtl="0" fontAlgn="base">
              <a:spcBef>
                <a:spcPct val="0"/>
              </a:spcBef>
              <a:spcAft>
                <a:spcPct val="0"/>
              </a:spcAft>
              <a:defRPr sz="4400">
                <a:solidFill>
                  <a:schemeClr val="tx2"/>
                </a:solidFill>
                <a:latin typeface="Trebuchet MS" pitchFamily="64" charset="0"/>
                <a:ea typeface="ヒラギノ角ゴ Pro W3" pitchFamily="64" charset="-128"/>
              </a:defRPr>
            </a:lvl7pPr>
            <a:lvl8pPr marL="1371600" algn="ctr" rtl="0" fontAlgn="base">
              <a:spcBef>
                <a:spcPct val="0"/>
              </a:spcBef>
              <a:spcAft>
                <a:spcPct val="0"/>
              </a:spcAft>
              <a:defRPr sz="4400">
                <a:solidFill>
                  <a:schemeClr val="tx2"/>
                </a:solidFill>
                <a:latin typeface="Trebuchet MS" pitchFamily="64" charset="0"/>
                <a:ea typeface="ヒラギノ角ゴ Pro W3" pitchFamily="64" charset="-128"/>
              </a:defRPr>
            </a:lvl8pPr>
            <a:lvl9pPr marL="1828800" algn="ctr" rtl="0" fontAlgn="base">
              <a:spcBef>
                <a:spcPct val="0"/>
              </a:spcBef>
              <a:spcAft>
                <a:spcPct val="0"/>
              </a:spcAft>
              <a:defRPr sz="4400">
                <a:solidFill>
                  <a:schemeClr val="tx2"/>
                </a:solidFill>
                <a:latin typeface="Trebuchet MS" pitchFamily="64" charset="0"/>
                <a:ea typeface="ヒラギノ角ゴ Pro W3" pitchFamily="64" charset="-128"/>
              </a:defRPr>
            </a:lvl9pPr>
          </a:lstStyle>
          <a:p>
            <a:r>
              <a:rPr lang="en-US" dirty="0">
                <a:solidFill>
                  <a:srgbClr val="002060"/>
                </a:solidFill>
                <a:latin typeface="Strenuous" pitchFamily="64" charset="0"/>
              </a:rPr>
              <a:t>Newton’s Law #1</a:t>
            </a:r>
            <a:endParaRPr lang="en-US" dirty="0">
              <a:solidFill>
                <a:srgbClr val="002060"/>
              </a:solidFill>
            </a:endParaRPr>
          </a:p>
        </p:txBody>
      </p:sp>
      <p:sp>
        <p:nvSpPr>
          <p:cNvPr id="9" name="Rectangle 8"/>
          <p:cNvSpPr>
            <a:spLocks noGrp="1" noChangeArrowheads="1"/>
          </p:cNvSpPr>
          <p:nvPr/>
        </p:nvSpPr>
        <p:spPr bwMode="auto">
          <a:xfrm>
            <a:off x="4000500" y="1638300"/>
            <a:ext cx="48768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12700" dist="12699" dir="10200039" algn="ctr" rotWithShape="0">
                    <a:srgbClr val="FFFFFF">
                      <a:alpha val="75000"/>
                    </a:srgbClr>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Wingdings" pitchFamily="64" charset="2"/>
              <a:buChar char="s"/>
              <a:defRPr sz="3200">
                <a:solidFill>
                  <a:schemeClr val="tx1"/>
                </a:solidFill>
                <a:latin typeface="+mn-lt"/>
                <a:ea typeface="+mn-ea"/>
                <a:cs typeface="+mn-cs"/>
              </a:defRPr>
            </a:lvl1pPr>
            <a:lvl2pPr marL="742950" indent="-285750" algn="l" rtl="0" fontAlgn="base">
              <a:spcBef>
                <a:spcPct val="20000"/>
              </a:spcBef>
              <a:spcAft>
                <a:spcPct val="0"/>
              </a:spcAft>
              <a:buFont typeface="Wingdings" pitchFamily="64" charset="2"/>
              <a:buChar char="s"/>
              <a:defRPr sz="2800">
                <a:solidFill>
                  <a:schemeClr val="tx1"/>
                </a:solidFill>
                <a:latin typeface="+mn-lt"/>
                <a:ea typeface="+mn-ea"/>
              </a:defRPr>
            </a:lvl2pPr>
            <a:lvl3pPr marL="1143000" indent="-228600" algn="l" rtl="0" fontAlgn="base">
              <a:spcBef>
                <a:spcPct val="20000"/>
              </a:spcBef>
              <a:spcAft>
                <a:spcPct val="0"/>
              </a:spcAft>
              <a:buFont typeface="Wingdings" pitchFamily="64" charset="2"/>
              <a:buChar char="s"/>
              <a:defRPr sz="2400">
                <a:solidFill>
                  <a:schemeClr val="tx1"/>
                </a:solidFill>
                <a:latin typeface="+mn-lt"/>
                <a:ea typeface="+mn-ea"/>
              </a:defRPr>
            </a:lvl3pPr>
            <a:lvl4pPr marL="1600200" indent="-228600" algn="l" rtl="0" fontAlgn="base">
              <a:spcBef>
                <a:spcPct val="20000"/>
              </a:spcBef>
              <a:spcAft>
                <a:spcPct val="0"/>
              </a:spcAft>
              <a:buFont typeface="Wingdings" pitchFamily="64" charset="2"/>
              <a:buChar char="s"/>
              <a:defRPr sz="2000">
                <a:solidFill>
                  <a:schemeClr val="tx1"/>
                </a:solidFill>
                <a:latin typeface="+mn-lt"/>
                <a:ea typeface="+mn-ea"/>
              </a:defRPr>
            </a:lvl4pPr>
            <a:lvl5pPr marL="2057400" indent="-228600" algn="l" rtl="0" fontAlgn="base">
              <a:spcBef>
                <a:spcPct val="20000"/>
              </a:spcBef>
              <a:spcAft>
                <a:spcPct val="0"/>
              </a:spcAft>
              <a:buFont typeface="Wingdings" pitchFamily="64" charset="2"/>
              <a:buChar char="s"/>
              <a:defRPr sz="2000">
                <a:solidFill>
                  <a:schemeClr val="tx1"/>
                </a:solidFill>
                <a:latin typeface="+mn-lt"/>
                <a:ea typeface="+mn-ea"/>
              </a:defRPr>
            </a:lvl5pPr>
            <a:lvl6pPr marL="2514600" indent="-228600" algn="l" rtl="0" fontAlgn="base">
              <a:spcBef>
                <a:spcPct val="20000"/>
              </a:spcBef>
              <a:spcAft>
                <a:spcPct val="0"/>
              </a:spcAft>
              <a:buFont typeface="Wingdings" pitchFamily="64" charset="2"/>
              <a:buChar char="s"/>
              <a:defRPr sz="2000">
                <a:solidFill>
                  <a:schemeClr val="tx1"/>
                </a:solidFill>
                <a:latin typeface="+mn-lt"/>
                <a:ea typeface="+mn-ea"/>
              </a:defRPr>
            </a:lvl6pPr>
            <a:lvl7pPr marL="2971800" indent="-228600" algn="l" rtl="0" fontAlgn="base">
              <a:spcBef>
                <a:spcPct val="20000"/>
              </a:spcBef>
              <a:spcAft>
                <a:spcPct val="0"/>
              </a:spcAft>
              <a:buFont typeface="Wingdings" pitchFamily="64" charset="2"/>
              <a:buChar char="s"/>
              <a:defRPr sz="2000">
                <a:solidFill>
                  <a:schemeClr val="tx1"/>
                </a:solidFill>
                <a:latin typeface="+mn-lt"/>
                <a:ea typeface="+mn-ea"/>
              </a:defRPr>
            </a:lvl7pPr>
            <a:lvl8pPr marL="3429000" indent="-228600" algn="l" rtl="0" fontAlgn="base">
              <a:spcBef>
                <a:spcPct val="20000"/>
              </a:spcBef>
              <a:spcAft>
                <a:spcPct val="0"/>
              </a:spcAft>
              <a:buFont typeface="Wingdings" pitchFamily="64" charset="2"/>
              <a:buChar char="s"/>
              <a:defRPr sz="2000">
                <a:solidFill>
                  <a:schemeClr val="tx1"/>
                </a:solidFill>
                <a:latin typeface="+mn-lt"/>
                <a:ea typeface="+mn-ea"/>
              </a:defRPr>
            </a:lvl8pPr>
            <a:lvl9pPr marL="3886200" indent="-228600" algn="l" rtl="0" fontAlgn="base">
              <a:spcBef>
                <a:spcPct val="20000"/>
              </a:spcBef>
              <a:spcAft>
                <a:spcPct val="0"/>
              </a:spcAft>
              <a:buFont typeface="Wingdings" pitchFamily="64" charset="2"/>
              <a:buChar char="s"/>
              <a:defRPr sz="2000">
                <a:solidFill>
                  <a:schemeClr val="tx1"/>
                </a:solidFill>
                <a:latin typeface="+mn-lt"/>
                <a:ea typeface="+mn-ea"/>
              </a:defRPr>
            </a:lvl9pPr>
          </a:lstStyle>
          <a:p>
            <a:pPr>
              <a:lnSpc>
                <a:spcPct val="90000"/>
              </a:lnSpc>
            </a:pPr>
            <a:r>
              <a:rPr lang="en-US" sz="2600" dirty="0">
                <a:solidFill>
                  <a:srgbClr val="FF0000"/>
                </a:solidFill>
              </a:rPr>
              <a:t>What does this mean?</a:t>
            </a:r>
          </a:p>
          <a:p>
            <a:pPr>
              <a:lnSpc>
                <a:spcPct val="90000"/>
              </a:lnSpc>
            </a:pPr>
            <a:r>
              <a:rPr lang="en-US" sz="2600" dirty="0">
                <a:solidFill>
                  <a:srgbClr val="FF0000"/>
                </a:solidFill>
              </a:rPr>
              <a:t>If nothing is happening to you and nothing does happen you will never go anywhere. </a:t>
            </a:r>
          </a:p>
          <a:p>
            <a:pPr>
              <a:lnSpc>
                <a:spcPct val="90000"/>
              </a:lnSpc>
            </a:pPr>
            <a:r>
              <a:rPr lang="en-US" sz="2600" dirty="0">
                <a:solidFill>
                  <a:srgbClr val="FF0000"/>
                </a:solidFill>
              </a:rPr>
              <a:t>If you're going in a specific direction, unless something happens to you, you will always go in that direction. </a:t>
            </a:r>
          </a:p>
          <a:p>
            <a:pPr>
              <a:lnSpc>
                <a:spcPct val="90000"/>
              </a:lnSpc>
            </a:pPr>
            <a:r>
              <a:rPr lang="en-US" sz="2600" dirty="0">
                <a:solidFill>
                  <a:srgbClr val="FF0000"/>
                </a:solidFill>
              </a:rPr>
              <a:t>Forever.</a:t>
            </a:r>
          </a:p>
          <a:p>
            <a:pPr>
              <a:lnSpc>
                <a:spcPct val="90000"/>
              </a:lnSpc>
            </a:pPr>
            <a:r>
              <a:rPr lang="en-US" sz="2600" dirty="0">
                <a:solidFill>
                  <a:srgbClr val="FF0000"/>
                </a:solidFill>
              </a:rPr>
              <a:t>Things don’t move unless a force is applied to them.</a:t>
            </a:r>
          </a:p>
        </p:txBody>
      </p:sp>
      <p:pic>
        <p:nvPicPr>
          <p:cNvPr id="10"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 y="2095500"/>
            <a:ext cx="3810000" cy="285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72643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1932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a:t>VIT Bhopal University (SAS; Physics division)</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832" y="1124744"/>
            <a:ext cx="5040560" cy="4320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4719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729" y="692696"/>
            <a:ext cx="8604022" cy="4093428"/>
          </a:xfrm>
          <a:prstGeom prst="rect">
            <a:avLst/>
          </a:prstGeom>
          <a:noFill/>
        </p:spPr>
        <p:txBody>
          <a:bodyPr wrap="none" rtlCol="0">
            <a:spAutoFit/>
          </a:bodyPr>
          <a:lstStyle/>
          <a:p>
            <a:pPr marL="285750" indent="-285750">
              <a:buFont typeface="Wingdings" pitchFamily="2" charset="2"/>
              <a:buChar char="Ø"/>
            </a:pPr>
            <a:r>
              <a:rPr lang="en-IN" sz="2000" b="1" dirty="0"/>
              <a:t>If the net force on a body is zero, its velocity will not change</a:t>
            </a:r>
          </a:p>
          <a:p>
            <a:pPr marL="285750" indent="-285750">
              <a:buFont typeface="Wingdings" pitchFamily="2" charset="2"/>
              <a:buChar char="Ø"/>
            </a:pPr>
            <a:endParaRPr lang="en-IN" sz="2000" b="1" dirty="0"/>
          </a:p>
          <a:p>
            <a:pPr marL="285750" indent="-285750">
              <a:buFont typeface="Wingdings" pitchFamily="2" charset="2"/>
              <a:buChar char="Ø"/>
            </a:pPr>
            <a:r>
              <a:rPr lang="en-IN" sz="2000" b="1" dirty="0"/>
              <a:t>An unbalanced force will always impact the object’s speed</a:t>
            </a:r>
          </a:p>
          <a:p>
            <a:pPr marL="285750" indent="-285750">
              <a:buFont typeface="Wingdings" pitchFamily="2" charset="2"/>
              <a:buChar char="Ø"/>
            </a:pPr>
            <a:endParaRPr lang="en-IN" sz="2000" b="1" dirty="0"/>
          </a:p>
          <a:p>
            <a:pPr marL="285750" indent="-285750">
              <a:buFont typeface="Wingdings" pitchFamily="2" charset="2"/>
              <a:buChar char="Ø"/>
            </a:pPr>
            <a:r>
              <a:rPr lang="en-IN" sz="2000" b="1" dirty="0"/>
              <a:t>The reason why initially moving objects tends to come to rest</a:t>
            </a:r>
          </a:p>
          <a:p>
            <a:pPr marL="285750" indent="-285750">
              <a:buFont typeface="Wingdings" pitchFamily="2" charset="2"/>
              <a:buChar char="Ø"/>
            </a:pPr>
            <a:endParaRPr lang="en-IN" sz="2000" b="1" dirty="0"/>
          </a:p>
          <a:p>
            <a:r>
              <a:rPr lang="en-IN" sz="2000" b="1" dirty="0"/>
              <a:t>      in our everyday life is because they are being acted on by unbalanced forces</a:t>
            </a:r>
          </a:p>
          <a:p>
            <a:pPr marL="285750" indent="-285750">
              <a:buFont typeface="Wingdings" pitchFamily="2" charset="2"/>
              <a:buChar char="Ø"/>
            </a:pPr>
            <a:endParaRPr lang="en-IN" sz="2000" b="1" dirty="0"/>
          </a:p>
          <a:p>
            <a:pPr marL="285750" indent="-285750">
              <a:buFont typeface="Wingdings" pitchFamily="2" charset="2"/>
              <a:buChar char="Ø"/>
            </a:pPr>
            <a:r>
              <a:rPr lang="en-IN" sz="2000" b="1" dirty="0"/>
              <a:t>An unbalanced force on an object will always  change the object’s  velocity.</a:t>
            </a:r>
          </a:p>
          <a:p>
            <a:pPr marL="285750" indent="-285750">
              <a:buFont typeface="Wingdings" pitchFamily="2" charset="2"/>
              <a:buChar char="Ø"/>
            </a:pPr>
            <a:endParaRPr lang="en-IN" sz="2000" b="1" dirty="0"/>
          </a:p>
          <a:p>
            <a:pPr marL="285750" indent="-285750">
              <a:buFont typeface="Wingdings" pitchFamily="2" charset="2"/>
              <a:buChar char="Ø"/>
            </a:pPr>
            <a:endParaRPr lang="en-IN" sz="2000" b="1" dirty="0"/>
          </a:p>
          <a:p>
            <a:pPr marL="285750" indent="-285750">
              <a:buFont typeface="Wingdings" pitchFamily="2" charset="2"/>
              <a:buChar char="Ø"/>
            </a:pPr>
            <a:endParaRPr lang="en-IN" sz="2000" b="1" dirty="0"/>
          </a:p>
          <a:p>
            <a:pPr marL="285750" indent="-285750">
              <a:buFont typeface="Wingdings" pitchFamily="2" charset="2"/>
              <a:buChar char="Ø"/>
            </a:pPr>
            <a:endParaRPr lang="en-IN" sz="2000" b="1" dirty="0"/>
          </a:p>
        </p:txBody>
      </p:sp>
    </p:spTree>
    <p:extLst>
      <p:ext uri="{BB962C8B-B14F-4D97-AF65-F5344CB8AC3E}">
        <p14:creationId xmlns:p14="http://schemas.microsoft.com/office/powerpoint/2010/main" val="401666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nvSpPr>
        <p:spPr bwMode="auto">
          <a:xfrm>
            <a:off x="457200" y="1484784"/>
            <a:ext cx="82296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just" eaLnBrk="1" hangingPunct="1">
              <a:buFontTx/>
              <a:buNone/>
            </a:pPr>
            <a:r>
              <a:rPr lang="en-US" i="1" dirty="0">
                <a:latin typeface="Bookman Old Style" pitchFamily="1" charset="0"/>
              </a:rPr>
              <a:t>  An object at rest tends to stay at rest and an object in motion tends to stay in motion unless acted upon by an unbalanced force.</a:t>
            </a:r>
          </a:p>
        </p:txBody>
      </p:sp>
    </p:spTree>
    <p:extLst>
      <p:ext uri="{BB962C8B-B14F-4D97-AF65-F5344CB8AC3E}">
        <p14:creationId xmlns:p14="http://schemas.microsoft.com/office/powerpoint/2010/main" val="558689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457200" y="116632"/>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en-US">
                <a:latin typeface="Bookman Old Style" pitchFamily="1" charset="0"/>
              </a:rPr>
              <a:t>What does this mean?</a:t>
            </a:r>
          </a:p>
        </p:txBody>
      </p:sp>
      <p:sp>
        <p:nvSpPr>
          <p:cNvPr id="3" name="Rectangle 2"/>
          <p:cNvSpPr>
            <a:spLocks noGrp="1" noChangeArrowheads="1"/>
          </p:cNvSpPr>
          <p:nvPr/>
        </p:nvSpPr>
        <p:spPr bwMode="auto">
          <a:xfrm>
            <a:off x="457200" y="1351309"/>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eaLnBrk="1" hangingPunct="1">
              <a:lnSpc>
                <a:spcPct val="90000"/>
              </a:lnSpc>
              <a:buFontTx/>
              <a:buNone/>
            </a:pPr>
            <a:r>
              <a:rPr lang="en-US" sz="2800">
                <a:latin typeface="Bookman Old Style" pitchFamily="1" charset="0"/>
              </a:rPr>
              <a:t>Basically, an object will “keep doing what it was doing” unless acted on by an unbalanced force.</a:t>
            </a:r>
          </a:p>
          <a:p>
            <a:pPr eaLnBrk="1" hangingPunct="1">
              <a:lnSpc>
                <a:spcPct val="90000"/>
              </a:lnSpc>
              <a:buFontTx/>
              <a:buNone/>
            </a:pPr>
            <a:endParaRPr lang="en-US" sz="2800">
              <a:latin typeface="Bookman Old Style" pitchFamily="1" charset="0"/>
            </a:endParaRPr>
          </a:p>
          <a:p>
            <a:pPr eaLnBrk="1" hangingPunct="1">
              <a:lnSpc>
                <a:spcPct val="90000"/>
              </a:lnSpc>
              <a:buFontTx/>
              <a:buNone/>
            </a:pPr>
            <a:r>
              <a:rPr lang="en-US" sz="2800">
                <a:latin typeface="Bookman Old Style" pitchFamily="1" charset="0"/>
              </a:rPr>
              <a:t>If the object was sitting still, it will </a:t>
            </a:r>
            <a:r>
              <a:rPr lang="en-US" sz="2800" i="1">
                <a:latin typeface="Bookman Old Style" pitchFamily="1" charset="0"/>
              </a:rPr>
              <a:t>remain stationary</a:t>
            </a:r>
            <a:r>
              <a:rPr lang="en-US" sz="2800">
                <a:latin typeface="Bookman Old Style" pitchFamily="1" charset="0"/>
              </a:rPr>
              <a:t>.  If it was moving at a constant velocity, it will </a:t>
            </a:r>
            <a:r>
              <a:rPr lang="en-US" sz="2800" i="1">
                <a:latin typeface="Bookman Old Style" pitchFamily="1" charset="0"/>
              </a:rPr>
              <a:t>keep moving</a:t>
            </a:r>
            <a:r>
              <a:rPr lang="en-US" sz="2800">
                <a:latin typeface="Bookman Old Style" pitchFamily="1" charset="0"/>
              </a:rPr>
              <a:t>.</a:t>
            </a:r>
          </a:p>
          <a:p>
            <a:pPr eaLnBrk="1" hangingPunct="1">
              <a:lnSpc>
                <a:spcPct val="90000"/>
              </a:lnSpc>
              <a:buFontTx/>
              <a:buNone/>
            </a:pPr>
            <a:endParaRPr lang="en-US" sz="2800">
              <a:latin typeface="Bookman Old Style" pitchFamily="1" charset="0"/>
            </a:endParaRPr>
          </a:p>
          <a:p>
            <a:pPr eaLnBrk="1" hangingPunct="1">
              <a:lnSpc>
                <a:spcPct val="90000"/>
              </a:lnSpc>
              <a:buFontTx/>
              <a:buNone/>
            </a:pPr>
            <a:r>
              <a:rPr lang="en-US" sz="2800">
                <a:latin typeface="Bookman Old Style" pitchFamily="1" charset="0"/>
              </a:rPr>
              <a:t>It takes </a:t>
            </a:r>
            <a:r>
              <a:rPr lang="en-US" sz="2800" i="1">
                <a:latin typeface="Bookman Old Style" pitchFamily="1" charset="0"/>
              </a:rPr>
              <a:t>force</a:t>
            </a:r>
            <a:r>
              <a:rPr lang="en-US" sz="2800">
                <a:latin typeface="Bookman Old Style" pitchFamily="1" charset="0"/>
              </a:rPr>
              <a:t> to change the motion of an object.</a:t>
            </a:r>
          </a:p>
          <a:p>
            <a:pPr eaLnBrk="1" hangingPunct="1">
              <a:lnSpc>
                <a:spcPct val="90000"/>
              </a:lnSpc>
              <a:buFontTx/>
              <a:buNone/>
            </a:pPr>
            <a:endParaRPr lang="en-US" sz="2800">
              <a:latin typeface="Bookman Old Style" pitchFamily="1" charset="0"/>
            </a:endParaRPr>
          </a:p>
          <a:p>
            <a:pPr eaLnBrk="1" hangingPunct="1">
              <a:lnSpc>
                <a:spcPct val="90000"/>
              </a:lnSpc>
              <a:buFontTx/>
              <a:buNone/>
            </a:pPr>
            <a:endParaRPr lang="en-US" sz="2800"/>
          </a:p>
        </p:txBody>
      </p:sp>
    </p:spTree>
    <p:extLst>
      <p:ext uri="{BB962C8B-B14F-4D97-AF65-F5344CB8AC3E}">
        <p14:creationId xmlns:p14="http://schemas.microsoft.com/office/powerpoint/2010/main" val="4069409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457200" y="116632"/>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en-US" sz="4000" dirty="0">
                <a:latin typeface="Bookman Old Style" pitchFamily="1" charset="0"/>
              </a:rPr>
              <a:t>What is meant by </a:t>
            </a:r>
            <a:r>
              <a:rPr lang="en-US" sz="4000" i="1" dirty="0">
                <a:latin typeface="Bookman Old Style" pitchFamily="1" charset="0"/>
              </a:rPr>
              <a:t>unbalanced force?</a:t>
            </a: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5500" y="1340768"/>
            <a:ext cx="4953000" cy="274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6"/>
          <p:cNvSpPr txBox="1">
            <a:spLocks noChangeArrowheads="1"/>
          </p:cNvSpPr>
          <p:nvPr/>
        </p:nvSpPr>
        <p:spPr bwMode="auto">
          <a:xfrm>
            <a:off x="571500" y="5286077"/>
            <a:ext cx="80010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just" eaLnBrk="1" hangingPunct="1">
              <a:spcBef>
                <a:spcPct val="50000"/>
              </a:spcBef>
            </a:pPr>
            <a:r>
              <a:rPr lang="en-US" sz="2000" dirty="0">
                <a:latin typeface="Bookman Old Style" pitchFamily="1" charset="0"/>
              </a:rPr>
              <a:t>If the forces on an object are equal and opposite, they are said to be balanced, and the object experiences no change in motion.  If they are not equal and opposite, then the forces are unbalanced and the motion of the object changes.</a:t>
            </a:r>
          </a:p>
        </p:txBody>
      </p:sp>
    </p:spTree>
    <p:extLst>
      <p:ext uri="{BB962C8B-B14F-4D97-AF65-F5344CB8AC3E}">
        <p14:creationId xmlns:p14="http://schemas.microsoft.com/office/powerpoint/2010/main" val="4794480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457200" y="18864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en-US" sz="4000">
                <a:latin typeface="Bookman Old Style" pitchFamily="1" charset="0"/>
              </a:rPr>
              <a:t>Some Examples from Real Life</a:t>
            </a:r>
          </a:p>
        </p:txBody>
      </p:sp>
      <p:sp>
        <p:nvSpPr>
          <p:cNvPr id="3" name="Text Box 14"/>
          <p:cNvSpPr txBox="1">
            <a:spLocks noChangeArrowheads="1"/>
          </p:cNvSpPr>
          <p:nvPr/>
        </p:nvSpPr>
        <p:spPr bwMode="auto">
          <a:xfrm>
            <a:off x="755576" y="1196752"/>
            <a:ext cx="770485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just" eaLnBrk="1" hangingPunct="1">
              <a:spcBef>
                <a:spcPct val="20000"/>
              </a:spcBef>
            </a:pPr>
            <a:r>
              <a:rPr lang="en-US" sz="2400" dirty="0">
                <a:latin typeface="Bookman Old Style" pitchFamily="1" charset="0"/>
              </a:rPr>
              <a:t>A soccer ball is sitting at rest.  It takes an unbalanced force of a kick to change its motion.</a:t>
            </a:r>
          </a:p>
        </p:txBody>
      </p:sp>
      <p:pic>
        <p:nvPicPr>
          <p:cNvPr id="4" name="Picture 3" descr="MCBD06997_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528" y="2564904"/>
            <a:ext cx="4260850"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MCj029247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24562" y="2276872"/>
            <a:ext cx="1747838" cy="149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a:spLocks noGrp="1" noChangeArrowheads="1"/>
          </p:cNvSpPr>
          <p:nvPr/>
        </p:nvSpPr>
        <p:spPr bwMode="auto">
          <a:xfrm>
            <a:off x="457200" y="4522365"/>
            <a:ext cx="8229600" cy="185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just" eaLnBrk="1" hangingPunct="1">
              <a:lnSpc>
                <a:spcPct val="90000"/>
              </a:lnSpc>
              <a:buFontTx/>
              <a:buNone/>
            </a:pPr>
            <a:endParaRPr lang="en-US" sz="2400" dirty="0"/>
          </a:p>
          <a:p>
            <a:pPr algn="just" eaLnBrk="1" hangingPunct="1">
              <a:lnSpc>
                <a:spcPct val="90000"/>
              </a:lnSpc>
              <a:buFontTx/>
              <a:buNone/>
            </a:pPr>
            <a:r>
              <a:rPr lang="en-US" sz="2400" dirty="0">
                <a:latin typeface="Bookman Old Style" pitchFamily="1" charset="0"/>
              </a:rPr>
              <a:t>   Two teams are playing tug of war.  They are both exerting equal force on the rope in opposite directions.  This balanced force results in no change of motion.</a:t>
            </a:r>
          </a:p>
        </p:txBody>
      </p:sp>
    </p:spTree>
    <p:extLst>
      <p:ext uri="{BB962C8B-B14F-4D97-AF65-F5344CB8AC3E}">
        <p14:creationId xmlns:p14="http://schemas.microsoft.com/office/powerpoint/2010/main" val="4258002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nvSpPr>
        <p:spPr bwMode="auto">
          <a:xfrm>
            <a:off x="542528" y="4077072"/>
            <a:ext cx="8133928" cy="1872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12700" dist="12699" dir="10200039" algn="ctr" rotWithShape="0">
                    <a:srgbClr val="FFFFFF">
                      <a:alpha val="75000"/>
                    </a:srgbClr>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Wingdings" pitchFamily="64" charset="2"/>
              <a:buChar char="s"/>
              <a:defRPr sz="3200">
                <a:solidFill>
                  <a:schemeClr val="tx1"/>
                </a:solidFill>
                <a:latin typeface="+mn-lt"/>
                <a:ea typeface="+mn-ea"/>
                <a:cs typeface="+mn-cs"/>
              </a:defRPr>
            </a:lvl1pPr>
            <a:lvl2pPr marL="742950" indent="-285750" algn="l" rtl="0" fontAlgn="base">
              <a:spcBef>
                <a:spcPct val="20000"/>
              </a:spcBef>
              <a:spcAft>
                <a:spcPct val="0"/>
              </a:spcAft>
              <a:buFont typeface="Wingdings" pitchFamily="64" charset="2"/>
              <a:buChar char="s"/>
              <a:defRPr sz="2800">
                <a:solidFill>
                  <a:schemeClr val="tx1"/>
                </a:solidFill>
                <a:latin typeface="+mn-lt"/>
                <a:ea typeface="+mn-ea"/>
              </a:defRPr>
            </a:lvl2pPr>
            <a:lvl3pPr marL="1143000" indent="-228600" algn="l" rtl="0" fontAlgn="base">
              <a:spcBef>
                <a:spcPct val="20000"/>
              </a:spcBef>
              <a:spcAft>
                <a:spcPct val="0"/>
              </a:spcAft>
              <a:buFont typeface="Wingdings" pitchFamily="64" charset="2"/>
              <a:buChar char="s"/>
              <a:defRPr sz="2400">
                <a:solidFill>
                  <a:schemeClr val="tx1"/>
                </a:solidFill>
                <a:latin typeface="+mn-lt"/>
                <a:ea typeface="+mn-ea"/>
              </a:defRPr>
            </a:lvl3pPr>
            <a:lvl4pPr marL="1600200" indent="-228600" algn="l" rtl="0" fontAlgn="base">
              <a:spcBef>
                <a:spcPct val="20000"/>
              </a:spcBef>
              <a:spcAft>
                <a:spcPct val="0"/>
              </a:spcAft>
              <a:buFont typeface="Wingdings" pitchFamily="64" charset="2"/>
              <a:buChar char="s"/>
              <a:defRPr sz="2000">
                <a:solidFill>
                  <a:schemeClr val="tx1"/>
                </a:solidFill>
                <a:latin typeface="+mn-lt"/>
                <a:ea typeface="+mn-ea"/>
              </a:defRPr>
            </a:lvl4pPr>
            <a:lvl5pPr marL="2057400" indent="-228600" algn="l" rtl="0" fontAlgn="base">
              <a:spcBef>
                <a:spcPct val="20000"/>
              </a:spcBef>
              <a:spcAft>
                <a:spcPct val="0"/>
              </a:spcAft>
              <a:buFont typeface="Wingdings" pitchFamily="64" charset="2"/>
              <a:buChar char="s"/>
              <a:defRPr sz="2000">
                <a:solidFill>
                  <a:schemeClr val="tx1"/>
                </a:solidFill>
                <a:latin typeface="+mn-lt"/>
                <a:ea typeface="+mn-ea"/>
              </a:defRPr>
            </a:lvl5pPr>
            <a:lvl6pPr marL="2514600" indent="-228600" algn="l" rtl="0" fontAlgn="base">
              <a:spcBef>
                <a:spcPct val="20000"/>
              </a:spcBef>
              <a:spcAft>
                <a:spcPct val="0"/>
              </a:spcAft>
              <a:buFont typeface="Wingdings" pitchFamily="64" charset="2"/>
              <a:buChar char="s"/>
              <a:defRPr sz="2000">
                <a:solidFill>
                  <a:schemeClr val="tx1"/>
                </a:solidFill>
                <a:latin typeface="+mn-lt"/>
                <a:ea typeface="+mn-ea"/>
              </a:defRPr>
            </a:lvl6pPr>
            <a:lvl7pPr marL="2971800" indent="-228600" algn="l" rtl="0" fontAlgn="base">
              <a:spcBef>
                <a:spcPct val="20000"/>
              </a:spcBef>
              <a:spcAft>
                <a:spcPct val="0"/>
              </a:spcAft>
              <a:buFont typeface="Wingdings" pitchFamily="64" charset="2"/>
              <a:buChar char="s"/>
              <a:defRPr sz="2000">
                <a:solidFill>
                  <a:schemeClr val="tx1"/>
                </a:solidFill>
                <a:latin typeface="+mn-lt"/>
                <a:ea typeface="+mn-ea"/>
              </a:defRPr>
            </a:lvl7pPr>
            <a:lvl8pPr marL="3429000" indent="-228600" algn="l" rtl="0" fontAlgn="base">
              <a:spcBef>
                <a:spcPct val="20000"/>
              </a:spcBef>
              <a:spcAft>
                <a:spcPct val="0"/>
              </a:spcAft>
              <a:buFont typeface="Wingdings" pitchFamily="64" charset="2"/>
              <a:buChar char="s"/>
              <a:defRPr sz="2000">
                <a:solidFill>
                  <a:schemeClr val="tx1"/>
                </a:solidFill>
                <a:latin typeface="+mn-lt"/>
                <a:ea typeface="+mn-ea"/>
              </a:defRPr>
            </a:lvl8pPr>
            <a:lvl9pPr marL="3886200" indent="-228600" algn="l" rtl="0" fontAlgn="base">
              <a:spcBef>
                <a:spcPct val="20000"/>
              </a:spcBef>
              <a:spcAft>
                <a:spcPct val="0"/>
              </a:spcAft>
              <a:buFont typeface="Wingdings" pitchFamily="64" charset="2"/>
              <a:buChar char="s"/>
              <a:defRPr sz="2000">
                <a:solidFill>
                  <a:schemeClr val="tx1"/>
                </a:solidFill>
                <a:latin typeface="+mn-lt"/>
                <a:ea typeface="+mn-ea"/>
              </a:defRPr>
            </a:lvl9pPr>
          </a:lstStyle>
          <a:p>
            <a:pPr algn="just">
              <a:lnSpc>
                <a:spcPct val="90000"/>
              </a:lnSpc>
            </a:pPr>
            <a:r>
              <a:rPr lang="en-US" dirty="0">
                <a:solidFill>
                  <a:srgbClr val="C00000"/>
                </a:solidFill>
              </a:rPr>
              <a:t>A golf ball on a tee will remain on the tee until the club, the unbalanced force, makes contact with it.</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528" y="476672"/>
            <a:ext cx="8133928" cy="3240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116233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457200" y="18864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en-US" sz="4000">
                <a:latin typeface="Bookman Old Style" pitchFamily="1" charset="0"/>
              </a:rPr>
              <a:t>Newton’s First Law is also called the </a:t>
            </a:r>
            <a:r>
              <a:rPr lang="en-US" sz="4000" i="1">
                <a:latin typeface="Bookman Old Style" pitchFamily="1" charset="0"/>
              </a:rPr>
              <a:t>Law of Inertia</a:t>
            </a:r>
          </a:p>
        </p:txBody>
      </p:sp>
      <p:sp>
        <p:nvSpPr>
          <p:cNvPr id="3" name="Rectangle 2"/>
          <p:cNvSpPr>
            <a:spLocks noGrp="1" noChangeArrowheads="1"/>
          </p:cNvSpPr>
          <p:nvPr/>
        </p:nvSpPr>
        <p:spPr bwMode="auto">
          <a:xfrm>
            <a:off x="457200" y="1676400"/>
            <a:ext cx="82296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just" eaLnBrk="1" hangingPunct="1">
              <a:lnSpc>
                <a:spcPct val="90000"/>
              </a:lnSpc>
              <a:buFontTx/>
              <a:buNone/>
            </a:pPr>
            <a:r>
              <a:rPr lang="en-US" u="sng" dirty="0">
                <a:latin typeface="Bookman Old Style" pitchFamily="1" charset="0"/>
              </a:rPr>
              <a:t>Inertia</a:t>
            </a:r>
            <a:r>
              <a:rPr lang="en-US" dirty="0">
                <a:latin typeface="Bookman Old Style" pitchFamily="1" charset="0"/>
              </a:rPr>
              <a:t>: the tendency of an object to resist changes in its state of motion</a:t>
            </a:r>
          </a:p>
          <a:p>
            <a:pPr algn="just" eaLnBrk="1" hangingPunct="1">
              <a:lnSpc>
                <a:spcPct val="90000"/>
              </a:lnSpc>
              <a:buFontTx/>
              <a:buNone/>
            </a:pPr>
            <a:endParaRPr lang="en-US" dirty="0">
              <a:latin typeface="Bookman Old Style" pitchFamily="1" charset="0"/>
            </a:endParaRPr>
          </a:p>
          <a:p>
            <a:pPr algn="just" eaLnBrk="1" hangingPunct="1">
              <a:lnSpc>
                <a:spcPct val="90000"/>
              </a:lnSpc>
              <a:buFontTx/>
              <a:buNone/>
            </a:pPr>
            <a:r>
              <a:rPr lang="en-US" dirty="0">
                <a:latin typeface="Bookman Old Style" pitchFamily="1" charset="0"/>
              </a:rPr>
              <a:t>The First Law states that </a:t>
            </a:r>
            <a:r>
              <a:rPr lang="en-US" i="1" dirty="0">
                <a:latin typeface="Bookman Old Style" pitchFamily="1" charset="0"/>
              </a:rPr>
              <a:t>all objects have inertia</a:t>
            </a:r>
            <a:r>
              <a:rPr lang="en-US" dirty="0">
                <a:latin typeface="Bookman Old Style" pitchFamily="1" charset="0"/>
              </a:rPr>
              <a:t>.  The more mass an object has, the more inertia it has (and the harder it is to change its motion).</a:t>
            </a:r>
          </a:p>
        </p:txBody>
      </p:sp>
    </p:spTree>
    <p:extLst>
      <p:ext uri="{BB962C8B-B14F-4D97-AF65-F5344CB8AC3E}">
        <p14:creationId xmlns:p14="http://schemas.microsoft.com/office/powerpoint/2010/main" val="40921174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457200" y="116632"/>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en-US" sz="4000">
                <a:latin typeface="Bookman Old Style" pitchFamily="1" charset="0"/>
              </a:rPr>
              <a:t>More Examples from Real Life</a:t>
            </a:r>
          </a:p>
        </p:txBody>
      </p:sp>
      <p:sp>
        <p:nvSpPr>
          <p:cNvPr id="3" name="Text Box 4"/>
          <p:cNvSpPr txBox="1">
            <a:spLocks noChangeArrowheads="1"/>
          </p:cNvSpPr>
          <p:nvPr/>
        </p:nvSpPr>
        <p:spPr bwMode="auto">
          <a:xfrm>
            <a:off x="179512" y="1052736"/>
            <a:ext cx="5257800"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just" eaLnBrk="1" hangingPunct="1">
              <a:spcBef>
                <a:spcPct val="50000"/>
              </a:spcBef>
            </a:pPr>
            <a:r>
              <a:rPr lang="en-US" sz="2000" dirty="0">
                <a:latin typeface="Bookman Old Style" pitchFamily="1" charset="0"/>
              </a:rPr>
              <a:t>A powerful locomotive begins to pull a long line of boxcars that were sitting at rest.  Since the boxcars are so massive, they have a great deal of inertia and it takes a large force to change their motion.  Once they are moving, it takes a large force to stop them.</a:t>
            </a:r>
          </a:p>
        </p:txBody>
      </p:sp>
      <p:pic>
        <p:nvPicPr>
          <p:cNvPr id="4" name="Picture 3" descr="MCj0251114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00712" y="1196752"/>
            <a:ext cx="2071688" cy="166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MCj0197385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3528" y="3448149"/>
            <a:ext cx="2514600" cy="199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9"/>
          <p:cNvSpPr txBox="1">
            <a:spLocks noChangeArrowheads="1"/>
          </p:cNvSpPr>
          <p:nvPr/>
        </p:nvSpPr>
        <p:spPr bwMode="auto">
          <a:xfrm>
            <a:off x="4117032" y="4316437"/>
            <a:ext cx="43434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just" eaLnBrk="1" hangingPunct="1">
              <a:spcBef>
                <a:spcPct val="20000"/>
              </a:spcBef>
            </a:pPr>
            <a:r>
              <a:rPr lang="en-US" sz="2000" dirty="0">
                <a:latin typeface="Bookman Old Style" pitchFamily="1" charset="0"/>
              </a:rPr>
              <a:t>On your way to school, a bug flies into your windshield.  Since the bug is so small, it has very little inertia and exerts a very small force on your car (so small that you don’t even feel it).</a:t>
            </a:r>
          </a:p>
        </p:txBody>
      </p:sp>
    </p:spTree>
    <p:extLst>
      <p:ext uri="{BB962C8B-B14F-4D97-AF65-F5344CB8AC3E}">
        <p14:creationId xmlns:p14="http://schemas.microsoft.com/office/powerpoint/2010/main" val="31673070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457200" y="18864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algn="just" eaLnBrk="1" hangingPunct="1"/>
            <a:r>
              <a:rPr lang="en-US" sz="2800" dirty="0">
                <a:latin typeface="Bookman Old Style" pitchFamily="1" charset="0"/>
              </a:rPr>
              <a:t>If objects in motion tend to stay in motion, why don’t moving objects keep moving forever?</a:t>
            </a:r>
          </a:p>
        </p:txBody>
      </p:sp>
      <p:sp>
        <p:nvSpPr>
          <p:cNvPr id="3" name="Text Box 4"/>
          <p:cNvSpPr txBox="1">
            <a:spLocks noChangeArrowheads="1"/>
          </p:cNvSpPr>
          <p:nvPr/>
        </p:nvSpPr>
        <p:spPr bwMode="auto">
          <a:xfrm>
            <a:off x="495300" y="1484784"/>
            <a:ext cx="8153400"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1" hangingPunct="1">
              <a:lnSpc>
                <a:spcPct val="80000"/>
              </a:lnSpc>
              <a:spcBef>
                <a:spcPct val="20000"/>
              </a:spcBef>
            </a:pPr>
            <a:r>
              <a:rPr lang="en-US" sz="2800" i="1">
                <a:latin typeface="Bookman Old Style" pitchFamily="1" charset="0"/>
              </a:rPr>
              <a:t>Things don’t keep moving forever because there’s almost always an unbalanced force acting upon it.</a:t>
            </a:r>
          </a:p>
        </p:txBody>
      </p:sp>
      <p:sp>
        <p:nvSpPr>
          <p:cNvPr id="4" name="Text Box 5"/>
          <p:cNvSpPr txBox="1">
            <a:spLocks noChangeArrowheads="1"/>
          </p:cNvSpPr>
          <p:nvPr/>
        </p:nvSpPr>
        <p:spPr bwMode="auto">
          <a:xfrm>
            <a:off x="179512" y="2636912"/>
            <a:ext cx="5791200" cy="981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just" eaLnBrk="1" hangingPunct="1">
              <a:lnSpc>
                <a:spcPct val="80000"/>
              </a:lnSpc>
              <a:spcBef>
                <a:spcPct val="20000"/>
              </a:spcBef>
            </a:pPr>
            <a:r>
              <a:rPr lang="en-US" sz="2400" dirty="0">
                <a:latin typeface="Bookman Old Style" pitchFamily="1" charset="0"/>
              </a:rPr>
              <a:t>A book sliding across a table slows down and stops because of the force of </a:t>
            </a:r>
            <a:r>
              <a:rPr lang="en-US" sz="2400" i="1" dirty="0">
                <a:latin typeface="Bookman Old Style" pitchFamily="1" charset="0"/>
              </a:rPr>
              <a:t>friction</a:t>
            </a:r>
            <a:r>
              <a:rPr lang="en-US" sz="2400" dirty="0">
                <a:latin typeface="Bookman Old Style" pitchFamily="1" charset="0"/>
              </a:rPr>
              <a:t>.</a:t>
            </a:r>
          </a:p>
        </p:txBody>
      </p:sp>
      <p:pic>
        <p:nvPicPr>
          <p:cNvPr id="5" name="Picture 4" descr="MCj0404059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28184" y="2632075"/>
            <a:ext cx="1600200" cy="159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MPj0387205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520" y="4821386"/>
            <a:ext cx="22860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6"/>
          <p:cNvSpPr txBox="1">
            <a:spLocks noChangeArrowheads="1"/>
          </p:cNvSpPr>
          <p:nvPr/>
        </p:nvSpPr>
        <p:spPr bwMode="auto">
          <a:xfrm>
            <a:off x="2813248" y="5193878"/>
            <a:ext cx="57912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just" eaLnBrk="1" hangingPunct="1">
              <a:spcBef>
                <a:spcPct val="20000"/>
              </a:spcBef>
            </a:pPr>
            <a:r>
              <a:rPr lang="en-US" sz="2400" dirty="0">
                <a:latin typeface="Bookman Old Style" pitchFamily="1" charset="0"/>
              </a:rPr>
              <a:t>If you throw a ball upwards it will eventually slow down and fall because of the force of </a:t>
            </a:r>
            <a:r>
              <a:rPr lang="en-US" sz="2400" i="1" dirty="0">
                <a:latin typeface="Bookman Old Style" pitchFamily="1" charset="0"/>
              </a:rPr>
              <a:t>gravity</a:t>
            </a:r>
            <a:r>
              <a:rPr lang="en-US" sz="2400" dirty="0">
                <a:latin typeface="Bookman Old Style" pitchFamily="1" charset="0"/>
              </a:rPr>
              <a:t>.</a:t>
            </a:r>
          </a:p>
        </p:txBody>
      </p:sp>
    </p:spTree>
    <p:extLst>
      <p:ext uri="{BB962C8B-B14F-4D97-AF65-F5344CB8AC3E}">
        <p14:creationId xmlns:p14="http://schemas.microsoft.com/office/powerpoint/2010/main" val="16993066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p:cNvSpPr txBox="1">
            <a:spLocks noChangeArrowheads="1"/>
          </p:cNvSpPr>
          <p:nvPr/>
        </p:nvSpPr>
        <p:spPr bwMode="auto">
          <a:xfrm>
            <a:off x="647700" y="332656"/>
            <a:ext cx="7848600"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just" eaLnBrk="1" hangingPunct="1">
              <a:lnSpc>
                <a:spcPct val="90000"/>
              </a:lnSpc>
              <a:spcBef>
                <a:spcPct val="20000"/>
              </a:spcBef>
            </a:pPr>
            <a:r>
              <a:rPr lang="en-US" sz="2800" dirty="0">
                <a:latin typeface="Bookman Old Style" pitchFamily="1" charset="0"/>
              </a:rPr>
              <a:t>In outer space, away from gravity and any sources of friction, a rocket ship launched with a certain speed and direction would </a:t>
            </a:r>
            <a:r>
              <a:rPr lang="en-US" sz="2800" i="1" dirty="0">
                <a:latin typeface="Bookman Old Style" pitchFamily="1" charset="0"/>
              </a:rPr>
              <a:t>keep going in that same direction and at that same speed forever</a:t>
            </a:r>
            <a:r>
              <a:rPr lang="en-US" sz="2800" dirty="0">
                <a:latin typeface="Bookman Old Style" pitchFamily="1" charset="0"/>
              </a:rPr>
              <a:t>.</a:t>
            </a:r>
          </a:p>
        </p:txBody>
      </p:sp>
      <p:pic>
        <p:nvPicPr>
          <p:cNvPr id="3" name="Picture 2" descr="MCj0279958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62300" y="2935510"/>
            <a:ext cx="2819400" cy="272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32436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457200" y="116632"/>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en-US" b="1" dirty="0">
                <a:latin typeface="Bookman Old Style" pitchFamily="1" charset="0"/>
              </a:rPr>
              <a:t>Newton’s Second Law</a:t>
            </a:r>
          </a:p>
        </p:txBody>
      </p:sp>
      <p:sp>
        <p:nvSpPr>
          <p:cNvPr id="4" name="Rectangle 3"/>
          <p:cNvSpPr>
            <a:spLocks noGrp="1" noChangeArrowheads="1"/>
          </p:cNvSpPr>
          <p:nvPr/>
        </p:nvSpPr>
        <p:spPr bwMode="auto">
          <a:xfrm>
            <a:off x="457200" y="2420888"/>
            <a:ext cx="82296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ctr" eaLnBrk="1" hangingPunct="1">
              <a:lnSpc>
                <a:spcPct val="80000"/>
              </a:lnSpc>
              <a:buFontTx/>
              <a:buNone/>
            </a:pPr>
            <a:r>
              <a:rPr lang="en-US" sz="2800" b="1" i="1" dirty="0">
                <a:latin typeface="Bookman Old Style" pitchFamily="1" charset="0"/>
              </a:rPr>
              <a:t>Force equals mass times acceleration.</a:t>
            </a:r>
          </a:p>
          <a:p>
            <a:pPr algn="ctr" eaLnBrk="1" hangingPunct="1">
              <a:lnSpc>
                <a:spcPct val="80000"/>
              </a:lnSpc>
              <a:buFontTx/>
              <a:buNone/>
            </a:pPr>
            <a:endParaRPr lang="en-US" sz="2800" b="1" i="1" dirty="0">
              <a:latin typeface="Bookman Old Style" pitchFamily="1" charset="0"/>
            </a:endParaRPr>
          </a:p>
          <a:p>
            <a:pPr algn="ctr" eaLnBrk="1" hangingPunct="1">
              <a:lnSpc>
                <a:spcPct val="80000"/>
              </a:lnSpc>
              <a:buFontTx/>
              <a:buNone/>
            </a:pPr>
            <a:r>
              <a:rPr lang="en-US" sz="2800" b="1" i="1" dirty="0">
                <a:latin typeface="Bookman Old Style" pitchFamily="1" charset="0"/>
              </a:rPr>
              <a:t>F = ma</a:t>
            </a:r>
          </a:p>
        </p:txBody>
      </p:sp>
      <p:sp>
        <p:nvSpPr>
          <p:cNvPr id="5" name="Text Box 4"/>
          <p:cNvSpPr txBox="1">
            <a:spLocks noChangeArrowheads="1"/>
          </p:cNvSpPr>
          <p:nvPr/>
        </p:nvSpPr>
        <p:spPr bwMode="auto">
          <a:xfrm>
            <a:off x="723900" y="5198963"/>
            <a:ext cx="7696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just" eaLnBrk="1" hangingPunct="1">
              <a:spcBef>
                <a:spcPct val="50000"/>
              </a:spcBef>
            </a:pPr>
            <a:r>
              <a:rPr lang="en-US" sz="2400" u="sng" dirty="0">
                <a:latin typeface="Bookman Old Style" pitchFamily="1" charset="0"/>
              </a:rPr>
              <a:t>Acceleration</a:t>
            </a:r>
            <a:r>
              <a:rPr lang="en-US" sz="2400" dirty="0">
                <a:latin typeface="Bookman Old Style" pitchFamily="1" charset="0"/>
              </a:rPr>
              <a:t>: a measurement of how quickly an object is changing speed.</a:t>
            </a:r>
          </a:p>
        </p:txBody>
      </p:sp>
    </p:spTree>
    <p:extLst>
      <p:ext uri="{BB962C8B-B14F-4D97-AF65-F5344CB8AC3E}">
        <p14:creationId xmlns:p14="http://schemas.microsoft.com/office/powerpoint/2010/main" val="8880556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342900" y="615156"/>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en-US" dirty="0">
                <a:latin typeface="Bookman Old Style" pitchFamily="1" charset="0"/>
              </a:rPr>
              <a:t>What does F = ma mean?</a:t>
            </a:r>
          </a:p>
        </p:txBody>
      </p:sp>
      <p:sp>
        <p:nvSpPr>
          <p:cNvPr id="3" name="Rectangle 2"/>
          <p:cNvSpPr>
            <a:spLocks noGrp="1" noChangeArrowheads="1"/>
          </p:cNvSpPr>
          <p:nvPr/>
        </p:nvSpPr>
        <p:spPr bwMode="auto">
          <a:xfrm>
            <a:off x="114300" y="1940718"/>
            <a:ext cx="8915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just" eaLnBrk="1" hangingPunct="1">
              <a:lnSpc>
                <a:spcPct val="90000"/>
              </a:lnSpc>
              <a:buFontTx/>
              <a:buNone/>
            </a:pPr>
            <a:r>
              <a:rPr lang="en-US" sz="2400" dirty="0">
                <a:latin typeface="Bookman Old Style" pitchFamily="1" charset="0"/>
              </a:rPr>
              <a:t>Force is </a:t>
            </a:r>
            <a:r>
              <a:rPr lang="en-US" sz="2400" i="1" dirty="0">
                <a:latin typeface="Bookman Old Style" pitchFamily="1" charset="0"/>
              </a:rPr>
              <a:t>directly proportional</a:t>
            </a:r>
            <a:r>
              <a:rPr lang="en-US" sz="2400" dirty="0">
                <a:latin typeface="Bookman Old Style" pitchFamily="1" charset="0"/>
              </a:rPr>
              <a:t> to mass and acceleration.  Imagine a ball of a certain mass moving at a certain acceleration.  This ball has a certain force.  </a:t>
            </a:r>
          </a:p>
        </p:txBody>
      </p:sp>
      <p:sp>
        <p:nvSpPr>
          <p:cNvPr id="4" name="Text Box 8"/>
          <p:cNvSpPr txBox="1">
            <a:spLocks noChangeArrowheads="1"/>
          </p:cNvSpPr>
          <p:nvPr/>
        </p:nvSpPr>
        <p:spPr bwMode="auto">
          <a:xfrm>
            <a:off x="114300" y="3388518"/>
            <a:ext cx="8686800" cy="108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just" eaLnBrk="1" hangingPunct="1">
              <a:lnSpc>
                <a:spcPct val="90000"/>
              </a:lnSpc>
              <a:spcBef>
                <a:spcPct val="20000"/>
              </a:spcBef>
            </a:pPr>
            <a:r>
              <a:rPr lang="en-US" sz="2400" dirty="0">
                <a:latin typeface="Bookman Old Style" pitchFamily="1" charset="0"/>
              </a:rPr>
              <a:t>Now imagine we make the ball twice as big (double the mass) but keep the acceleration constant.  F = ma says that this new ball has </a:t>
            </a:r>
            <a:r>
              <a:rPr lang="en-US" sz="2400" i="1" dirty="0">
                <a:latin typeface="Bookman Old Style" pitchFamily="1" charset="0"/>
              </a:rPr>
              <a:t>twice the force </a:t>
            </a:r>
            <a:r>
              <a:rPr lang="en-US" sz="2400" dirty="0">
                <a:latin typeface="Bookman Old Style" pitchFamily="1" charset="0"/>
              </a:rPr>
              <a:t>of the old ball.</a:t>
            </a:r>
          </a:p>
        </p:txBody>
      </p:sp>
      <p:sp>
        <p:nvSpPr>
          <p:cNvPr id="5" name="Text Box 9"/>
          <p:cNvSpPr txBox="1">
            <a:spLocks noChangeArrowheads="1"/>
          </p:cNvSpPr>
          <p:nvPr/>
        </p:nvSpPr>
        <p:spPr bwMode="auto">
          <a:xfrm>
            <a:off x="114300" y="4836318"/>
            <a:ext cx="8686800" cy="142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just" eaLnBrk="1" hangingPunct="1">
              <a:lnSpc>
                <a:spcPct val="90000"/>
              </a:lnSpc>
              <a:spcBef>
                <a:spcPct val="20000"/>
              </a:spcBef>
            </a:pPr>
            <a:r>
              <a:rPr lang="en-US" sz="2400" dirty="0">
                <a:latin typeface="Bookman Old Style" pitchFamily="1" charset="0"/>
              </a:rPr>
              <a:t>Now imagine the original ball moving at twice the original acceleration.  F = ma says that the ball will again have </a:t>
            </a:r>
            <a:r>
              <a:rPr lang="en-US" sz="2400" i="1" dirty="0">
                <a:latin typeface="Bookman Old Style" pitchFamily="1" charset="0"/>
              </a:rPr>
              <a:t>twice the force</a:t>
            </a:r>
            <a:r>
              <a:rPr lang="en-US" sz="2400" dirty="0">
                <a:latin typeface="Bookman Old Style" pitchFamily="1" charset="0"/>
              </a:rPr>
              <a:t> of the ball at the original acceleration.</a:t>
            </a:r>
          </a:p>
        </p:txBody>
      </p:sp>
    </p:spTree>
    <p:extLst>
      <p:ext uri="{BB962C8B-B14F-4D97-AF65-F5344CB8AC3E}">
        <p14:creationId xmlns:p14="http://schemas.microsoft.com/office/powerpoint/2010/main" val="38452413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457200" y="327819"/>
            <a:ext cx="8229600" cy="94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en-US" sz="4000">
                <a:latin typeface="Bookman Old Style" pitchFamily="1" charset="0"/>
              </a:rPr>
              <a:t>More about F = ma</a:t>
            </a:r>
          </a:p>
        </p:txBody>
      </p:sp>
      <p:sp>
        <p:nvSpPr>
          <p:cNvPr id="3" name="Rectangle 2"/>
          <p:cNvSpPr>
            <a:spLocks noGrp="1" noChangeArrowheads="1"/>
          </p:cNvSpPr>
          <p:nvPr/>
        </p:nvSpPr>
        <p:spPr bwMode="auto">
          <a:xfrm>
            <a:off x="228600" y="1500981"/>
            <a:ext cx="86868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ctr" eaLnBrk="1" hangingPunct="1">
              <a:lnSpc>
                <a:spcPct val="90000"/>
              </a:lnSpc>
              <a:buFontTx/>
              <a:buNone/>
            </a:pPr>
            <a:r>
              <a:rPr lang="en-US" sz="2400">
                <a:latin typeface="Bookman Old Style" pitchFamily="1" charset="0"/>
              </a:rPr>
              <a:t>If you </a:t>
            </a:r>
            <a:r>
              <a:rPr lang="en-US" sz="2400" i="1">
                <a:latin typeface="Bookman Old Style" pitchFamily="1" charset="0"/>
              </a:rPr>
              <a:t>double</a:t>
            </a:r>
            <a:r>
              <a:rPr lang="en-US" sz="2400">
                <a:latin typeface="Bookman Old Style" pitchFamily="1" charset="0"/>
              </a:rPr>
              <a:t> the mass, you </a:t>
            </a:r>
            <a:r>
              <a:rPr lang="en-US" sz="2400" i="1">
                <a:latin typeface="Bookman Old Style" pitchFamily="1" charset="0"/>
              </a:rPr>
              <a:t>double</a:t>
            </a:r>
            <a:r>
              <a:rPr lang="en-US" sz="2400">
                <a:latin typeface="Bookman Old Style" pitchFamily="1" charset="0"/>
              </a:rPr>
              <a:t> the force.  If you </a:t>
            </a:r>
            <a:r>
              <a:rPr lang="en-US" sz="2400" i="1">
                <a:latin typeface="Bookman Old Style" pitchFamily="1" charset="0"/>
              </a:rPr>
              <a:t>double</a:t>
            </a:r>
            <a:r>
              <a:rPr lang="en-US" sz="2400">
                <a:latin typeface="Bookman Old Style" pitchFamily="1" charset="0"/>
              </a:rPr>
              <a:t> the acceleration, you </a:t>
            </a:r>
            <a:r>
              <a:rPr lang="en-US" sz="2400" i="1">
                <a:latin typeface="Bookman Old Style" pitchFamily="1" charset="0"/>
              </a:rPr>
              <a:t>double</a:t>
            </a:r>
            <a:r>
              <a:rPr lang="en-US" sz="2400">
                <a:latin typeface="Bookman Old Style" pitchFamily="1" charset="0"/>
              </a:rPr>
              <a:t> the force.</a:t>
            </a:r>
          </a:p>
          <a:p>
            <a:pPr algn="ctr" eaLnBrk="1" hangingPunct="1">
              <a:lnSpc>
                <a:spcPct val="90000"/>
              </a:lnSpc>
              <a:buFontTx/>
              <a:buNone/>
            </a:pPr>
            <a:endParaRPr lang="en-US" sz="2400">
              <a:latin typeface="Bookman Old Style" pitchFamily="1" charset="0"/>
            </a:endParaRPr>
          </a:p>
          <a:p>
            <a:pPr algn="ctr" eaLnBrk="1" hangingPunct="1">
              <a:lnSpc>
                <a:spcPct val="90000"/>
              </a:lnSpc>
              <a:buFontTx/>
              <a:buNone/>
            </a:pPr>
            <a:r>
              <a:rPr lang="en-US" sz="2400">
                <a:latin typeface="Bookman Old Style" pitchFamily="1" charset="0"/>
              </a:rPr>
              <a:t>What if you double the mass </a:t>
            </a:r>
            <a:r>
              <a:rPr lang="en-US" sz="2400" i="1">
                <a:latin typeface="Bookman Old Style" pitchFamily="1" charset="0"/>
              </a:rPr>
              <a:t>and</a:t>
            </a:r>
            <a:r>
              <a:rPr lang="en-US" sz="2400">
                <a:latin typeface="Bookman Old Style" pitchFamily="1" charset="0"/>
              </a:rPr>
              <a:t> the acceleration?</a:t>
            </a:r>
          </a:p>
          <a:p>
            <a:pPr algn="ctr" eaLnBrk="1" hangingPunct="1">
              <a:lnSpc>
                <a:spcPct val="90000"/>
              </a:lnSpc>
              <a:buFontTx/>
              <a:buNone/>
            </a:pPr>
            <a:endParaRPr lang="en-US" sz="2400">
              <a:latin typeface="Bookman Old Style" pitchFamily="1" charset="0"/>
            </a:endParaRPr>
          </a:p>
          <a:p>
            <a:pPr algn="ctr" eaLnBrk="1" hangingPunct="1">
              <a:lnSpc>
                <a:spcPct val="90000"/>
              </a:lnSpc>
              <a:buFontTx/>
              <a:buNone/>
            </a:pPr>
            <a:r>
              <a:rPr lang="en-US" sz="2400">
                <a:latin typeface="Bookman Old Style" pitchFamily="1" charset="0"/>
              </a:rPr>
              <a:t>(2m)(2a) = 4F</a:t>
            </a:r>
          </a:p>
          <a:p>
            <a:pPr algn="ctr" eaLnBrk="1" hangingPunct="1">
              <a:lnSpc>
                <a:spcPct val="90000"/>
              </a:lnSpc>
              <a:buFontTx/>
              <a:buNone/>
            </a:pPr>
            <a:endParaRPr lang="en-US" sz="2400">
              <a:latin typeface="Bookman Old Style" pitchFamily="1" charset="0"/>
            </a:endParaRPr>
          </a:p>
          <a:p>
            <a:pPr algn="ctr" eaLnBrk="1" hangingPunct="1">
              <a:lnSpc>
                <a:spcPct val="90000"/>
              </a:lnSpc>
              <a:buFontTx/>
              <a:buNone/>
            </a:pPr>
            <a:r>
              <a:rPr lang="en-US" sz="2400">
                <a:latin typeface="Bookman Old Style" pitchFamily="1" charset="0"/>
              </a:rPr>
              <a:t>Doubling the mass </a:t>
            </a:r>
            <a:r>
              <a:rPr lang="en-US" sz="2400" i="1">
                <a:latin typeface="Bookman Old Style" pitchFamily="1" charset="0"/>
              </a:rPr>
              <a:t>and</a:t>
            </a:r>
            <a:r>
              <a:rPr lang="en-US" sz="2400">
                <a:latin typeface="Bookman Old Style" pitchFamily="1" charset="0"/>
              </a:rPr>
              <a:t> the acceleration </a:t>
            </a:r>
            <a:r>
              <a:rPr lang="en-US" sz="2400" i="1">
                <a:latin typeface="Bookman Old Style" pitchFamily="1" charset="0"/>
              </a:rPr>
              <a:t>quadruples</a:t>
            </a:r>
            <a:r>
              <a:rPr lang="en-US" sz="2400">
                <a:latin typeface="Bookman Old Style" pitchFamily="1" charset="0"/>
              </a:rPr>
              <a:t> the force.</a:t>
            </a:r>
          </a:p>
          <a:p>
            <a:pPr algn="ctr" eaLnBrk="1" hangingPunct="1">
              <a:lnSpc>
                <a:spcPct val="90000"/>
              </a:lnSpc>
              <a:buFontTx/>
              <a:buNone/>
            </a:pPr>
            <a:endParaRPr lang="en-US" sz="2400">
              <a:latin typeface="Bookman Old Style" pitchFamily="1" charset="0"/>
            </a:endParaRPr>
          </a:p>
          <a:p>
            <a:pPr algn="ctr" eaLnBrk="1" hangingPunct="1">
              <a:lnSpc>
                <a:spcPct val="90000"/>
              </a:lnSpc>
              <a:buFontTx/>
              <a:buNone/>
            </a:pPr>
            <a:r>
              <a:rPr lang="en-US" sz="2400">
                <a:latin typeface="Bookman Old Style" pitchFamily="1" charset="0"/>
              </a:rPr>
              <a:t>So . . . what if you </a:t>
            </a:r>
            <a:r>
              <a:rPr lang="en-US" sz="2400" i="1">
                <a:latin typeface="Bookman Old Style" pitchFamily="1" charset="0"/>
              </a:rPr>
              <a:t>decrease the mass by half</a:t>
            </a:r>
            <a:r>
              <a:rPr lang="en-US" sz="2400">
                <a:latin typeface="Bookman Old Style" pitchFamily="1" charset="0"/>
              </a:rPr>
              <a:t>?  How much force would the object have now?</a:t>
            </a:r>
          </a:p>
        </p:txBody>
      </p:sp>
    </p:spTree>
    <p:extLst>
      <p:ext uri="{BB962C8B-B14F-4D97-AF65-F5344CB8AC3E}">
        <p14:creationId xmlns:p14="http://schemas.microsoft.com/office/powerpoint/2010/main" val="4667700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457200" y="415925"/>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en-US">
                <a:latin typeface="Bookman Old Style" pitchFamily="1" charset="0"/>
              </a:rPr>
              <a:t>What does F = ma say?</a:t>
            </a:r>
          </a:p>
        </p:txBody>
      </p:sp>
      <p:sp>
        <p:nvSpPr>
          <p:cNvPr id="3" name="Text Box 4"/>
          <p:cNvSpPr txBox="1">
            <a:spLocks noChangeArrowheads="1"/>
          </p:cNvSpPr>
          <p:nvPr/>
        </p:nvSpPr>
        <p:spPr bwMode="auto">
          <a:xfrm>
            <a:off x="0" y="1482725"/>
            <a:ext cx="91440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1" hangingPunct="1">
              <a:lnSpc>
                <a:spcPct val="90000"/>
              </a:lnSpc>
              <a:spcBef>
                <a:spcPct val="20000"/>
              </a:spcBef>
            </a:pPr>
            <a:r>
              <a:rPr lang="en-US" sz="2800">
                <a:latin typeface="Bookman Old Style" pitchFamily="1" charset="0"/>
              </a:rPr>
              <a:t>F = ma basically means that the force of an object comes from its mass and its acceleration. </a:t>
            </a:r>
          </a:p>
        </p:txBody>
      </p:sp>
      <p:sp>
        <p:nvSpPr>
          <p:cNvPr id="4" name="Text Box 5"/>
          <p:cNvSpPr txBox="1">
            <a:spLocks noChangeArrowheads="1"/>
          </p:cNvSpPr>
          <p:nvPr/>
        </p:nvSpPr>
        <p:spPr bwMode="auto">
          <a:xfrm>
            <a:off x="2743200" y="4378325"/>
            <a:ext cx="6172200"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lnSpc>
                <a:spcPct val="90000"/>
              </a:lnSpc>
              <a:spcBef>
                <a:spcPct val="20000"/>
              </a:spcBef>
            </a:pPr>
            <a:r>
              <a:rPr lang="en-US" sz="2400">
                <a:latin typeface="Bookman Old Style" pitchFamily="1" charset="0"/>
              </a:rPr>
              <a:t>Something very small (low mass) that’s changing speed very quickly (high acceleration), like a bullet, can still have a great force.  Something very small changing speed very slowly will have a very weak force.</a:t>
            </a:r>
          </a:p>
        </p:txBody>
      </p:sp>
      <p:sp>
        <p:nvSpPr>
          <p:cNvPr id="5" name="Text Box 6"/>
          <p:cNvSpPr txBox="1">
            <a:spLocks noChangeArrowheads="1"/>
          </p:cNvSpPr>
          <p:nvPr/>
        </p:nvSpPr>
        <p:spPr bwMode="auto">
          <a:xfrm>
            <a:off x="228600" y="2549525"/>
            <a:ext cx="58674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spcBef>
                <a:spcPct val="50000"/>
              </a:spcBef>
            </a:pPr>
            <a:r>
              <a:rPr lang="en-US" sz="2400">
                <a:latin typeface="Bookman Old Style" pitchFamily="1" charset="0"/>
              </a:rPr>
              <a:t>Something very massive (high mass) that’s changing speed very slowly (low acceleration), like a glacier, can still have great force.</a:t>
            </a:r>
          </a:p>
        </p:txBody>
      </p:sp>
      <p:pic>
        <p:nvPicPr>
          <p:cNvPr id="6" name="Picture 5" descr="MCNA01832_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48400" y="2549525"/>
            <a:ext cx="2438400" cy="174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MPj031565400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4454525"/>
            <a:ext cx="2590800" cy="184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58381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457200" y="480219"/>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en-US" b="1" dirty="0">
                <a:latin typeface="Bookman Old Style" pitchFamily="1" charset="0"/>
              </a:rPr>
              <a:t>Newton’s Third Law</a:t>
            </a:r>
          </a:p>
        </p:txBody>
      </p:sp>
      <p:sp>
        <p:nvSpPr>
          <p:cNvPr id="3" name="Rectangle 2"/>
          <p:cNvSpPr>
            <a:spLocks noGrp="1" noChangeArrowheads="1"/>
          </p:cNvSpPr>
          <p:nvPr/>
        </p:nvSpPr>
        <p:spPr bwMode="auto">
          <a:xfrm>
            <a:off x="457200" y="2492896"/>
            <a:ext cx="82296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ctr" eaLnBrk="1" hangingPunct="1">
              <a:buFontTx/>
              <a:buNone/>
            </a:pPr>
            <a:r>
              <a:rPr lang="en-US" b="1" i="1" dirty="0">
                <a:latin typeface="Bookman Old Style" pitchFamily="1" charset="0"/>
              </a:rPr>
              <a:t>For every action there is an equal and opposite reaction.</a:t>
            </a:r>
          </a:p>
        </p:txBody>
      </p:sp>
    </p:spTree>
    <p:extLst>
      <p:ext uri="{BB962C8B-B14F-4D97-AF65-F5344CB8AC3E}">
        <p14:creationId xmlns:p14="http://schemas.microsoft.com/office/powerpoint/2010/main" val="1036178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457200" y="381000"/>
            <a:ext cx="8229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en-US" sz="3200">
                <a:latin typeface="Bookman Old Style" pitchFamily="1" charset="0"/>
              </a:rPr>
              <a:t>What does this mean?</a:t>
            </a:r>
          </a:p>
        </p:txBody>
      </p:sp>
      <p:sp>
        <p:nvSpPr>
          <p:cNvPr id="3" name="Text Box 4"/>
          <p:cNvSpPr txBox="1">
            <a:spLocks noChangeArrowheads="1"/>
          </p:cNvSpPr>
          <p:nvPr/>
        </p:nvSpPr>
        <p:spPr bwMode="auto">
          <a:xfrm>
            <a:off x="533400" y="1219200"/>
            <a:ext cx="80772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just" eaLnBrk="1" hangingPunct="1">
              <a:spcBef>
                <a:spcPct val="50000"/>
              </a:spcBef>
            </a:pPr>
            <a:r>
              <a:rPr lang="en-US" sz="2400" dirty="0">
                <a:latin typeface="Bookman Old Style" pitchFamily="1" charset="0"/>
              </a:rPr>
              <a:t>For every force acting on an object, there is an equal force acting in the opposite direction.  Right now, gravity is pulling you </a:t>
            </a:r>
            <a:r>
              <a:rPr lang="en-US" sz="2400" i="1" dirty="0">
                <a:latin typeface="Bookman Old Style" pitchFamily="1" charset="0"/>
              </a:rPr>
              <a:t>down</a:t>
            </a:r>
            <a:r>
              <a:rPr lang="en-US" sz="2400" dirty="0">
                <a:latin typeface="Bookman Old Style" pitchFamily="1" charset="0"/>
              </a:rPr>
              <a:t> in your seat, but Newton’s Third Law says your seat is pushing </a:t>
            </a:r>
            <a:r>
              <a:rPr lang="en-US" sz="2400" i="1" dirty="0">
                <a:latin typeface="Bookman Old Style" pitchFamily="1" charset="0"/>
              </a:rPr>
              <a:t>up</a:t>
            </a:r>
            <a:r>
              <a:rPr lang="en-US" sz="2400" dirty="0">
                <a:latin typeface="Bookman Old Style" pitchFamily="1" charset="0"/>
              </a:rPr>
              <a:t> against you with </a:t>
            </a:r>
            <a:r>
              <a:rPr lang="en-US" sz="2400" i="1" dirty="0">
                <a:latin typeface="Bookman Old Style" pitchFamily="1" charset="0"/>
              </a:rPr>
              <a:t>equal force</a:t>
            </a:r>
            <a:r>
              <a:rPr lang="en-US" sz="2400" dirty="0">
                <a:latin typeface="Bookman Old Style" pitchFamily="1" charset="0"/>
              </a:rPr>
              <a:t>.  This is why you are not moving.  There is a </a:t>
            </a:r>
            <a:r>
              <a:rPr lang="en-US" sz="2400" i="1" dirty="0">
                <a:latin typeface="Bookman Old Style" pitchFamily="1" charset="0"/>
              </a:rPr>
              <a:t>balanced force</a:t>
            </a:r>
            <a:r>
              <a:rPr lang="en-US" sz="2400" dirty="0">
                <a:latin typeface="Bookman Old Style" pitchFamily="1" charset="0"/>
              </a:rPr>
              <a:t> acting on you– gravity pulling down, your seat pushing up.</a:t>
            </a:r>
          </a:p>
        </p:txBody>
      </p:sp>
      <p:pic>
        <p:nvPicPr>
          <p:cNvPr id="4" name="Picture 3" descr="MCj0237731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05200" y="4114800"/>
            <a:ext cx="2043113"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806461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457200" y="586581"/>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en-US">
                <a:latin typeface="Bookman Old Style" pitchFamily="1" charset="0"/>
              </a:rPr>
              <a:t>Think about it . . .</a:t>
            </a:r>
          </a:p>
        </p:txBody>
      </p:sp>
      <p:sp>
        <p:nvSpPr>
          <p:cNvPr id="3" name="Text Box 4"/>
          <p:cNvSpPr txBox="1">
            <a:spLocks noChangeArrowheads="1"/>
          </p:cNvSpPr>
          <p:nvPr/>
        </p:nvSpPr>
        <p:spPr bwMode="auto">
          <a:xfrm>
            <a:off x="304800" y="1912143"/>
            <a:ext cx="61722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just" eaLnBrk="1" hangingPunct="1">
              <a:spcBef>
                <a:spcPct val="50000"/>
              </a:spcBef>
            </a:pPr>
            <a:r>
              <a:rPr lang="en-US" sz="2000" dirty="0">
                <a:latin typeface="Bookman Old Style" pitchFamily="1" charset="0"/>
              </a:rPr>
              <a:t>What happens if you are standing on a skateboard or a slippery floor and push against a wall?  You slide in the opposite direction (away from the wall), because you pushed on the wall but the wall pushed back on you with equal and opposite force.  </a:t>
            </a:r>
          </a:p>
        </p:txBody>
      </p:sp>
      <p:sp>
        <p:nvSpPr>
          <p:cNvPr id="4" name="Text Box 5"/>
          <p:cNvSpPr txBox="1">
            <a:spLocks noChangeArrowheads="1"/>
          </p:cNvSpPr>
          <p:nvPr/>
        </p:nvSpPr>
        <p:spPr bwMode="auto">
          <a:xfrm>
            <a:off x="2895600" y="4350543"/>
            <a:ext cx="59436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just" eaLnBrk="1" hangingPunct="1">
              <a:spcBef>
                <a:spcPct val="50000"/>
              </a:spcBef>
            </a:pPr>
            <a:r>
              <a:rPr lang="en-US" sz="2000" dirty="0">
                <a:latin typeface="Bookman Old Style" pitchFamily="1" charset="0"/>
              </a:rPr>
              <a:t>Why does it hurt so much when you stub your toe?  When your toe exerts a force on a rock, the rock exerts an equal force back on your toe.  The harder you hit your toe against it, the more force the rock exerts back on your toe (and the more your toe hurts).</a:t>
            </a:r>
          </a:p>
        </p:txBody>
      </p:sp>
      <p:pic>
        <p:nvPicPr>
          <p:cNvPr id="5" name="Picture 4" descr="MCj0397869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34200" y="1988343"/>
            <a:ext cx="161925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MCHM00383_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4350543"/>
            <a:ext cx="2590800" cy="181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45201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12" y="-27384"/>
            <a:ext cx="5800725" cy="3384376"/>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5856" y="3356992"/>
            <a:ext cx="5904656" cy="3528392"/>
          </a:xfrm>
          <a:prstGeom prst="rect">
            <a:avLst/>
          </a:prstGeom>
        </p:spPr>
      </p:pic>
    </p:spTree>
    <p:extLst>
      <p:ext uri="{BB962C8B-B14F-4D97-AF65-F5344CB8AC3E}">
        <p14:creationId xmlns:p14="http://schemas.microsoft.com/office/powerpoint/2010/main" val="14748963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228600" y="427037"/>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en-US">
                <a:latin typeface="Bookman Old Style" pitchFamily="1" charset="0"/>
              </a:rPr>
              <a:t>Review</a:t>
            </a:r>
          </a:p>
        </p:txBody>
      </p:sp>
      <p:sp>
        <p:nvSpPr>
          <p:cNvPr id="3" name="Text Box 4"/>
          <p:cNvSpPr txBox="1">
            <a:spLocks noChangeArrowheads="1"/>
          </p:cNvSpPr>
          <p:nvPr/>
        </p:nvSpPr>
        <p:spPr bwMode="auto">
          <a:xfrm>
            <a:off x="533400" y="1265237"/>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spcBef>
                <a:spcPct val="50000"/>
              </a:spcBef>
            </a:pPr>
            <a:r>
              <a:rPr lang="en-US" sz="2400">
                <a:latin typeface="Bookman Old Style" pitchFamily="1" charset="0"/>
              </a:rPr>
              <a:t>Newton’s First Law:</a:t>
            </a:r>
          </a:p>
        </p:txBody>
      </p:sp>
      <p:sp>
        <p:nvSpPr>
          <p:cNvPr id="4" name="Text Box 6"/>
          <p:cNvSpPr txBox="1">
            <a:spLocks noChangeArrowheads="1"/>
          </p:cNvSpPr>
          <p:nvPr/>
        </p:nvSpPr>
        <p:spPr bwMode="auto">
          <a:xfrm>
            <a:off x="2133600" y="1874837"/>
            <a:ext cx="678180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lnSpc>
                <a:spcPct val="80000"/>
              </a:lnSpc>
              <a:spcBef>
                <a:spcPct val="20000"/>
              </a:spcBef>
            </a:pPr>
            <a:r>
              <a:rPr lang="en-US" sz="2400">
                <a:latin typeface="Bookman Old Style" pitchFamily="1" charset="0"/>
              </a:rPr>
              <a:t>Objects in motion tend to stay in motion and objects at rest tend to stay at rest unless acted upon by an unbalanced force.</a:t>
            </a:r>
          </a:p>
        </p:txBody>
      </p:sp>
      <p:sp>
        <p:nvSpPr>
          <p:cNvPr id="5" name="Text Box 7"/>
          <p:cNvSpPr txBox="1">
            <a:spLocks noChangeArrowheads="1"/>
          </p:cNvSpPr>
          <p:nvPr/>
        </p:nvSpPr>
        <p:spPr bwMode="auto">
          <a:xfrm>
            <a:off x="533400" y="3170237"/>
            <a:ext cx="358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spcBef>
                <a:spcPct val="50000"/>
              </a:spcBef>
            </a:pPr>
            <a:r>
              <a:rPr lang="en-US" sz="2400">
                <a:latin typeface="Bookman Old Style" pitchFamily="1" charset="0"/>
              </a:rPr>
              <a:t>Newton’s Second Law:</a:t>
            </a:r>
          </a:p>
        </p:txBody>
      </p:sp>
      <p:sp>
        <p:nvSpPr>
          <p:cNvPr id="6" name="Text Box 8"/>
          <p:cNvSpPr txBox="1">
            <a:spLocks noChangeArrowheads="1"/>
          </p:cNvSpPr>
          <p:nvPr/>
        </p:nvSpPr>
        <p:spPr bwMode="auto">
          <a:xfrm>
            <a:off x="2133600" y="3856037"/>
            <a:ext cx="59436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lnSpc>
                <a:spcPct val="80000"/>
              </a:lnSpc>
              <a:spcBef>
                <a:spcPct val="20000"/>
              </a:spcBef>
            </a:pPr>
            <a:r>
              <a:rPr lang="en-US" sz="2400">
                <a:latin typeface="Bookman Old Style" pitchFamily="1" charset="0"/>
              </a:rPr>
              <a:t>Force equals mass times acceleration (F = ma).</a:t>
            </a:r>
          </a:p>
        </p:txBody>
      </p:sp>
      <p:sp>
        <p:nvSpPr>
          <p:cNvPr id="7" name="Text Box 9"/>
          <p:cNvSpPr txBox="1">
            <a:spLocks noChangeArrowheads="1"/>
          </p:cNvSpPr>
          <p:nvPr/>
        </p:nvSpPr>
        <p:spPr bwMode="auto">
          <a:xfrm>
            <a:off x="533400" y="4922837"/>
            <a:ext cx="327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spcBef>
                <a:spcPct val="50000"/>
              </a:spcBef>
            </a:pPr>
            <a:r>
              <a:rPr lang="en-US" sz="2400">
                <a:latin typeface="Bookman Old Style" pitchFamily="1" charset="0"/>
              </a:rPr>
              <a:t>Newton’s Third Law:</a:t>
            </a:r>
          </a:p>
        </p:txBody>
      </p:sp>
      <p:sp>
        <p:nvSpPr>
          <p:cNvPr id="8" name="Text Box 10"/>
          <p:cNvSpPr txBox="1">
            <a:spLocks noChangeArrowheads="1"/>
          </p:cNvSpPr>
          <p:nvPr/>
        </p:nvSpPr>
        <p:spPr bwMode="auto">
          <a:xfrm>
            <a:off x="2133600" y="5608637"/>
            <a:ext cx="6781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spcBef>
                <a:spcPct val="20000"/>
              </a:spcBef>
            </a:pPr>
            <a:r>
              <a:rPr lang="en-US" sz="2400">
                <a:latin typeface="Bookman Old Style" pitchFamily="1" charset="0"/>
              </a:rPr>
              <a:t>For every action there is an equal and opposite reaction.</a:t>
            </a:r>
          </a:p>
        </p:txBody>
      </p:sp>
    </p:spTree>
    <p:extLst>
      <p:ext uri="{BB962C8B-B14F-4D97-AF65-F5344CB8AC3E}">
        <p14:creationId xmlns:p14="http://schemas.microsoft.com/office/powerpoint/2010/main" val="12876156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228600" y="297656"/>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en-US">
                <a:latin typeface="Bookman Old Style" pitchFamily="1" charset="0"/>
              </a:rPr>
              <a:t>Vocabulary</a:t>
            </a:r>
          </a:p>
        </p:txBody>
      </p:sp>
      <p:sp>
        <p:nvSpPr>
          <p:cNvPr id="3" name="Text Box 4"/>
          <p:cNvSpPr txBox="1">
            <a:spLocks noChangeArrowheads="1"/>
          </p:cNvSpPr>
          <p:nvPr/>
        </p:nvSpPr>
        <p:spPr bwMode="auto">
          <a:xfrm>
            <a:off x="457200" y="1089818"/>
            <a:ext cx="7543800"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spcBef>
                <a:spcPct val="50000"/>
              </a:spcBef>
            </a:pPr>
            <a:r>
              <a:rPr lang="en-US" sz="2400">
                <a:latin typeface="Bookman Old Style" pitchFamily="1" charset="0"/>
              </a:rPr>
              <a:t>Inertia:</a:t>
            </a:r>
          </a:p>
          <a:p>
            <a:pPr eaLnBrk="1" hangingPunct="1">
              <a:spcBef>
                <a:spcPct val="50000"/>
              </a:spcBef>
            </a:pPr>
            <a:r>
              <a:rPr lang="en-US" sz="2400">
                <a:latin typeface="Bookman Old Style" pitchFamily="1" charset="0"/>
              </a:rPr>
              <a:t>	the tendency of an object to resist changes 	in its state of motion</a:t>
            </a:r>
          </a:p>
        </p:txBody>
      </p:sp>
      <p:sp>
        <p:nvSpPr>
          <p:cNvPr id="4" name="Text Box 6"/>
          <p:cNvSpPr txBox="1">
            <a:spLocks noChangeArrowheads="1"/>
          </p:cNvSpPr>
          <p:nvPr/>
        </p:nvSpPr>
        <p:spPr bwMode="auto">
          <a:xfrm>
            <a:off x="609600" y="2613818"/>
            <a:ext cx="83058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spcBef>
                <a:spcPct val="50000"/>
              </a:spcBef>
            </a:pPr>
            <a:r>
              <a:rPr lang="en-US" sz="2400">
                <a:latin typeface="Bookman Old Style" pitchFamily="1" charset="0"/>
              </a:rPr>
              <a:t>Acceleration:</a:t>
            </a:r>
          </a:p>
          <a:p>
            <a:pPr eaLnBrk="1" hangingPunct="1">
              <a:spcBef>
                <a:spcPct val="50000"/>
              </a:spcBef>
            </a:pPr>
            <a:r>
              <a:rPr lang="en-US" sz="2400">
                <a:latin typeface="Bookman Old Style" pitchFamily="1" charset="0"/>
              </a:rPr>
              <a:t>	•a change in velocity</a:t>
            </a:r>
          </a:p>
          <a:p>
            <a:pPr eaLnBrk="1" hangingPunct="1">
              <a:spcBef>
                <a:spcPct val="50000"/>
              </a:spcBef>
            </a:pPr>
            <a:r>
              <a:rPr lang="en-US" sz="2400">
                <a:latin typeface="Bookman Old Style" pitchFamily="1" charset="0"/>
              </a:rPr>
              <a:t>	•a measurement of how quickly an object is 	changing speed, direction or both</a:t>
            </a:r>
          </a:p>
        </p:txBody>
      </p:sp>
      <p:sp>
        <p:nvSpPr>
          <p:cNvPr id="5" name="Rectangle 4"/>
          <p:cNvSpPr>
            <a:spLocks noChangeArrowheads="1"/>
          </p:cNvSpPr>
          <p:nvPr/>
        </p:nvSpPr>
        <p:spPr bwMode="auto">
          <a:xfrm>
            <a:off x="2997200" y="1604168"/>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p>
        </p:txBody>
      </p:sp>
      <p:sp>
        <p:nvSpPr>
          <p:cNvPr id="6" name="Text Box 9"/>
          <p:cNvSpPr txBox="1">
            <a:spLocks noChangeArrowheads="1"/>
          </p:cNvSpPr>
          <p:nvPr/>
        </p:nvSpPr>
        <p:spPr bwMode="auto">
          <a:xfrm>
            <a:off x="606425" y="4518818"/>
            <a:ext cx="693737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r>
              <a:rPr lang="en-US" sz="2400">
                <a:latin typeface="Bookman Old Style" pitchFamily="1" charset="0"/>
              </a:rPr>
              <a:t>Velocity:</a:t>
            </a:r>
          </a:p>
          <a:p>
            <a:pPr eaLnBrk="1" hangingPunct="1"/>
            <a:r>
              <a:rPr lang="en-US" sz="2400">
                <a:latin typeface="Bookman Old Style" pitchFamily="1" charset="0"/>
              </a:rPr>
              <a:t>	The rate of change of a position along 	a straight line with respect to time </a:t>
            </a:r>
          </a:p>
        </p:txBody>
      </p:sp>
      <p:sp>
        <p:nvSpPr>
          <p:cNvPr id="7" name="Text Box 11"/>
          <p:cNvSpPr txBox="1">
            <a:spLocks noChangeArrowheads="1"/>
          </p:cNvSpPr>
          <p:nvPr/>
        </p:nvSpPr>
        <p:spPr bwMode="auto">
          <a:xfrm>
            <a:off x="609600" y="5738018"/>
            <a:ext cx="38290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r>
              <a:rPr lang="en-US" sz="2400">
                <a:latin typeface="Bookman Old Style" pitchFamily="1" charset="0"/>
              </a:rPr>
              <a:t>Force:</a:t>
            </a:r>
          </a:p>
          <a:p>
            <a:pPr eaLnBrk="1" hangingPunct="1"/>
            <a:r>
              <a:rPr lang="en-US" sz="2400">
                <a:latin typeface="Bookman Old Style" pitchFamily="1" charset="0"/>
              </a:rPr>
              <a:t>	strength or energy</a:t>
            </a:r>
            <a:endParaRPr lang="en-US"/>
          </a:p>
        </p:txBody>
      </p:sp>
    </p:spTree>
    <p:extLst>
      <p:ext uri="{BB962C8B-B14F-4D97-AF65-F5344CB8AC3E}">
        <p14:creationId xmlns:p14="http://schemas.microsoft.com/office/powerpoint/2010/main" val="32670023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2957785" y="6356350"/>
            <a:ext cx="3661103" cy="365125"/>
          </a:xfrm>
        </p:spPr>
        <p:txBody>
          <a:bodyPr/>
          <a:lstStyle/>
          <a:p>
            <a:r>
              <a:rPr lang="en-IN"/>
              <a:t>VIT Bhopal University (SAS; Physics division)</a:t>
            </a:r>
          </a:p>
        </p:txBody>
      </p:sp>
      <mc:AlternateContent xmlns:mc="http://schemas.openxmlformats.org/markup-compatibility/2006" xmlns:a14="http://schemas.microsoft.com/office/drawing/2010/main">
        <mc:Choice Requires="a14">
          <p:sp>
            <p:nvSpPr>
              <p:cNvPr id="3" name="TextBox 2"/>
              <p:cNvSpPr txBox="1"/>
              <p:nvPr/>
            </p:nvSpPr>
            <p:spPr>
              <a:xfrm>
                <a:off x="323528" y="188640"/>
                <a:ext cx="8208911" cy="6745373"/>
              </a:xfrm>
              <a:prstGeom prst="rect">
                <a:avLst/>
              </a:prstGeom>
              <a:noFill/>
            </p:spPr>
            <p:txBody>
              <a:bodyPr wrap="square" rtlCol="0">
                <a:spAutoFit/>
              </a:bodyPr>
              <a:lstStyle/>
              <a:p>
                <a:r>
                  <a:rPr lang="en-IN" b="1" dirty="0">
                    <a:solidFill>
                      <a:srgbClr val="FF0000"/>
                    </a:solidFill>
                  </a:rPr>
                  <a:t>NUMERICALS</a:t>
                </a:r>
              </a:p>
              <a:p>
                <a:pPr marL="342900" indent="-342900">
                  <a:buAutoNum type="arabicPeriod"/>
                </a:pPr>
                <a:r>
                  <a:rPr lang="en-IN" b="1" dirty="0"/>
                  <a:t>The figure below show a velocity time graph for a </a:t>
                </a:r>
                <a:r>
                  <a:rPr lang="en-IN" b="1" dirty="0" err="1"/>
                  <a:t>scooterist</a:t>
                </a:r>
                <a:r>
                  <a:rPr lang="en-IN" b="1" dirty="0"/>
                  <a:t> having a total mass of 150 kg. From the graph calculate – </a:t>
                </a:r>
              </a:p>
              <a:p>
                <a:r>
                  <a:rPr lang="en-IN" b="1" dirty="0"/>
                  <a:t>a) The acceleration in first 4 seconds </a:t>
                </a:r>
              </a:p>
              <a:p>
                <a:r>
                  <a:rPr lang="en-IN" b="1" dirty="0"/>
                  <a:t>b) The distance covered in the first 4 seconds. </a:t>
                </a:r>
              </a:p>
              <a:p>
                <a:r>
                  <a:rPr lang="en-IN" b="1" dirty="0"/>
                  <a:t>c) The force acting in the first 4 seconds.</a:t>
                </a:r>
              </a:p>
              <a:p>
                <a:endParaRPr lang="en-IN" b="1" dirty="0"/>
              </a:p>
              <a:p>
                <a:endParaRPr lang="en-IN" b="1" dirty="0"/>
              </a:p>
              <a:p>
                <a:endParaRPr lang="en-IN" b="1" dirty="0"/>
              </a:p>
              <a:p>
                <a:endParaRPr lang="en-IN" b="1" dirty="0"/>
              </a:p>
              <a:p>
                <a:endParaRPr lang="en-IN" b="1" dirty="0"/>
              </a:p>
              <a:p>
                <a:endParaRPr lang="en-IN" b="1" dirty="0"/>
              </a:p>
              <a:p>
                <a:endParaRPr lang="en-IN" b="1" dirty="0"/>
              </a:p>
              <a:p>
                <a:r>
                  <a:rPr lang="en-IN" b="1" dirty="0"/>
                  <a:t>2.A particle located at x=0  at time t =0, starts moving along the positive x direction with a  velocity v that varies as </a:t>
                </a:r>
                <a14:m>
                  <m:oMath xmlns:m="http://schemas.openxmlformats.org/officeDocument/2006/math">
                    <m:r>
                      <a:rPr lang="en-IN" b="1" i="1">
                        <a:latin typeface="Cambria Math"/>
                        <a:ea typeface="Cambria Math"/>
                      </a:rPr>
                      <m:t>𝜶</m:t>
                    </m:r>
                    <m:r>
                      <a:rPr lang="en-IN" b="1" i="1">
                        <a:latin typeface="Cambria Math"/>
                        <a:ea typeface="Cambria Math"/>
                      </a:rPr>
                      <m:t> </m:t>
                    </m:r>
                    <m:rad>
                      <m:radPr>
                        <m:degHide m:val="on"/>
                        <m:ctrlPr>
                          <a:rPr lang="en-IN" b="1" i="1" smtClean="0">
                            <a:latin typeface="Cambria Math" panose="02040503050406030204" pitchFamily="18" charset="0"/>
                          </a:rPr>
                        </m:ctrlPr>
                      </m:radPr>
                      <m:deg/>
                      <m:e>
                        <m:r>
                          <a:rPr lang="en-IN" b="1" i="1" smtClean="0">
                            <a:latin typeface="Cambria Math"/>
                          </a:rPr>
                          <m:t>𝒙</m:t>
                        </m:r>
                      </m:e>
                    </m:rad>
                  </m:oMath>
                </a14:m>
                <a:r>
                  <a:rPr lang="en-IN" b="1" dirty="0"/>
                  <a:t>. How the displacement of the particle varies with time.</a:t>
                </a:r>
              </a:p>
              <a:p>
                <a:endParaRPr lang="en-IN" b="1" dirty="0"/>
              </a:p>
              <a:p>
                <a:r>
                  <a:rPr lang="en-IN" b="1" dirty="0"/>
                  <a:t>3.A railway engine pulls a wagon of mass 10 000 kg along a straight track at a steady speed. The pull force in the couplings between the engine and wagon is 1000 </a:t>
                </a:r>
                <a:r>
                  <a:rPr lang="en-IN" b="1" dirty="0" err="1"/>
                  <a:t>N.What</a:t>
                </a:r>
                <a:r>
                  <a:rPr lang="en-IN" b="1" dirty="0"/>
                  <a:t> is the resultant force and what is the force opposing the motion of the wagon?</a:t>
                </a:r>
              </a:p>
              <a:p>
                <a:pPr lvl="0"/>
                <a:r>
                  <a:rPr lang="en-IN" b="1" dirty="0"/>
                  <a:t>If the pull force is increased to 1200 N and the resistance to movement of the wagon remains constant, what would be the acceleration of the wagon?</a:t>
                </a:r>
              </a:p>
              <a:p>
                <a:r>
                  <a:rPr lang="en-IN" b="1" dirty="0"/>
                  <a:t> </a:t>
                </a:r>
              </a:p>
            </p:txBody>
          </p:sp>
        </mc:Choice>
        <mc:Fallback xmlns="">
          <p:sp>
            <p:nvSpPr>
              <p:cNvPr id="3" name="TextBox 2"/>
              <p:cNvSpPr txBox="1">
                <a:spLocks noRot="1" noChangeAspect="1" noMove="1" noResize="1" noEditPoints="1" noAdjustHandles="1" noChangeArrowheads="1" noChangeShapeType="1" noTextEdit="1"/>
              </p:cNvSpPr>
              <p:nvPr/>
            </p:nvSpPr>
            <p:spPr>
              <a:xfrm>
                <a:off x="323528" y="188640"/>
                <a:ext cx="8208911" cy="6745373"/>
              </a:xfrm>
              <a:prstGeom prst="rect">
                <a:avLst/>
              </a:prstGeom>
              <a:blipFill rotWithShape="1">
                <a:blip r:embed="rId2"/>
                <a:stretch>
                  <a:fillRect l="-594" t="-452" r="-668"/>
                </a:stretch>
              </a:blipFill>
            </p:spPr>
            <p:txBody>
              <a:bodyPr/>
              <a:lstStyle/>
              <a:p>
                <a:r>
                  <a:rPr lang="en-IN">
                    <a:noFill/>
                  </a:rPr>
                  <a:t> </a:t>
                </a:r>
              </a:p>
            </p:txBody>
          </p:sp>
        </mc:Fallback>
      </mc:AlternateContent>
      <p:pic>
        <p:nvPicPr>
          <p:cNvPr id="4" name="Picture 3" descr="Graph of Velocity versus time"/>
          <p:cNvPicPr/>
          <p:nvPr/>
        </p:nvPicPr>
        <p:blipFill>
          <a:blip r:embed="rId3">
            <a:extLst>
              <a:ext uri="{28A0092B-C50C-407E-A947-70E740481C1C}">
                <a14:useLocalDpi xmlns:a14="http://schemas.microsoft.com/office/drawing/2010/main" val="0"/>
              </a:ext>
            </a:extLst>
          </a:blip>
          <a:srcRect/>
          <a:stretch>
            <a:fillRect/>
          </a:stretch>
        </p:blipFill>
        <p:spPr bwMode="auto">
          <a:xfrm>
            <a:off x="1619672" y="2132856"/>
            <a:ext cx="6255181" cy="1512168"/>
          </a:xfrm>
          <a:prstGeom prst="rect">
            <a:avLst/>
          </a:prstGeom>
          <a:noFill/>
          <a:ln>
            <a:noFill/>
          </a:ln>
        </p:spPr>
      </p:pic>
    </p:spTree>
    <p:extLst>
      <p:ext uri="{BB962C8B-B14F-4D97-AF65-F5344CB8AC3E}">
        <p14:creationId xmlns:p14="http://schemas.microsoft.com/office/powerpoint/2010/main" val="22321444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a:t>VIT Bhopal University (SAS; Physics division)</a:t>
            </a:r>
          </a:p>
        </p:txBody>
      </p:sp>
      <p:sp>
        <p:nvSpPr>
          <p:cNvPr id="3" name="TextBox 2"/>
          <p:cNvSpPr txBox="1"/>
          <p:nvPr/>
        </p:nvSpPr>
        <p:spPr>
          <a:xfrm>
            <a:off x="179512" y="260648"/>
            <a:ext cx="8712969" cy="2031325"/>
          </a:xfrm>
          <a:prstGeom prst="rect">
            <a:avLst/>
          </a:prstGeom>
          <a:noFill/>
        </p:spPr>
        <p:txBody>
          <a:bodyPr wrap="square" rtlCol="0">
            <a:spAutoFit/>
          </a:bodyPr>
          <a:lstStyle/>
          <a:p>
            <a:r>
              <a:rPr lang="en-IN" b="1" dirty="0"/>
              <a:t>3.A child’s toy consists of three cars that are pulled in tandem on small frictionless rollers as shown in below figure. The cars have masses m</a:t>
            </a:r>
            <a:r>
              <a:rPr lang="en-IN" b="1" baseline="-25000" dirty="0"/>
              <a:t>1</a:t>
            </a:r>
            <a:r>
              <a:rPr lang="en-IN" b="1" dirty="0"/>
              <a:t> = 3.1 kg, m</a:t>
            </a:r>
            <a:r>
              <a:rPr lang="en-IN" b="1" baseline="-25000" dirty="0"/>
              <a:t>2</a:t>
            </a:r>
            <a:r>
              <a:rPr lang="en-IN" b="1" dirty="0"/>
              <a:t> = 2.4 kg, and m</a:t>
            </a:r>
            <a:r>
              <a:rPr lang="en-IN" b="1" baseline="-25000" dirty="0"/>
              <a:t>3</a:t>
            </a:r>
            <a:r>
              <a:rPr lang="en-IN" b="1" dirty="0"/>
              <a:t> = 1.2 kg. If they are pulled to the right with a horizontal force P = 6.5 N, find (a) the acceleration of the system, (b) the force exerted by the second car on the third car, and (c) the force exerted by the first car on the second car.</a:t>
            </a:r>
          </a:p>
          <a:p>
            <a:endParaRPr lang="en-IN" b="1" dirty="0"/>
          </a:p>
          <a:p>
            <a:endParaRPr lang="en-IN" b="1" dirty="0"/>
          </a:p>
        </p:txBody>
      </p:sp>
      <p:pic>
        <p:nvPicPr>
          <p:cNvPr id="4" name="Picture 3" descr="http://cdn1.askiitians.com/Images/201499-13320999-7412-Capture-new.PNG"/>
          <p:cNvPicPr/>
          <p:nvPr/>
        </p:nvPicPr>
        <p:blipFill>
          <a:blip r:embed="rId3">
            <a:extLst>
              <a:ext uri="{28A0092B-C50C-407E-A947-70E740481C1C}">
                <a14:useLocalDpi xmlns:a14="http://schemas.microsoft.com/office/drawing/2010/main" val="0"/>
              </a:ext>
            </a:extLst>
          </a:blip>
          <a:srcRect/>
          <a:stretch>
            <a:fillRect/>
          </a:stretch>
        </p:blipFill>
        <p:spPr bwMode="auto">
          <a:xfrm>
            <a:off x="2123728" y="2132856"/>
            <a:ext cx="4101177" cy="3009235"/>
          </a:xfrm>
          <a:prstGeom prst="rect">
            <a:avLst/>
          </a:prstGeom>
          <a:noFill/>
          <a:ln>
            <a:noFill/>
          </a:ln>
        </p:spPr>
      </p:pic>
    </p:spTree>
    <p:extLst>
      <p:ext uri="{BB962C8B-B14F-4D97-AF65-F5344CB8AC3E}">
        <p14:creationId xmlns:p14="http://schemas.microsoft.com/office/powerpoint/2010/main" val="17327706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228600" y="427037"/>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en-US">
                <a:latin typeface="Bookman Old Style" pitchFamily="1" charset="0"/>
              </a:rPr>
              <a:t>Review</a:t>
            </a:r>
          </a:p>
        </p:txBody>
      </p:sp>
      <p:sp>
        <p:nvSpPr>
          <p:cNvPr id="3" name="Text Box 4"/>
          <p:cNvSpPr txBox="1">
            <a:spLocks noChangeArrowheads="1"/>
          </p:cNvSpPr>
          <p:nvPr/>
        </p:nvSpPr>
        <p:spPr bwMode="auto">
          <a:xfrm>
            <a:off x="533400" y="1265237"/>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spcBef>
                <a:spcPct val="50000"/>
              </a:spcBef>
            </a:pPr>
            <a:r>
              <a:rPr lang="en-US" sz="2400">
                <a:latin typeface="Bookman Old Style" pitchFamily="1" charset="0"/>
              </a:rPr>
              <a:t>Newton’s First Law:</a:t>
            </a:r>
          </a:p>
        </p:txBody>
      </p:sp>
      <p:sp>
        <p:nvSpPr>
          <p:cNvPr id="4" name="Text Box 6"/>
          <p:cNvSpPr txBox="1">
            <a:spLocks noChangeArrowheads="1"/>
          </p:cNvSpPr>
          <p:nvPr/>
        </p:nvSpPr>
        <p:spPr bwMode="auto">
          <a:xfrm>
            <a:off x="2133600" y="1874837"/>
            <a:ext cx="678180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lnSpc>
                <a:spcPct val="80000"/>
              </a:lnSpc>
              <a:spcBef>
                <a:spcPct val="20000"/>
              </a:spcBef>
            </a:pPr>
            <a:r>
              <a:rPr lang="en-US" sz="2400">
                <a:latin typeface="Bookman Old Style" pitchFamily="1" charset="0"/>
              </a:rPr>
              <a:t>Objects in motion tend to stay in motion and objects at rest tend to stay at rest unless acted upon by an unbalanced force.</a:t>
            </a:r>
          </a:p>
        </p:txBody>
      </p:sp>
      <p:sp>
        <p:nvSpPr>
          <p:cNvPr id="5" name="Text Box 7"/>
          <p:cNvSpPr txBox="1">
            <a:spLocks noChangeArrowheads="1"/>
          </p:cNvSpPr>
          <p:nvPr/>
        </p:nvSpPr>
        <p:spPr bwMode="auto">
          <a:xfrm>
            <a:off x="533400" y="3170237"/>
            <a:ext cx="358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spcBef>
                <a:spcPct val="50000"/>
              </a:spcBef>
            </a:pPr>
            <a:r>
              <a:rPr lang="en-US" sz="2400">
                <a:latin typeface="Bookman Old Style" pitchFamily="1" charset="0"/>
              </a:rPr>
              <a:t>Newton’s Second Law:</a:t>
            </a:r>
          </a:p>
        </p:txBody>
      </p:sp>
      <p:sp>
        <p:nvSpPr>
          <p:cNvPr id="6" name="Text Box 8"/>
          <p:cNvSpPr txBox="1">
            <a:spLocks noChangeArrowheads="1"/>
          </p:cNvSpPr>
          <p:nvPr/>
        </p:nvSpPr>
        <p:spPr bwMode="auto">
          <a:xfrm>
            <a:off x="2133600" y="3856037"/>
            <a:ext cx="59436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lnSpc>
                <a:spcPct val="80000"/>
              </a:lnSpc>
              <a:spcBef>
                <a:spcPct val="20000"/>
              </a:spcBef>
            </a:pPr>
            <a:r>
              <a:rPr lang="en-US" sz="2400">
                <a:latin typeface="Bookman Old Style" pitchFamily="1" charset="0"/>
              </a:rPr>
              <a:t>Force equals mass times acceleration (F = ma).</a:t>
            </a:r>
          </a:p>
        </p:txBody>
      </p:sp>
      <p:sp>
        <p:nvSpPr>
          <p:cNvPr id="7" name="Text Box 9"/>
          <p:cNvSpPr txBox="1">
            <a:spLocks noChangeArrowheads="1"/>
          </p:cNvSpPr>
          <p:nvPr/>
        </p:nvSpPr>
        <p:spPr bwMode="auto">
          <a:xfrm>
            <a:off x="533400" y="4922837"/>
            <a:ext cx="327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spcBef>
                <a:spcPct val="50000"/>
              </a:spcBef>
            </a:pPr>
            <a:r>
              <a:rPr lang="en-US" sz="2400">
                <a:latin typeface="Bookman Old Style" pitchFamily="1" charset="0"/>
              </a:rPr>
              <a:t>Newton’s Third Law:</a:t>
            </a:r>
          </a:p>
        </p:txBody>
      </p:sp>
      <p:sp>
        <p:nvSpPr>
          <p:cNvPr id="8" name="Text Box 10"/>
          <p:cNvSpPr txBox="1">
            <a:spLocks noChangeArrowheads="1"/>
          </p:cNvSpPr>
          <p:nvPr/>
        </p:nvSpPr>
        <p:spPr bwMode="auto">
          <a:xfrm>
            <a:off x="2133600" y="5608637"/>
            <a:ext cx="6781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spcBef>
                <a:spcPct val="20000"/>
              </a:spcBef>
            </a:pPr>
            <a:r>
              <a:rPr lang="en-US" sz="2400">
                <a:latin typeface="Bookman Old Style" pitchFamily="1" charset="0"/>
              </a:rPr>
              <a:t>For every action there is an equal and opposite reaction.</a:t>
            </a:r>
          </a:p>
        </p:txBody>
      </p:sp>
      <p:sp>
        <p:nvSpPr>
          <p:cNvPr id="9" name="Footer Placeholder 8"/>
          <p:cNvSpPr>
            <a:spLocks noGrp="1"/>
          </p:cNvSpPr>
          <p:nvPr>
            <p:ph type="ftr" sz="quarter" idx="11"/>
          </p:nvPr>
        </p:nvSpPr>
        <p:spPr/>
        <p:txBody>
          <a:bodyPr/>
          <a:lstStyle/>
          <a:p>
            <a:r>
              <a:rPr lang="en-IN"/>
              <a:t>VIT Bhopal University (SAS; Physics division)</a:t>
            </a:r>
          </a:p>
        </p:txBody>
      </p:sp>
    </p:spTree>
    <p:extLst>
      <p:ext uri="{BB962C8B-B14F-4D97-AF65-F5344CB8AC3E}">
        <p14:creationId xmlns:p14="http://schemas.microsoft.com/office/powerpoint/2010/main" val="5495450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228600" y="297656"/>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en-US">
                <a:latin typeface="Bookman Old Style" pitchFamily="1" charset="0"/>
              </a:rPr>
              <a:t>Vocabulary</a:t>
            </a:r>
          </a:p>
        </p:txBody>
      </p:sp>
      <p:sp>
        <p:nvSpPr>
          <p:cNvPr id="3" name="Text Box 4"/>
          <p:cNvSpPr txBox="1">
            <a:spLocks noChangeArrowheads="1"/>
          </p:cNvSpPr>
          <p:nvPr/>
        </p:nvSpPr>
        <p:spPr bwMode="auto">
          <a:xfrm>
            <a:off x="457200" y="1089818"/>
            <a:ext cx="7543800"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spcBef>
                <a:spcPct val="50000"/>
              </a:spcBef>
            </a:pPr>
            <a:r>
              <a:rPr lang="en-US" sz="2400">
                <a:latin typeface="Bookman Old Style" pitchFamily="1" charset="0"/>
              </a:rPr>
              <a:t>Inertia:</a:t>
            </a:r>
          </a:p>
          <a:p>
            <a:pPr eaLnBrk="1" hangingPunct="1">
              <a:spcBef>
                <a:spcPct val="50000"/>
              </a:spcBef>
            </a:pPr>
            <a:r>
              <a:rPr lang="en-US" sz="2400">
                <a:latin typeface="Bookman Old Style" pitchFamily="1" charset="0"/>
              </a:rPr>
              <a:t>	the tendency of an object to resist changes 	in its state of motion</a:t>
            </a:r>
          </a:p>
        </p:txBody>
      </p:sp>
      <p:sp>
        <p:nvSpPr>
          <p:cNvPr id="4" name="Text Box 6"/>
          <p:cNvSpPr txBox="1">
            <a:spLocks noChangeArrowheads="1"/>
          </p:cNvSpPr>
          <p:nvPr/>
        </p:nvSpPr>
        <p:spPr bwMode="auto">
          <a:xfrm>
            <a:off x="609600" y="2613818"/>
            <a:ext cx="83058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spcBef>
                <a:spcPct val="50000"/>
              </a:spcBef>
            </a:pPr>
            <a:r>
              <a:rPr lang="en-US" sz="2400">
                <a:latin typeface="Bookman Old Style" pitchFamily="1" charset="0"/>
              </a:rPr>
              <a:t>Acceleration:</a:t>
            </a:r>
          </a:p>
          <a:p>
            <a:pPr eaLnBrk="1" hangingPunct="1">
              <a:spcBef>
                <a:spcPct val="50000"/>
              </a:spcBef>
            </a:pPr>
            <a:r>
              <a:rPr lang="en-US" sz="2400">
                <a:latin typeface="Bookman Old Style" pitchFamily="1" charset="0"/>
              </a:rPr>
              <a:t>	•a change in velocity</a:t>
            </a:r>
          </a:p>
          <a:p>
            <a:pPr eaLnBrk="1" hangingPunct="1">
              <a:spcBef>
                <a:spcPct val="50000"/>
              </a:spcBef>
            </a:pPr>
            <a:r>
              <a:rPr lang="en-US" sz="2400">
                <a:latin typeface="Bookman Old Style" pitchFamily="1" charset="0"/>
              </a:rPr>
              <a:t>	•a measurement of how quickly an object is 	changing speed, direction or both</a:t>
            </a:r>
          </a:p>
        </p:txBody>
      </p:sp>
      <p:sp>
        <p:nvSpPr>
          <p:cNvPr id="5" name="Rectangle 4"/>
          <p:cNvSpPr>
            <a:spLocks noChangeArrowheads="1"/>
          </p:cNvSpPr>
          <p:nvPr/>
        </p:nvSpPr>
        <p:spPr bwMode="auto">
          <a:xfrm>
            <a:off x="2997200" y="1604168"/>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p>
        </p:txBody>
      </p:sp>
      <p:sp>
        <p:nvSpPr>
          <p:cNvPr id="6" name="Text Box 9"/>
          <p:cNvSpPr txBox="1">
            <a:spLocks noChangeArrowheads="1"/>
          </p:cNvSpPr>
          <p:nvPr/>
        </p:nvSpPr>
        <p:spPr bwMode="auto">
          <a:xfrm>
            <a:off x="606425" y="4518818"/>
            <a:ext cx="693737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r>
              <a:rPr lang="en-US" sz="2400">
                <a:latin typeface="Bookman Old Style" pitchFamily="1" charset="0"/>
              </a:rPr>
              <a:t>Velocity:</a:t>
            </a:r>
          </a:p>
          <a:p>
            <a:pPr eaLnBrk="1" hangingPunct="1"/>
            <a:r>
              <a:rPr lang="en-US" sz="2400">
                <a:latin typeface="Bookman Old Style" pitchFamily="1" charset="0"/>
              </a:rPr>
              <a:t>	The rate of change of a position along 	a straight line with respect to time </a:t>
            </a:r>
          </a:p>
        </p:txBody>
      </p:sp>
      <p:sp>
        <p:nvSpPr>
          <p:cNvPr id="7" name="Text Box 11"/>
          <p:cNvSpPr txBox="1">
            <a:spLocks noChangeArrowheads="1"/>
          </p:cNvSpPr>
          <p:nvPr/>
        </p:nvSpPr>
        <p:spPr bwMode="auto">
          <a:xfrm>
            <a:off x="609600" y="5738018"/>
            <a:ext cx="38290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r>
              <a:rPr lang="en-US" sz="2400">
                <a:latin typeface="Bookman Old Style" pitchFamily="1" charset="0"/>
              </a:rPr>
              <a:t>Force:</a:t>
            </a:r>
          </a:p>
          <a:p>
            <a:pPr eaLnBrk="1" hangingPunct="1"/>
            <a:r>
              <a:rPr lang="en-US" sz="2400">
                <a:latin typeface="Bookman Old Style" pitchFamily="1" charset="0"/>
              </a:rPr>
              <a:t>	strength or energy</a:t>
            </a:r>
            <a:endParaRPr lang="en-US"/>
          </a:p>
        </p:txBody>
      </p:sp>
      <p:sp>
        <p:nvSpPr>
          <p:cNvPr id="8" name="Footer Placeholder 7"/>
          <p:cNvSpPr>
            <a:spLocks noGrp="1"/>
          </p:cNvSpPr>
          <p:nvPr>
            <p:ph type="ftr" sz="quarter" idx="11"/>
          </p:nvPr>
        </p:nvSpPr>
        <p:spPr/>
        <p:txBody>
          <a:bodyPr/>
          <a:lstStyle/>
          <a:p>
            <a:r>
              <a:rPr lang="en-IN"/>
              <a:t>VIT Bhopal University (SAS; Physics division)</a:t>
            </a:r>
          </a:p>
        </p:txBody>
      </p:sp>
    </p:spTree>
    <p:extLst>
      <p:ext uri="{BB962C8B-B14F-4D97-AF65-F5344CB8AC3E}">
        <p14:creationId xmlns:p14="http://schemas.microsoft.com/office/powerpoint/2010/main" val="27256199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124744"/>
            <a:ext cx="8064896" cy="54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17291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3848" y="44624"/>
            <a:ext cx="2637325" cy="707886"/>
          </a:xfrm>
          <a:prstGeom prst="rect">
            <a:avLst/>
          </a:prstGeom>
          <a:noFill/>
        </p:spPr>
        <p:txBody>
          <a:bodyPr wrap="none" rtlCol="0">
            <a:spAutoFit/>
          </a:bodyPr>
          <a:lstStyle/>
          <a:p>
            <a:r>
              <a:rPr lang="en-IN" sz="4000" b="1" dirty="0">
                <a:solidFill>
                  <a:srgbClr val="C00000"/>
                </a:solidFill>
              </a:rPr>
              <a:t>Experiment</a:t>
            </a:r>
          </a:p>
        </p:txBody>
      </p:sp>
      <p:sp>
        <p:nvSpPr>
          <p:cNvPr id="3" name="TextBox 2"/>
          <p:cNvSpPr txBox="1"/>
          <p:nvPr/>
        </p:nvSpPr>
        <p:spPr>
          <a:xfrm>
            <a:off x="1357836" y="1340768"/>
            <a:ext cx="6382516" cy="584775"/>
          </a:xfrm>
          <a:prstGeom prst="rect">
            <a:avLst/>
          </a:prstGeom>
          <a:noFill/>
        </p:spPr>
        <p:txBody>
          <a:bodyPr wrap="none" rtlCol="0">
            <a:spAutoFit/>
          </a:bodyPr>
          <a:lstStyle/>
          <a:p>
            <a:r>
              <a:rPr lang="en-IN" sz="3200" b="1" dirty="0">
                <a:solidFill>
                  <a:srgbClr val="002060"/>
                </a:solidFill>
              </a:rPr>
              <a:t>Verification of Newton’s Second Law</a:t>
            </a:r>
          </a:p>
        </p:txBody>
      </p:sp>
    </p:spTree>
    <p:extLst>
      <p:ext uri="{BB962C8B-B14F-4D97-AF65-F5344CB8AC3E}">
        <p14:creationId xmlns:p14="http://schemas.microsoft.com/office/powerpoint/2010/main" val="25865819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076DA9B367A24C87B8B887C1C06E33" ma:contentTypeVersion="2" ma:contentTypeDescription="Create a new document." ma:contentTypeScope="" ma:versionID="ef77883fbe4d9a30a8e62999ca0b3591">
  <xsd:schema xmlns:xsd="http://www.w3.org/2001/XMLSchema" xmlns:xs="http://www.w3.org/2001/XMLSchema" xmlns:p="http://schemas.microsoft.com/office/2006/metadata/properties" xmlns:ns2="1a7ca9db-28b0-44b0-a8fe-a28938821919" targetNamespace="http://schemas.microsoft.com/office/2006/metadata/properties" ma:root="true" ma:fieldsID="7ada4c7eeb74da2c09bdf8a0c1ea6ffb" ns2:_="">
    <xsd:import namespace="1a7ca9db-28b0-44b0-a8fe-a28938821919"/>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7ca9db-28b0-44b0-a8fe-a289388219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849AE34-DF4F-4F73-B690-EB063035374F}">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F7238D5F-7343-4FCF-85EE-EB857070458A}">
  <ds:schemaRefs>
    <ds:schemaRef ds:uri="http://schemas.microsoft.com/sharepoint/v3/contenttype/forms"/>
  </ds:schemaRefs>
</ds:datastoreItem>
</file>

<file path=customXml/itemProps3.xml><?xml version="1.0" encoding="utf-8"?>
<ds:datastoreItem xmlns:ds="http://schemas.openxmlformats.org/officeDocument/2006/customXml" ds:itemID="{D053DA04-E066-4DD0-8D76-4618D86751E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7ca9db-28b0-44b0-a8fe-a2893882191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2355</TotalTime>
  <Words>2055</Words>
  <Application>Microsoft Office PowerPoint</Application>
  <PresentationFormat>On-screen Show (4:3)</PresentationFormat>
  <Paragraphs>167</Paragraphs>
  <Slides>44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Arial</vt:lpstr>
      <vt:lpstr>Bookman Old Style</vt:lpstr>
      <vt:lpstr>Calibri</vt:lpstr>
      <vt:lpstr>Cambria Math</vt:lpstr>
      <vt:lpstr>Strenuous</vt:lpstr>
      <vt:lpstr>Wingdings</vt:lpstr>
      <vt:lpstr>Office Theme</vt:lpstr>
      <vt:lpstr>VIT University, Bhopal SASL</vt:lpstr>
      <vt:lpstr>Marks break up</vt:lpstr>
      <vt:lpstr>PowerPoint Presentation</vt:lpstr>
      <vt:lpstr>PowerPoint Presentation</vt:lpstr>
      <vt:lpstr>PowerPoint Presentation</vt:lpstr>
      <vt:lpstr>Books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shweta mukherjee</cp:lastModifiedBy>
  <cp:revision>62</cp:revision>
  <dcterms:created xsi:type="dcterms:W3CDTF">2017-07-25T06:44:19Z</dcterms:created>
  <dcterms:modified xsi:type="dcterms:W3CDTF">2024-09-05T09:45:28Z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0x01010009076DA9B367A24C87B8B887C1C06E33</vt:lpwstr>
  </property>
</Properties>
</file>