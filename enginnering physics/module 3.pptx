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s/slide25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30.xml" ContentType="application/vnd.openxmlformats-officedocument.presentationml.slide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2.xml" ContentType="application/vnd.openxmlformats-officedocument.presentationml.notesSlide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commentAuthors.xml" ContentType="application/vnd.openxmlformats-officedocument.presentationml.commentAuthors+xml"/>
  <Override PartName="/ppt/theme/theme1.xml" ContentType="application/vnd.openxmlformats-officedocument.theme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5"/>
  </p:notesMasterIdLst>
  <p:sldIdLst>
    <p:sldId id="256" r:id="rId2"/>
    <p:sldId id="282" r:id="rId3"/>
    <p:sldId id="277" r:id="rId4"/>
    <p:sldId id="260" r:id="rId5"/>
    <p:sldId id="257" r:id="rId6"/>
    <p:sldId id="258" r:id="rId7"/>
    <p:sldId id="259" r:id="rId8"/>
    <p:sldId id="261" r:id="rId9"/>
    <p:sldId id="262" r:id="rId10"/>
    <p:sldId id="291" r:id="rId11"/>
    <p:sldId id="284" r:id="rId12"/>
    <p:sldId id="263" r:id="rId13"/>
    <p:sldId id="268" r:id="rId14"/>
    <p:sldId id="285" r:id="rId15"/>
    <p:sldId id="288" r:id="rId16"/>
    <p:sldId id="286" r:id="rId17"/>
    <p:sldId id="287" r:id="rId18"/>
    <p:sldId id="265" r:id="rId19"/>
    <p:sldId id="266" r:id="rId20"/>
    <p:sldId id="264" r:id="rId21"/>
    <p:sldId id="283" r:id="rId22"/>
    <p:sldId id="281" r:id="rId23"/>
    <p:sldId id="267" r:id="rId24"/>
    <p:sldId id="269" r:id="rId25"/>
    <p:sldId id="274" r:id="rId26"/>
    <p:sldId id="270" r:id="rId27"/>
    <p:sldId id="290" r:id="rId28"/>
    <p:sldId id="271" r:id="rId29"/>
    <p:sldId id="289" r:id="rId30"/>
    <p:sldId id="279" r:id="rId31"/>
    <p:sldId id="272" r:id="rId32"/>
    <p:sldId id="273" r:id="rId33"/>
    <p:sldId id="275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2" d="100"/>
          <a:sy n="62" d="100"/>
        </p:scale>
        <p:origin x="-1536" y="-1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ustomXml" Target="../customXml/item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customXml" Target="../customXml/item3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17-07-28T07:41:48.627" idx="2">
    <p:pos x="10" y="10"/>
    <p:text>put video of crystal growth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17-07-28T07:41:29.328" idx="1">
    <p:pos x="10" y="10"/>
    <p:text>Put video of lithography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17-07-28T07:42:19.427" idx="3">
    <p:pos x="10" y="10"/>
    <p:text>put video on QD display 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9976D9-3EEA-489F-AD29-6BFA40A223BB}" type="datetimeFigureOut">
              <a:rPr lang="en-IN" smtClean="0"/>
              <a:t>09-12-2022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1F5ADA-B62E-437D-BAA9-D44A54E5AE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004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1F5ADA-B62E-437D-BAA9-D44A54E5AE3C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1012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1F5ADA-B62E-437D-BAA9-D44A54E5AE3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7318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1F5ADA-B62E-437D-BAA9-D44A54E5AE3C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8429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5612E-1DEC-449F-B609-14B7E9F844BD}" type="datetime1">
              <a:rPr lang="en-IN" smtClean="0"/>
              <a:t>09-12-2022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VIT Bhopal University (SAS; Physics division)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2F21F-EC46-4B47-B5D7-F30636214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4074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B6435-BE87-4AA6-A729-18DE0E5B64F0}" type="datetime1">
              <a:rPr lang="en-IN" smtClean="0"/>
              <a:t>09-12-2022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VIT Bhopal University (SAS; Physics division)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2F21F-EC46-4B47-B5D7-F30636214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0782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177C5-F727-483B-81AB-03D98FECBEEE}" type="datetime1">
              <a:rPr lang="en-IN" smtClean="0"/>
              <a:t>09-12-2022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VIT Bhopal University (SAS; Physics division)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2F21F-EC46-4B47-B5D7-F30636214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8851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EC8EB-08C4-42C2-BD3D-A9BFF8CEB2FA}" type="datetime1">
              <a:rPr lang="en-IN" smtClean="0"/>
              <a:t>09-12-2022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VIT Bhopal University (SAS; Physics division)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2F21F-EC46-4B47-B5D7-F30636214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8520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7D40A-26C4-4C56-8C98-96FB51FB5195}" type="datetime1">
              <a:rPr lang="en-IN" smtClean="0"/>
              <a:t>09-12-2022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VIT Bhopal University (SAS; Physics division)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2F21F-EC46-4B47-B5D7-F30636214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573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71460-CD0E-4910-93AD-A61766AF3ADB}" type="datetime1">
              <a:rPr lang="en-IN" smtClean="0"/>
              <a:t>09-12-2022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VIT Bhopal University (SAS; Physics division)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2F21F-EC46-4B47-B5D7-F30636214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673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4E060-43D2-4B9A-A46F-CC9F950D9DE3}" type="datetime1">
              <a:rPr lang="en-IN" smtClean="0"/>
              <a:t>09-12-2022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VIT Bhopal University (SAS; Physics division)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2F21F-EC46-4B47-B5D7-F30636214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929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A6991-197D-4E5D-B9E6-26873CE1C939}" type="datetime1">
              <a:rPr lang="en-IN" smtClean="0"/>
              <a:t>09-12-2022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VIT Bhopal University (SAS; Physics division)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2F21F-EC46-4B47-B5D7-F30636214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2827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4C62C-506E-492A-A923-35B86ECA8A1E}" type="datetime1">
              <a:rPr lang="en-IN" smtClean="0"/>
              <a:t>09-12-2022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VIT Bhopal University (SAS; Physics division)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2F21F-EC46-4B47-B5D7-F30636214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4855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C38B8-F3E0-47F6-B743-E1BF54A7F9D2}" type="datetime1">
              <a:rPr lang="en-IN" smtClean="0"/>
              <a:t>09-12-2022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VIT Bhopal University (SAS; Physics division)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2F21F-EC46-4B47-B5D7-F30636214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1621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FBC6D-E62C-449A-8B78-24A280DD0161}" type="datetime1">
              <a:rPr lang="en-IN" smtClean="0"/>
              <a:t>09-12-2022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VIT Bhopal University (SAS; Physics division)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2F21F-EC46-4B47-B5D7-F30636214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5096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E91B3F-64FC-4E9C-B82A-3D889C42B65E}" type="datetime1">
              <a:rPr lang="en-IN" smtClean="0"/>
              <a:t>09-12-2022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smtClean="0"/>
              <a:t>VIT Bhopal University (SAS; Physics division)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C2F21F-EC46-4B47-B5D7-F30636214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0156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Nano technology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1044" y="3284984"/>
            <a:ext cx="6400800" cy="1080120"/>
          </a:xfrm>
        </p:spPr>
        <p:txBody>
          <a:bodyPr>
            <a:normAutofit lnSpcReduction="10000"/>
          </a:bodyPr>
          <a:lstStyle/>
          <a:p>
            <a:r>
              <a:rPr lang="en-IN" dirty="0" smtClean="0"/>
              <a:t>VIT University, Bhopal</a:t>
            </a:r>
          </a:p>
          <a:p>
            <a:r>
              <a:rPr lang="en-IN" dirty="0" smtClean="0"/>
              <a:t>Course Name: PH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3707904" y="6165304"/>
            <a:ext cx="2880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solidFill>
                  <a:srgbClr val="FF0000"/>
                </a:solidFill>
              </a:rPr>
              <a:t>Nano tech Video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3074" name="Picture 2" descr="D:\VIT Bhopal\Class PPT\Nano tech\Fig\Quantum-Dot-LED-vs-conventional-LED-840x36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70962"/>
            <a:ext cx="5743625" cy="2475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D:\VIT Bhopal\Class PPT\Nano tech\Fig\download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8270" y="4437112"/>
            <a:ext cx="3171825" cy="1438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D:\VIT Bhopal\Class PPT\Nano tech\Fig\images (1)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65079"/>
            <a:ext cx="2533650" cy="180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1155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491" y="2532929"/>
            <a:ext cx="8229600" cy="1143000"/>
          </a:xfrm>
        </p:spPr>
        <p:txBody>
          <a:bodyPr/>
          <a:lstStyle/>
          <a:p>
            <a:r>
              <a:rPr lang="en-IN" dirty="0" smtClean="0">
                <a:latin typeface="Algerian" pitchFamily="82" charset="0"/>
              </a:rPr>
              <a:t>Lecture 1</a:t>
            </a:r>
            <a:endParaRPr lang="en-IN" dirty="0">
              <a:latin typeface="Algerian" pitchFamily="82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VIT Bhopal University (SAS; Physics division)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2F21F-EC46-4B47-B5D7-F306362141E9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6165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Learning objectives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 smtClean="0"/>
          </a:p>
          <a:p>
            <a:endParaRPr lang="en-IN" dirty="0" smtClean="0"/>
          </a:p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VIT Bhopal University (SAS; Physics division)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2F21F-EC46-4B47-B5D7-F306362141E9}" type="slidenum">
              <a:rPr lang="en-IN" smtClean="0"/>
              <a:t>3</a:t>
            </a:fld>
            <a:endParaRPr lang="en-IN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1517825"/>
              </p:ext>
            </p:extLst>
          </p:nvPr>
        </p:nvGraphicFramePr>
        <p:xfrm>
          <a:off x="323528" y="1196752"/>
          <a:ext cx="8496944" cy="496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48472"/>
                <a:gridCol w="4248472"/>
              </a:tblGrid>
              <a:tr h="4912320"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endParaRPr lang="en-IN" sz="3200" dirty="0" smtClean="0"/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endParaRPr lang="en-IN" sz="3200" dirty="0" smtClean="0"/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IN" sz="3200" dirty="0" smtClean="0"/>
                        <a:t>Introduction to </a:t>
                      </a:r>
                      <a:r>
                        <a:rPr lang="en-IN" sz="3200" dirty="0" err="1" smtClean="0"/>
                        <a:t>nano</a:t>
                      </a:r>
                      <a:r>
                        <a:rPr lang="en-IN" sz="3200" dirty="0" smtClean="0"/>
                        <a:t> material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IN" sz="3200" dirty="0" smtClean="0"/>
                        <a:t>Moors law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IN" sz="3200" dirty="0" smtClean="0"/>
                        <a:t>What is </a:t>
                      </a:r>
                      <a:r>
                        <a:rPr lang="en-IN" sz="3200" dirty="0" err="1" smtClean="0"/>
                        <a:t>nano</a:t>
                      </a:r>
                      <a:r>
                        <a:rPr lang="en-IN" sz="3200" dirty="0" smtClean="0"/>
                        <a:t> material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IN" sz="3200" dirty="0" smtClean="0"/>
                        <a:t>How to make </a:t>
                      </a:r>
                      <a:r>
                        <a:rPr lang="en-IN" sz="3200" dirty="0" err="1" smtClean="0"/>
                        <a:t>nano</a:t>
                      </a:r>
                      <a:r>
                        <a:rPr lang="en-IN" sz="3200" dirty="0" smtClean="0"/>
                        <a:t> materials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IN" sz="3200" dirty="0" smtClean="0"/>
                        <a:t>Quantum Confinement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endParaRPr lang="en-IN" sz="3200" dirty="0" smtClean="0"/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endParaRPr lang="en-IN" sz="3200" dirty="0" smtClean="0"/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IN" sz="3200" dirty="0" smtClean="0"/>
                        <a:t>What</a:t>
                      </a:r>
                      <a:r>
                        <a:rPr lang="en-IN" sz="3200" baseline="0" dirty="0" smtClean="0"/>
                        <a:t> is CNT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IN" sz="3200" baseline="0" dirty="0" smtClean="0"/>
                        <a:t>How to make CNT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IN" sz="3200" baseline="0" dirty="0" smtClean="0"/>
                        <a:t>Properties of CNT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IN" sz="3200" baseline="0" dirty="0" smtClean="0"/>
                        <a:t>Application of CNT</a:t>
                      </a:r>
                    </a:p>
                    <a:p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8918930"/>
              </p:ext>
            </p:extLst>
          </p:nvPr>
        </p:nvGraphicFramePr>
        <p:xfrm>
          <a:off x="395536" y="1196752"/>
          <a:ext cx="8424936" cy="432048"/>
        </p:xfrm>
        <a:graphic>
          <a:graphicData uri="http://schemas.openxmlformats.org/drawingml/2006/table">
            <a:tbl>
              <a:tblPr/>
              <a:tblGrid>
                <a:gridCol w="4212468"/>
                <a:gridCol w="4212468"/>
              </a:tblGrid>
              <a:tr h="432048"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rgbClr val="FFFF00"/>
                          </a:solidFill>
                        </a:rPr>
                        <a:t>Lecture 1</a:t>
                      </a:r>
                      <a:endParaRPr lang="en-IN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rgbClr val="FFFF00"/>
                          </a:solidFill>
                        </a:rPr>
                        <a:t>Lecture 2</a:t>
                      </a:r>
                      <a:endParaRPr lang="en-IN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7473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Moore’s law</a:t>
            </a:r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0249" y="14242"/>
            <a:ext cx="1793751" cy="1759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11560" y="1196752"/>
            <a:ext cx="8291264" cy="2260848"/>
          </a:xfrm>
        </p:spPr>
        <p:txBody>
          <a:bodyPr/>
          <a:lstStyle/>
          <a:p>
            <a:r>
              <a:rPr lang="en-IN" dirty="0" smtClean="0"/>
              <a:t>The number of transistor in an integrated circuit doubles in every 18 or 24 months</a:t>
            </a:r>
            <a:endParaRPr lang="en-IN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02" y="2491261"/>
            <a:ext cx="3505200" cy="287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7092280" y="6439409"/>
            <a:ext cx="1752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Source : Internet</a:t>
            </a:r>
            <a:endParaRPr lang="en-IN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4393" y="2492896"/>
            <a:ext cx="4820675" cy="2466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2F21F-EC46-4B47-B5D7-F306362141E9}" type="slidenum">
              <a:rPr lang="en-IN" smtClean="0"/>
              <a:t>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VIT Bhopal University (SAS; Physics division)</a:t>
            </a:r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2483768" y="5370934"/>
            <a:ext cx="3645422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dirty="0" smtClean="0">
                <a:solidFill>
                  <a:srgbClr val="FF0000"/>
                </a:solidFill>
              </a:rPr>
              <a:t>Size of the transistor will be reduced 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0410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What are </a:t>
            </a:r>
            <a:r>
              <a:rPr lang="en-IN" dirty="0" err="1" smtClean="0"/>
              <a:t>nano</a:t>
            </a:r>
            <a:r>
              <a:rPr lang="en-IN" dirty="0" smtClean="0"/>
              <a:t> materials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180728"/>
          </a:xfrm>
        </p:spPr>
        <p:txBody>
          <a:bodyPr/>
          <a:lstStyle/>
          <a:p>
            <a:r>
              <a:rPr lang="en-IN" dirty="0" smtClean="0"/>
              <a:t>NANO from Greek word “NANOS” means Dwarf</a:t>
            </a: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2852936"/>
            <a:ext cx="5909022" cy="1809873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2F21F-EC46-4B47-B5D7-F306362141E9}" type="slidenum">
              <a:rPr lang="en-IN" smtClean="0"/>
              <a:t>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VIT Bhopal University (SAS; Physics division)</a:t>
            </a:r>
            <a:endParaRPr lang="en-IN"/>
          </a:p>
        </p:txBody>
      </p:sp>
      <p:sp>
        <p:nvSpPr>
          <p:cNvPr id="7" name="Oval 6"/>
          <p:cNvSpPr/>
          <p:nvPr/>
        </p:nvSpPr>
        <p:spPr>
          <a:xfrm>
            <a:off x="2555776" y="2492896"/>
            <a:ext cx="1080120" cy="3168352"/>
          </a:xfrm>
          <a:prstGeom prst="ellipse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7676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Nano materials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052935"/>
          </a:xfrm>
        </p:spPr>
        <p:txBody>
          <a:bodyPr>
            <a:normAutofit/>
          </a:bodyPr>
          <a:lstStyle/>
          <a:p>
            <a:r>
              <a:rPr lang="en-IN" dirty="0" smtClean="0">
                <a:solidFill>
                  <a:srgbClr val="FF0000"/>
                </a:solidFill>
              </a:rPr>
              <a:t>At least one spatial </a:t>
            </a:r>
            <a:r>
              <a:rPr lang="en-IN" dirty="0" smtClean="0"/>
              <a:t>dimension is in the range of </a:t>
            </a:r>
            <a:r>
              <a:rPr lang="en-IN" dirty="0" smtClean="0">
                <a:solidFill>
                  <a:srgbClr val="FF0000"/>
                </a:solidFill>
              </a:rPr>
              <a:t>1 to 100 nm</a:t>
            </a:r>
          </a:p>
          <a:p>
            <a:pPr lvl="1"/>
            <a:r>
              <a:rPr lang="en-IN" dirty="0" smtClean="0"/>
              <a:t>Thus the material need not be so small that it cannot be seen, it can be a large surface or a long wire whose thickness is in the scale of </a:t>
            </a:r>
            <a:r>
              <a:rPr lang="en-IN" dirty="0" err="1" smtClean="0"/>
              <a:t>Nanometers</a:t>
            </a:r>
            <a:r>
              <a:rPr lang="en-IN" dirty="0" smtClean="0"/>
              <a:t>.</a:t>
            </a:r>
          </a:p>
          <a:p>
            <a:endParaRPr lang="en-IN" dirty="0" smtClean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2F21F-EC46-4B47-B5D7-F306362141E9}" type="slidenum">
              <a:rPr lang="en-IN" smtClean="0"/>
              <a:t>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VIT Bhopal University (SAS; Physics division)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6158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Why </a:t>
            </a:r>
            <a:r>
              <a:rPr lang="en-IN" dirty="0" err="1" smtClean="0"/>
              <a:t>nano</a:t>
            </a:r>
            <a:r>
              <a:rPr lang="en-IN" dirty="0" smtClean="0"/>
              <a:t> materials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Property changes at </a:t>
            </a:r>
            <a:r>
              <a:rPr lang="en-IN" dirty="0" err="1" smtClean="0"/>
              <a:t>nano</a:t>
            </a:r>
            <a:r>
              <a:rPr lang="en-IN" dirty="0" smtClean="0"/>
              <a:t> scale </a:t>
            </a:r>
          </a:p>
          <a:p>
            <a:pPr lvl="1"/>
            <a:r>
              <a:rPr lang="en-IN" dirty="0" smtClean="0"/>
              <a:t>Quantum confinement effect</a:t>
            </a:r>
          </a:p>
          <a:p>
            <a:pPr lvl="1"/>
            <a:r>
              <a:rPr lang="en-IN" dirty="0" smtClean="0"/>
              <a:t>Increased surface area</a:t>
            </a:r>
          </a:p>
          <a:p>
            <a:pPr lvl="1"/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2F21F-EC46-4B47-B5D7-F306362141E9}" type="slidenum">
              <a:rPr lang="en-IN" smtClean="0"/>
              <a:t>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VIT Bhopal University (SAS; Physics division)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919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How to make </a:t>
            </a:r>
            <a:r>
              <a:rPr lang="en-IN" dirty="0" err="1" smtClean="0"/>
              <a:t>nano</a:t>
            </a:r>
            <a:r>
              <a:rPr lang="en-IN" dirty="0" smtClean="0"/>
              <a:t> materials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Bottom up approach</a:t>
            </a:r>
          </a:p>
          <a:p>
            <a:pPr lvl="2"/>
            <a:r>
              <a:rPr lang="en-IN" dirty="0" smtClean="0"/>
              <a:t>In this case molecular </a:t>
            </a:r>
            <a:r>
              <a:rPr lang="en-IN" dirty="0"/>
              <a:t>components arrange themselves </a:t>
            </a:r>
            <a:r>
              <a:rPr lang="en-IN" dirty="0" smtClean="0"/>
              <a:t>into more </a:t>
            </a:r>
            <a:r>
              <a:rPr lang="en-IN" dirty="0"/>
              <a:t>complex assemblies atom-by-atom, molecule-by-molecule, cluster-</a:t>
            </a:r>
            <a:r>
              <a:rPr lang="en-IN" dirty="0" err="1"/>
              <a:t>bycluster</a:t>
            </a:r>
            <a:r>
              <a:rPr lang="en-IN" dirty="0"/>
              <a:t> from the bottom (e.g., growth of a crystal)</a:t>
            </a:r>
            <a:r>
              <a:rPr lang="en-IN" dirty="0" smtClean="0"/>
              <a:t> </a:t>
            </a:r>
          </a:p>
          <a:p>
            <a:pPr marL="914400" lvl="2" indent="0">
              <a:buNone/>
            </a:pPr>
            <a:r>
              <a:rPr lang="en-IN" dirty="0" smtClean="0"/>
              <a:t/>
            </a:r>
            <a:br>
              <a:rPr lang="en-IN" dirty="0" smtClean="0"/>
            </a:br>
            <a:endParaRPr lang="en-IN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992" y="3861048"/>
            <a:ext cx="3528814" cy="23335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3528" y="4381502"/>
            <a:ext cx="28932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 smtClean="0">
                <a:solidFill>
                  <a:srgbClr val="FF0000"/>
                </a:solidFill>
              </a:rPr>
              <a:t>Activity:</a:t>
            </a:r>
          </a:p>
          <a:p>
            <a:r>
              <a:rPr lang="en-IN" dirty="0" smtClean="0">
                <a:solidFill>
                  <a:srgbClr val="FF0000"/>
                </a:solidFill>
              </a:rPr>
              <a:t>Silver </a:t>
            </a:r>
            <a:r>
              <a:rPr lang="en-IN" dirty="0" err="1" smtClean="0">
                <a:solidFill>
                  <a:srgbClr val="FF0000"/>
                </a:solidFill>
              </a:rPr>
              <a:t>nano</a:t>
            </a:r>
            <a:r>
              <a:rPr lang="en-IN" dirty="0" smtClean="0">
                <a:solidFill>
                  <a:srgbClr val="FF0000"/>
                </a:solidFill>
              </a:rPr>
              <a:t> particle synthesis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2F21F-EC46-4B47-B5D7-F306362141E9}" type="slidenum">
              <a:rPr lang="en-IN" smtClean="0"/>
              <a:t>8</a:t>
            </a:fld>
            <a:endParaRPr lang="en-I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VIT Bhopal University (SAS; Physics division)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9989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505475"/>
          </a:xfrm>
        </p:spPr>
        <p:txBody>
          <a:bodyPr/>
          <a:lstStyle/>
          <a:p>
            <a:r>
              <a:rPr lang="en-IN" dirty="0" smtClean="0"/>
              <a:t>Top down approach</a:t>
            </a:r>
          </a:p>
          <a:p>
            <a:pPr lvl="2"/>
            <a:r>
              <a:rPr lang="en-IN" dirty="0" smtClean="0"/>
              <a:t>Nano scale </a:t>
            </a:r>
            <a:r>
              <a:rPr lang="en-IN" dirty="0"/>
              <a:t>devices are created by using larger,</a:t>
            </a:r>
            <a:br>
              <a:rPr lang="en-IN" dirty="0"/>
            </a:br>
            <a:r>
              <a:rPr lang="en-IN" dirty="0"/>
              <a:t>externally-controlled devices to direct their assembly</a:t>
            </a:r>
            <a:r>
              <a:rPr lang="en-IN" dirty="0" smtClean="0"/>
              <a:t> </a:t>
            </a:r>
            <a:br>
              <a:rPr lang="en-IN" dirty="0" smtClean="0"/>
            </a:b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858562" y="1910809"/>
            <a:ext cx="2716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Example: Photolithography</a:t>
            </a:r>
            <a:endParaRPr lang="en-IN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2F21F-EC46-4B47-B5D7-F306362141E9}" type="slidenum">
              <a:rPr lang="en-IN" smtClean="0"/>
              <a:t>9</a:t>
            </a:fld>
            <a:endParaRPr lang="en-IN"/>
          </a:p>
        </p:txBody>
      </p:sp>
      <p:grpSp>
        <p:nvGrpSpPr>
          <p:cNvPr id="19" name="Group 18"/>
          <p:cNvGrpSpPr/>
          <p:nvPr/>
        </p:nvGrpSpPr>
        <p:grpSpPr>
          <a:xfrm>
            <a:off x="569996" y="2242057"/>
            <a:ext cx="7462543" cy="2555095"/>
            <a:chOff x="395536" y="3682217"/>
            <a:chExt cx="7462543" cy="2555095"/>
          </a:xfrm>
        </p:grpSpPr>
        <p:sp>
          <p:nvSpPr>
            <p:cNvPr id="5" name="Rectangle 4"/>
            <p:cNvSpPr/>
            <p:nvPr/>
          </p:nvSpPr>
          <p:spPr>
            <a:xfrm>
              <a:off x="395536" y="4293096"/>
              <a:ext cx="2016224" cy="2160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 smtClean="0"/>
                <a:t>Si substrate</a:t>
              </a:r>
              <a:endParaRPr lang="en-IN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2771800" y="4302313"/>
              <a:ext cx="2016224" cy="2160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Rectangle 6"/>
            <p:cNvSpPr/>
            <p:nvPr/>
          </p:nvSpPr>
          <p:spPr>
            <a:xfrm>
              <a:off x="2771800" y="4185084"/>
              <a:ext cx="2016224" cy="108012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Rectangle 7"/>
            <p:cNvSpPr/>
            <p:nvPr/>
          </p:nvSpPr>
          <p:spPr>
            <a:xfrm flipV="1">
              <a:off x="2771800" y="4175369"/>
              <a:ext cx="2016224" cy="45719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Rectangle 8"/>
            <p:cNvSpPr/>
            <p:nvPr/>
          </p:nvSpPr>
          <p:spPr>
            <a:xfrm>
              <a:off x="5508104" y="4330462"/>
              <a:ext cx="2016224" cy="2160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5508104" y="4213233"/>
              <a:ext cx="2016224" cy="108012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Rectangle 10"/>
            <p:cNvSpPr/>
            <p:nvPr/>
          </p:nvSpPr>
          <p:spPr>
            <a:xfrm flipV="1">
              <a:off x="5508104" y="4203518"/>
              <a:ext cx="2016224" cy="45719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Snip Same Side Corner Rectangle 11"/>
            <p:cNvSpPr/>
            <p:nvPr/>
          </p:nvSpPr>
          <p:spPr>
            <a:xfrm>
              <a:off x="5637196" y="3682217"/>
              <a:ext cx="1728192" cy="144016"/>
            </a:xfrm>
            <a:prstGeom prst="snip2Same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940152" y="3826233"/>
              <a:ext cx="1008112" cy="106823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5" name="Straight Connector 14"/>
            <p:cNvCxnSpPr>
              <a:stCxn id="12" idx="2"/>
            </p:cNvCxnSpPr>
            <p:nvPr/>
          </p:nvCxnSpPr>
          <p:spPr>
            <a:xfrm>
              <a:off x="5637196" y="3754225"/>
              <a:ext cx="0" cy="42114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940152" y="3826233"/>
              <a:ext cx="0" cy="34913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6948264" y="3861048"/>
              <a:ext cx="0" cy="34913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7380312" y="3789040"/>
              <a:ext cx="0" cy="42114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>
              <a:off x="5796136" y="3826233"/>
              <a:ext cx="0" cy="34913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>
              <a:off x="7164288" y="3871952"/>
              <a:ext cx="0" cy="34913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 26"/>
            <p:cNvSpPr/>
            <p:nvPr/>
          </p:nvSpPr>
          <p:spPr>
            <a:xfrm>
              <a:off x="5508104" y="5301208"/>
              <a:ext cx="2016224" cy="2160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5508104" y="5183979"/>
              <a:ext cx="2016224" cy="108012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 flipV="1">
              <a:off x="5508104" y="5111473"/>
              <a:ext cx="432048" cy="45719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 flipV="1">
              <a:off x="7092280" y="5111473"/>
              <a:ext cx="432048" cy="45719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2771800" y="5390385"/>
              <a:ext cx="2016224" cy="2160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2771800" y="5273156"/>
              <a:ext cx="432048" cy="108012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3" name="Rectangle 32"/>
            <p:cNvSpPr/>
            <p:nvPr/>
          </p:nvSpPr>
          <p:spPr>
            <a:xfrm flipV="1">
              <a:off x="2771800" y="5200650"/>
              <a:ext cx="432048" cy="45719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4" name="Rectangle 33"/>
            <p:cNvSpPr/>
            <p:nvPr/>
          </p:nvSpPr>
          <p:spPr>
            <a:xfrm flipV="1">
              <a:off x="4355976" y="5200650"/>
              <a:ext cx="432048" cy="45719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4355976" y="5265204"/>
              <a:ext cx="432048" cy="108012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95536" y="5373216"/>
              <a:ext cx="2016224" cy="2160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395536" y="5255987"/>
              <a:ext cx="432048" cy="108012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1979712" y="5248035"/>
              <a:ext cx="432048" cy="108012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1" name="Right Arrow 40"/>
            <p:cNvSpPr/>
            <p:nvPr/>
          </p:nvSpPr>
          <p:spPr>
            <a:xfrm>
              <a:off x="2555776" y="3682217"/>
              <a:ext cx="2232248" cy="144016"/>
            </a:xfrm>
            <a:prstGeom prst="rightArrow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2" name="Left Arrow 41"/>
            <p:cNvSpPr/>
            <p:nvPr/>
          </p:nvSpPr>
          <p:spPr>
            <a:xfrm>
              <a:off x="2627784" y="6093296"/>
              <a:ext cx="2592288" cy="144016"/>
            </a:xfrm>
            <a:prstGeom prst="leftArrow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5884477" y="4612486"/>
              <a:ext cx="13981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 smtClean="0"/>
                <a:t>After Etching</a:t>
              </a:r>
              <a:endParaRPr lang="en-IN" dirty="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080842" y="4741063"/>
              <a:ext cx="13981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 smtClean="0"/>
                <a:t>After Etching</a:t>
              </a:r>
              <a:endParaRPr lang="en-IN" dirty="0"/>
            </a:p>
          </p:txBody>
        </p:sp>
        <p:sp>
          <p:nvSpPr>
            <p:cNvPr id="16" name="Down Arrow 15"/>
            <p:cNvSpPr/>
            <p:nvPr/>
          </p:nvSpPr>
          <p:spPr>
            <a:xfrm>
              <a:off x="7812360" y="3933056"/>
              <a:ext cx="45719" cy="1048762"/>
            </a:xfrm>
            <a:prstGeom prst="down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VIT Bhopal University (SAS; Physics division)</a:t>
            </a:r>
            <a:endParaRPr lang="en-IN"/>
          </a:p>
        </p:txBody>
      </p:sp>
      <p:sp>
        <p:nvSpPr>
          <p:cNvPr id="22" name="TextBox 21"/>
          <p:cNvSpPr txBox="1"/>
          <p:nvPr/>
        </p:nvSpPr>
        <p:spPr>
          <a:xfrm>
            <a:off x="2622932" y="4856738"/>
            <a:ext cx="3436005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dirty="0" smtClean="0"/>
              <a:t>Ruling technique in IC preparation</a:t>
            </a:r>
            <a:endParaRPr lang="en-IN" dirty="0"/>
          </a:p>
        </p:txBody>
      </p:sp>
      <p:sp>
        <p:nvSpPr>
          <p:cNvPr id="25" name="Explosion 1 24"/>
          <p:cNvSpPr/>
          <p:nvPr/>
        </p:nvSpPr>
        <p:spPr>
          <a:xfrm>
            <a:off x="724062" y="5312590"/>
            <a:ext cx="7591284" cy="1465807"/>
          </a:xfrm>
          <a:prstGeom prst="irregularSeal1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TextBox 42"/>
          <p:cNvSpPr txBox="1"/>
          <p:nvPr/>
        </p:nvSpPr>
        <p:spPr>
          <a:xfrm>
            <a:off x="802075" y="5475938"/>
            <a:ext cx="68198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Trade </a:t>
            </a:r>
            <a:r>
              <a:rPr lang="en-IN" dirty="0" err="1" smtClean="0"/>
              <a:t>off’s</a:t>
            </a:r>
            <a:r>
              <a:rPr lang="en-IN" dirty="0" smtClean="0"/>
              <a:t> </a:t>
            </a:r>
          </a:p>
          <a:p>
            <a:r>
              <a:rPr lang="en-IN" dirty="0"/>
              <a:t>	</a:t>
            </a:r>
            <a:r>
              <a:rPr lang="en-IN" dirty="0" smtClean="0"/>
              <a:t>Too many steps to prepare micro and </a:t>
            </a:r>
            <a:r>
              <a:rPr lang="en-IN" dirty="0" err="1" smtClean="0"/>
              <a:t>nano</a:t>
            </a:r>
            <a:r>
              <a:rPr lang="en-IN" dirty="0" smtClean="0"/>
              <a:t> fabricated system</a:t>
            </a:r>
          </a:p>
          <a:p>
            <a:r>
              <a:rPr lang="en-IN" dirty="0"/>
              <a:t>	</a:t>
            </a:r>
            <a:r>
              <a:rPr lang="en-IN" dirty="0" smtClean="0"/>
              <a:t>limitation in high resolution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9949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VIT Bhopal University (SAS; Physics division)</a:t>
            </a:r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2F21F-EC46-4B47-B5D7-F306362141E9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0947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VIT Bhopal University (SAS; Physics division)</a:t>
            </a:r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2F21F-EC46-4B47-B5D7-F306362141E9}" type="slidenum">
              <a:rPr lang="en-IN" smtClean="0"/>
              <a:t>11</a:t>
            </a:fld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1403648" y="1052736"/>
            <a:ext cx="6671955" cy="46474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 smtClean="0"/>
              <a:t>Properties:</a:t>
            </a:r>
          </a:p>
          <a:p>
            <a:endParaRPr lang="en-IN" sz="3200" dirty="0"/>
          </a:p>
          <a:p>
            <a:r>
              <a:rPr lang="en-IN" sz="2400" dirty="0" smtClean="0"/>
              <a:t>Optical Properties: Different for different materials</a:t>
            </a:r>
          </a:p>
          <a:p>
            <a:r>
              <a:rPr lang="en-IN" sz="2400" dirty="0"/>
              <a:t> </a:t>
            </a:r>
            <a:r>
              <a:rPr lang="en-IN" sz="2400" dirty="0" smtClean="0"/>
              <a:t>                                  Metals: Due to surface </a:t>
            </a:r>
            <a:r>
              <a:rPr lang="en-IN" sz="2400" dirty="0" err="1" smtClean="0"/>
              <a:t>plasmons</a:t>
            </a:r>
            <a:endParaRPr lang="en-IN" sz="2400" dirty="0" smtClean="0"/>
          </a:p>
          <a:p>
            <a:r>
              <a:rPr lang="en-IN" sz="2400" dirty="0"/>
              <a:t>	</a:t>
            </a:r>
            <a:r>
              <a:rPr lang="en-IN" sz="2400" dirty="0" smtClean="0"/>
              <a:t>	Semiconductors: Due to Band Gap</a:t>
            </a:r>
          </a:p>
          <a:p>
            <a:endParaRPr lang="en-IN" sz="2400" dirty="0"/>
          </a:p>
          <a:p>
            <a:r>
              <a:rPr lang="en-IN" sz="2400" dirty="0" smtClean="0"/>
              <a:t>Quantum Confinement</a:t>
            </a:r>
          </a:p>
          <a:p>
            <a:endParaRPr lang="en-IN" sz="2400" dirty="0" smtClean="0"/>
          </a:p>
          <a:p>
            <a:r>
              <a:rPr lang="en-IN" sz="2400" dirty="0" smtClean="0"/>
              <a:t>Electrical Properties</a:t>
            </a:r>
          </a:p>
          <a:p>
            <a:endParaRPr lang="en-IN" sz="2400" dirty="0"/>
          </a:p>
          <a:p>
            <a:r>
              <a:rPr lang="en-IN" sz="2400" dirty="0" smtClean="0"/>
              <a:t>Magnetic Properties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199868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Quantum confinement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In </a:t>
            </a:r>
            <a:r>
              <a:rPr lang="en-IN" dirty="0" err="1" smtClean="0"/>
              <a:t>nano</a:t>
            </a:r>
            <a:r>
              <a:rPr lang="en-IN" dirty="0" smtClean="0"/>
              <a:t> material the </a:t>
            </a:r>
            <a:r>
              <a:rPr lang="en-IN" dirty="0" smtClean="0">
                <a:solidFill>
                  <a:srgbClr val="FF0000"/>
                </a:solidFill>
              </a:rPr>
              <a:t>electronic energy levels are discrete</a:t>
            </a:r>
            <a:r>
              <a:rPr lang="en-IN" dirty="0" smtClean="0"/>
              <a:t> unlike bulk material, where the energy level is continuous. Energy level is discrete </a:t>
            </a:r>
            <a:r>
              <a:rPr lang="en-IN" dirty="0" smtClean="0">
                <a:solidFill>
                  <a:srgbClr val="FF0000"/>
                </a:solidFill>
              </a:rPr>
              <a:t>due to confinement of the electronic wave function</a:t>
            </a:r>
            <a:r>
              <a:rPr lang="en-IN" dirty="0" smtClean="0"/>
              <a:t> in restricted physical boundary.</a:t>
            </a:r>
          </a:p>
          <a:p>
            <a:pPr lvl="1"/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2F21F-EC46-4B47-B5D7-F306362141E9}" type="slidenum">
              <a:rPr lang="en-IN" smtClean="0"/>
              <a:t>12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VIT Bhopal University (SAS; Physics division)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7142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Quantum confinement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Three kinds of confinement </a:t>
            </a:r>
          </a:p>
          <a:p>
            <a:pPr lvl="2"/>
            <a:r>
              <a:rPr lang="en-IN" dirty="0" smtClean="0"/>
              <a:t>0 dimension –Quantum dot</a:t>
            </a:r>
          </a:p>
          <a:p>
            <a:pPr lvl="2"/>
            <a:r>
              <a:rPr lang="en-IN" dirty="0" smtClean="0"/>
              <a:t>1 dimensional – Quantum wire</a:t>
            </a:r>
          </a:p>
          <a:p>
            <a:pPr lvl="2"/>
            <a:r>
              <a:rPr lang="en-IN" dirty="0" smtClean="0"/>
              <a:t>2 dimensional restric</a:t>
            </a:r>
            <a:r>
              <a:rPr lang="en-IN" dirty="0"/>
              <a:t>t</a:t>
            </a:r>
            <a:r>
              <a:rPr lang="en-IN" dirty="0" smtClean="0"/>
              <a:t>ion – Quantum wells </a:t>
            </a:r>
          </a:p>
          <a:p>
            <a:pPr lvl="2"/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2F21F-EC46-4B47-B5D7-F306362141E9}" type="slidenum">
              <a:rPr lang="en-IN" smtClean="0"/>
              <a:t>13</a:t>
            </a:fld>
            <a:endParaRPr lang="en-IN"/>
          </a:p>
        </p:txBody>
      </p:sp>
      <p:pic>
        <p:nvPicPr>
          <p:cNvPr id="1026" name="Picture 2" descr="D:\VIT Bhopal\Class PPT\Nano tech\Fig\c01fgy00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3717032"/>
            <a:ext cx="5616624" cy="2489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899592" y="6579438"/>
            <a:ext cx="8053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The physics and engineering of compact Quantum Dot-based Laser for </a:t>
            </a:r>
            <a:r>
              <a:rPr lang="en-IN" dirty="0" err="1" smtClean="0"/>
              <a:t>Biophotonics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-17365" y="4077072"/>
            <a:ext cx="1407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Confinement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179512" y="5445224"/>
            <a:ext cx="58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DOS</a:t>
            </a:r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VIT Bhopal University (SAS; Physics division)</a:t>
            </a:r>
            <a:endParaRPr lang="en-IN"/>
          </a:p>
        </p:txBody>
      </p:sp>
      <p:sp>
        <p:nvSpPr>
          <p:cNvPr id="10" name="Cloud 9"/>
          <p:cNvSpPr/>
          <p:nvPr/>
        </p:nvSpPr>
        <p:spPr>
          <a:xfrm>
            <a:off x="5868144" y="1412776"/>
            <a:ext cx="5832648" cy="1048762"/>
          </a:xfrm>
          <a:prstGeom prst="cloud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6098668" y="1752491"/>
            <a:ext cx="5371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What will happen to the energy level after quantization</a:t>
            </a:r>
            <a:endParaRPr lang="en-IN" dirty="0"/>
          </a:p>
        </p:txBody>
      </p:sp>
      <p:sp>
        <p:nvSpPr>
          <p:cNvPr id="13" name="Left-Up Arrow 12"/>
          <p:cNvSpPr/>
          <p:nvPr/>
        </p:nvSpPr>
        <p:spPr>
          <a:xfrm>
            <a:off x="7956376" y="3068960"/>
            <a:ext cx="720080" cy="2745596"/>
          </a:xfrm>
          <a:prstGeom prst="leftUpArrow">
            <a:avLst>
              <a:gd name="adj1" fmla="val 8165"/>
              <a:gd name="adj2" fmla="val 25000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5256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Quantum Confinement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Definition: </a:t>
            </a:r>
          </a:p>
          <a:p>
            <a:r>
              <a:rPr lang="en-IN" dirty="0"/>
              <a:t>Quantum Confinement is the spatial confinement of electron-hole pairs (</a:t>
            </a:r>
            <a:r>
              <a:rPr lang="en-IN" dirty="0" err="1"/>
              <a:t>excitons</a:t>
            </a:r>
            <a:r>
              <a:rPr lang="en-IN" dirty="0"/>
              <a:t>) in one or more dimensions within a material. </a:t>
            </a:r>
          </a:p>
          <a:p>
            <a:r>
              <a:rPr lang="en-IN" dirty="0"/>
              <a:t>1D confinement: Quantum Wells</a:t>
            </a:r>
          </a:p>
          <a:p>
            <a:r>
              <a:rPr lang="en-IN" dirty="0"/>
              <a:t>2D confinement: Quantum Wire</a:t>
            </a:r>
          </a:p>
          <a:p>
            <a:r>
              <a:rPr lang="en-IN" dirty="0"/>
              <a:t>3D confinement: Quantum Dot</a:t>
            </a:r>
          </a:p>
          <a:p>
            <a:r>
              <a:rPr lang="en-IN" dirty="0"/>
              <a:t>Quantum confinement is more prominent in semiconductors because they have an energy gap in their electronic band structure. </a:t>
            </a:r>
          </a:p>
          <a:p>
            <a:r>
              <a:rPr lang="en-IN" dirty="0"/>
              <a:t>Metals do not have a </a:t>
            </a:r>
            <a:r>
              <a:rPr lang="en-IN" dirty="0" err="1"/>
              <a:t>bandgap</a:t>
            </a:r>
            <a:r>
              <a:rPr lang="en-IN" dirty="0"/>
              <a:t>, so quantum size effects are less prevalent. Quantum confinement is only observed at dimensions below 2 nm.</a:t>
            </a:r>
          </a:p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VIT Bhopal University (SAS; Physics division)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2F21F-EC46-4B47-B5D7-F306362141E9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5229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VIT Bhopal University (SAS; Physics division)</a:t>
            </a:r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2F21F-EC46-4B47-B5D7-F306362141E9}" type="slidenum">
              <a:rPr lang="en-IN" smtClean="0"/>
              <a:t>15</a:t>
            </a:fld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1115616" y="476672"/>
            <a:ext cx="6696744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800" dirty="0"/>
              <a:t>Electrons confined in one direction, i.e., quantum wells (thin films): Electrons can easily move in two dimensions (2D), so one dimensional is quantized. Electrons confined in two directions, i.e., quantum wires: Electrons can easily move in one dimension (1D), so two dimensional is quantized</a:t>
            </a:r>
            <a:r>
              <a:rPr lang="en-IN" sz="2800" dirty="0" smtClean="0"/>
              <a:t>.</a:t>
            </a:r>
          </a:p>
          <a:p>
            <a:pPr algn="just"/>
            <a:endParaRPr lang="en-IN" sz="2800" dirty="0"/>
          </a:p>
          <a:p>
            <a:pPr algn="just"/>
            <a:r>
              <a:rPr lang="en-IN" sz="2800" dirty="0" smtClean="0">
                <a:solidFill>
                  <a:srgbClr val="FF0000"/>
                </a:solidFill>
              </a:rPr>
              <a:t>3D Confinement (0D restriction)-Quantum Dot</a:t>
            </a:r>
          </a:p>
          <a:p>
            <a:pPr algn="just"/>
            <a:r>
              <a:rPr lang="en-IN" sz="2800" dirty="0" smtClean="0">
                <a:solidFill>
                  <a:srgbClr val="FF0000"/>
                </a:solidFill>
              </a:rPr>
              <a:t>2D Confinement (1D restriction)-Quantum Wire</a:t>
            </a:r>
          </a:p>
          <a:p>
            <a:pPr algn="just"/>
            <a:r>
              <a:rPr lang="en-IN" sz="2800" dirty="0" smtClean="0">
                <a:solidFill>
                  <a:srgbClr val="FF0000"/>
                </a:solidFill>
              </a:rPr>
              <a:t>1 D confinement ( 2d restriction) –Quantum well</a:t>
            </a:r>
            <a:endParaRPr lang="en-IN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4798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Recall that when atoms are brought together in a bulk material the number of energy states increases substantially to form nearly continuous bands of states.</a:t>
            </a:r>
          </a:p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VIT Bhopal University (SAS; Physics division)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2F21F-EC46-4B47-B5D7-F306362141E9}" type="slidenum">
              <a:rPr lang="en-IN" smtClean="0"/>
              <a:t>16</a:t>
            </a:fld>
            <a:endParaRPr lang="en-IN"/>
          </a:p>
        </p:txBody>
      </p:sp>
      <p:grpSp>
        <p:nvGrpSpPr>
          <p:cNvPr id="6" name="Group 5"/>
          <p:cNvGrpSpPr/>
          <p:nvPr/>
        </p:nvGrpSpPr>
        <p:grpSpPr>
          <a:xfrm>
            <a:off x="899592" y="3819020"/>
            <a:ext cx="6912768" cy="2274275"/>
            <a:chOff x="1691680" y="3573016"/>
            <a:chExt cx="5904656" cy="1944216"/>
          </a:xfrm>
        </p:grpSpPr>
        <p:sp>
          <p:nvSpPr>
            <p:cNvPr id="7" name="Rectangle 6"/>
            <p:cNvSpPr/>
            <p:nvPr/>
          </p:nvSpPr>
          <p:spPr bwMode="auto">
            <a:xfrm>
              <a:off x="1691680" y="3573016"/>
              <a:ext cx="5904656" cy="1944216"/>
            </a:xfrm>
            <a:prstGeom prst="rect">
              <a:avLst/>
            </a:prstGeom>
            <a:solidFill>
              <a:srgbClr val="010B15"/>
            </a:solidFill>
            <a:ln w="9525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-2500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2286000" y="4400550"/>
              <a:ext cx="228600" cy="228600"/>
            </a:xfrm>
            <a:prstGeom prst="ellipse">
              <a:avLst/>
            </a:prstGeom>
            <a:solidFill>
              <a:srgbClr val="0066FF"/>
            </a:solidFill>
            <a:ln w="25400" cap="flat" cmpd="sng" algn="ctr">
              <a:solidFill>
                <a:srgbClr val="0066FF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5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1943100" y="4114800"/>
              <a:ext cx="914400" cy="857250"/>
            </a:xfrm>
            <a:prstGeom prst="ellipse">
              <a:avLst/>
            </a:prstGeom>
            <a:noFill/>
            <a:ln w="25400" cap="flat" cmpd="sng" algn="ctr">
              <a:solidFill>
                <a:srgbClr val="0066FF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2057400" y="4229100"/>
              <a:ext cx="685800" cy="628650"/>
            </a:xfrm>
            <a:prstGeom prst="ellipse">
              <a:avLst/>
            </a:prstGeom>
            <a:noFill/>
            <a:ln w="25400" cap="flat" cmpd="sng" algn="ctr">
              <a:solidFill>
                <a:srgbClr val="0066FF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2114550" y="4286250"/>
              <a:ext cx="57150" cy="57150"/>
            </a:xfrm>
            <a:prstGeom prst="ellipse">
              <a:avLst/>
            </a:prstGeom>
            <a:solidFill>
              <a:srgbClr val="0066FF"/>
            </a:solidFill>
            <a:ln w="25400" cap="flat" cmpd="sng" algn="ctr">
              <a:solidFill>
                <a:srgbClr val="0066FF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2686050" y="4629150"/>
              <a:ext cx="57150" cy="57150"/>
            </a:xfrm>
            <a:prstGeom prst="ellipse">
              <a:avLst/>
            </a:prstGeom>
            <a:solidFill>
              <a:srgbClr val="0066FF"/>
            </a:solidFill>
            <a:ln w="25400" cap="flat" cmpd="sng" algn="ctr">
              <a:solidFill>
                <a:srgbClr val="0066FF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1943100" y="4343400"/>
              <a:ext cx="57150" cy="57150"/>
            </a:xfrm>
            <a:prstGeom prst="ellipse">
              <a:avLst/>
            </a:prstGeom>
            <a:solidFill>
              <a:srgbClr val="0066FF"/>
            </a:solidFill>
            <a:ln w="25400" cap="flat" cmpd="sng" algn="ctr">
              <a:solidFill>
                <a:srgbClr val="0066FF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4" name="Oval 13"/>
            <p:cNvSpPr/>
            <p:nvPr/>
          </p:nvSpPr>
          <p:spPr>
            <a:xfrm>
              <a:off x="2171700" y="4914900"/>
              <a:ext cx="57150" cy="57150"/>
            </a:xfrm>
            <a:prstGeom prst="ellipse">
              <a:avLst/>
            </a:prstGeom>
            <a:solidFill>
              <a:srgbClr val="0066FF"/>
            </a:solidFill>
            <a:ln w="25400" cap="flat" cmpd="sng" algn="ctr">
              <a:solidFill>
                <a:srgbClr val="0066FF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2628900" y="4171950"/>
              <a:ext cx="57150" cy="57150"/>
            </a:xfrm>
            <a:prstGeom prst="ellipse">
              <a:avLst/>
            </a:prstGeom>
            <a:solidFill>
              <a:srgbClr val="0066FF"/>
            </a:solidFill>
            <a:ln w="25400" cap="flat" cmpd="sng" algn="ctr">
              <a:solidFill>
                <a:srgbClr val="0066FF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cxnSp>
          <p:nvCxnSpPr>
            <p:cNvPr id="16" name="Straight Arrow Connector 15"/>
            <p:cNvCxnSpPr/>
            <p:nvPr/>
          </p:nvCxnSpPr>
          <p:spPr>
            <a:xfrm>
              <a:off x="4057650" y="4400550"/>
              <a:ext cx="457200" cy="1191"/>
            </a:xfrm>
            <a:prstGeom prst="straightConnector1">
              <a:avLst/>
            </a:prstGeom>
            <a:noFill/>
            <a:ln w="63500" cap="flat" cmpd="sng" algn="ctr">
              <a:solidFill>
                <a:srgbClr val="0066FF"/>
              </a:solidFill>
              <a:prstDash val="solid"/>
              <a:tailEnd type="arrow"/>
            </a:ln>
            <a:effectLst/>
          </p:spPr>
        </p:cxnSp>
        <p:cxnSp>
          <p:nvCxnSpPr>
            <p:cNvPr id="17" name="Straight Connector 16"/>
            <p:cNvCxnSpPr/>
            <p:nvPr/>
          </p:nvCxnSpPr>
          <p:spPr>
            <a:xfrm>
              <a:off x="3086100" y="4229100"/>
              <a:ext cx="228600" cy="0"/>
            </a:xfrm>
            <a:prstGeom prst="line">
              <a:avLst/>
            </a:prstGeom>
            <a:noFill/>
            <a:ln w="15875" cap="flat" cmpd="sng" algn="ctr">
              <a:solidFill>
                <a:srgbClr val="FFFFFF"/>
              </a:solidFill>
              <a:prstDash val="solid"/>
            </a:ln>
            <a:effectLst/>
          </p:spPr>
        </p:cxnSp>
        <p:cxnSp>
          <p:nvCxnSpPr>
            <p:cNvPr id="18" name="Straight Connector 17"/>
            <p:cNvCxnSpPr/>
            <p:nvPr/>
          </p:nvCxnSpPr>
          <p:spPr>
            <a:xfrm>
              <a:off x="3086100" y="4343400"/>
              <a:ext cx="228600" cy="0"/>
            </a:xfrm>
            <a:prstGeom prst="line">
              <a:avLst/>
            </a:prstGeom>
            <a:noFill/>
            <a:ln w="15875" cap="flat" cmpd="sng" algn="ctr">
              <a:solidFill>
                <a:srgbClr val="FFFFFF"/>
              </a:solidFill>
              <a:prstDash val="solid"/>
            </a:ln>
            <a:effectLst/>
          </p:spPr>
        </p:cxnSp>
        <p:cxnSp>
          <p:nvCxnSpPr>
            <p:cNvPr id="19" name="Straight Connector 18"/>
            <p:cNvCxnSpPr/>
            <p:nvPr/>
          </p:nvCxnSpPr>
          <p:spPr>
            <a:xfrm>
              <a:off x="3086100" y="4457700"/>
              <a:ext cx="228600" cy="0"/>
            </a:xfrm>
            <a:prstGeom prst="line">
              <a:avLst/>
            </a:prstGeom>
            <a:noFill/>
            <a:ln w="15875" cap="flat" cmpd="sng" algn="ctr">
              <a:solidFill>
                <a:srgbClr val="FFFFFF"/>
              </a:solidFill>
              <a:prstDash val="solid"/>
            </a:ln>
            <a:effectLst/>
          </p:spPr>
        </p:cxnSp>
        <p:cxnSp>
          <p:nvCxnSpPr>
            <p:cNvPr id="20" name="Straight Connector 19"/>
            <p:cNvCxnSpPr/>
            <p:nvPr/>
          </p:nvCxnSpPr>
          <p:spPr>
            <a:xfrm>
              <a:off x="3086100" y="4572000"/>
              <a:ext cx="228600" cy="0"/>
            </a:xfrm>
            <a:prstGeom prst="line">
              <a:avLst/>
            </a:prstGeom>
            <a:noFill/>
            <a:ln w="15875" cap="flat" cmpd="sng" algn="ctr">
              <a:solidFill>
                <a:srgbClr val="FFFFFF"/>
              </a:solidFill>
              <a:prstDash val="solid"/>
            </a:ln>
            <a:effectLst/>
          </p:spPr>
        </p:cxnSp>
        <p:cxnSp>
          <p:nvCxnSpPr>
            <p:cNvPr id="21" name="Straight Connector 20"/>
            <p:cNvCxnSpPr/>
            <p:nvPr/>
          </p:nvCxnSpPr>
          <p:spPr>
            <a:xfrm>
              <a:off x="3086100" y="4686300"/>
              <a:ext cx="228600" cy="0"/>
            </a:xfrm>
            <a:prstGeom prst="line">
              <a:avLst/>
            </a:prstGeom>
            <a:noFill/>
            <a:ln w="15875" cap="flat" cmpd="sng" algn="ctr">
              <a:solidFill>
                <a:srgbClr val="FFFFFF"/>
              </a:solidFill>
              <a:prstDash val="solid"/>
            </a:ln>
            <a:effectLst/>
          </p:spPr>
        </p:cxnSp>
        <p:cxnSp>
          <p:nvCxnSpPr>
            <p:cNvPr id="22" name="Straight Connector 21"/>
            <p:cNvCxnSpPr/>
            <p:nvPr/>
          </p:nvCxnSpPr>
          <p:spPr>
            <a:xfrm>
              <a:off x="3086100" y="4800600"/>
              <a:ext cx="228600" cy="0"/>
            </a:xfrm>
            <a:prstGeom prst="line">
              <a:avLst/>
            </a:prstGeom>
            <a:noFill/>
            <a:ln w="15875" cap="flat" cmpd="sng" algn="ctr">
              <a:solidFill>
                <a:srgbClr val="FFFFFF"/>
              </a:solidFill>
              <a:prstDash val="solid"/>
            </a:ln>
            <a:effectLst/>
          </p:spPr>
        </p:cxnSp>
        <p:sp>
          <p:nvSpPr>
            <p:cNvPr id="23" name="Oval 22"/>
            <p:cNvSpPr/>
            <p:nvPr/>
          </p:nvSpPr>
          <p:spPr>
            <a:xfrm>
              <a:off x="3200400" y="4400550"/>
              <a:ext cx="57150" cy="57150"/>
            </a:xfrm>
            <a:prstGeom prst="ellipse">
              <a:avLst/>
            </a:prstGeom>
            <a:solidFill>
              <a:srgbClr val="0066FF"/>
            </a:solidFill>
            <a:ln w="25400" cap="flat" cmpd="sng" algn="ctr">
              <a:solidFill>
                <a:srgbClr val="0066FF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4" name="Oval 23"/>
            <p:cNvSpPr/>
            <p:nvPr/>
          </p:nvSpPr>
          <p:spPr>
            <a:xfrm>
              <a:off x="3143250" y="4743450"/>
              <a:ext cx="57150" cy="57150"/>
            </a:xfrm>
            <a:prstGeom prst="ellipse">
              <a:avLst/>
            </a:prstGeom>
            <a:solidFill>
              <a:srgbClr val="0066FF"/>
            </a:solidFill>
            <a:ln w="25400" cap="flat" cmpd="sng" algn="ctr">
              <a:solidFill>
                <a:srgbClr val="0066FF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3200400" y="4629150"/>
              <a:ext cx="57150" cy="57150"/>
            </a:xfrm>
            <a:prstGeom prst="ellipse">
              <a:avLst/>
            </a:prstGeom>
            <a:solidFill>
              <a:srgbClr val="0066FF"/>
            </a:solidFill>
            <a:ln w="25400" cap="flat" cmpd="sng" algn="ctr">
              <a:solidFill>
                <a:srgbClr val="0066FF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6" name="Oval 25"/>
            <p:cNvSpPr/>
            <p:nvPr/>
          </p:nvSpPr>
          <p:spPr>
            <a:xfrm>
              <a:off x="3143250" y="4514850"/>
              <a:ext cx="57150" cy="57150"/>
            </a:xfrm>
            <a:prstGeom prst="ellipse">
              <a:avLst/>
            </a:prstGeom>
            <a:solidFill>
              <a:srgbClr val="0066FF"/>
            </a:solidFill>
            <a:ln w="25400" cap="flat" cmpd="sng" algn="ctr">
              <a:solidFill>
                <a:srgbClr val="0066FF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cxnSp>
          <p:nvCxnSpPr>
            <p:cNvPr id="27" name="Straight Arrow Connector 26"/>
            <p:cNvCxnSpPr/>
            <p:nvPr/>
          </p:nvCxnSpPr>
          <p:spPr>
            <a:xfrm rot="5400000" flipH="1" flipV="1">
              <a:off x="3142060" y="4514851"/>
              <a:ext cx="801291" cy="1190"/>
            </a:xfrm>
            <a:prstGeom prst="straightConnector1">
              <a:avLst/>
            </a:prstGeom>
            <a:noFill/>
            <a:ln w="15875" cap="flat" cmpd="sng" algn="ctr">
              <a:solidFill>
                <a:srgbClr val="FFFFFF"/>
              </a:solidFill>
              <a:prstDash val="solid"/>
              <a:tailEnd type="arrow"/>
            </a:ln>
            <a:effectLst/>
          </p:spPr>
        </p:cxnSp>
        <p:sp>
          <p:nvSpPr>
            <p:cNvPr id="28" name="TextBox 49"/>
            <p:cNvSpPr txBox="1">
              <a:spLocks noChangeArrowheads="1"/>
            </p:cNvSpPr>
            <p:nvPr/>
          </p:nvSpPr>
          <p:spPr bwMode="auto">
            <a:xfrm>
              <a:off x="3314701" y="3943351"/>
              <a:ext cx="550151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Energy</a:t>
              </a:r>
            </a:p>
          </p:txBody>
        </p:sp>
        <p:grpSp>
          <p:nvGrpSpPr>
            <p:cNvPr id="29" name="Group 36"/>
            <p:cNvGrpSpPr>
              <a:grpSpLocks/>
            </p:cNvGrpSpPr>
            <p:nvPr/>
          </p:nvGrpSpPr>
          <p:grpSpPr bwMode="auto">
            <a:xfrm>
              <a:off x="4724401" y="3857626"/>
              <a:ext cx="2740819" cy="1116806"/>
              <a:chOff x="3008" y="2544"/>
              <a:chExt cx="2302" cy="938"/>
            </a:xfrm>
          </p:grpSpPr>
          <p:cxnSp>
            <p:nvCxnSpPr>
              <p:cNvPr id="30" name="Straight Connector 29"/>
              <p:cNvCxnSpPr/>
              <p:nvPr/>
            </p:nvCxnSpPr>
            <p:spPr>
              <a:xfrm>
                <a:off x="3512" y="2613"/>
                <a:ext cx="1248" cy="0"/>
              </a:xfrm>
              <a:prstGeom prst="line">
                <a:avLst/>
              </a:prstGeom>
              <a:noFill/>
              <a:ln w="101600" cap="flat" cmpd="sng" algn="ctr">
                <a:gradFill flip="none" rotWithShape="1">
                  <a:gsLst>
                    <a:gs pos="0">
                      <a:srgbClr val="CBCBCB"/>
                    </a:gs>
                    <a:gs pos="13000">
                      <a:srgbClr val="5F5F5F"/>
                    </a:gs>
                    <a:gs pos="21001">
                      <a:srgbClr val="5F5F5F"/>
                    </a:gs>
                    <a:gs pos="63000">
                      <a:srgbClr val="FFFFFF"/>
                    </a:gs>
                    <a:gs pos="67000">
                      <a:srgbClr val="B2B2B2"/>
                    </a:gs>
                    <a:gs pos="69000">
                      <a:srgbClr val="292929"/>
                    </a:gs>
                    <a:gs pos="82001">
                      <a:srgbClr val="777777"/>
                    </a:gs>
                    <a:gs pos="100000">
                      <a:srgbClr val="EAEAEA"/>
                    </a:gs>
                  </a:gsLst>
                  <a:lin ang="5400000" scaled="0"/>
                  <a:tileRect/>
                </a:gradFill>
                <a:prstDash val="solid"/>
              </a:ln>
              <a:effectLst/>
            </p:spPr>
          </p:cxnSp>
          <p:cxnSp>
            <p:nvCxnSpPr>
              <p:cNvPr id="31" name="Straight Connector 30"/>
              <p:cNvCxnSpPr/>
              <p:nvPr/>
            </p:nvCxnSpPr>
            <p:spPr>
              <a:xfrm>
                <a:off x="3512" y="2951"/>
                <a:ext cx="1248" cy="0"/>
              </a:xfrm>
              <a:prstGeom prst="line">
                <a:avLst/>
              </a:prstGeom>
              <a:noFill/>
              <a:ln w="101600" cap="flat" cmpd="sng" algn="ctr">
                <a:gradFill flip="none" rotWithShape="1">
                  <a:gsLst>
                    <a:gs pos="0">
                      <a:srgbClr val="CBCBCB"/>
                    </a:gs>
                    <a:gs pos="13000">
                      <a:srgbClr val="5F5F5F"/>
                    </a:gs>
                    <a:gs pos="21001">
                      <a:srgbClr val="5F5F5F"/>
                    </a:gs>
                    <a:gs pos="63000">
                      <a:srgbClr val="FFFFFF"/>
                    </a:gs>
                    <a:gs pos="67000">
                      <a:srgbClr val="B2B2B2"/>
                    </a:gs>
                    <a:gs pos="69000">
                      <a:srgbClr val="292929"/>
                    </a:gs>
                    <a:gs pos="82001">
                      <a:srgbClr val="777777"/>
                    </a:gs>
                    <a:gs pos="100000">
                      <a:srgbClr val="EAEAEA"/>
                    </a:gs>
                  </a:gsLst>
                  <a:lin ang="5400000" scaled="0"/>
                  <a:tileRect/>
                </a:gradFill>
                <a:prstDash val="solid"/>
              </a:ln>
              <a:effectLst/>
            </p:spPr>
          </p:cxnSp>
          <p:sp>
            <p:nvSpPr>
              <p:cNvPr id="32" name="Rectangle 31"/>
              <p:cNvSpPr/>
              <p:nvPr/>
            </p:nvSpPr>
            <p:spPr>
              <a:xfrm>
                <a:off x="3008" y="3242"/>
                <a:ext cx="336" cy="240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16000">
                    <a:srgbClr val="1F1F1F"/>
                  </a:gs>
                  <a:gs pos="16000">
                    <a:srgbClr val="1F1F1F"/>
                  </a:gs>
                  <a:gs pos="17999">
                    <a:srgbClr val="FFFFFF"/>
                  </a:gs>
                  <a:gs pos="42000">
                    <a:srgbClr val="636363"/>
                  </a:gs>
                  <a:gs pos="53000">
                    <a:srgbClr val="CFCFCF"/>
                  </a:gs>
                  <a:gs pos="66000">
                    <a:srgbClr val="CFCFCF"/>
                  </a:gs>
                  <a:gs pos="75999">
                    <a:srgbClr val="1F1F1F">
                      <a:alpha val="79000"/>
                    </a:srgbClr>
                  </a:gs>
                  <a:gs pos="78999">
                    <a:srgbClr val="FFFFFF"/>
                  </a:gs>
                  <a:gs pos="100000">
                    <a:srgbClr val="7F7F7F"/>
                  </a:gs>
                </a:gsLst>
                <a:lin ang="54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  <p:cxnSp>
            <p:nvCxnSpPr>
              <p:cNvPr id="33" name="Straight Connector 32"/>
              <p:cNvCxnSpPr/>
              <p:nvPr/>
            </p:nvCxnSpPr>
            <p:spPr>
              <a:xfrm flipV="1">
                <a:off x="3056" y="3050"/>
                <a:ext cx="480" cy="192"/>
              </a:xfrm>
              <a:prstGeom prst="line">
                <a:avLst/>
              </a:prstGeom>
              <a:noFill/>
              <a:ln w="9525" cap="flat" cmpd="sng" algn="ctr">
                <a:solidFill>
                  <a:srgbClr val="FFFFFF"/>
                </a:solidFill>
                <a:prstDash val="solid"/>
              </a:ln>
              <a:effectLst/>
            </p:spPr>
          </p:cxnSp>
          <p:cxnSp>
            <p:nvCxnSpPr>
              <p:cNvPr id="34" name="Straight Connector 33"/>
              <p:cNvCxnSpPr/>
              <p:nvPr/>
            </p:nvCxnSpPr>
            <p:spPr>
              <a:xfrm rot="5400000" flipH="1" flipV="1">
                <a:off x="3344" y="3050"/>
                <a:ext cx="192" cy="192"/>
              </a:xfrm>
              <a:prstGeom prst="line">
                <a:avLst/>
              </a:prstGeom>
              <a:noFill/>
              <a:ln w="9525" cap="flat" cmpd="sng" algn="ctr">
                <a:solidFill>
                  <a:srgbClr val="FFFFFF"/>
                </a:solidFill>
                <a:prstDash val="solid"/>
              </a:ln>
              <a:effectLst/>
            </p:spPr>
          </p:cxnSp>
          <p:cxnSp>
            <p:nvCxnSpPr>
              <p:cNvPr id="35" name="Straight Connector 34"/>
              <p:cNvCxnSpPr/>
              <p:nvPr/>
            </p:nvCxnSpPr>
            <p:spPr>
              <a:xfrm rot="5400000" flipH="1" flipV="1">
                <a:off x="3224" y="3170"/>
                <a:ext cx="432" cy="192"/>
              </a:xfrm>
              <a:prstGeom prst="line">
                <a:avLst/>
              </a:prstGeom>
              <a:noFill/>
              <a:ln w="9525" cap="flat" cmpd="sng" algn="ctr">
                <a:solidFill>
                  <a:srgbClr val="FFFFFF"/>
                </a:solidFill>
                <a:prstDash val="solid"/>
              </a:ln>
              <a:effectLst/>
            </p:spPr>
          </p:cxnSp>
          <p:cxnSp>
            <p:nvCxnSpPr>
              <p:cNvPr id="36" name="Straight Arrow Connector 35"/>
              <p:cNvCxnSpPr/>
              <p:nvPr/>
            </p:nvCxnSpPr>
            <p:spPr>
              <a:xfrm rot="5400000" flipH="1" flipV="1">
                <a:off x="4703" y="3024"/>
                <a:ext cx="673" cy="1"/>
              </a:xfrm>
              <a:prstGeom prst="straightConnector1">
                <a:avLst/>
              </a:prstGeom>
              <a:noFill/>
              <a:ln w="15875" cap="flat" cmpd="sng" algn="ctr">
                <a:solidFill>
                  <a:srgbClr val="FFFFFF"/>
                </a:solidFill>
                <a:prstDash val="solid"/>
                <a:tailEnd type="arrow"/>
              </a:ln>
              <a:effectLst/>
            </p:spPr>
          </p:cxnSp>
          <p:sp>
            <p:nvSpPr>
              <p:cNvPr id="37" name="TextBox 50"/>
              <p:cNvSpPr txBox="1">
                <a:spLocks noChangeArrowheads="1"/>
              </p:cNvSpPr>
              <p:nvPr/>
            </p:nvSpPr>
            <p:spPr bwMode="auto">
              <a:xfrm>
                <a:off x="4848" y="2544"/>
                <a:ext cx="462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</a:rPr>
                  <a:t>Energy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86356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Quantum Dots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Nanocrystals</a:t>
            </a:r>
            <a:r>
              <a:rPr lang="en-IN" dirty="0"/>
              <a:t>  (2-10 nm) of semiconductor compounds</a:t>
            </a:r>
          </a:p>
          <a:p>
            <a:r>
              <a:rPr lang="en-IN" dirty="0"/>
              <a:t>Small size leads to confinement of </a:t>
            </a:r>
            <a:r>
              <a:rPr lang="en-IN" dirty="0" err="1"/>
              <a:t>excitons</a:t>
            </a:r>
            <a:r>
              <a:rPr lang="en-IN" dirty="0"/>
              <a:t> (electron-hole pairs)</a:t>
            </a:r>
          </a:p>
          <a:p>
            <a:r>
              <a:rPr lang="en-IN" dirty="0"/>
              <a:t>Quantized energy levels and altered relaxation dynamics</a:t>
            </a:r>
          </a:p>
          <a:p>
            <a:r>
              <a:rPr lang="en-IN" dirty="0"/>
              <a:t>Examples: </a:t>
            </a:r>
            <a:r>
              <a:rPr lang="en-IN" dirty="0" err="1"/>
              <a:t>CdSe</a:t>
            </a:r>
            <a:r>
              <a:rPr lang="en-IN" dirty="0"/>
              <a:t>, </a:t>
            </a:r>
            <a:r>
              <a:rPr lang="en-IN" dirty="0" err="1"/>
              <a:t>PbSe</a:t>
            </a:r>
            <a:r>
              <a:rPr lang="en-IN" dirty="0"/>
              <a:t>, </a:t>
            </a:r>
            <a:r>
              <a:rPr lang="en-IN" dirty="0" err="1"/>
              <a:t>PbTe</a:t>
            </a:r>
            <a:r>
              <a:rPr lang="en-IN" dirty="0"/>
              <a:t>, </a:t>
            </a:r>
            <a:r>
              <a:rPr lang="en-IN" dirty="0" err="1"/>
              <a:t>InP</a:t>
            </a:r>
            <a:endParaRPr lang="en-IN" dirty="0"/>
          </a:p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VIT Bhopal University (SAS; Physics division)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2F21F-EC46-4B47-B5D7-F306362141E9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830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Quantum Dot (QD)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875628" y="1226720"/>
            <a:ext cx="688900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Quantum Dot’s are Nano scale semiconductor crystal , where motion of</a:t>
            </a:r>
          </a:p>
          <a:p>
            <a:r>
              <a:rPr lang="en-IN" dirty="0" smtClean="0"/>
              <a:t> electron are restrain in all three dimension. </a:t>
            </a:r>
          </a:p>
          <a:p>
            <a:endParaRPr lang="en-IN" dirty="0"/>
          </a:p>
        </p:txBody>
      </p:sp>
      <p:sp>
        <p:nvSpPr>
          <p:cNvPr id="6" name="Oval 5"/>
          <p:cNvSpPr/>
          <p:nvPr/>
        </p:nvSpPr>
        <p:spPr>
          <a:xfrm>
            <a:off x="3377115" y="2874626"/>
            <a:ext cx="1656184" cy="165618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3748992" y="3317997"/>
            <a:ext cx="91242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dirty="0" smtClean="0"/>
              <a:t>QD</a:t>
            </a:r>
            <a:endParaRPr lang="en-IN" sz="4400" dirty="0"/>
          </a:p>
        </p:txBody>
      </p:sp>
      <p:sp>
        <p:nvSpPr>
          <p:cNvPr id="8" name="TextBox 7"/>
          <p:cNvSpPr txBox="1"/>
          <p:nvPr/>
        </p:nvSpPr>
        <p:spPr>
          <a:xfrm>
            <a:off x="5175012" y="1947820"/>
            <a:ext cx="135466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dirty="0" smtClean="0"/>
              <a:t>Photovoltaic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6165636" y="3518051"/>
            <a:ext cx="728084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dirty="0" smtClean="0"/>
              <a:t>Drugs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5173249" y="4628915"/>
            <a:ext cx="3440942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dirty="0" smtClean="0"/>
              <a:t>Photo and electrochemical devices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875628" y="2147619"/>
            <a:ext cx="2528064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dirty="0" smtClean="0"/>
              <a:t>Non linear optical effects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1144867" y="3522698"/>
            <a:ext cx="1660519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dirty="0" smtClean="0"/>
              <a:t>Biological levels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1144867" y="4530810"/>
            <a:ext cx="1604927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dirty="0" err="1" smtClean="0"/>
              <a:t>Photocatalysict</a:t>
            </a:r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3488367" y="5394906"/>
            <a:ext cx="1546001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dirty="0" smtClean="0"/>
              <a:t>Bio conjugates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726467" y="5513944"/>
            <a:ext cx="2133600" cy="365125"/>
          </a:xfrm>
        </p:spPr>
        <p:txBody>
          <a:bodyPr/>
          <a:lstStyle/>
          <a:p>
            <a:fld id="{93C2F21F-EC46-4B47-B5D7-F306362141E9}" type="slidenum">
              <a:rPr lang="en-IN" smtClean="0"/>
              <a:t>18</a:t>
            </a:fld>
            <a:endParaRPr lang="en-IN"/>
          </a:p>
        </p:txBody>
      </p:sp>
      <p:cxnSp>
        <p:nvCxnSpPr>
          <p:cNvPr id="16" name="Straight Arrow Connector 15"/>
          <p:cNvCxnSpPr/>
          <p:nvPr/>
        </p:nvCxnSpPr>
        <p:spPr>
          <a:xfrm flipV="1">
            <a:off x="4661421" y="2332285"/>
            <a:ext cx="513591" cy="54234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5173249" y="3702717"/>
            <a:ext cx="79615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6" idx="5"/>
            <a:endCxn id="10" idx="1"/>
          </p:cNvCxnSpPr>
          <p:nvPr/>
        </p:nvCxnSpPr>
        <p:spPr>
          <a:xfrm>
            <a:off x="4790756" y="4288267"/>
            <a:ext cx="382493" cy="5253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>
            <a:off x="2805386" y="4288267"/>
            <a:ext cx="682981" cy="42720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6" idx="4"/>
            <a:endCxn id="14" idx="0"/>
          </p:cNvCxnSpPr>
          <p:nvPr/>
        </p:nvCxnSpPr>
        <p:spPr>
          <a:xfrm>
            <a:off x="4205207" y="4530810"/>
            <a:ext cx="56161" cy="86409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6" idx="1"/>
          </p:cNvCxnSpPr>
          <p:nvPr/>
        </p:nvCxnSpPr>
        <p:spPr>
          <a:xfrm flipH="1" flipV="1">
            <a:off x="3233099" y="2603455"/>
            <a:ext cx="386559" cy="5137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endCxn id="12" idx="3"/>
          </p:cNvCxnSpPr>
          <p:nvPr/>
        </p:nvCxnSpPr>
        <p:spPr>
          <a:xfrm flipH="1">
            <a:off x="2805386" y="3702717"/>
            <a:ext cx="427713" cy="464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019242" y="6165304"/>
            <a:ext cx="30867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000099"/>
                </a:solidFill>
              </a:rPr>
              <a:t>Example of QD: </a:t>
            </a:r>
            <a:r>
              <a:rPr lang="en-US" dirty="0" err="1" smtClean="0">
                <a:solidFill>
                  <a:srgbClr val="000099"/>
                </a:solidFill>
              </a:rPr>
              <a:t>PbS</a:t>
            </a:r>
            <a:r>
              <a:rPr lang="en-US" dirty="0">
                <a:solidFill>
                  <a:srgbClr val="000099"/>
                </a:solidFill>
              </a:rPr>
              <a:t>, </a:t>
            </a:r>
            <a:r>
              <a:rPr lang="en-US" dirty="0" err="1">
                <a:solidFill>
                  <a:srgbClr val="000099"/>
                </a:solidFill>
              </a:rPr>
              <a:t>GaAs</a:t>
            </a:r>
            <a:r>
              <a:rPr lang="en-US" dirty="0">
                <a:solidFill>
                  <a:srgbClr val="000099"/>
                </a:solidFill>
              </a:rPr>
              <a:t>, </a:t>
            </a:r>
            <a:r>
              <a:rPr lang="en-US" dirty="0" err="1">
                <a:solidFill>
                  <a:srgbClr val="000099"/>
                </a:solidFill>
              </a:rPr>
              <a:t>CdS</a:t>
            </a:r>
            <a:endParaRPr lang="en-IN" dirty="0"/>
          </a:p>
        </p:txBody>
      </p:sp>
      <p:sp>
        <p:nvSpPr>
          <p:cNvPr id="30" name="Footer Placeholder 2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VIT Bhopal University (SAS; Physics division)</a:t>
            </a:r>
            <a:endParaRPr lang="en-IN"/>
          </a:p>
        </p:txBody>
      </p:sp>
      <p:sp>
        <p:nvSpPr>
          <p:cNvPr id="5" name="Cloud 4"/>
          <p:cNvSpPr/>
          <p:nvPr/>
        </p:nvSpPr>
        <p:spPr>
          <a:xfrm>
            <a:off x="6225190" y="5157192"/>
            <a:ext cx="3078880" cy="1574878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QD LCD Display</a:t>
            </a:r>
          </a:p>
          <a:p>
            <a:pPr algn="ctr"/>
            <a:r>
              <a:rPr lang="en-IN" dirty="0" smtClean="0"/>
              <a:t>By </a:t>
            </a:r>
            <a:r>
              <a:rPr lang="en-IN" dirty="0" err="1" smtClean="0"/>
              <a:t>samsung</a:t>
            </a:r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>
            <a:off x="5932136" y="2902231"/>
            <a:ext cx="4425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Emitted light colour depends upon size of QD</a:t>
            </a:r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>
            <a:off x="-249450" y="5302573"/>
            <a:ext cx="3736151" cy="92333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dirty="0" smtClean="0"/>
              <a:t>Activity:</a:t>
            </a:r>
          </a:p>
          <a:p>
            <a:r>
              <a:rPr lang="en-IN" dirty="0" smtClean="0"/>
              <a:t>What will happen to absorbance </a:t>
            </a:r>
          </a:p>
          <a:p>
            <a:r>
              <a:rPr lang="en-IN" dirty="0" smtClean="0"/>
              <a:t>spectra if the diameter of QD changes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3832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Quantum Wire</a:t>
            </a:r>
            <a:br>
              <a:rPr lang="en-IN" dirty="0" smtClean="0"/>
            </a:b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179512" y="1156102"/>
            <a:ext cx="8891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Quantum wire are </a:t>
            </a:r>
            <a:r>
              <a:rPr lang="en-IN" dirty="0" err="1"/>
              <a:t>n</a:t>
            </a:r>
            <a:r>
              <a:rPr lang="en-IN" dirty="0" err="1" smtClean="0"/>
              <a:t>ano</a:t>
            </a:r>
            <a:r>
              <a:rPr lang="en-IN" dirty="0" smtClean="0"/>
              <a:t> crystal where the electronic motion is restricted in only one direction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2F21F-EC46-4B47-B5D7-F306362141E9}" type="slidenum">
              <a:rPr lang="en-IN" smtClean="0"/>
              <a:t>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VIT Bhopal University (SAS; Physics division)</a:t>
            </a:r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827584" y="1525434"/>
            <a:ext cx="5873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So basically a tiny wire having diameter of </a:t>
            </a:r>
            <a:r>
              <a:rPr lang="en-IN" dirty="0" err="1" smtClean="0"/>
              <a:t>nano</a:t>
            </a:r>
            <a:r>
              <a:rPr lang="en-IN" dirty="0" smtClean="0"/>
              <a:t> meter range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2627784" y="1894766"/>
            <a:ext cx="2004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Example: nanotube</a:t>
            </a:r>
            <a:endParaRPr lang="en-IN" dirty="0"/>
          </a:p>
        </p:txBody>
      </p:sp>
      <p:sp>
        <p:nvSpPr>
          <p:cNvPr id="9" name="Down Arrow Callout 8"/>
          <p:cNvSpPr/>
          <p:nvPr/>
        </p:nvSpPr>
        <p:spPr>
          <a:xfrm>
            <a:off x="3419872" y="2996952"/>
            <a:ext cx="2880320" cy="1152128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Applications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1987809" y="3388350"/>
            <a:ext cx="905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Sensors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2526332" y="3964414"/>
            <a:ext cx="1164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Capacitors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4283968" y="4333746"/>
            <a:ext cx="1316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Membranes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6948264" y="3258019"/>
            <a:ext cx="1165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Electrodes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9665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Quantum well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539552" y="1700808"/>
            <a:ext cx="8157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Quantum well are </a:t>
            </a:r>
            <a:r>
              <a:rPr lang="en-IN" dirty="0" err="1" smtClean="0"/>
              <a:t>nano</a:t>
            </a:r>
            <a:r>
              <a:rPr lang="en-IN" dirty="0" smtClean="0"/>
              <a:t> crystal where motion of electron is restrain in two dimension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2F21F-EC46-4B47-B5D7-F306362141E9}" type="slidenum">
              <a:rPr lang="en-IN" smtClean="0"/>
              <a:t>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VIT Bhopal University (SAS; Physics division)</a:t>
            </a:r>
            <a:endParaRPr lang="en-IN"/>
          </a:p>
        </p:txBody>
      </p:sp>
      <p:grpSp>
        <p:nvGrpSpPr>
          <p:cNvPr id="19" name="Group 18"/>
          <p:cNvGrpSpPr>
            <a:grpSpLocks/>
          </p:cNvGrpSpPr>
          <p:nvPr/>
        </p:nvGrpSpPr>
        <p:grpSpPr bwMode="auto">
          <a:xfrm>
            <a:off x="1887019" y="3782070"/>
            <a:ext cx="1244821" cy="981998"/>
            <a:chOff x="1911" y="825"/>
            <a:chExt cx="1166" cy="1310"/>
          </a:xfrm>
        </p:grpSpPr>
        <p:sp>
          <p:nvSpPr>
            <p:cNvPr id="20" name="Line 17"/>
            <p:cNvSpPr>
              <a:spLocks noChangeAspect="1" noChangeShapeType="1"/>
            </p:cNvSpPr>
            <p:nvPr/>
          </p:nvSpPr>
          <p:spPr bwMode="auto">
            <a:xfrm flipV="1">
              <a:off x="1911" y="1450"/>
              <a:ext cx="575" cy="6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9pPr>
            </a:lstStyle>
            <a:p>
              <a:endParaRPr lang="en-IN"/>
            </a:p>
          </p:txBody>
        </p:sp>
        <p:sp>
          <p:nvSpPr>
            <p:cNvPr id="21" name="Line 18"/>
            <p:cNvSpPr>
              <a:spLocks noChangeAspect="1" noChangeShapeType="1"/>
            </p:cNvSpPr>
            <p:nvPr/>
          </p:nvSpPr>
          <p:spPr bwMode="auto">
            <a:xfrm flipV="1">
              <a:off x="2490" y="853"/>
              <a:ext cx="0" cy="5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9pPr>
            </a:lstStyle>
            <a:p>
              <a:endParaRPr lang="en-IN"/>
            </a:p>
          </p:txBody>
        </p:sp>
        <p:sp>
          <p:nvSpPr>
            <p:cNvPr id="22" name="Line 19"/>
            <p:cNvSpPr>
              <a:spLocks noChangeAspect="1" noChangeShapeType="1"/>
            </p:cNvSpPr>
            <p:nvPr/>
          </p:nvSpPr>
          <p:spPr bwMode="auto">
            <a:xfrm flipV="1">
              <a:off x="2496" y="834"/>
              <a:ext cx="576" cy="67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9pPr>
            </a:lstStyle>
            <a:p>
              <a:endParaRPr lang="en-IN"/>
            </a:p>
          </p:txBody>
        </p:sp>
        <p:sp>
          <p:nvSpPr>
            <p:cNvPr id="23" name="Line 20"/>
            <p:cNvSpPr>
              <a:spLocks noChangeAspect="1" noChangeShapeType="1"/>
            </p:cNvSpPr>
            <p:nvPr/>
          </p:nvSpPr>
          <p:spPr bwMode="auto">
            <a:xfrm>
              <a:off x="2497" y="830"/>
              <a:ext cx="580" cy="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9pPr>
            </a:lstStyle>
            <a:p>
              <a:endParaRPr lang="en-IN"/>
            </a:p>
          </p:txBody>
        </p:sp>
        <p:sp>
          <p:nvSpPr>
            <p:cNvPr id="24" name="Line 21"/>
            <p:cNvSpPr>
              <a:spLocks noChangeAspect="1" noChangeShapeType="1"/>
            </p:cNvSpPr>
            <p:nvPr/>
          </p:nvSpPr>
          <p:spPr bwMode="auto">
            <a:xfrm flipV="1">
              <a:off x="2495" y="1462"/>
              <a:ext cx="576" cy="6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9pPr>
            </a:lstStyle>
            <a:p>
              <a:endParaRPr lang="en-IN"/>
            </a:p>
          </p:txBody>
        </p:sp>
        <p:sp>
          <p:nvSpPr>
            <p:cNvPr id="25" name="Line 22"/>
            <p:cNvSpPr>
              <a:spLocks noChangeAspect="1" noChangeShapeType="1"/>
            </p:cNvSpPr>
            <p:nvPr/>
          </p:nvSpPr>
          <p:spPr bwMode="auto">
            <a:xfrm>
              <a:off x="3077" y="825"/>
              <a:ext cx="0" cy="63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9pPr>
            </a:lstStyle>
            <a:p>
              <a:endParaRPr lang="en-IN"/>
            </a:p>
          </p:txBody>
        </p:sp>
        <p:sp>
          <p:nvSpPr>
            <p:cNvPr id="26" name="Rectangle 25"/>
            <p:cNvSpPr>
              <a:spLocks noChangeAspect="1" noChangeArrowheads="1"/>
            </p:cNvSpPr>
            <p:nvPr/>
          </p:nvSpPr>
          <p:spPr bwMode="auto">
            <a:xfrm>
              <a:off x="1916" y="1505"/>
              <a:ext cx="578" cy="630"/>
            </a:xfrm>
            <a:prstGeom prst="rect">
              <a:avLst/>
            </a:prstGeom>
            <a:solidFill>
              <a:srgbClr val="00B05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9pPr>
            </a:lstStyle>
            <a:p>
              <a:endParaRPr lang="en-IN"/>
            </a:p>
          </p:txBody>
        </p:sp>
        <p:sp>
          <p:nvSpPr>
            <p:cNvPr id="27" name="Line 24"/>
            <p:cNvSpPr>
              <a:spLocks noChangeAspect="1" noChangeShapeType="1"/>
            </p:cNvSpPr>
            <p:nvPr/>
          </p:nvSpPr>
          <p:spPr bwMode="auto">
            <a:xfrm flipV="1">
              <a:off x="2480" y="1450"/>
              <a:ext cx="59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9pPr>
            </a:lstStyle>
            <a:p>
              <a:endParaRPr lang="en-IN"/>
            </a:p>
          </p:txBody>
        </p:sp>
        <p:sp>
          <p:nvSpPr>
            <p:cNvPr id="28" name="Line 25"/>
            <p:cNvSpPr>
              <a:spLocks noChangeAspect="1" noChangeShapeType="1"/>
            </p:cNvSpPr>
            <p:nvPr/>
          </p:nvSpPr>
          <p:spPr bwMode="auto">
            <a:xfrm flipV="1">
              <a:off x="1919" y="841"/>
              <a:ext cx="575" cy="67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9pPr>
            </a:lstStyle>
            <a:p>
              <a:endParaRPr lang="en-IN"/>
            </a:p>
          </p:txBody>
        </p:sp>
      </p:grpSp>
      <p:grpSp>
        <p:nvGrpSpPr>
          <p:cNvPr id="29" name="Group 28"/>
          <p:cNvGrpSpPr>
            <a:grpSpLocks/>
          </p:cNvGrpSpPr>
          <p:nvPr/>
        </p:nvGrpSpPr>
        <p:grpSpPr bwMode="auto">
          <a:xfrm>
            <a:off x="1116052" y="3738498"/>
            <a:ext cx="1534040" cy="1035050"/>
            <a:chOff x="1911" y="825"/>
            <a:chExt cx="1166" cy="1310"/>
          </a:xfrm>
          <a:solidFill>
            <a:schemeClr val="accent2"/>
          </a:solidFill>
        </p:grpSpPr>
        <p:sp>
          <p:nvSpPr>
            <p:cNvPr id="30" name="Line 17"/>
            <p:cNvSpPr>
              <a:spLocks noChangeAspect="1" noChangeShapeType="1"/>
            </p:cNvSpPr>
            <p:nvPr/>
          </p:nvSpPr>
          <p:spPr bwMode="auto">
            <a:xfrm flipV="1">
              <a:off x="1911" y="1450"/>
              <a:ext cx="575" cy="673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9pPr>
            </a:lstStyle>
            <a:p>
              <a:endParaRPr lang="en-IN"/>
            </a:p>
          </p:txBody>
        </p:sp>
        <p:sp>
          <p:nvSpPr>
            <p:cNvPr id="31" name="Line 18"/>
            <p:cNvSpPr>
              <a:spLocks noChangeAspect="1" noChangeShapeType="1"/>
            </p:cNvSpPr>
            <p:nvPr/>
          </p:nvSpPr>
          <p:spPr bwMode="auto">
            <a:xfrm flipV="1">
              <a:off x="2490" y="853"/>
              <a:ext cx="0" cy="590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9pPr>
            </a:lstStyle>
            <a:p>
              <a:endParaRPr lang="en-IN"/>
            </a:p>
          </p:txBody>
        </p:sp>
        <p:sp>
          <p:nvSpPr>
            <p:cNvPr id="32" name="Line 19"/>
            <p:cNvSpPr>
              <a:spLocks noChangeAspect="1" noChangeShapeType="1"/>
            </p:cNvSpPr>
            <p:nvPr/>
          </p:nvSpPr>
          <p:spPr bwMode="auto">
            <a:xfrm flipV="1">
              <a:off x="2496" y="834"/>
              <a:ext cx="576" cy="671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9pPr>
            </a:lstStyle>
            <a:p>
              <a:endParaRPr lang="en-IN"/>
            </a:p>
          </p:txBody>
        </p:sp>
        <p:sp>
          <p:nvSpPr>
            <p:cNvPr id="33" name="Line 20"/>
            <p:cNvSpPr>
              <a:spLocks noChangeAspect="1" noChangeShapeType="1"/>
            </p:cNvSpPr>
            <p:nvPr/>
          </p:nvSpPr>
          <p:spPr bwMode="auto">
            <a:xfrm>
              <a:off x="2497" y="830"/>
              <a:ext cx="580" cy="4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9pPr>
            </a:lstStyle>
            <a:p>
              <a:endParaRPr lang="en-IN"/>
            </a:p>
          </p:txBody>
        </p:sp>
        <p:sp>
          <p:nvSpPr>
            <p:cNvPr id="34" name="Line 21"/>
            <p:cNvSpPr>
              <a:spLocks noChangeAspect="1" noChangeShapeType="1"/>
            </p:cNvSpPr>
            <p:nvPr/>
          </p:nvSpPr>
          <p:spPr bwMode="auto">
            <a:xfrm flipV="1">
              <a:off x="2495" y="1462"/>
              <a:ext cx="576" cy="668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9pPr>
            </a:lstStyle>
            <a:p>
              <a:endParaRPr lang="en-IN"/>
            </a:p>
          </p:txBody>
        </p:sp>
        <p:sp>
          <p:nvSpPr>
            <p:cNvPr id="35" name="Line 22"/>
            <p:cNvSpPr>
              <a:spLocks noChangeAspect="1" noChangeShapeType="1"/>
            </p:cNvSpPr>
            <p:nvPr/>
          </p:nvSpPr>
          <p:spPr bwMode="auto">
            <a:xfrm>
              <a:off x="3077" y="825"/>
              <a:ext cx="0" cy="63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9pPr>
            </a:lstStyle>
            <a:p>
              <a:endParaRPr lang="en-IN"/>
            </a:p>
          </p:txBody>
        </p:sp>
        <p:sp>
          <p:nvSpPr>
            <p:cNvPr id="36" name="Rectangle 35"/>
            <p:cNvSpPr>
              <a:spLocks noChangeAspect="1" noChangeArrowheads="1"/>
            </p:cNvSpPr>
            <p:nvPr/>
          </p:nvSpPr>
          <p:spPr bwMode="auto">
            <a:xfrm>
              <a:off x="1916" y="1505"/>
              <a:ext cx="578" cy="630"/>
            </a:xfrm>
            <a:prstGeom prst="rect">
              <a:avLst/>
            </a:prstGeom>
            <a:grp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9pPr>
            </a:lstStyle>
            <a:p>
              <a:endParaRPr lang="en-IN"/>
            </a:p>
          </p:txBody>
        </p:sp>
        <p:sp>
          <p:nvSpPr>
            <p:cNvPr id="37" name="Line 24"/>
            <p:cNvSpPr>
              <a:spLocks noChangeAspect="1" noChangeShapeType="1"/>
            </p:cNvSpPr>
            <p:nvPr/>
          </p:nvSpPr>
          <p:spPr bwMode="auto">
            <a:xfrm flipV="1">
              <a:off x="2480" y="1450"/>
              <a:ext cx="59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9pPr>
            </a:lstStyle>
            <a:p>
              <a:endParaRPr lang="en-IN"/>
            </a:p>
          </p:txBody>
        </p:sp>
        <p:sp>
          <p:nvSpPr>
            <p:cNvPr id="38" name="Line 25"/>
            <p:cNvSpPr>
              <a:spLocks noChangeAspect="1" noChangeShapeType="1"/>
            </p:cNvSpPr>
            <p:nvPr/>
          </p:nvSpPr>
          <p:spPr bwMode="auto">
            <a:xfrm flipV="1">
              <a:off x="1919" y="841"/>
              <a:ext cx="575" cy="671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9pPr>
            </a:lstStyle>
            <a:p>
              <a:endParaRPr lang="en-IN"/>
            </a:p>
          </p:txBody>
        </p:sp>
      </p:grpSp>
      <p:grpSp>
        <p:nvGrpSpPr>
          <p:cNvPr id="86" name="Group 85"/>
          <p:cNvGrpSpPr>
            <a:grpSpLocks/>
          </p:cNvGrpSpPr>
          <p:nvPr/>
        </p:nvGrpSpPr>
        <p:grpSpPr bwMode="auto">
          <a:xfrm>
            <a:off x="2483768" y="3751140"/>
            <a:ext cx="1322982" cy="1046012"/>
            <a:chOff x="1911" y="825"/>
            <a:chExt cx="1166" cy="1310"/>
          </a:xfrm>
        </p:grpSpPr>
        <p:sp>
          <p:nvSpPr>
            <p:cNvPr id="87" name="Line 17"/>
            <p:cNvSpPr>
              <a:spLocks noChangeAspect="1" noChangeShapeType="1"/>
            </p:cNvSpPr>
            <p:nvPr/>
          </p:nvSpPr>
          <p:spPr bwMode="auto">
            <a:xfrm flipV="1">
              <a:off x="1911" y="1450"/>
              <a:ext cx="575" cy="6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9pPr>
            </a:lstStyle>
            <a:p>
              <a:endParaRPr lang="en-IN"/>
            </a:p>
          </p:txBody>
        </p:sp>
        <p:sp>
          <p:nvSpPr>
            <p:cNvPr id="88" name="Line 18"/>
            <p:cNvSpPr>
              <a:spLocks noChangeAspect="1" noChangeShapeType="1"/>
            </p:cNvSpPr>
            <p:nvPr/>
          </p:nvSpPr>
          <p:spPr bwMode="auto">
            <a:xfrm flipV="1">
              <a:off x="2490" y="853"/>
              <a:ext cx="0" cy="5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9pPr>
            </a:lstStyle>
            <a:p>
              <a:endParaRPr lang="en-IN"/>
            </a:p>
          </p:txBody>
        </p:sp>
        <p:sp>
          <p:nvSpPr>
            <p:cNvPr id="89" name="Line 19"/>
            <p:cNvSpPr>
              <a:spLocks noChangeAspect="1" noChangeShapeType="1"/>
            </p:cNvSpPr>
            <p:nvPr/>
          </p:nvSpPr>
          <p:spPr bwMode="auto">
            <a:xfrm flipV="1">
              <a:off x="2496" y="834"/>
              <a:ext cx="576" cy="67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9pPr>
            </a:lstStyle>
            <a:p>
              <a:endParaRPr lang="en-IN"/>
            </a:p>
          </p:txBody>
        </p:sp>
        <p:sp>
          <p:nvSpPr>
            <p:cNvPr id="90" name="Line 20"/>
            <p:cNvSpPr>
              <a:spLocks noChangeAspect="1" noChangeShapeType="1"/>
            </p:cNvSpPr>
            <p:nvPr/>
          </p:nvSpPr>
          <p:spPr bwMode="auto">
            <a:xfrm>
              <a:off x="2497" y="830"/>
              <a:ext cx="580" cy="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9pPr>
            </a:lstStyle>
            <a:p>
              <a:endParaRPr lang="en-IN"/>
            </a:p>
          </p:txBody>
        </p:sp>
        <p:sp>
          <p:nvSpPr>
            <p:cNvPr id="91" name="Line 21"/>
            <p:cNvSpPr>
              <a:spLocks noChangeAspect="1" noChangeShapeType="1"/>
            </p:cNvSpPr>
            <p:nvPr/>
          </p:nvSpPr>
          <p:spPr bwMode="auto">
            <a:xfrm flipV="1">
              <a:off x="2495" y="1462"/>
              <a:ext cx="576" cy="6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9pPr>
            </a:lstStyle>
            <a:p>
              <a:endParaRPr lang="en-IN"/>
            </a:p>
          </p:txBody>
        </p:sp>
        <p:sp>
          <p:nvSpPr>
            <p:cNvPr id="92" name="Line 22"/>
            <p:cNvSpPr>
              <a:spLocks noChangeAspect="1" noChangeShapeType="1"/>
            </p:cNvSpPr>
            <p:nvPr/>
          </p:nvSpPr>
          <p:spPr bwMode="auto">
            <a:xfrm>
              <a:off x="3077" y="825"/>
              <a:ext cx="0" cy="63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9pPr>
            </a:lstStyle>
            <a:p>
              <a:endParaRPr lang="en-IN"/>
            </a:p>
          </p:txBody>
        </p:sp>
        <p:sp>
          <p:nvSpPr>
            <p:cNvPr id="93" name="Rectangle 92"/>
            <p:cNvSpPr>
              <a:spLocks noChangeAspect="1" noChangeArrowheads="1"/>
            </p:cNvSpPr>
            <p:nvPr/>
          </p:nvSpPr>
          <p:spPr bwMode="auto">
            <a:xfrm>
              <a:off x="1916" y="1505"/>
              <a:ext cx="578" cy="63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9pPr>
            </a:lstStyle>
            <a:p>
              <a:endParaRPr lang="en-IN"/>
            </a:p>
          </p:txBody>
        </p:sp>
        <p:sp>
          <p:nvSpPr>
            <p:cNvPr id="94" name="Line 24"/>
            <p:cNvSpPr>
              <a:spLocks noChangeAspect="1" noChangeShapeType="1"/>
            </p:cNvSpPr>
            <p:nvPr/>
          </p:nvSpPr>
          <p:spPr bwMode="auto">
            <a:xfrm flipV="1">
              <a:off x="2480" y="1450"/>
              <a:ext cx="59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9pPr>
            </a:lstStyle>
            <a:p>
              <a:endParaRPr lang="en-IN"/>
            </a:p>
          </p:txBody>
        </p:sp>
        <p:sp>
          <p:nvSpPr>
            <p:cNvPr id="95" name="Line 25"/>
            <p:cNvSpPr>
              <a:spLocks noChangeAspect="1" noChangeShapeType="1"/>
            </p:cNvSpPr>
            <p:nvPr/>
          </p:nvSpPr>
          <p:spPr bwMode="auto">
            <a:xfrm flipV="1">
              <a:off x="1919" y="841"/>
              <a:ext cx="575" cy="67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64" charset="-122"/>
                  <a:cs typeface="+mn-cs"/>
                </a:defRPr>
              </a:lvl9pPr>
            </a:lstStyle>
            <a:p>
              <a:endParaRPr lang="en-IN"/>
            </a:p>
          </p:txBody>
        </p:sp>
      </p:grpSp>
      <p:cxnSp>
        <p:nvCxnSpPr>
          <p:cNvPr id="97" name="Straight Connector 96"/>
          <p:cNvCxnSpPr/>
          <p:nvPr/>
        </p:nvCxnSpPr>
        <p:spPr>
          <a:xfrm>
            <a:off x="5652120" y="2852936"/>
            <a:ext cx="1080120" cy="0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/>
          <p:nvPr/>
        </p:nvCxnSpPr>
        <p:spPr>
          <a:xfrm>
            <a:off x="5638800" y="3904781"/>
            <a:ext cx="1080120" cy="0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/>
          <p:nvPr/>
        </p:nvCxnSpPr>
        <p:spPr>
          <a:xfrm>
            <a:off x="6718920" y="3156636"/>
            <a:ext cx="692460" cy="0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/>
          <p:nvPr/>
        </p:nvCxnSpPr>
        <p:spPr>
          <a:xfrm>
            <a:off x="6677490" y="3573016"/>
            <a:ext cx="692460" cy="0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>
            <a:off x="7325313" y="3920161"/>
            <a:ext cx="1080120" cy="0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/>
          <p:nvPr/>
        </p:nvCxnSpPr>
        <p:spPr>
          <a:xfrm>
            <a:off x="7369950" y="2852936"/>
            <a:ext cx="1080120" cy="0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/>
          <p:nvPr/>
        </p:nvCxnSpPr>
        <p:spPr>
          <a:xfrm>
            <a:off x="6732240" y="2852936"/>
            <a:ext cx="0" cy="303700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/>
          <p:nvPr/>
        </p:nvCxnSpPr>
        <p:spPr>
          <a:xfrm>
            <a:off x="6732240" y="3573016"/>
            <a:ext cx="0" cy="303700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/>
          <p:nvPr/>
        </p:nvCxnSpPr>
        <p:spPr>
          <a:xfrm>
            <a:off x="7354091" y="2852936"/>
            <a:ext cx="0" cy="303700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/>
          <p:nvPr/>
        </p:nvCxnSpPr>
        <p:spPr>
          <a:xfrm>
            <a:off x="7325313" y="3601081"/>
            <a:ext cx="0" cy="303700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6192180" y="2272128"/>
            <a:ext cx="1795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Conduction band</a:t>
            </a:r>
            <a:endParaRPr lang="en-IN" dirty="0"/>
          </a:p>
        </p:txBody>
      </p:sp>
      <p:sp>
        <p:nvSpPr>
          <p:cNvPr id="117" name="TextBox 116"/>
          <p:cNvSpPr txBox="1"/>
          <p:nvPr/>
        </p:nvSpPr>
        <p:spPr>
          <a:xfrm>
            <a:off x="6342976" y="4133494"/>
            <a:ext cx="1441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Valance band</a:t>
            </a:r>
            <a:endParaRPr lang="en-IN" dirty="0"/>
          </a:p>
        </p:txBody>
      </p:sp>
      <p:sp>
        <p:nvSpPr>
          <p:cNvPr id="118" name="TextBox 117"/>
          <p:cNvSpPr txBox="1"/>
          <p:nvPr/>
        </p:nvSpPr>
        <p:spPr>
          <a:xfrm>
            <a:off x="4067944" y="2456794"/>
            <a:ext cx="1512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Quantum well</a:t>
            </a:r>
            <a:endParaRPr lang="en-IN" dirty="0"/>
          </a:p>
        </p:txBody>
      </p:sp>
      <p:cxnSp>
        <p:nvCxnSpPr>
          <p:cNvPr id="120" name="Straight Arrow Connector 119"/>
          <p:cNvCxnSpPr>
            <a:stCxn id="118" idx="3"/>
          </p:cNvCxnSpPr>
          <p:nvPr/>
        </p:nvCxnSpPr>
        <p:spPr>
          <a:xfrm>
            <a:off x="5580538" y="2641460"/>
            <a:ext cx="1483148" cy="36332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1121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VIT Bhopal University (SAS; Physics division)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2F21F-EC46-4B47-B5D7-F306362141E9}" type="slidenum">
              <a:rPr lang="en-IN" smtClean="0"/>
              <a:t>21</a:t>
            </a:fld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018" y="548680"/>
            <a:ext cx="8892480" cy="4070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84933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852936"/>
            <a:ext cx="8229600" cy="1143000"/>
          </a:xfrm>
        </p:spPr>
        <p:txBody>
          <a:bodyPr/>
          <a:lstStyle/>
          <a:p>
            <a:r>
              <a:rPr lang="en-IN" dirty="0" smtClean="0">
                <a:latin typeface="Algerian" pitchFamily="82" charset="0"/>
              </a:rPr>
              <a:t>Lecture 2</a:t>
            </a:r>
            <a:endParaRPr lang="en-IN" dirty="0">
              <a:latin typeface="Algerian" pitchFamily="82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VIT Bhopal University (SAS; Physics division)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2F21F-EC46-4B47-B5D7-F306362141E9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4319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Carbon </a:t>
            </a:r>
            <a:r>
              <a:rPr lang="en-IN" dirty="0" err="1" smtClean="0"/>
              <a:t>nano</a:t>
            </a:r>
            <a:r>
              <a:rPr lang="en-IN" dirty="0" smtClean="0"/>
              <a:t> tube</a:t>
            </a:r>
            <a:endParaRPr lang="en-IN" dirty="0"/>
          </a:p>
        </p:txBody>
      </p:sp>
      <p:pic>
        <p:nvPicPr>
          <p:cNvPr id="1028" name="Picture 4" descr="D:\VIT Bhopal\Class PPT\Nano tech\Fig\200w_d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19" y="1844824"/>
            <a:ext cx="4453127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D:\VIT Bhopal\Class PPT\Nano tech\Fig\CNT.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2082932"/>
            <a:ext cx="3098320" cy="3098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2F21F-EC46-4B47-B5D7-F306362141E9}" type="slidenum">
              <a:rPr lang="en-IN" smtClean="0"/>
              <a:t>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VIT Bhopal University (SAS; Physics division)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0448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0171" y="2780928"/>
            <a:ext cx="8229600" cy="1143000"/>
          </a:xfrm>
        </p:spPr>
        <p:txBody>
          <a:bodyPr>
            <a:normAutofit/>
          </a:bodyPr>
          <a:lstStyle/>
          <a:p>
            <a:r>
              <a:rPr lang="en-IN" dirty="0"/>
              <a:t>Allotropes of </a:t>
            </a:r>
            <a:r>
              <a:rPr lang="en-IN" dirty="0" smtClean="0"/>
              <a:t>carbon</a:t>
            </a:r>
            <a:endParaRPr lang="en-IN" dirty="0"/>
          </a:p>
        </p:txBody>
      </p:sp>
      <p:pic>
        <p:nvPicPr>
          <p:cNvPr id="1026" name="Picture 2" descr="D:\VIT Bhopal\Class PPT\Nano tech\Fig\buckyball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787" y="689948"/>
            <a:ext cx="3542394" cy="1946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D:\VIT Bhopal\Class PPT\Nano tech\Fig\1200px-Graphen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3636" y="908720"/>
            <a:ext cx="2160240" cy="1728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:\VIT Bhopal\Class PPT\Nano tech\Fig\2016-09-22-1474506901-4241660-Diamond.jpe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4365104"/>
            <a:ext cx="4061594" cy="2282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D:\VIT Bhopal\Class PPT\Nano tech\Fig\566332-coal-110316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4056754"/>
            <a:ext cx="4037731" cy="2271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2F21F-EC46-4B47-B5D7-F306362141E9}" type="slidenum">
              <a:rPr lang="en-IN" smtClean="0"/>
              <a:t>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VIT Bhopal University (SAS; Physics division)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4278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Reason – Hybridization 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584002" y="6381328"/>
            <a:ext cx="2133600" cy="365125"/>
          </a:xfrm>
        </p:spPr>
        <p:txBody>
          <a:bodyPr/>
          <a:lstStyle/>
          <a:p>
            <a:fld id="{93C2F21F-EC46-4B47-B5D7-F306362141E9}" type="slidenum">
              <a:rPr lang="en-IN" smtClean="0"/>
              <a:t>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VIT Bhopal University (SAS; Physics division)</a:t>
            </a:r>
            <a:endParaRPr lang="en-IN"/>
          </a:p>
        </p:txBody>
      </p:sp>
      <p:pic>
        <p:nvPicPr>
          <p:cNvPr id="5" name="Picture 4" descr="D:\VIT Bhopal\Class PPT\Nano tech\Fig\2016-09-22-1474506901-4241660-Diamond.jpe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556792"/>
            <a:ext cx="2818598" cy="1584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3" descr="D:\VIT Bhopal\Class PPT\Nano tech\Fig\1200px-Graphen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691" y="4365104"/>
            <a:ext cx="2160240" cy="1728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707904" y="1979548"/>
            <a:ext cx="1743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SP</a:t>
            </a:r>
            <a:r>
              <a:rPr lang="en-IN" baseline="30000" dirty="0" smtClean="0"/>
              <a:t>3 </a:t>
            </a:r>
            <a:r>
              <a:rPr lang="en-IN" dirty="0" smtClean="0"/>
              <a:t>hybridization</a:t>
            </a:r>
            <a:endParaRPr lang="en-IN" baseline="30000" dirty="0"/>
          </a:p>
        </p:txBody>
      </p:sp>
      <p:sp>
        <p:nvSpPr>
          <p:cNvPr id="8" name="TextBox 7"/>
          <p:cNvSpPr txBox="1"/>
          <p:nvPr/>
        </p:nvSpPr>
        <p:spPr>
          <a:xfrm>
            <a:off x="3851920" y="5044534"/>
            <a:ext cx="1743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SP</a:t>
            </a:r>
            <a:r>
              <a:rPr lang="en-IN" baseline="30000" dirty="0" smtClean="0"/>
              <a:t>2 </a:t>
            </a:r>
            <a:r>
              <a:rPr lang="en-IN" dirty="0" smtClean="0"/>
              <a:t>hybridization</a:t>
            </a:r>
            <a:endParaRPr lang="en-IN" baseline="30000" dirty="0"/>
          </a:p>
        </p:txBody>
      </p:sp>
      <p:sp>
        <p:nvSpPr>
          <p:cNvPr id="9" name="TextBox 8"/>
          <p:cNvSpPr txBox="1"/>
          <p:nvPr/>
        </p:nvSpPr>
        <p:spPr>
          <a:xfrm>
            <a:off x="7236296" y="1979548"/>
            <a:ext cx="1097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Insulating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6157605" y="5044534"/>
            <a:ext cx="2986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Conducting  / semiconducting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7285187" y="1372126"/>
            <a:ext cx="10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Property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2321851" y="3477491"/>
            <a:ext cx="66742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Shape of orbital and there overlapping changes with the hybridization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2603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en-IN" dirty="0" smtClean="0"/>
              <a:t>CNT structure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2682" y="5934670"/>
            <a:ext cx="946650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http://www.understandingnano.com</a:t>
            </a:r>
            <a:r>
              <a:rPr lang="en-IN" dirty="0" smtClean="0"/>
              <a:t>/</a:t>
            </a:r>
          </a:p>
          <a:p>
            <a:r>
              <a:rPr lang="en-IN" dirty="0"/>
              <a:t>http://</a:t>
            </a:r>
            <a:r>
              <a:rPr lang="en-IN" dirty="0" smtClean="0"/>
              <a:t>www.robaid.com</a:t>
            </a:r>
          </a:p>
          <a:p>
            <a:r>
              <a:rPr lang="en-IN" dirty="0"/>
              <a:t>www.researchgate_net-92862_fig1_Fig-1-Rolling-up-of-graphene-sheet-to-form-carbon-nanotubes</a:t>
            </a:r>
          </a:p>
        </p:txBody>
      </p:sp>
      <p:pic>
        <p:nvPicPr>
          <p:cNvPr id="2050" name="Picture 2" descr="D:\VIT Bhopal\Class PPT\Nano tech\Fig\closed nanotub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68457"/>
            <a:ext cx="3164855" cy="3549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9134" y="2636912"/>
            <a:ext cx="4676775" cy="358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 descr="D:\VIT Bhopal\Class PPT\Nano tech\Fig\www.researchgate_net-92862_fig1_Fig-1-Rolling-up-of-graphene-sheet-to-form-carbon-nanotubes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908720"/>
            <a:ext cx="6192688" cy="1995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2F21F-EC46-4B47-B5D7-F306362141E9}" type="slidenum">
              <a:rPr lang="en-IN" smtClean="0"/>
              <a:t>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VIT Bhopal University (SAS; Physics division)</a:t>
            </a:r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395536" y="908720"/>
            <a:ext cx="4013598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 smtClean="0">
                <a:solidFill>
                  <a:srgbClr val="FF0000"/>
                </a:solidFill>
              </a:rPr>
              <a:t>As if you are rolling a </a:t>
            </a:r>
            <a:r>
              <a:rPr lang="en-IN" dirty="0" err="1" smtClean="0">
                <a:solidFill>
                  <a:srgbClr val="FF0000"/>
                </a:solidFill>
              </a:rPr>
              <a:t>Graphene</a:t>
            </a:r>
            <a:r>
              <a:rPr lang="en-IN" dirty="0" smtClean="0">
                <a:solidFill>
                  <a:srgbClr val="FF0000"/>
                </a:solidFill>
              </a:rPr>
              <a:t> sheet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91680" y="908720"/>
            <a:ext cx="4280146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dirty="0" smtClean="0">
                <a:solidFill>
                  <a:srgbClr val="0070C0"/>
                </a:solidFill>
              </a:rPr>
              <a:t>Actual  CNT preparation method is different</a:t>
            </a:r>
            <a:endParaRPr lang="en-IN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7311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VIT Bhopal University (SAS; Physics division)</a:t>
            </a:r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2F21F-EC46-4B47-B5D7-F306362141E9}" type="slidenum">
              <a:rPr lang="en-IN" smtClean="0"/>
              <a:t>27</a:t>
            </a:fld>
            <a:endParaRPr lang="en-I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32656"/>
            <a:ext cx="8496944" cy="5832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32187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Different CNT</a:t>
            </a:r>
            <a:endParaRPr lang="en-IN" dirty="0"/>
          </a:p>
        </p:txBody>
      </p:sp>
      <p:pic>
        <p:nvPicPr>
          <p:cNvPr id="3075" name="Picture 3" descr="D:\VIT Bhopal\Class PPT\Nano tech\Fig\swnt_mwn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3" y="1412776"/>
            <a:ext cx="3977799" cy="2664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83568" y="4437112"/>
            <a:ext cx="2040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www.nanoshel.com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2F21F-EC46-4B47-B5D7-F306362141E9}" type="slidenum">
              <a:rPr lang="en-IN" smtClean="0"/>
              <a:t>28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VIT Bhopal University (SAS; Physics division)</a:t>
            </a:r>
            <a:endParaRPr lang="en-IN"/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57" b="1161"/>
          <a:stretch>
            <a:fillRect/>
          </a:stretch>
        </p:blipFill>
        <p:spPr bwMode="auto">
          <a:xfrm>
            <a:off x="5436096" y="1268760"/>
            <a:ext cx="3494088" cy="3787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10847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VIT Bhopal University (SAS; Physics division)</a:t>
            </a:r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2F21F-EC46-4B47-B5D7-F306362141E9}" type="slidenum">
              <a:rPr lang="en-IN" smtClean="0"/>
              <a:t>29</a:t>
            </a:fld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0"/>
            <a:ext cx="8496944" cy="65973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36101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Different process to make CNT</a:t>
            </a: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VIT Bhopal University (SAS; Physics division)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2F21F-EC46-4B47-B5D7-F306362141E9}" type="slidenum">
              <a:rPr lang="en-IN" smtClean="0"/>
              <a:t>30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823717" y="2308230"/>
            <a:ext cx="1727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IN" dirty="0" smtClean="0"/>
              <a:t>Arc discharge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827584" y="3068960"/>
            <a:ext cx="63912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IN" dirty="0" smtClean="0"/>
              <a:t>Main difficulty :</a:t>
            </a:r>
          </a:p>
          <a:p>
            <a:r>
              <a:rPr lang="en-IN" dirty="0"/>
              <a:t>	</a:t>
            </a:r>
            <a:r>
              <a:rPr lang="en-IN" dirty="0" smtClean="0"/>
              <a:t>separation of MWCNT / SWCNT from impurity is difficult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827584" y="4365104"/>
            <a:ext cx="36819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IN" dirty="0" smtClean="0"/>
              <a:t>Chemical vapour deposition (CVD)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2987824" y="4941168"/>
            <a:ext cx="4457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IN" dirty="0" smtClean="0"/>
              <a:t>Most promising technique for industry use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972751" y="5510885"/>
            <a:ext cx="1787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IN" dirty="0" smtClean="0"/>
              <a:t>Laser ablation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2125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CNT properties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251520" y="1196752"/>
            <a:ext cx="834292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Electrical property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IN" dirty="0" smtClean="0"/>
              <a:t>nanotube shows both metallic (arm chair ) and semiconducting (chiral) property </a:t>
            </a:r>
          </a:p>
          <a:p>
            <a:r>
              <a:rPr lang="en-IN" dirty="0" smtClean="0"/>
              <a:t>	depending on the diameter and chirality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IN" dirty="0" smtClean="0"/>
              <a:t>band gap decrease with increasing diameter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IN" dirty="0" smtClean="0"/>
              <a:t>less defects to scatter electron , hence low resistivity. (</a:t>
            </a:r>
            <a:r>
              <a:rPr lang="en-US" dirty="0"/>
              <a:t>metallic nanotubes can carry </a:t>
            </a:r>
            <a:endParaRPr lang="en-US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an </a:t>
            </a:r>
            <a:r>
              <a:rPr lang="en-US" dirty="0"/>
              <a:t>electrical current density of 4×10</a:t>
            </a:r>
            <a:r>
              <a:rPr lang="en-US" baseline="30000" dirty="0"/>
              <a:t>9</a:t>
            </a:r>
            <a:r>
              <a:rPr lang="en-US" dirty="0"/>
              <a:t> A/cm</a:t>
            </a:r>
            <a:r>
              <a:rPr lang="en-US" baseline="30000" dirty="0"/>
              <a:t>2</a:t>
            </a:r>
            <a:r>
              <a:rPr lang="en-US" dirty="0"/>
              <a:t> which is more than 1,000 times greater </a:t>
            </a:r>
            <a:endParaRPr lang="en-US" dirty="0" smtClean="0"/>
          </a:p>
          <a:p>
            <a:pPr lvl="1"/>
            <a:r>
              <a:rPr lang="en-US" dirty="0"/>
              <a:t>	</a:t>
            </a:r>
            <a:r>
              <a:rPr lang="en-US" dirty="0" smtClean="0"/>
              <a:t>than metals </a:t>
            </a:r>
            <a:r>
              <a:rPr lang="en-US" dirty="0"/>
              <a:t>such as </a:t>
            </a:r>
            <a:r>
              <a:rPr lang="en-US" dirty="0" smtClean="0"/>
              <a:t>copper</a:t>
            </a:r>
            <a:r>
              <a:rPr lang="en-IN" dirty="0" smtClean="0"/>
              <a:t>)</a:t>
            </a:r>
          </a:p>
          <a:p>
            <a:r>
              <a:rPr lang="en-IN" dirty="0"/>
              <a:t>	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3320410"/>
            <a:ext cx="842711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Mechanical property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IN" dirty="0"/>
              <a:t>	</a:t>
            </a:r>
            <a:r>
              <a:rPr lang="en-IN" dirty="0" smtClean="0"/>
              <a:t>highly resilient (high young’s </a:t>
            </a:r>
            <a:r>
              <a:rPr lang="en-IN" dirty="0" err="1" smtClean="0"/>
              <a:t>modulous</a:t>
            </a:r>
            <a:r>
              <a:rPr lang="en-IN" dirty="0" smtClean="0"/>
              <a:t>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IN" dirty="0"/>
              <a:t>	</a:t>
            </a:r>
            <a:r>
              <a:rPr lang="en-IN" dirty="0" smtClean="0"/>
              <a:t>if bended, almost hexagonal carbon rings changes in structure but don’t break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IN" dirty="0"/>
              <a:t>	</a:t>
            </a:r>
            <a:r>
              <a:rPr lang="en-IN" dirty="0" smtClean="0"/>
              <a:t>reason – SP</a:t>
            </a:r>
            <a:r>
              <a:rPr lang="en-IN" baseline="30000" dirty="0" smtClean="0"/>
              <a:t>2 </a:t>
            </a:r>
            <a:r>
              <a:rPr lang="en-IN" dirty="0" smtClean="0"/>
              <a:t> hybridization</a:t>
            </a:r>
            <a:endParaRPr lang="en-IN" baseline="30000" dirty="0"/>
          </a:p>
        </p:txBody>
      </p:sp>
      <p:sp>
        <p:nvSpPr>
          <p:cNvPr id="7" name="TextBox 6"/>
          <p:cNvSpPr txBox="1"/>
          <p:nvPr/>
        </p:nvSpPr>
        <p:spPr>
          <a:xfrm>
            <a:off x="683568" y="5013176"/>
            <a:ext cx="2609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High thermal conductivity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2F21F-EC46-4B47-B5D7-F306362141E9}" type="slidenum">
              <a:rPr lang="en-IN" smtClean="0"/>
              <a:t>31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VIT Bhopal University (SAS; Physics division)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9697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CNT application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179512" y="1243220"/>
            <a:ext cx="643060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IN" dirty="0" smtClean="0"/>
              <a:t>Single electron transistor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IN" dirty="0" smtClean="0"/>
              <a:t>Use lithography to make it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IN" dirty="0" smtClean="0"/>
              <a:t>Small size allows more switch's to be packed on a chip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IN" dirty="0" smtClean="0"/>
              <a:t>Switching time is fast, 10</a:t>
            </a:r>
            <a:r>
              <a:rPr lang="en-IN" baseline="30000" dirty="0" smtClean="0"/>
              <a:t>4 </a:t>
            </a:r>
            <a:r>
              <a:rPr lang="en-IN" dirty="0" smtClean="0"/>
              <a:t>times faster then present system</a:t>
            </a:r>
          </a:p>
          <a:p>
            <a:pPr marL="742950" lvl="1" indent="-285750">
              <a:buFont typeface="Arial" pitchFamily="34" charset="0"/>
              <a:buChar char="•"/>
            </a:pP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2F21F-EC46-4B47-B5D7-F306362141E9}" type="slidenum">
              <a:rPr lang="en-IN" smtClean="0"/>
              <a:t>32</a:t>
            </a:fld>
            <a:endParaRPr lang="en-IN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3324006"/>
            <a:ext cx="3810000" cy="2887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0" y="6211669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Tans et al, </a:t>
            </a:r>
            <a:r>
              <a:rPr lang="en-US" i="1" dirty="0"/>
              <a:t>Room-temperature transistor based on a single carbon nanotube, </a:t>
            </a:r>
            <a:r>
              <a:rPr lang="en-US" dirty="0"/>
              <a:t>Nature 393</a:t>
            </a:r>
            <a:endParaRPr lang="en-IN" dirty="0"/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525"/>
          <a:stretch>
            <a:fillRect/>
          </a:stretch>
        </p:blipFill>
        <p:spPr bwMode="auto">
          <a:xfrm>
            <a:off x="323528" y="3394160"/>
            <a:ext cx="4104456" cy="2881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VIT Bhopal University (SAS; Physics division)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5777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476672"/>
            <a:ext cx="8229600" cy="5760640"/>
          </a:xfrm>
        </p:spPr>
        <p:txBody>
          <a:bodyPr>
            <a:normAutofit/>
          </a:bodyPr>
          <a:lstStyle/>
          <a:p>
            <a:pPr marL="285750" indent="-285750"/>
            <a:r>
              <a:rPr lang="en-IN" dirty="0"/>
              <a:t>Quantum computing</a:t>
            </a:r>
          </a:p>
          <a:p>
            <a:pPr marL="285750" indent="-285750"/>
            <a:r>
              <a:rPr lang="en-IN" dirty="0"/>
              <a:t>Energy </a:t>
            </a:r>
            <a:r>
              <a:rPr lang="en-IN" dirty="0" smtClean="0"/>
              <a:t>technology</a:t>
            </a:r>
          </a:p>
          <a:p>
            <a:pPr marL="685800" lvl="1"/>
            <a:r>
              <a:rPr lang="en-IN" dirty="0" smtClean="0"/>
              <a:t>CNT can be used to improve the efficiency of the conventional Li ion battery</a:t>
            </a:r>
          </a:p>
          <a:p>
            <a:pPr marL="1543050" lvl="3"/>
            <a:r>
              <a:rPr lang="en-IN" dirty="0" smtClean="0"/>
              <a:t>High surface area</a:t>
            </a:r>
          </a:p>
          <a:p>
            <a:pPr marL="1543050" lvl="3"/>
            <a:r>
              <a:rPr lang="en-IN" dirty="0" smtClean="0"/>
              <a:t>Good electrical conductivity</a:t>
            </a:r>
          </a:p>
          <a:p>
            <a:pPr marL="1543050" lvl="3"/>
            <a:r>
              <a:rPr lang="en-IN" dirty="0" smtClean="0"/>
              <a:t>Linear geometry</a:t>
            </a:r>
          </a:p>
          <a:p>
            <a:pPr marL="857250" lvl="1" indent="-457200">
              <a:buFont typeface="Arial" pitchFamily="34" charset="0"/>
              <a:buChar char="•"/>
            </a:pPr>
            <a:r>
              <a:rPr lang="en-IN" dirty="0" smtClean="0"/>
              <a:t>Medical sector</a:t>
            </a:r>
          </a:p>
          <a:p>
            <a:pPr marL="400050" lvl="1" indent="0">
              <a:buNone/>
            </a:pPr>
            <a:r>
              <a:rPr lang="en-IN" dirty="0"/>
              <a:t>	</a:t>
            </a:r>
            <a:r>
              <a:rPr lang="en-IN" dirty="0" smtClean="0"/>
              <a:t>Drug delivery, cancer treatment, Tissue regeneration</a:t>
            </a:r>
          </a:p>
          <a:p>
            <a:pPr marL="857250" lvl="1" indent="-457200">
              <a:buFont typeface="Arial" pitchFamily="34" charset="0"/>
              <a:buChar char="•"/>
            </a:pPr>
            <a:r>
              <a:rPr lang="en-IN" dirty="0" smtClean="0"/>
              <a:t>Actuators</a:t>
            </a:r>
          </a:p>
          <a:p>
            <a:pPr marL="400050" lvl="1" indent="0">
              <a:buNone/>
            </a:pPr>
            <a:r>
              <a:rPr lang="en-IN" dirty="0"/>
              <a:t>	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2F21F-EC46-4B47-B5D7-F306362141E9}" type="slidenum">
              <a:rPr lang="en-IN" smtClean="0"/>
              <a:t>33</a:t>
            </a:fld>
            <a:endParaRPr lang="en-IN" dirty="0"/>
          </a:p>
        </p:txBody>
      </p:sp>
      <p:pic>
        <p:nvPicPr>
          <p:cNvPr id="2050" name="Picture 2" descr="D:\VIT Bhopal\Class PPT\Nano tech\Fig\nanotechnology in medicine-149380779754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8164" y="2276872"/>
            <a:ext cx="2952328" cy="1782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VIT Bhopal University (SAS; Physics division)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0460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076DA9B367A24C87B8B887C1C06E33" ma:contentTypeVersion="2" ma:contentTypeDescription="Create a new document." ma:contentTypeScope="" ma:versionID="ef77883fbe4d9a30a8e62999ca0b3591">
  <xsd:schema xmlns:xsd="http://www.w3.org/2001/XMLSchema" xmlns:xs="http://www.w3.org/2001/XMLSchema" xmlns:p="http://schemas.microsoft.com/office/2006/metadata/properties" xmlns:ns2="1a7ca9db-28b0-44b0-a8fe-a28938821919" targetNamespace="http://schemas.microsoft.com/office/2006/metadata/properties" ma:root="true" ma:fieldsID="7ada4c7eeb74da2c09bdf8a0c1ea6ffb" ns2:_="">
    <xsd:import namespace="1a7ca9db-28b0-44b0-a8fe-a2893882191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7ca9db-28b0-44b0-a8fe-a289388219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7715943-21E1-4F67-ADE7-01749D9F121F}"/>
</file>

<file path=customXml/itemProps2.xml><?xml version="1.0" encoding="utf-8"?>
<ds:datastoreItem xmlns:ds="http://schemas.openxmlformats.org/officeDocument/2006/customXml" ds:itemID="{CD696B0A-30F9-433F-822F-4189B1A977DC}"/>
</file>

<file path=customXml/itemProps3.xml><?xml version="1.0" encoding="utf-8"?>
<ds:datastoreItem xmlns:ds="http://schemas.openxmlformats.org/officeDocument/2006/customXml" ds:itemID="{FF301144-6E04-4047-96BF-F3B3723F589F}"/>
</file>

<file path=docProps/app.xml><?xml version="1.0" encoding="utf-8"?>
<Properties xmlns="http://schemas.openxmlformats.org/officeDocument/2006/extended-properties" xmlns:vt="http://schemas.openxmlformats.org/officeDocument/2006/docPropsVTypes">
  <TotalTime>5752</TotalTime>
  <Words>1193</Words>
  <Application>Microsoft Office PowerPoint</Application>
  <PresentationFormat>On-screen Show (4:3)</PresentationFormat>
  <Paragraphs>249</Paragraphs>
  <Slides>33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Office Theme</vt:lpstr>
      <vt:lpstr>Nano technology</vt:lpstr>
      <vt:lpstr>Lecture 1</vt:lpstr>
      <vt:lpstr>Learning objectives</vt:lpstr>
      <vt:lpstr>Moore’s law</vt:lpstr>
      <vt:lpstr>What are nano materials</vt:lpstr>
      <vt:lpstr>Nano materials</vt:lpstr>
      <vt:lpstr>Why nano materials</vt:lpstr>
      <vt:lpstr>How to make nano materials</vt:lpstr>
      <vt:lpstr>PowerPoint Presentation</vt:lpstr>
      <vt:lpstr>PowerPoint Presentation</vt:lpstr>
      <vt:lpstr>PowerPoint Presentation</vt:lpstr>
      <vt:lpstr>Quantum confinement</vt:lpstr>
      <vt:lpstr>Quantum confinement</vt:lpstr>
      <vt:lpstr>Quantum Confinement</vt:lpstr>
      <vt:lpstr>PowerPoint Presentation</vt:lpstr>
      <vt:lpstr>PowerPoint Presentation</vt:lpstr>
      <vt:lpstr>Quantum Dots</vt:lpstr>
      <vt:lpstr>Quantum Dot (QD)</vt:lpstr>
      <vt:lpstr>Quantum Wire </vt:lpstr>
      <vt:lpstr>Quantum well</vt:lpstr>
      <vt:lpstr>PowerPoint Presentation</vt:lpstr>
      <vt:lpstr>Lecture 2</vt:lpstr>
      <vt:lpstr>Carbon nano tube</vt:lpstr>
      <vt:lpstr>Allotropes of carbon</vt:lpstr>
      <vt:lpstr>Reason – Hybridization </vt:lpstr>
      <vt:lpstr>CNT structure</vt:lpstr>
      <vt:lpstr>PowerPoint Presentation</vt:lpstr>
      <vt:lpstr>Different CNT</vt:lpstr>
      <vt:lpstr>PowerPoint Presentation</vt:lpstr>
      <vt:lpstr>Different process to make CNT</vt:lpstr>
      <vt:lpstr>CNT properties</vt:lpstr>
      <vt:lpstr>CNT application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Nano technoloy</dc:title>
  <dc:creator>Windows User</dc:creator>
  <cp:lastModifiedBy>Windows User</cp:lastModifiedBy>
  <cp:revision>114</cp:revision>
  <dcterms:created xsi:type="dcterms:W3CDTF">2017-07-20T05:59:00Z</dcterms:created>
  <dcterms:modified xsi:type="dcterms:W3CDTF">2022-12-09T11:03:34Z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0x01010009076DA9B367A24C87B8B887C1C06E33</vt:lpwstr>
  </property>
</Properties>
</file>