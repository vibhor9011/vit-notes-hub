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293" r:id="rId5"/>
    <p:sldId id="294" r:id="rId6"/>
    <p:sldId id="258" r:id="rId7"/>
    <p:sldId id="259" r:id="rId8"/>
    <p:sldId id="260" r:id="rId9"/>
    <p:sldId id="261" r:id="rId10"/>
    <p:sldId id="262" r:id="rId11"/>
    <p:sldId id="265" r:id="rId12"/>
    <p:sldId id="263" r:id="rId13"/>
    <p:sldId id="266" r:id="rId14"/>
    <p:sldId id="264" r:id="rId15"/>
    <p:sldId id="267" r:id="rId16"/>
    <p:sldId id="268" r:id="rId17"/>
    <p:sldId id="289" r:id="rId18"/>
    <p:sldId id="271" r:id="rId19"/>
    <p:sldId id="272" r:id="rId20"/>
    <p:sldId id="290" r:id="rId21"/>
    <p:sldId id="291" r:id="rId22"/>
    <p:sldId id="292" r:id="rId23"/>
    <p:sldId id="270" r:id="rId24"/>
    <p:sldId id="274" r:id="rId25"/>
    <p:sldId id="275" r:id="rId26"/>
    <p:sldId id="273" r:id="rId27"/>
    <p:sldId id="285" r:id="rId28"/>
    <p:sldId id="278" r:id="rId29"/>
    <p:sldId id="276" r:id="rId30"/>
    <p:sldId id="279" r:id="rId31"/>
    <p:sldId id="280" r:id="rId32"/>
    <p:sldId id="277" r:id="rId33"/>
    <p:sldId id="281" r:id="rId34"/>
    <p:sldId id="282" r:id="rId35"/>
    <p:sldId id="283" r:id="rId36"/>
    <p:sldId id="284" r:id="rId37"/>
    <p:sldId id="286" r:id="rId38"/>
    <p:sldId id="287" r:id="rId39"/>
    <p:sldId id="296" r:id="rId40"/>
    <p:sldId id="297" r:id="rId41"/>
    <p:sldId id="299" r:id="rId42"/>
    <p:sldId id="300" r:id="rId43"/>
    <p:sldId id="298" r:id="rId44"/>
    <p:sldId id="295"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AADE74-3A70-4159-8225-8F64F535F0E7}" type="datetimeFigureOut">
              <a:rPr lang="en-IN" smtClean="0"/>
              <a:t>28-11-2023</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9FE23F-5C13-4D6C-B220-E1F43BB2127B}" type="slidenum">
              <a:rPr lang="en-IN" smtClean="0"/>
              <a:t>‹#›</a:t>
            </a:fld>
            <a:endParaRPr lang="en-IN" dirty="0"/>
          </a:p>
        </p:txBody>
      </p:sp>
    </p:spTree>
    <p:extLst>
      <p:ext uri="{BB962C8B-B14F-4D97-AF65-F5344CB8AC3E}">
        <p14:creationId xmlns:p14="http://schemas.microsoft.com/office/powerpoint/2010/main" val="1480770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76838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138075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3889175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2906280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533721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760516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2602897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213845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3779390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3153249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E1D4AA-15E8-464A-A5E8-EBBE7F60409E}"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56351AE-AD10-4861-8C58-D2618B9E0FE7}" type="slidenum">
              <a:rPr lang="en-IN" smtClean="0"/>
              <a:t>‹#›</a:t>
            </a:fld>
            <a:endParaRPr lang="en-IN" dirty="0"/>
          </a:p>
        </p:txBody>
      </p:sp>
    </p:spTree>
    <p:extLst>
      <p:ext uri="{BB962C8B-B14F-4D97-AF65-F5344CB8AC3E}">
        <p14:creationId xmlns:p14="http://schemas.microsoft.com/office/powerpoint/2010/main" val="2764730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1D4AA-15E8-464A-A5E8-EBBE7F60409E}" type="datetimeFigureOut">
              <a:rPr lang="en-IN" smtClean="0"/>
              <a:t>28-11-2023</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6351AE-AD10-4861-8C58-D2618B9E0FE7}" type="slidenum">
              <a:rPr lang="en-IN" smtClean="0"/>
              <a:t>‹#›</a:t>
            </a:fld>
            <a:endParaRPr lang="en-IN" dirty="0"/>
          </a:p>
        </p:txBody>
      </p:sp>
    </p:spTree>
    <p:extLst>
      <p:ext uri="{BB962C8B-B14F-4D97-AF65-F5344CB8AC3E}">
        <p14:creationId xmlns:p14="http://schemas.microsoft.com/office/powerpoint/2010/main" val="1773854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5776" y="2264676"/>
            <a:ext cx="3600400" cy="707886"/>
          </a:xfrm>
          <a:prstGeom prst="rect">
            <a:avLst/>
          </a:prstGeom>
          <a:noFill/>
        </p:spPr>
        <p:txBody>
          <a:bodyPr wrap="square" rtlCol="0">
            <a:spAutoFit/>
          </a:bodyPr>
          <a:lstStyle/>
          <a:p>
            <a:r>
              <a:rPr lang="en-IN" sz="4000" b="1" dirty="0"/>
              <a:t>          LASER</a:t>
            </a:r>
          </a:p>
        </p:txBody>
      </p:sp>
    </p:spTree>
    <p:extLst>
      <p:ext uri="{BB962C8B-B14F-4D97-AF65-F5344CB8AC3E}">
        <p14:creationId xmlns:p14="http://schemas.microsoft.com/office/powerpoint/2010/main" val="1248315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5776" y="620688"/>
            <a:ext cx="3960440" cy="523220"/>
          </a:xfrm>
          <a:prstGeom prst="rect">
            <a:avLst/>
          </a:prstGeom>
          <a:noFill/>
        </p:spPr>
        <p:txBody>
          <a:bodyPr wrap="square" rtlCol="0">
            <a:spAutoFit/>
          </a:bodyPr>
          <a:lstStyle/>
          <a:p>
            <a:pPr algn="ctr"/>
            <a:r>
              <a:rPr lang="en-IN" sz="2800" b="1" u="sng" dirty="0"/>
              <a:t>LASER</a:t>
            </a:r>
          </a:p>
        </p:txBody>
      </p:sp>
      <p:sp>
        <p:nvSpPr>
          <p:cNvPr id="3" name="TextBox 2"/>
          <p:cNvSpPr txBox="1"/>
          <p:nvPr/>
        </p:nvSpPr>
        <p:spPr>
          <a:xfrm>
            <a:off x="179512" y="1268760"/>
            <a:ext cx="8964488" cy="4770537"/>
          </a:xfrm>
          <a:prstGeom prst="rect">
            <a:avLst/>
          </a:prstGeom>
          <a:noFill/>
        </p:spPr>
        <p:txBody>
          <a:bodyPr wrap="square" rtlCol="0">
            <a:spAutoFit/>
          </a:bodyPr>
          <a:lstStyle/>
          <a:p>
            <a:pPr algn="ctr"/>
            <a:r>
              <a:rPr lang="en-IN" sz="3200" dirty="0">
                <a:solidFill>
                  <a:srgbClr val="FF0000"/>
                </a:solidFill>
              </a:rPr>
              <a:t>L</a:t>
            </a:r>
            <a:r>
              <a:rPr lang="en-IN" sz="3200" dirty="0"/>
              <a:t>ight </a:t>
            </a:r>
            <a:r>
              <a:rPr lang="en-IN" sz="3200" dirty="0">
                <a:solidFill>
                  <a:srgbClr val="FF0000"/>
                </a:solidFill>
              </a:rPr>
              <a:t>A</a:t>
            </a:r>
            <a:r>
              <a:rPr lang="en-IN" sz="3200" dirty="0"/>
              <a:t>mplification  by </a:t>
            </a:r>
            <a:r>
              <a:rPr lang="en-IN" sz="3200" dirty="0">
                <a:solidFill>
                  <a:srgbClr val="FF0000"/>
                </a:solidFill>
              </a:rPr>
              <a:t>S</a:t>
            </a:r>
            <a:r>
              <a:rPr lang="en-IN" sz="3200" dirty="0"/>
              <a:t>timulated </a:t>
            </a:r>
            <a:r>
              <a:rPr lang="en-IN" sz="3200" dirty="0">
                <a:solidFill>
                  <a:srgbClr val="FF0000"/>
                </a:solidFill>
              </a:rPr>
              <a:t>E</a:t>
            </a:r>
            <a:r>
              <a:rPr lang="en-IN" sz="3200" dirty="0"/>
              <a:t>mission of </a:t>
            </a:r>
            <a:r>
              <a:rPr lang="en-IN" sz="3200" dirty="0">
                <a:solidFill>
                  <a:srgbClr val="FF0000"/>
                </a:solidFill>
              </a:rPr>
              <a:t>R</a:t>
            </a:r>
            <a:r>
              <a:rPr lang="en-IN" sz="3200" dirty="0"/>
              <a:t>adiation</a:t>
            </a:r>
          </a:p>
          <a:p>
            <a:pPr algn="ctr"/>
            <a:endParaRPr lang="en-IN" sz="2400" dirty="0"/>
          </a:p>
          <a:p>
            <a:r>
              <a:rPr lang="en-IN" sz="2400" dirty="0"/>
              <a:t>Characteristics or Properties of LASER</a:t>
            </a:r>
          </a:p>
          <a:p>
            <a:pPr marL="342900" indent="-342900">
              <a:buFont typeface="Arial" pitchFamily="34" charset="0"/>
              <a:buChar char="•"/>
            </a:pPr>
            <a:r>
              <a:rPr lang="en-IN" sz="2400" dirty="0"/>
              <a:t>Coherence</a:t>
            </a:r>
          </a:p>
          <a:p>
            <a:pPr marL="342900" indent="-342900">
              <a:buFont typeface="Arial" pitchFamily="34" charset="0"/>
              <a:buChar char="•"/>
            </a:pPr>
            <a:r>
              <a:rPr lang="en-IN" sz="2400" dirty="0"/>
              <a:t>High Directionality</a:t>
            </a:r>
          </a:p>
          <a:p>
            <a:pPr marL="342900" indent="-342900">
              <a:buFont typeface="Arial" pitchFamily="34" charset="0"/>
              <a:buChar char="•"/>
            </a:pPr>
            <a:r>
              <a:rPr lang="en-IN" sz="2400" dirty="0"/>
              <a:t>High Intensity</a:t>
            </a:r>
          </a:p>
          <a:p>
            <a:pPr marL="342900" indent="-342900">
              <a:buFont typeface="Arial" pitchFamily="34" charset="0"/>
              <a:buChar char="•"/>
            </a:pPr>
            <a:r>
              <a:rPr lang="en-IN" sz="2400" dirty="0"/>
              <a:t>High </a:t>
            </a:r>
            <a:r>
              <a:rPr lang="en-IN" sz="2400" dirty="0" err="1"/>
              <a:t>Monochromaticity</a:t>
            </a:r>
            <a:endParaRPr lang="en-IN" sz="2400" dirty="0"/>
          </a:p>
          <a:p>
            <a:pPr marL="342900" indent="-342900">
              <a:buFont typeface="Arial" pitchFamily="34" charset="0"/>
              <a:buChar char="•"/>
            </a:pPr>
            <a:endParaRPr lang="en-IN" sz="2400" dirty="0"/>
          </a:p>
          <a:p>
            <a:pPr marL="342900" indent="-342900">
              <a:buFont typeface="Arial" pitchFamily="34" charset="0"/>
              <a:buChar char="•"/>
            </a:pPr>
            <a:endParaRPr lang="en-IN" sz="2400" dirty="0"/>
          </a:p>
          <a:p>
            <a:r>
              <a:rPr lang="en-IN" sz="2400" dirty="0"/>
              <a:t>LASER light is highly powerful and capable of propagating  over long distances and are not absorbed easily by water.  </a:t>
            </a:r>
          </a:p>
        </p:txBody>
      </p:sp>
    </p:spTree>
    <p:extLst>
      <p:ext uri="{BB962C8B-B14F-4D97-AF65-F5344CB8AC3E}">
        <p14:creationId xmlns:p14="http://schemas.microsoft.com/office/powerpoint/2010/main" val="4137905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95736" y="1628800"/>
            <a:ext cx="2991845" cy="3416320"/>
          </a:xfrm>
          <a:prstGeom prst="rect">
            <a:avLst/>
          </a:prstGeom>
          <a:noFill/>
        </p:spPr>
        <p:txBody>
          <a:bodyPr wrap="none" rtlCol="0">
            <a:spAutoFit/>
          </a:bodyPr>
          <a:lstStyle/>
          <a:p>
            <a:pPr marL="285750" indent="-285750">
              <a:buFont typeface="Arial" pitchFamily="34" charset="0"/>
              <a:buChar char="•"/>
            </a:pPr>
            <a:endParaRPr lang="en-IN" b="1"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a:p>
            <a:pPr marL="285750" indent="-285750">
              <a:buFont typeface="Arial" pitchFamily="34" charset="0"/>
              <a:buChar char="•"/>
            </a:pPr>
            <a:r>
              <a:rPr lang="en-IN" b="1" dirty="0">
                <a:ln w="18000">
                  <a:solidFill>
                    <a:schemeClr val="accent2">
                      <a:satMod val="140000"/>
                    </a:schemeClr>
                  </a:solidFill>
                  <a:prstDash val="solid"/>
                  <a:miter lim="800000"/>
                </a:ln>
                <a:solidFill>
                  <a:srgbClr val="FF0000"/>
                </a:solidFill>
              </a:rPr>
              <a:t>ABSORBTION</a:t>
            </a:r>
          </a:p>
          <a:p>
            <a:pPr marL="285750" indent="-285750">
              <a:buFont typeface="Arial" pitchFamily="34" charset="0"/>
              <a:buChar char="•"/>
            </a:pPr>
            <a:endParaRPr lang="en-IN" b="1" dirty="0">
              <a:ln w="18000">
                <a:solidFill>
                  <a:schemeClr val="accent2">
                    <a:satMod val="140000"/>
                  </a:schemeClr>
                </a:solidFill>
                <a:prstDash val="solid"/>
                <a:miter lim="800000"/>
              </a:ln>
              <a:solidFill>
                <a:srgbClr val="FF0000"/>
              </a:solidFill>
            </a:endParaRPr>
          </a:p>
          <a:p>
            <a:pPr marL="285750" indent="-285750">
              <a:buFont typeface="Arial" pitchFamily="34" charset="0"/>
              <a:buChar char="•"/>
            </a:pPr>
            <a:r>
              <a:rPr lang="en-IN" b="1" dirty="0">
                <a:ln w="18000">
                  <a:solidFill>
                    <a:schemeClr val="accent2">
                      <a:satMod val="140000"/>
                    </a:schemeClr>
                  </a:solidFill>
                  <a:prstDash val="solid"/>
                  <a:miter lim="800000"/>
                </a:ln>
                <a:solidFill>
                  <a:srgbClr val="FF0000"/>
                </a:solidFill>
              </a:rPr>
              <a:t>EMISSION</a:t>
            </a:r>
          </a:p>
          <a:p>
            <a:pPr marL="285750" indent="-285750">
              <a:buFont typeface="Arial" pitchFamily="34" charset="0"/>
              <a:buChar char="•"/>
            </a:pPr>
            <a:endParaRPr lang="en-IN" b="1" dirty="0">
              <a:ln w="18000">
                <a:solidFill>
                  <a:schemeClr val="accent2">
                    <a:satMod val="140000"/>
                  </a:schemeClr>
                </a:solidFill>
                <a:prstDash val="solid"/>
                <a:miter lim="800000"/>
              </a:ln>
              <a:solidFill>
                <a:srgbClr val="FF0000"/>
              </a:solidFill>
            </a:endParaRPr>
          </a:p>
          <a:p>
            <a:pPr marL="285750" indent="-285750">
              <a:buFont typeface="Arial" pitchFamily="34" charset="0"/>
              <a:buChar char="•"/>
            </a:pPr>
            <a:r>
              <a:rPr lang="en-IN" b="1" dirty="0">
                <a:ln w="18000">
                  <a:solidFill>
                    <a:schemeClr val="accent2">
                      <a:satMod val="140000"/>
                    </a:schemeClr>
                  </a:solidFill>
                  <a:prstDash val="solid"/>
                  <a:miter lim="800000"/>
                </a:ln>
                <a:solidFill>
                  <a:srgbClr val="FF0000"/>
                </a:solidFill>
              </a:rPr>
              <a:t>SPONTANEOUS  EMISSION</a:t>
            </a:r>
          </a:p>
          <a:p>
            <a:pPr marL="285750" indent="-285750">
              <a:buFont typeface="Arial" pitchFamily="34" charset="0"/>
              <a:buChar char="•"/>
            </a:pPr>
            <a:endParaRPr lang="en-IN" b="1" dirty="0">
              <a:ln w="18000">
                <a:solidFill>
                  <a:schemeClr val="accent2">
                    <a:satMod val="140000"/>
                  </a:schemeClr>
                </a:solidFill>
                <a:prstDash val="solid"/>
                <a:miter lim="800000"/>
              </a:ln>
              <a:solidFill>
                <a:srgbClr val="FF0000"/>
              </a:solidFill>
            </a:endParaRPr>
          </a:p>
          <a:p>
            <a:pPr marL="285750" indent="-285750">
              <a:buFont typeface="Arial" pitchFamily="34" charset="0"/>
              <a:buChar char="•"/>
            </a:pPr>
            <a:r>
              <a:rPr lang="en-IN" b="1" dirty="0">
                <a:ln w="18000">
                  <a:solidFill>
                    <a:schemeClr val="accent2">
                      <a:satMod val="140000"/>
                    </a:schemeClr>
                  </a:solidFill>
                  <a:prstDash val="solid"/>
                  <a:miter lim="800000"/>
                </a:ln>
                <a:solidFill>
                  <a:srgbClr val="FF0000"/>
                </a:solidFill>
              </a:rPr>
              <a:t>STIMULATED EMISSION</a:t>
            </a:r>
          </a:p>
          <a:p>
            <a:pPr marL="285750" indent="-285750">
              <a:buFont typeface="Arial" pitchFamily="34" charset="0"/>
              <a:buChar char="•"/>
            </a:pPr>
            <a:endParaRPr lang="en-IN" b="1" dirty="0">
              <a:ln w="18000">
                <a:solidFill>
                  <a:schemeClr val="accent2">
                    <a:satMod val="140000"/>
                  </a:schemeClr>
                </a:solidFill>
                <a:prstDash val="solid"/>
                <a:miter lim="800000"/>
              </a:ln>
              <a:solidFill>
                <a:srgbClr val="FF0000"/>
              </a:solidFill>
            </a:endParaRPr>
          </a:p>
          <a:p>
            <a:pPr marL="285750" indent="-285750">
              <a:buFont typeface="Arial" pitchFamily="34" charset="0"/>
              <a:buChar char="•"/>
            </a:pPr>
            <a:r>
              <a:rPr lang="en-IN" b="1" dirty="0">
                <a:ln w="18000">
                  <a:solidFill>
                    <a:schemeClr val="accent2">
                      <a:satMod val="140000"/>
                    </a:schemeClr>
                  </a:solidFill>
                  <a:prstDash val="solid"/>
                  <a:miter lim="800000"/>
                </a:ln>
                <a:solidFill>
                  <a:srgbClr val="FF0000"/>
                </a:solidFill>
              </a:rPr>
              <a:t>POPULATION INVERSION </a:t>
            </a:r>
          </a:p>
          <a:p>
            <a:pPr marL="285750" indent="-285750">
              <a:buFont typeface="Arial" pitchFamily="34" charset="0"/>
              <a:buChar char="•"/>
            </a:pPr>
            <a:endParaRPr lang="en-IN" b="1" dirty="0">
              <a:ln w="18000">
                <a:solidFill>
                  <a:schemeClr val="accent2">
                    <a:satMod val="140000"/>
                  </a:schemeClr>
                </a:solidFill>
                <a:prstDash val="solid"/>
                <a:miter lim="800000"/>
              </a:ln>
              <a:solidFill>
                <a:srgbClr val="FF0000"/>
              </a:solidFill>
            </a:endParaRPr>
          </a:p>
          <a:p>
            <a:pPr marL="285750" indent="-285750">
              <a:buFont typeface="Arial" pitchFamily="34" charset="0"/>
              <a:buChar char="•"/>
            </a:pPr>
            <a:r>
              <a:rPr lang="en-IN" b="1" dirty="0">
                <a:ln w="18000">
                  <a:solidFill>
                    <a:schemeClr val="accent2">
                      <a:satMod val="140000"/>
                    </a:schemeClr>
                  </a:solidFill>
                  <a:prstDash val="solid"/>
                  <a:miter lim="800000"/>
                </a:ln>
                <a:solidFill>
                  <a:srgbClr val="FF0000"/>
                </a:solidFill>
              </a:rPr>
              <a:t>PUMPING</a:t>
            </a:r>
            <a:endParaRPr lang="en-IN" dirty="0">
              <a:solidFill>
                <a:srgbClr val="FF0000"/>
              </a:solidFill>
            </a:endParaRPr>
          </a:p>
        </p:txBody>
      </p:sp>
      <p:sp>
        <p:nvSpPr>
          <p:cNvPr id="3" name="TextBox 2"/>
          <p:cNvSpPr txBox="1"/>
          <p:nvPr/>
        </p:nvSpPr>
        <p:spPr>
          <a:xfrm>
            <a:off x="2339752" y="692696"/>
            <a:ext cx="4288097" cy="400110"/>
          </a:xfrm>
          <a:prstGeom prst="rect">
            <a:avLst/>
          </a:prstGeom>
          <a:noFill/>
        </p:spPr>
        <p:txBody>
          <a:bodyPr wrap="none" rtlCol="0">
            <a:spAutoFit/>
          </a:bodyPr>
          <a:lstStyle/>
          <a:p>
            <a:r>
              <a:rPr lang="en-IN" sz="2000" b="1" dirty="0"/>
              <a:t>Processes involved in Laser Production</a:t>
            </a:r>
          </a:p>
        </p:txBody>
      </p:sp>
    </p:spTree>
    <p:extLst>
      <p:ext uri="{BB962C8B-B14F-4D97-AF65-F5344CB8AC3E}">
        <p14:creationId xmlns:p14="http://schemas.microsoft.com/office/powerpoint/2010/main" val="1198944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absorption in laser pi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836712"/>
            <a:ext cx="6934200" cy="5200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29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mage result for spontaneous emission  in laser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Image result for spontaneous emission  in laser imag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7" descr="Image result for spontaneous emission  in laser image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9" descr="Image result for spontaneous emission  in laser image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574" y="312738"/>
            <a:ext cx="7470850" cy="5996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665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stimulated emission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980728"/>
            <a:ext cx="8017540" cy="5489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0531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population inversion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620688"/>
            <a:ext cx="6436990" cy="5138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6156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 The electrons remain only for 10-8 sec in exited&#10;state E3, so most of them jumps back to the ground&#10;state E1 by emit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32656"/>
            <a:ext cx="7920879" cy="5904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608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population inversion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908720"/>
            <a:ext cx="5688632"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785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474345"/>
            <a:ext cx="7776864" cy="6186309"/>
          </a:xfrm>
          <a:prstGeom prst="rect">
            <a:avLst/>
          </a:prstGeom>
        </p:spPr>
        <p:txBody>
          <a:bodyPr wrap="square">
            <a:spAutoFit/>
          </a:bodyPr>
          <a:lstStyle/>
          <a:p>
            <a:pPr algn="ctr" fontAlgn="base"/>
            <a:r>
              <a:rPr lang="en-IN" dirty="0"/>
              <a:t>   </a:t>
            </a:r>
            <a:r>
              <a:rPr lang="en-IN" b="1" u="sng" dirty="0">
                <a:solidFill>
                  <a:srgbClr val="FF0000"/>
                </a:solidFill>
              </a:rPr>
              <a:t>PUMPING</a:t>
            </a:r>
          </a:p>
          <a:p>
            <a:pPr algn="ctr" fontAlgn="base"/>
            <a:endParaRPr lang="en-IN" b="1" u="sng" dirty="0">
              <a:solidFill>
                <a:srgbClr val="FF0000"/>
              </a:solidFill>
            </a:endParaRPr>
          </a:p>
          <a:p>
            <a:pPr fontAlgn="base"/>
            <a:r>
              <a:rPr lang="en-IN" b="1" dirty="0"/>
              <a:t>Laser pumping</a:t>
            </a:r>
            <a:r>
              <a:rPr lang="en-IN" dirty="0"/>
              <a:t> is the act of energy transfer from an external source into the gain medium of a </a:t>
            </a:r>
            <a:r>
              <a:rPr lang="en-IN" b="1" dirty="0"/>
              <a:t>laser</a:t>
            </a:r>
            <a:r>
              <a:rPr lang="en-IN" dirty="0"/>
              <a:t>. The energy is absorbed in the medium, producing excited states in its atoms. </a:t>
            </a:r>
          </a:p>
          <a:p>
            <a:pPr fontAlgn="base"/>
            <a:endParaRPr lang="en-IN" b="1" dirty="0"/>
          </a:p>
          <a:p>
            <a:pPr fontAlgn="base"/>
            <a:r>
              <a:rPr lang="en-IN" dirty="0"/>
              <a:t>a) </a:t>
            </a:r>
            <a:r>
              <a:rPr lang="en-IN" b="1" dirty="0"/>
              <a:t>Optical pumping:</a:t>
            </a:r>
            <a:r>
              <a:rPr lang="en-IN" dirty="0"/>
              <a:t> In this, the population inversion is achieved by means of light energy delivered from appropriate pumping source such as gaseous </a:t>
            </a:r>
          </a:p>
          <a:p>
            <a:pPr fontAlgn="base"/>
            <a:r>
              <a:rPr lang="en-IN" dirty="0"/>
              <a:t>discharge or flash tubes. For example, in ruby laser, xenon flash tube is used.</a:t>
            </a:r>
          </a:p>
          <a:p>
            <a:pPr fontAlgn="base"/>
            <a:endParaRPr lang="en-IN" dirty="0"/>
          </a:p>
          <a:p>
            <a:pPr fontAlgn="base"/>
            <a:r>
              <a:rPr lang="en-IN" dirty="0"/>
              <a:t>b)      </a:t>
            </a:r>
            <a:r>
              <a:rPr lang="en-IN" b="1" dirty="0"/>
              <a:t>Electric discharge:</a:t>
            </a:r>
            <a:r>
              <a:rPr lang="en-IN" dirty="0"/>
              <a:t> pumping: this type of pumping accomplished by means of intense electrical discharge in the medium and is particularly suited to gas media like He-Ne laser and CO</a:t>
            </a:r>
            <a:r>
              <a:rPr lang="en-IN" baseline="-25000" dirty="0"/>
              <a:t>2</a:t>
            </a:r>
            <a:r>
              <a:rPr lang="en-IN" dirty="0"/>
              <a:t> laser. The electric discharge converts the gas into a plasma where active </a:t>
            </a:r>
            <a:r>
              <a:rPr lang="en-IN" dirty="0" err="1"/>
              <a:t>centers</a:t>
            </a:r>
            <a:r>
              <a:rPr lang="en-IN" dirty="0"/>
              <a:t> collide in elastically with free electrons and population inversion is achieved.</a:t>
            </a:r>
          </a:p>
          <a:p>
            <a:pPr fontAlgn="base"/>
            <a:endParaRPr lang="en-IN" dirty="0"/>
          </a:p>
          <a:p>
            <a:pPr fontAlgn="base"/>
            <a:r>
              <a:rPr lang="en-IN" dirty="0"/>
              <a:t>c)      </a:t>
            </a:r>
            <a:r>
              <a:rPr lang="en-IN" b="1" dirty="0"/>
              <a:t>Chemical pumping:</a:t>
            </a:r>
            <a:r>
              <a:rPr lang="en-IN" dirty="0"/>
              <a:t> It raises active centres into the higher levels by means of suitable exothermal chemical reactions in the active medium.</a:t>
            </a:r>
          </a:p>
          <a:p>
            <a:pPr fontAlgn="base"/>
            <a:endParaRPr lang="en-IN" dirty="0"/>
          </a:p>
          <a:p>
            <a:pPr fontAlgn="base"/>
            <a:r>
              <a:rPr lang="en-IN" dirty="0"/>
              <a:t>d)      </a:t>
            </a:r>
            <a:r>
              <a:rPr lang="en-IN" b="1" dirty="0"/>
              <a:t>Heat pumping:</a:t>
            </a:r>
            <a:r>
              <a:rPr lang="en-IN" dirty="0"/>
              <a:t> In this type of pumping, the active material is first brought to a high temperature then rapidly cooled down.</a:t>
            </a:r>
          </a:p>
          <a:p>
            <a:pPr fontAlgn="base"/>
            <a:r>
              <a:rPr lang="en-IN" dirty="0"/>
              <a:t> </a:t>
            </a:r>
          </a:p>
        </p:txBody>
      </p:sp>
    </p:spTree>
    <p:extLst>
      <p:ext uri="{BB962C8B-B14F-4D97-AF65-F5344CB8AC3E}">
        <p14:creationId xmlns:p14="http://schemas.microsoft.com/office/powerpoint/2010/main" val="781734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 Relation between Einstein’s ‘A’ and ‘B’&#10;coefficients&#10;• Einstein obtained a mathematical expression for the&#10;existence of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4" y="260648"/>
            <a:ext cx="8664897" cy="6336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96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2)&#10;• Boltzmann distribution law,&#10;------------(3)&#10;• So, -----------(4)&#10;• But, E2 – E1 = hf -----------(5)&#10;• S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4" y="476672"/>
            <a:ext cx="8880922"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677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 (7)&#10;• According to plank’s radiation formula,&#10;----------- (8)&#10;• Where, B12 = B21 &amp; A21 / B21 = ------------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8640"/>
            <a:ext cx="8424936" cy="612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262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 So,&#10;--------- (11)&#10;--------- (12)&#10;• So, R = ---------- (13)&#10;If hƒ &lt;&lt; kT, in thermal equilibrium,&#10;then R = &lt;&lt; 1&#10;• hƒ&lt;&lt;k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476672"/>
            <a:ext cx="8280920" cy="5904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298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ree-level laserA burst of energy excites electrons in more than half of the atoms from their ground state to a higher state, creating a population inversion. The electrons then drop into a long-lived state with slightly less energy, where they can be stimulated to quickly shed excess energy as a laser burst, returning the electrons to a stable ground st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754326"/>
            <a:ext cx="6480720" cy="40509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0" y="-1752995"/>
            <a:ext cx="889248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Arial" pitchFamily="34" charset="0"/>
                <a:cs typeface="Arial" pitchFamily="34" charset="0"/>
              </a:rPr>
              <a:t>  </a:t>
            </a:r>
            <a:r>
              <a:rPr kumimoji="0" lang="en-US" sz="17200" b="0" i="0" u="none" strike="noStrike" cap="none" normalizeH="0" baseline="0" dirty="0">
                <a:ln>
                  <a:noFill/>
                </a:ln>
                <a:solidFill>
                  <a:schemeClr val="tx1"/>
                </a:solidFill>
                <a:effectLst/>
                <a:latin typeface="Arial" pitchFamily="34" charset="0"/>
                <a:cs typeface="Arial" pitchFamily="34" charset="0"/>
              </a:rPr>
              <a:t> </a:t>
            </a:r>
            <a:r>
              <a:rPr kumimoji="0" lang="en-US" sz="1000" b="0" i="0" u="none" strike="noStrike" cap="none" normalizeH="0" baseline="0" dirty="0">
                <a:ln>
                  <a:noFill/>
                </a:ln>
                <a:solidFill>
                  <a:schemeClr val="tx1"/>
                </a:solidFill>
                <a:effectLst/>
                <a:latin typeface="Arial" pitchFamily="34"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FFFFFF"/>
                </a:solidFill>
                <a:effectLst/>
                <a:latin typeface="Montserrat"/>
                <a:cs typeface="Arial" pitchFamily="34" charset="0"/>
              </a:rPr>
              <a:t>Three-level laser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FFFFFF"/>
                </a:solidFill>
                <a:effectLst/>
                <a:latin typeface="Montserrat"/>
                <a:cs typeface="Arial" pitchFamily="34" charset="0"/>
              </a:rPr>
              <a:t>A burst of energy excites electrons in more than half of the atoms from their ground state to a higher state, creating a population inversion. The electrons then drop into a long-lived state with slightly less energy, where they can be stimulated to quickly shed excess energy as a laser burst, returning the electrons to a stable ground state.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1200" b="0" i="0" u="none" strike="noStrike" cap="none" normalizeH="0" baseline="0" dirty="0">
                <a:ln>
                  <a:noFill/>
                </a:ln>
                <a:solidFill>
                  <a:schemeClr val="tx1"/>
                </a:solidFill>
                <a:effectLst/>
                <a:latin typeface="Arial" pitchFamily="34" charset="0"/>
                <a:cs typeface="Arial" pitchFamily="34" charset="0"/>
              </a:rPr>
            </a:br>
            <a:endParaRPr kumimoji="0" lang="en-US" sz="1000" b="0" i="0" u="none" strike="noStrike" cap="none" normalizeH="0" baseline="0" dirty="0">
              <a:ln>
                <a:noFill/>
              </a:ln>
              <a:solidFill>
                <a:schemeClr val="tx1"/>
              </a:solidFill>
              <a:effectLst/>
              <a:latin typeface="Arial" pitchFamily="34" charset="0"/>
              <a:cs typeface="Arial" pitchFamily="34" charset="0"/>
            </a:endParaRPr>
          </a:p>
        </p:txBody>
      </p:sp>
      <p:sp>
        <p:nvSpPr>
          <p:cNvPr id="3" name="Rectangle 2"/>
          <p:cNvSpPr/>
          <p:nvPr/>
        </p:nvSpPr>
        <p:spPr>
          <a:xfrm>
            <a:off x="611560" y="0"/>
            <a:ext cx="8280920" cy="1477328"/>
          </a:xfrm>
          <a:prstGeom prst="rect">
            <a:avLst/>
          </a:prstGeom>
        </p:spPr>
        <p:txBody>
          <a:bodyPr wrap="square">
            <a:spAutoFit/>
          </a:bodyPr>
          <a:lstStyle/>
          <a:p>
            <a:pPr fontAlgn="base"/>
            <a:r>
              <a:rPr lang="en-IN" b="1" dirty="0"/>
              <a:t>Three-level laser</a:t>
            </a:r>
          </a:p>
          <a:p>
            <a:pPr fontAlgn="base"/>
            <a:r>
              <a:rPr lang="en-IN" dirty="0"/>
              <a:t>A burst of energy excites electrons in more than half of the atoms from their ground state to a higher state, creating a population inversion. The electrons then drop into a long-lived state with slightly less energy, where they can be stimulated to quickly shed excess energy as a laser burst, returning the electrons to a stable ground state.</a:t>
            </a:r>
          </a:p>
        </p:txBody>
      </p:sp>
    </p:spTree>
    <p:extLst>
      <p:ext uri="{BB962C8B-B14F-4D97-AF65-F5344CB8AC3E}">
        <p14:creationId xmlns:p14="http://schemas.microsoft.com/office/powerpoint/2010/main" val="3678715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Four-level laserA sustained laser beam can be achieved by using atoms that have two relatively stable levels between their ground state and a higher-energy excited state. As in a three-level laser, the atoms first drop to a long-lived metastable state where they can be stimulated to emit excess energy. However, instead of dropping to the ground state, they stop at another state above the ground state from which they can more easily be excited back up to the higher metastable state, thereby maintaining the population inversion needed for continuous laser ope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147958"/>
            <a:ext cx="5688632" cy="39453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116633"/>
            <a:ext cx="9144000" cy="2031325"/>
          </a:xfrm>
          <a:prstGeom prst="rect">
            <a:avLst/>
          </a:prstGeom>
        </p:spPr>
        <p:txBody>
          <a:bodyPr wrap="square">
            <a:spAutoFit/>
          </a:bodyPr>
          <a:lstStyle/>
          <a:p>
            <a:pPr algn="ctr" fontAlgn="base"/>
            <a:r>
              <a:rPr lang="en-IN" b="1" u="sng" dirty="0"/>
              <a:t>FOUR LEVEL PUMPING</a:t>
            </a:r>
          </a:p>
          <a:p>
            <a:pPr algn="just" fontAlgn="base"/>
            <a:r>
              <a:rPr lang="en-IN" dirty="0"/>
              <a:t>A sustained laser beam can be achieved by using atoms that have two relatively stable levels between their ground state and a higher-energy excited state. As in a three-level laser, the atoms first drop to a long-lived metastable state where they can be stimulated to emit excess energy. However, instead of dropping to the ground state, they stop at another state above the ground state from which they can more easily be excited back up to the higher metastable state, thereby maintaining the population inversion needed for continuous laser operation.</a:t>
            </a:r>
          </a:p>
        </p:txBody>
      </p:sp>
    </p:spTree>
    <p:extLst>
      <p:ext uri="{BB962C8B-B14F-4D97-AF65-F5344CB8AC3E}">
        <p14:creationId xmlns:p14="http://schemas.microsoft.com/office/powerpoint/2010/main" val="1051674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616" y="260648"/>
            <a:ext cx="7776864" cy="2862322"/>
          </a:xfrm>
          <a:prstGeom prst="rect">
            <a:avLst/>
          </a:prstGeom>
          <a:noFill/>
        </p:spPr>
        <p:txBody>
          <a:bodyPr wrap="square" rtlCol="0">
            <a:spAutoFit/>
          </a:bodyPr>
          <a:lstStyle/>
          <a:p>
            <a:r>
              <a:rPr lang="en-IN" b="1" dirty="0"/>
              <a:t>DISCUSSION</a:t>
            </a:r>
          </a:p>
          <a:p>
            <a:endParaRPr lang="en-IN" b="1" dirty="0"/>
          </a:p>
          <a:p>
            <a:endParaRPr lang="en-IN" b="1" dirty="0"/>
          </a:p>
          <a:p>
            <a:endParaRPr lang="en-IN" b="1" dirty="0"/>
          </a:p>
          <a:p>
            <a:pPr marL="285750" indent="-285750">
              <a:buFont typeface="Wingdings" pitchFamily="2" charset="2"/>
              <a:buChar char="Ø"/>
            </a:pPr>
            <a:r>
              <a:rPr lang="en-IN" dirty="0"/>
              <a:t>Why two level pumping is not possible?</a:t>
            </a:r>
          </a:p>
          <a:p>
            <a:endParaRPr lang="en-IN" dirty="0"/>
          </a:p>
          <a:p>
            <a:endParaRPr lang="en-IN" dirty="0"/>
          </a:p>
          <a:p>
            <a:pPr marL="285750" indent="-285750">
              <a:buFont typeface="Wingdings" pitchFamily="2" charset="2"/>
              <a:buChar char="Ø"/>
            </a:pPr>
            <a:r>
              <a:rPr lang="en-IN" dirty="0"/>
              <a:t>Which one is better three level pumping or four level pumping ?</a:t>
            </a:r>
          </a:p>
          <a:p>
            <a:endParaRPr lang="en-IN" dirty="0"/>
          </a:p>
          <a:p>
            <a:r>
              <a:rPr lang="en-IN" dirty="0"/>
              <a:t> </a:t>
            </a:r>
          </a:p>
        </p:txBody>
      </p:sp>
    </p:spTree>
    <p:extLst>
      <p:ext uri="{BB962C8B-B14F-4D97-AF65-F5344CB8AC3E}">
        <p14:creationId xmlns:p14="http://schemas.microsoft.com/office/powerpoint/2010/main" val="3436063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97346"/>
            <a:ext cx="8424936" cy="5078313"/>
          </a:xfrm>
          <a:prstGeom prst="rect">
            <a:avLst/>
          </a:prstGeom>
        </p:spPr>
        <p:txBody>
          <a:bodyPr wrap="square">
            <a:spAutoFit/>
          </a:bodyPr>
          <a:lstStyle/>
          <a:p>
            <a:r>
              <a:rPr lang="en-IN" dirty="0"/>
              <a:t>1.Population inversion is a necessary step in the workings of a standard model. The only way out is to use a third METASTABLE STATE to solve the problem. </a:t>
            </a:r>
            <a:r>
              <a:rPr lang="en-US" dirty="0"/>
              <a:t>A two level pumping is not suitable for obtaining population inversion. </a:t>
            </a:r>
          </a:p>
          <a:p>
            <a:r>
              <a:rPr lang="en-US" dirty="0"/>
              <a:t>The life span , for which atoms have to stay at upper energy level E</a:t>
            </a:r>
            <a:r>
              <a:rPr lang="en-US" baseline="-25000" dirty="0"/>
              <a:t>2</a:t>
            </a:r>
            <a:r>
              <a:rPr lang="en-US" dirty="0"/>
              <a:t>, must be longer for achieving population inversion condition. According to Heisenberg uncertainty principle, </a:t>
            </a:r>
          </a:p>
          <a:p>
            <a:r>
              <a:rPr lang="en-US" dirty="0"/>
              <a:t>                                                       ∆</a:t>
            </a:r>
            <a:r>
              <a:rPr lang="en-US" dirty="0" err="1"/>
              <a:t>E.∆t</a:t>
            </a:r>
            <a:r>
              <a:rPr lang="en-US" dirty="0"/>
              <a:t>≥</a:t>
            </a:r>
            <a:r>
              <a:rPr lang="az-Cyrl-AZ" dirty="0"/>
              <a:t>ђ</a:t>
            </a:r>
            <a:r>
              <a:rPr lang="en-IN" dirty="0"/>
              <a:t>  </a:t>
            </a:r>
          </a:p>
          <a:p>
            <a:r>
              <a:rPr lang="en-US" dirty="0"/>
              <a:t>                                      </a:t>
            </a:r>
          </a:p>
          <a:p>
            <a:r>
              <a:rPr lang="en-US" dirty="0"/>
              <a:t> ∆t will be longer if ∆E is smaller, </a:t>
            </a:r>
          </a:p>
          <a:p>
            <a:endParaRPr lang="en-US" dirty="0"/>
          </a:p>
          <a:p>
            <a:r>
              <a:rPr lang="en-US" dirty="0"/>
              <a:t>that is, E</a:t>
            </a:r>
            <a:r>
              <a:rPr lang="en-US" baseline="-25000" dirty="0"/>
              <a:t>2</a:t>
            </a:r>
            <a:r>
              <a:rPr lang="en-US" dirty="0"/>
              <a:t> is narrow. If ∆E is smaller, the pumping efficiency is smaller, As a consequence of which less number of atom excited . Though a sharp energy level supports the population inversion , enough population cannot be excited to level E</a:t>
            </a:r>
            <a:r>
              <a:rPr lang="en-US" baseline="-25000" dirty="0"/>
              <a:t>2</a:t>
            </a:r>
            <a:r>
              <a:rPr lang="en-US" dirty="0"/>
              <a:t> in the view of small . The result is that the upward transitions would be accompanied by premature downward stimulated transitions and the population in level E</a:t>
            </a:r>
            <a:r>
              <a:rPr lang="en-US" baseline="-25000" dirty="0"/>
              <a:t>2</a:t>
            </a:r>
            <a:r>
              <a:rPr lang="en-US" dirty="0"/>
              <a:t> would not accumulate to the required extent. </a:t>
            </a:r>
          </a:p>
          <a:p>
            <a:endParaRPr lang="en-US" dirty="0"/>
          </a:p>
          <a:p>
            <a:pPr fontAlgn="base"/>
            <a:r>
              <a:rPr lang="en-IN" dirty="0"/>
              <a:t> </a:t>
            </a:r>
          </a:p>
          <a:p>
            <a:r>
              <a:rPr lang="en-US" dirty="0"/>
              <a:t>               </a:t>
            </a:r>
            <a:endParaRPr lang="en-IN" dirty="0"/>
          </a:p>
        </p:txBody>
      </p:sp>
    </p:spTree>
    <p:extLst>
      <p:ext uri="{BB962C8B-B14F-4D97-AF65-F5344CB8AC3E}">
        <p14:creationId xmlns:p14="http://schemas.microsoft.com/office/powerpoint/2010/main" val="2760524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620688"/>
            <a:ext cx="8712968" cy="5632311"/>
          </a:xfrm>
          <a:prstGeom prst="rect">
            <a:avLst/>
          </a:prstGeom>
        </p:spPr>
        <p:txBody>
          <a:bodyPr wrap="square">
            <a:spAutoFit/>
          </a:bodyPr>
          <a:lstStyle/>
          <a:p>
            <a:pPr fontAlgn="base"/>
            <a:r>
              <a:rPr lang="en-IN" sz="2000" dirty="0">
                <a:solidFill>
                  <a:srgbClr val="FF0000"/>
                </a:solidFill>
              </a:rPr>
              <a:t>Four level pumping is better than three level pumping because</a:t>
            </a:r>
          </a:p>
          <a:p>
            <a:pPr fontAlgn="base"/>
            <a:endParaRPr lang="en-IN" dirty="0"/>
          </a:p>
          <a:p>
            <a:pPr fontAlgn="base"/>
            <a:endParaRPr lang="en-IN" dirty="0"/>
          </a:p>
          <a:p>
            <a:pPr marL="285750" indent="-285750" fontAlgn="base">
              <a:buFont typeface="Wingdings" pitchFamily="2" charset="2"/>
              <a:buChar char="Ø"/>
            </a:pPr>
            <a:r>
              <a:rPr lang="en-IN" dirty="0"/>
              <a:t>The laser output is continuous in the case of four level, but it is in the form of pulse in the three level laser.</a:t>
            </a:r>
          </a:p>
          <a:p>
            <a:pPr marL="285750" indent="-285750" fontAlgn="base">
              <a:buFont typeface="Wingdings" pitchFamily="2" charset="2"/>
              <a:buChar char="Ø"/>
            </a:pPr>
            <a:endParaRPr lang="en-IN" dirty="0"/>
          </a:p>
          <a:p>
            <a:pPr fontAlgn="base"/>
            <a:endParaRPr lang="en-IN" dirty="0"/>
          </a:p>
          <a:p>
            <a:pPr marL="285750" indent="-285750" fontAlgn="base">
              <a:buFont typeface="Wingdings" pitchFamily="2" charset="2"/>
              <a:buChar char="Ø"/>
            </a:pPr>
            <a:r>
              <a:rPr lang="en-IN" dirty="0"/>
              <a:t>Three Level laser requires high power</a:t>
            </a:r>
            <a:r>
              <a:rPr lang="en-IN" dirty="0">
                <a:solidFill>
                  <a:schemeClr val="tx1">
                    <a:lumMod val="95000"/>
                    <a:lumOff val="5000"/>
                  </a:schemeClr>
                </a:solidFill>
              </a:rPr>
              <a:t> pumping source,</a:t>
            </a:r>
            <a:r>
              <a:rPr lang="en-IN" dirty="0"/>
              <a:t> whereas four level laser requires low power pumping source like electric discharge.</a:t>
            </a:r>
          </a:p>
          <a:p>
            <a:pPr marL="285750" indent="-285750" fontAlgn="base">
              <a:buFont typeface="Wingdings" pitchFamily="2" charset="2"/>
              <a:buChar char="Ø"/>
            </a:pPr>
            <a:endParaRPr lang="en-IN" dirty="0"/>
          </a:p>
          <a:p>
            <a:pPr marL="285750" indent="-285750" fontAlgn="base">
              <a:buFont typeface="Wingdings" pitchFamily="2" charset="2"/>
              <a:buChar char="Ø"/>
            </a:pPr>
            <a:endParaRPr lang="en-IN" dirty="0"/>
          </a:p>
          <a:p>
            <a:pPr marL="285750" indent="-285750" fontAlgn="base">
              <a:buFont typeface="Wingdings" pitchFamily="2" charset="2"/>
              <a:buChar char="Ø"/>
            </a:pPr>
            <a:r>
              <a:rPr lang="en-IN" dirty="0"/>
              <a:t>Efficiency of four level laser is more than three level laser.</a:t>
            </a:r>
          </a:p>
          <a:p>
            <a:pPr marL="285750" indent="-285750" fontAlgn="base">
              <a:buFont typeface="Wingdings" pitchFamily="2" charset="2"/>
              <a:buChar char="Ø"/>
            </a:pPr>
            <a:endParaRPr lang="en-IN" dirty="0"/>
          </a:p>
          <a:p>
            <a:pPr marL="285750" indent="-285750" fontAlgn="base">
              <a:buFont typeface="Wingdings" pitchFamily="2" charset="2"/>
              <a:buChar char="Ø"/>
            </a:pPr>
            <a:endParaRPr lang="en-IN" dirty="0"/>
          </a:p>
          <a:p>
            <a:pPr marL="285750" indent="-285750" fontAlgn="base">
              <a:buFont typeface="Wingdings" pitchFamily="2" charset="2"/>
              <a:buChar char="Ø"/>
            </a:pPr>
            <a:r>
              <a:rPr lang="en-IN" dirty="0"/>
              <a:t>The defects due to crystalline imperfections are also present in the  laser. But it is not so in the four level laser.</a:t>
            </a:r>
          </a:p>
          <a:p>
            <a:pPr marL="285750" indent="-285750" fontAlgn="base">
              <a:buFont typeface="Wingdings" pitchFamily="2" charset="2"/>
              <a:buChar char="Ø"/>
            </a:pPr>
            <a:endParaRPr lang="en-IN" dirty="0"/>
          </a:p>
          <a:p>
            <a:pPr marL="285750" indent="-285750" fontAlgn="base">
              <a:buFont typeface="Wingdings" pitchFamily="2" charset="2"/>
              <a:buChar char="Ø"/>
            </a:pPr>
            <a:endParaRPr lang="en-IN" dirty="0"/>
          </a:p>
          <a:p>
            <a:pPr marL="285750" indent="-285750" fontAlgn="base">
              <a:buFont typeface="Wingdings" pitchFamily="2" charset="2"/>
              <a:buChar char="Ø"/>
            </a:pPr>
            <a:endParaRPr lang="en-IN" dirty="0"/>
          </a:p>
          <a:p>
            <a:pPr marL="285750" indent="-285750" fontAlgn="base">
              <a:buFont typeface="Wingdings" pitchFamily="2" charset="2"/>
              <a:buChar char="Ø"/>
            </a:pPr>
            <a:endParaRPr lang="en-IN" dirty="0"/>
          </a:p>
        </p:txBody>
      </p:sp>
    </p:spTree>
    <p:extLst>
      <p:ext uri="{BB962C8B-B14F-4D97-AF65-F5344CB8AC3E}">
        <p14:creationId xmlns:p14="http://schemas.microsoft.com/office/powerpoint/2010/main" val="512819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88640"/>
            <a:ext cx="8568952" cy="5786199"/>
          </a:xfrm>
          <a:prstGeom prst="rect">
            <a:avLst/>
          </a:prstGeom>
          <a:noFill/>
        </p:spPr>
        <p:txBody>
          <a:bodyPr wrap="square" rtlCol="0">
            <a:spAutoFit/>
          </a:bodyPr>
          <a:lstStyle/>
          <a:p>
            <a:pPr algn="just"/>
            <a:r>
              <a:rPr lang="en-IN" sz="2800" u="sng" dirty="0">
                <a:solidFill>
                  <a:srgbClr val="FF0000"/>
                </a:solidFill>
              </a:rPr>
              <a:t>Components of Laser</a:t>
            </a:r>
          </a:p>
          <a:p>
            <a:pPr algn="just"/>
            <a:endParaRPr lang="en-IN" u="sng" dirty="0"/>
          </a:p>
          <a:p>
            <a:pPr algn="just"/>
            <a:endParaRPr lang="en-IN" dirty="0"/>
          </a:p>
          <a:p>
            <a:pPr marL="342900" indent="-342900" algn="just">
              <a:buAutoNum type="arabicPeriod"/>
            </a:pPr>
            <a:r>
              <a:rPr lang="en-IN" b="1" dirty="0"/>
              <a:t>Active Medium : The active medium is the collection of ions, atoms or molecules in which the stimulated emission occurs. It can be either solid, liquid , gas or semiconductor material. The wavelength of the laser produced depends on the type of active medium.</a:t>
            </a:r>
          </a:p>
          <a:p>
            <a:pPr algn="just"/>
            <a:r>
              <a:rPr lang="en-IN" b="1" dirty="0"/>
              <a:t>      e.g.: Ruby Laser contains ruby rod with Al and Cr ions as active medium</a:t>
            </a:r>
          </a:p>
          <a:p>
            <a:pPr algn="just"/>
            <a:r>
              <a:rPr lang="en-IN" b="1" dirty="0"/>
              <a:t>             He-Ne Laser is having Ne ions  as active medium</a:t>
            </a:r>
          </a:p>
          <a:p>
            <a:pPr algn="just"/>
            <a:r>
              <a:rPr lang="en-IN" b="1" dirty="0"/>
              <a:t>              </a:t>
            </a:r>
          </a:p>
          <a:p>
            <a:pPr algn="just"/>
            <a:r>
              <a:rPr lang="en-IN" b="1" dirty="0"/>
              <a:t>2. Pumping Agent: This is the device used to impart or put energy to the                              active medium. The process of imparting energy to the active medium is called as pumping.</a:t>
            </a:r>
          </a:p>
          <a:p>
            <a:pPr algn="just"/>
            <a:r>
              <a:rPr lang="en-IN" b="1" dirty="0"/>
              <a:t> </a:t>
            </a:r>
            <a:r>
              <a:rPr lang="en-IN" b="1" dirty="0" err="1"/>
              <a:t>eg</a:t>
            </a:r>
            <a:r>
              <a:rPr lang="en-IN" b="1" dirty="0"/>
              <a:t>: Xenon light in Ruby Laser</a:t>
            </a:r>
          </a:p>
          <a:p>
            <a:pPr algn="just"/>
            <a:r>
              <a:rPr lang="en-IN" b="1" dirty="0"/>
              <a:t>        </a:t>
            </a:r>
          </a:p>
          <a:p>
            <a:pPr algn="just"/>
            <a:endParaRPr lang="en-IN" b="1" dirty="0"/>
          </a:p>
          <a:p>
            <a:pPr algn="just"/>
            <a:r>
              <a:rPr lang="en-IN" b="1" dirty="0"/>
              <a:t>3.  Optical Resonator : An optical cavity, resonating cavity or optical resonator is an arrangement of mirrors that forms a standing wave cavity resonator  for light waves. Optical cavities are a major component of lasers, surrounding the gain medium and providing feedback of the laser light.     </a:t>
            </a:r>
          </a:p>
        </p:txBody>
      </p:sp>
    </p:spTree>
    <p:extLst>
      <p:ext uri="{BB962C8B-B14F-4D97-AF65-F5344CB8AC3E}">
        <p14:creationId xmlns:p14="http://schemas.microsoft.com/office/powerpoint/2010/main" val="914478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332657"/>
            <a:ext cx="8136904" cy="7602081"/>
          </a:xfrm>
          <a:prstGeom prst="rect">
            <a:avLst/>
          </a:prstGeom>
          <a:noFill/>
        </p:spPr>
        <p:txBody>
          <a:bodyPr wrap="square" rtlCol="0">
            <a:spAutoFit/>
          </a:bodyPr>
          <a:lstStyle/>
          <a:p>
            <a:pPr algn="ctr"/>
            <a:r>
              <a:rPr lang="en-IN" sz="2000" b="1" dirty="0">
                <a:solidFill>
                  <a:srgbClr val="FF0000"/>
                </a:solidFill>
              </a:rPr>
              <a:t>He-Ne Laser</a:t>
            </a:r>
          </a:p>
          <a:p>
            <a:pPr algn="just"/>
            <a:endParaRPr lang="en-IN" dirty="0"/>
          </a:p>
          <a:p>
            <a:pPr algn="just"/>
            <a:r>
              <a:rPr lang="en-IN" dirty="0"/>
              <a:t>Helium-Neon laser is a type of gas laser in which a mixture of helium and neon gas is used as a gain medium. Helium-Neon laser is also known as He-Ne laser.</a:t>
            </a:r>
          </a:p>
          <a:p>
            <a:pPr algn="just"/>
            <a:endParaRPr lang="en-IN" b="1" dirty="0"/>
          </a:p>
          <a:p>
            <a:pPr algn="just"/>
            <a:r>
              <a:rPr lang="en-IN" b="1" dirty="0"/>
              <a:t>Helium-neon laser construction</a:t>
            </a:r>
          </a:p>
          <a:p>
            <a:pPr algn="just"/>
            <a:endParaRPr lang="en-IN" dirty="0"/>
          </a:p>
          <a:p>
            <a:pPr algn="just"/>
            <a:r>
              <a:rPr lang="en-IN" dirty="0"/>
              <a:t>The helium-neon laser consists of three essential components:</a:t>
            </a:r>
          </a:p>
          <a:p>
            <a:pPr algn="just"/>
            <a:endParaRPr lang="en-IN" dirty="0"/>
          </a:p>
          <a:p>
            <a:pPr marL="285750" indent="-285750" algn="just">
              <a:buFont typeface="Arial" pitchFamily="34" charset="0"/>
              <a:buChar char="•"/>
            </a:pPr>
            <a:r>
              <a:rPr lang="en-IN" dirty="0"/>
              <a:t>Pump source (high voltage power supply): In helium-neon lasers, a high voltage DC power supply is used as the pump source. A high  voltage DC supplies electric current through the gas mixture of helium and neon. </a:t>
            </a:r>
          </a:p>
          <a:p>
            <a:endParaRPr lang="en-IN" dirty="0"/>
          </a:p>
          <a:p>
            <a:pPr marL="285750" indent="-285750" algn="just">
              <a:buFont typeface="Arial" pitchFamily="34" charset="0"/>
              <a:buChar char="•"/>
            </a:pPr>
            <a:r>
              <a:rPr lang="en-IN" dirty="0"/>
              <a:t>Active medium : The gain medium of a helium-neon laser is made up of the mixture of helium and neon gas contained in a glass tube at low pressure. The gas mixture is mostly comprised of helium gas. Therefore in order to achieve population inversion,  excitation of  helium atoms is done primarily. In He-Ne laser, neon atoms are the active centre and have energy levels suitable for laser transitions while helium atoms help in exciting neon atoms.</a:t>
            </a:r>
          </a:p>
          <a:p>
            <a:pPr marL="285750" indent="-285750" algn="just">
              <a:buFont typeface="Arial" pitchFamily="34" charset="0"/>
              <a:buChar char="•"/>
            </a:pPr>
            <a:endParaRPr lang="en-IN" dirty="0"/>
          </a:p>
          <a:p>
            <a:pPr marL="285750" indent="-285750" algn="just">
              <a:buFont typeface="Arial" pitchFamily="34" charset="0"/>
              <a:buChar char="•"/>
            </a:pPr>
            <a:r>
              <a:rPr lang="en-IN" dirty="0"/>
              <a:t>Resonating cavity: The glass tube (containing a mixture of helium and neon gas) is placed between two parallel mirrors. These two mirrors are silvered or optically coated.</a:t>
            </a:r>
          </a:p>
          <a:p>
            <a:pPr algn="just"/>
            <a:endParaRPr lang="en-IN" dirty="0"/>
          </a:p>
          <a:p>
            <a:pPr algn="just"/>
            <a:endParaRPr lang="en-IN" dirty="0"/>
          </a:p>
          <a:p>
            <a:pPr algn="just"/>
            <a:endParaRPr lang="en-IN" dirty="0"/>
          </a:p>
          <a:p>
            <a:endParaRPr lang="en-IN" dirty="0"/>
          </a:p>
        </p:txBody>
      </p:sp>
    </p:spTree>
    <p:extLst>
      <p:ext uri="{BB962C8B-B14F-4D97-AF65-F5344CB8AC3E}">
        <p14:creationId xmlns:p14="http://schemas.microsoft.com/office/powerpoint/2010/main" val="4171636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he ne laser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661338"/>
            <a:ext cx="7128792" cy="312770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835696" y="4365104"/>
            <a:ext cx="6947608" cy="1200329"/>
          </a:xfrm>
          <a:prstGeom prst="rect">
            <a:avLst/>
          </a:prstGeom>
          <a:noFill/>
        </p:spPr>
        <p:txBody>
          <a:bodyPr wrap="none" rtlCol="0">
            <a:spAutoFit/>
          </a:bodyPr>
          <a:lstStyle/>
          <a:p>
            <a:pPr marL="285750" indent="-285750">
              <a:buFont typeface="Arial" pitchFamily="34" charset="0"/>
              <a:buChar char="•"/>
            </a:pPr>
            <a:r>
              <a:rPr lang="en-IN" dirty="0"/>
              <a:t>Mixture of He and Ne gases taken in a glass tube</a:t>
            </a:r>
          </a:p>
          <a:p>
            <a:pPr marL="285750" indent="-285750">
              <a:buFont typeface="Arial" pitchFamily="34" charset="0"/>
              <a:buChar char="•"/>
            </a:pPr>
            <a:r>
              <a:rPr lang="en-IN" dirty="0"/>
              <a:t>The tube is fitted with cylindrical cathode and  smaller anode</a:t>
            </a:r>
          </a:p>
          <a:p>
            <a:pPr marL="285750" indent="-285750">
              <a:buFont typeface="Arial" pitchFamily="34" charset="0"/>
              <a:buChar char="•"/>
            </a:pPr>
            <a:r>
              <a:rPr lang="en-IN" dirty="0"/>
              <a:t>Optical resonator is the couple of mirrors at the two ends of the tube</a:t>
            </a:r>
          </a:p>
          <a:p>
            <a:pPr marL="285750" indent="-285750">
              <a:buFont typeface="Arial" pitchFamily="34" charset="0"/>
              <a:buChar char="•"/>
            </a:pPr>
            <a:endParaRPr lang="en-IN" dirty="0"/>
          </a:p>
        </p:txBody>
      </p:sp>
      <p:sp>
        <p:nvSpPr>
          <p:cNvPr id="3" name="TextBox 2"/>
          <p:cNvSpPr txBox="1"/>
          <p:nvPr/>
        </p:nvSpPr>
        <p:spPr>
          <a:xfrm>
            <a:off x="683568" y="476672"/>
            <a:ext cx="2387783" cy="369332"/>
          </a:xfrm>
          <a:prstGeom prst="rect">
            <a:avLst/>
          </a:prstGeom>
          <a:noFill/>
        </p:spPr>
        <p:txBody>
          <a:bodyPr wrap="square" rtlCol="0">
            <a:spAutoFit/>
          </a:bodyPr>
          <a:lstStyle/>
          <a:p>
            <a:r>
              <a:rPr lang="en-IN" dirty="0">
                <a:solidFill>
                  <a:srgbClr val="FF0000"/>
                </a:solidFill>
              </a:rPr>
              <a:t>Construction:</a:t>
            </a:r>
          </a:p>
        </p:txBody>
      </p:sp>
    </p:spTree>
    <p:extLst>
      <p:ext uri="{BB962C8B-B14F-4D97-AF65-F5344CB8AC3E}">
        <p14:creationId xmlns:p14="http://schemas.microsoft.com/office/powerpoint/2010/main" val="3675744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hyperphysics.phy-astr.gsu.edu/hbase/optmod/imgopm/Hen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340768"/>
            <a:ext cx="6912768" cy="468052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71600" y="476672"/>
            <a:ext cx="1440202" cy="523220"/>
          </a:xfrm>
          <a:prstGeom prst="rect">
            <a:avLst/>
          </a:prstGeom>
          <a:noFill/>
        </p:spPr>
        <p:txBody>
          <a:bodyPr wrap="none" rtlCol="0">
            <a:spAutoFit/>
          </a:bodyPr>
          <a:lstStyle/>
          <a:p>
            <a:r>
              <a:rPr lang="en-IN" sz="2800" b="1" u="sng" dirty="0">
                <a:solidFill>
                  <a:srgbClr val="FF0000"/>
                </a:solidFill>
              </a:rPr>
              <a:t>Working</a:t>
            </a:r>
          </a:p>
        </p:txBody>
      </p:sp>
    </p:spTree>
    <p:extLst>
      <p:ext uri="{BB962C8B-B14F-4D97-AF65-F5344CB8AC3E}">
        <p14:creationId xmlns:p14="http://schemas.microsoft.com/office/powerpoint/2010/main" val="1304493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632" y="2891264"/>
            <a:ext cx="7488832" cy="523220"/>
          </a:xfrm>
          <a:prstGeom prst="rect">
            <a:avLst/>
          </a:prstGeom>
          <a:noFill/>
        </p:spPr>
        <p:txBody>
          <a:bodyPr wrap="square" rtlCol="0">
            <a:spAutoFit/>
          </a:bodyPr>
          <a:lstStyle/>
          <a:p>
            <a:r>
              <a:rPr lang="en-IN" sz="2800" dirty="0">
                <a:solidFill>
                  <a:srgbClr val="0070C0"/>
                </a:solidFill>
              </a:rPr>
              <a:t>EXPERIMENT ON WAVELENGTH DETERMINATION</a:t>
            </a:r>
          </a:p>
        </p:txBody>
      </p:sp>
    </p:spTree>
    <p:extLst>
      <p:ext uri="{BB962C8B-B14F-4D97-AF65-F5344CB8AC3E}">
        <p14:creationId xmlns:p14="http://schemas.microsoft.com/office/powerpoint/2010/main" val="3256988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rot="10800000" flipV="1">
            <a:off x="1835697" y="1987099"/>
            <a:ext cx="4968552" cy="1200329"/>
          </a:xfrm>
          <a:prstGeom prst="rect">
            <a:avLst/>
          </a:prstGeom>
          <a:noFill/>
        </p:spPr>
        <p:txBody>
          <a:bodyPr wrap="square" rtlCol="0">
            <a:spAutoFit/>
          </a:bodyPr>
          <a:lstStyle/>
          <a:p>
            <a:pPr algn="ctr"/>
            <a:r>
              <a:rPr lang="en-IN" sz="3600" dirty="0">
                <a:solidFill>
                  <a:srgbClr val="002060"/>
                </a:solidFill>
              </a:rPr>
              <a:t>Modes of Vibration of CO2</a:t>
            </a:r>
          </a:p>
        </p:txBody>
      </p:sp>
    </p:spTree>
    <p:extLst>
      <p:ext uri="{BB962C8B-B14F-4D97-AF65-F5344CB8AC3E}">
        <p14:creationId xmlns:p14="http://schemas.microsoft.com/office/powerpoint/2010/main" val="1309888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323528" y="51666"/>
            <a:ext cx="770485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pPr>
            <a:r>
              <a:rPr lang="en-IN" sz="2400" b="1" dirty="0">
                <a:solidFill>
                  <a:srgbClr val="FF0000"/>
                </a:solidFill>
              </a:rPr>
              <a:t>Symmetric stretching mode</a:t>
            </a:r>
          </a:p>
          <a:p>
            <a:pPr lvl="0" algn="just" fontAlgn="base">
              <a:spcBef>
                <a:spcPct val="0"/>
              </a:spcBef>
              <a:spcAft>
                <a:spcPct val="0"/>
              </a:spcAft>
            </a:pPr>
            <a:endParaRPr lang="en-IN" sz="2000" b="1" dirty="0"/>
          </a:p>
          <a:p>
            <a:pPr lvl="0" algn="just" fontAlgn="base">
              <a:spcBef>
                <a:spcPct val="0"/>
              </a:spcBef>
              <a:spcAft>
                <a:spcPct val="0"/>
              </a:spcAft>
            </a:pPr>
            <a:endParaRPr lang="en-IN" sz="2000" b="1" dirty="0"/>
          </a:p>
          <a:p>
            <a:pPr lvl="0" algn="just" fontAlgn="base">
              <a:spcBef>
                <a:spcPct val="0"/>
              </a:spcBef>
              <a:spcAft>
                <a:spcPct val="0"/>
              </a:spcAf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In this mode of vibration, carbon atoms are at rest and both oxygen atoms vibrate simultaneously along the axis of the molecule departing or approaching the fixed carbon atoms.</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rgbClr val="333333"/>
                </a:solidFill>
                <a:effectLst/>
                <a:latin typeface="Helvetica Neue"/>
                <a:cs typeface="Arial" pitchFamily="34" charset="0"/>
              </a:rPr>
              <a:t>  </a:t>
            </a:r>
            <a:br>
              <a:rPr kumimoji="0" lang="en-US" sz="12100" b="0" i="0" u="none" strike="noStrike" cap="none" normalizeH="0" baseline="0" dirty="0">
                <a:ln>
                  <a:noFill/>
                </a:ln>
                <a:solidFill>
                  <a:srgbClr val="333333"/>
                </a:solidFill>
                <a:effectLst/>
                <a:latin typeface="Helvetica Neue"/>
                <a:cs typeface="Arial" pitchFamily="34" charset="0"/>
              </a:rPr>
            </a:br>
            <a:endParaRPr kumimoji="0" lang="en-US" sz="8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333333"/>
                </a:solidFill>
                <a:effectLst/>
                <a:latin typeface="Times New Roman" pitchFamily="18" charset="0"/>
                <a:cs typeface="Times New Roman" pitchFamily="18" charset="0"/>
              </a:rPr>
              <a:t> </a:t>
            </a:r>
            <a:endParaRPr kumimoji="0" lang="en-US" sz="1000" b="0" i="0" u="none" strike="noStrike" cap="none" normalizeH="0" baseline="0" dirty="0">
              <a:ln>
                <a:noFill/>
              </a:ln>
              <a:solidFill>
                <a:srgbClr val="333333"/>
              </a:solidFill>
              <a:effectLst/>
              <a:latin typeface="Helvetica Neue"/>
              <a:cs typeface="Arial" pitchFamily="34" charset="0"/>
            </a:endParaRPr>
          </a:p>
        </p:txBody>
      </p:sp>
      <p:pic>
        <p:nvPicPr>
          <p:cNvPr id="2052" name="Picture 4" descr="http://www.readorrefer.in/media/extra/ffI76E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708920"/>
            <a:ext cx="7704856"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079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readorrefer.in/media/extra/BqQlEw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708920"/>
            <a:ext cx="6480720" cy="26642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rot="10800000" flipV="1">
            <a:off x="107504" y="-162021"/>
            <a:ext cx="8568952" cy="1692771"/>
          </a:xfrm>
          <a:prstGeom prst="rect">
            <a:avLst/>
          </a:prstGeom>
          <a:noFill/>
        </p:spPr>
        <p:txBody>
          <a:bodyPr wrap="square" rtlCol="0">
            <a:spAutoFit/>
          </a:bodyPr>
          <a:lstStyle/>
          <a:p>
            <a:endParaRPr lang="en-IN" sz="2000" dirty="0">
              <a:solidFill>
                <a:srgbClr val="FF0000"/>
              </a:solidFill>
            </a:endParaRPr>
          </a:p>
          <a:p>
            <a:r>
              <a:rPr lang="en-IN" sz="2400" b="1" dirty="0">
                <a:solidFill>
                  <a:srgbClr val="FF0000"/>
                </a:solidFill>
              </a:rPr>
              <a:t>Bending Mode</a:t>
            </a:r>
          </a:p>
          <a:p>
            <a:endParaRPr lang="en-IN" sz="2000" dirty="0"/>
          </a:p>
          <a:p>
            <a:r>
              <a:rPr lang="en-IN" sz="2000" dirty="0"/>
              <a:t>In this mode the molecules of oxygen and carbon atoms  vibrate perpendicular to the molecular axis</a:t>
            </a:r>
          </a:p>
        </p:txBody>
      </p:sp>
    </p:spTree>
    <p:extLst>
      <p:ext uri="{BB962C8B-B14F-4D97-AF65-F5344CB8AC3E}">
        <p14:creationId xmlns:p14="http://schemas.microsoft.com/office/powerpoint/2010/main" val="2886819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readorrefer.in/media/extra/P64UhpJ.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250" y="2780928"/>
            <a:ext cx="8094542" cy="237626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51520" y="332656"/>
            <a:ext cx="7920880" cy="1323439"/>
          </a:xfrm>
          <a:prstGeom prst="rect">
            <a:avLst/>
          </a:prstGeom>
          <a:noFill/>
        </p:spPr>
        <p:txBody>
          <a:bodyPr wrap="square" rtlCol="0">
            <a:spAutoFit/>
          </a:bodyPr>
          <a:lstStyle/>
          <a:p>
            <a:r>
              <a:rPr lang="en-IN" sz="2400" b="1" dirty="0">
                <a:solidFill>
                  <a:srgbClr val="FF0000"/>
                </a:solidFill>
              </a:rPr>
              <a:t>Asymmetric vibration mode </a:t>
            </a:r>
          </a:p>
          <a:p>
            <a:endParaRPr lang="en-IN" sz="2000" dirty="0">
              <a:solidFill>
                <a:srgbClr val="FF0000"/>
              </a:solidFill>
            </a:endParaRPr>
          </a:p>
          <a:p>
            <a:r>
              <a:rPr lang="en-IN" dirty="0"/>
              <a:t>In this the oxygen and carbon atoms vibrate </a:t>
            </a:r>
            <a:r>
              <a:rPr lang="en-IN" dirty="0" err="1"/>
              <a:t>assymetrically</a:t>
            </a:r>
            <a:r>
              <a:rPr lang="en-IN" dirty="0"/>
              <a:t> i.e. oxygen atoms move in one direction  while the carbon atoms in other direction</a:t>
            </a:r>
          </a:p>
        </p:txBody>
      </p:sp>
    </p:spTree>
    <p:extLst>
      <p:ext uri="{BB962C8B-B14F-4D97-AF65-F5344CB8AC3E}">
        <p14:creationId xmlns:p14="http://schemas.microsoft.com/office/powerpoint/2010/main" val="3581704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31840" y="620688"/>
            <a:ext cx="1335366" cy="707886"/>
          </a:xfrm>
          <a:prstGeom prst="rect">
            <a:avLst/>
          </a:prstGeom>
          <a:noFill/>
        </p:spPr>
        <p:txBody>
          <a:bodyPr wrap="none" rtlCol="0">
            <a:spAutoFit/>
          </a:bodyPr>
          <a:lstStyle/>
          <a:p>
            <a:r>
              <a:rPr lang="en-IN" sz="2000" b="1" dirty="0"/>
              <a:t>CO2 LASER</a:t>
            </a:r>
          </a:p>
          <a:p>
            <a:endParaRPr lang="en-IN" sz="2000" b="1" dirty="0"/>
          </a:p>
        </p:txBody>
      </p:sp>
      <p:sp>
        <p:nvSpPr>
          <p:cNvPr id="3" name="TextBox 2"/>
          <p:cNvSpPr txBox="1"/>
          <p:nvPr/>
        </p:nvSpPr>
        <p:spPr>
          <a:xfrm>
            <a:off x="179513" y="1556792"/>
            <a:ext cx="8856984" cy="923330"/>
          </a:xfrm>
          <a:prstGeom prst="rect">
            <a:avLst/>
          </a:prstGeom>
          <a:noFill/>
        </p:spPr>
        <p:txBody>
          <a:bodyPr wrap="square" rtlCol="0">
            <a:spAutoFit/>
          </a:bodyPr>
          <a:lstStyle/>
          <a:p>
            <a:pPr marL="285750" indent="-285750">
              <a:buFont typeface="Arial" pitchFamily="34" charset="0"/>
              <a:buChar char="•"/>
            </a:pPr>
            <a:r>
              <a:rPr lang="en-IN" dirty="0"/>
              <a:t>In CO2 laser the light production takes place within the molecules of carbon-di-oxide.</a:t>
            </a:r>
          </a:p>
          <a:p>
            <a:endParaRPr lang="en-IN" dirty="0"/>
          </a:p>
          <a:p>
            <a:pPr marL="285750" indent="-285750">
              <a:buFont typeface="Arial" pitchFamily="34" charset="0"/>
              <a:buChar char="•"/>
            </a:pPr>
            <a:r>
              <a:rPr lang="en-IN" dirty="0"/>
              <a:t>The CO2 Laser produces a far infrared beam at 10.6 microns</a:t>
            </a:r>
          </a:p>
        </p:txBody>
      </p:sp>
      <p:pic>
        <p:nvPicPr>
          <p:cNvPr id="1028" name="Picture 4" descr="Image result for co2 laser construction and working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494123"/>
            <a:ext cx="6912768" cy="32391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11560" y="2494123"/>
            <a:ext cx="1811719" cy="369332"/>
          </a:xfrm>
          <a:prstGeom prst="rect">
            <a:avLst/>
          </a:prstGeom>
          <a:noFill/>
        </p:spPr>
        <p:txBody>
          <a:bodyPr wrap="square" rtlCol="0">
            <a:spAutoFit/>
          </a:bodyPr>
          <a:lstStyle/>
          <a:p>
            <a:r>
              <a:rPr lang="en-IN" dirty="0"/>
              <a:t>Construction:</a:t>
            </a:r>
          </a:p>
        </p:txBody>
      </p:sp>
    </p:spTree>
    <p:extLst>
      <p:ext uri="{BB962C8B-B14F-4D97-AF65-F5344CB8AC3E}">
        <p14:creationId xmlns:p14="http://schemas.microsoft.com/office/powerpoint/2010/main" val="2231162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664" y="1052736"/>
            <a:ext cx="7128792" cy="4524315"/>
          </a:xfrm>
          <a:prstGeom prst="rect">
            <a:avLst/>
          </a:prstGeom>
          <a:noFill/>
        </p:spPr>
        <p:txBody>
          <a:bodyPr wrap="square" rtlCol="0">
            <a:spAutoFit/>
          </a:bodyPr>
          <a:lstStyle/>
          <a:p>
            <a:pPr marL="285750" indent="-285750">
              <a:buFont typeface="Arial" pitchFamily="34" charset="0"/>
              <a:buChar char="•"/>
            </a:pPr>
            <a:r>
              <a:rPr lang="en-IN" sz="2400" dirty="0"/>
              <a:t>It consists of  quartz tube 5m long and 2.5 cm in the diameter</a:t>
            </a:r>
          </a:p>
          <a:p>
            <a:pPr marL="285750" indent="-285750">
              <a:buFont typeface="Arial" pitchFamily="34" charset="0"/>
              <a:buChar char="•"/>
            </a:pPr>
            <a:endParaRPr lang="en-IN" sz="2400" dirty="0"/>
          </a:p>
          <a:p>
            <a:pPr marL="285750" indent="-285750">
              <a:buFont typeface="Arial" pitchFamily="34" charset="0"/>
              <a:buChar char="•"/>
            </a:pPr>
            <a:endParaRPr lang="en-IN" sz="2400" dirty="0"/>
          </a:p>
          <a:p>
            <a:pPr marL="285750" indent="-285750">
              <a:buFont typeface="Arial" pitchFamily="34" charset="0"/>
              <a:buChar char="•"/>
            </a:pPr>
            <a:endParaRPr lang="en-IN" sz="2400" dirty="0"/>
          </a:p>
          <a:p>
            <a:pPr marL="285750" indent="-285750">
              <a:buFont typeface="Arial" pitchFamily="34" charset="0"/>
              <a:buChar char="•"/>
            </a:pPr>
            <a:r>
              <a:rPr lang="en-IN" sz="2400" dirty="0"/>
              <a:t>The tube is filled with a mixture of CO2 , Helium and nitrogen</a:t>
            </a:r>
          </a:p>
          <a:p>
            <a:pPr marL="285750" indent="-285750">
              <a:buFont typeface="Arial" pitchFamily="34" charset="0"/>
              <a:buChar char="•"/>
            </a:pPr>
            <a:endParaRPr lang="en-IN" sz="2400" dirty="0"/>
          </a:p>
          <a:p>
            <a:pPr marL="285750" indent="-285750">
              <a:buFont typeface="Arial" pitchFamily="34" charset="0"/>
              <a:buChar char="•"/>
            </a:pPr>
            <a:endParaRPr lang="en-IN" sz="2400" dirty="0"/>
          </a:p>
          <a:p>
            <a:pPr marL="285750" indent="-285750">
              <a:buFont typeface="Arial" pitchFamily="34" charset="0"/>
              <a:buChar char="•"/>
            </a:pPr>
            <a:endParaRPr lang="en-IN" sz="2400" dirty="0"/>
          </a:p>
          <a:p>
            <a:pPr marL="285750" indent="-285750">
              <a:buFont typeface="Arial" pitchFamily="34" charset="0"/>
              <a:buChar char="•"/>
            </a:pPr>
            <a:r>
              <a:rPr lang="en-IN" sz="2400" dirty="0"/>
              <a:t>Two mirrors one partially reflective and other fully reflective  form an optical resonator</a:t>
            </a:r>
          </a:p>
        </p:txBody>
      </p:sp>
      <p:sp>
        <p:nvSpPr>
          <p:cNvPr id="3" name="TextBox 2"/>
          <p:cNvSpPr txBox="1"/>
          <p:nvPr/>
        </p:nvSpPr>
        <p:spPr>
          <a:xfrm>
            <a:off x="1547664" y="404664"/>
            <a:ext cx="1938095" cy="461665"/>
          </a:xfrm>
          <a:prstGeom prst="rect">
            <a:avLst/>
          </a:prstGeom>
          <a:noFill/>
        </p:spPr>
        <p:txBody>
          <a:bodyPr wrap="none" rtlCol="0">
            <a:spAutoFit/>
          </a:bodyPr>
          <a:lstStyle/>
          <a:p>
            <a:r>
              <a:rPr lang="en-IN" sz="2400" dirty="0">
                <a:solidFill>
                  <a:srgbClr val="FF0000"/>
                </a:solidFill>
              </a:rPr>
              <a:t>Construction: </a:t>
            </a:r>
          </a:p>
        </p:txBody>
      </p:sp>
    </p:spTree>
    <p:extLst>
      <p:ext uri="{BB962C8B-B14F-4D97-AF65-F5344CB8AC3E}">
        <p14:creationId xmlns:p14="http://schemas.microsoft.com/office/powerpoint/2010/main" val="3002111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readorrefer.in/media/extra/J6y96O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738026"/>
            <a:ext cx="7344816" cy="4499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533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1493490"/>
            <a:ext cx="9144000" cy="821763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FF0000"/>
                </a:solidFill>
                <a:effectLst/>
                <a:latin typeface="Times New Roman" pitchFamily="18" charset="0"/>
                <a:cs typeface="Times New Roman" pitchFamily="18" charset="0"/>
              </a:rPr>
              <a:t>Characteristics:</a:t>
            </a:r>
            <a:endParaRPr kumimoji="0" lang="en-US" sz="2400" b="0" i="0" u="none" strike="noStrike" cap="none" normalizeH="0" baseline="0" dirty="0">
              <a:ln>
                <a:noFill/>
              </a:ln>
              <a:solidFill>
                <a:srgbClr val="FF00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0000"/>
                </a:solidFill>
                <a:effectLst/>
                <a:latin typeface="Times New Roman" pitchFamily="18" charset="0"/>
                <a:cs typeface="Times New Roman" pitchFamily="18" charset="0"/>
              </a:rPr>
              <a:t> </a:t>
            </a:r>
            <a:endParaRPr kumimoji="0" lang="en-US" sz="2400" b="0" i="0" u="none" strike="noStrike" cap="none" normalizeH="0" baseline="0" dirty="0">
              <a:ln>
                <a:noFill/>
              </a:ln>
              <a:solidFill>
                <a:srgbClr val="FF00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1.     Type: It is a molecular gas laser.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 2.     Active medium: A mixture of CO2 , N2 and helium or water </a:t>
            </a:r>
            <a:r>
              <a:rPr kumimoji="0" lang="en-US" sz="2400" b="0" i="0" u="none" strike="noStrike" cap="none" normalizeH="0" baseline="0" dirty="0" err="1">
                <a:ln>
                  <a:noFill/>
                </a:ln>
                <a:solidFill>
                  <a:srgbClr val="333333"/>
                </a:solidFill>
                <a:effectLst/>
                <a:latin typeface="Times New Roman" pitchFamily="18" charset="0"/>
                <a:cs typeface="Times New Roman" pitchFamily="18" charset="0"/>
              </a:rPr>
              <a:t>vapour</a:t>
            </a: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 is used as active medium</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4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3.     Pumping method: Electrical discharge method is used for Pumping action</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4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 4.     Optical resonator: Two concave mirrors form a resonant cavity</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4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5.     Power output: The power output from this laser is about 10kW.</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4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 6.     Nature of output: The nature of output may be continuous wave or pulsed wave.</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4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333333"/>
                </a:solidFill>
                <a:effectLst/>
                <a:latin typeface="Times New Roman" pitchFamily="18" charset="0"/>
                <a:cs typeface="Times New Roman" pitchFamily="18" charset="0"/>
              </a:rPr>
              <a:t>7.     Wavelength of output: The wavelength of output is 9.6μm and 10.6μm</a:t>
            </a:r>
            <a:endParaRPr kumimoji="0" lang="en-US" sz="20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80967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5" y="1412776"/>
            <a:ext cx="7488832" cy="646331"/>
          </a:xfrm>
          <a:prstGeom prst="rect">
            <a:avLst/>
          </a:prstGeom>
          <a:noFill/>
        </p:spPr>
        <p:txBody>
          <a:bodyPr wrap="square" rtlCol="0">
            <a:spAutoFit/>
          </a:bodyPr>
          <a:lstStyle/>
          <a:p>
            <a:r>
              <a:rPr lang="en-IN" sz="3600" dirty="0">
                <a:solidFill>
                  <a:srgbClr val="0070C0"/>
                </a:solidFill>
              </a:rPr>
              <a:t>EXPERIMENT ON TRACK WIDTH OF CD</a:t>
            </a:r>
          </a:p>
        </p:txBody>
      </p:sp>
    </p:spTree>
    <p:extLst>
      <p:ext uri="{BB962C8B-B14F-4D97-AF65-F5344CB8AC3E}">
        <p14:creationId xmlns:p14="http://schemas.microsoft.com/office/powerpoint/2010/main" val="3702939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7624" y="548680"/>
            <a:ext cx="5688632" cy="5447645"/>
          </a:xfrm>
          <a:prstGeom prst="rect">
            <a:avLst/>
          </a:prstGeom>
          <a:noFill/>
        </p:spPr>
        <p:txBody>
          <a:bodyPr wrap="square" rtlCol="0">
            <a:spAutoFit/>
          </a:bodyPr>
          <a:lstStyle/>
          <a:p>
            <a:r>
              <a:rPr lang="en-IN" sz="2400" dirty="0">
                <a:solidFill>
                  <a:srgbClr val="C00000"/>
                </a:solidFill>
              </a:rPr>
              <a:t>Applications of Laser:</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MANUFACTURING (INDUSTRY)</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MEDICAL</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METEREOLOGY</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SPECTROSCOPY</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MICROSCOPY</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MILITARY</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SCIENCE AND TECHNOLOGY</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DATA STORAGE</a:t>
            </a:r>
          </a:p>
          <a:p>
            <a:pPr marL="285750" indent="-285750">
              <a:buFont typeface="Arial" pitchFamily="34" charset="0"/>
              <a:buChar char="•"/>
            </a:pPr>
            <a:endParaRPr lang="en-IN" dirty="0">
              <a:solidFill>
                <a:srgbClr val="7030A0"/>
              </a:solidFill>
            </a:endParaRPr>
          </a:p>
          <a:p>
            <a:pPr marL="285750" indent="-285750">
              <a:buFont typeface="Arial" pitchFamily="34" charset="0"/>
              <a:buChar char="•"/>
            </a:pPr>
            <a:r>
              <a:rPr lang="en-IN" dirty="0">
                <a:solidFill>
                  <a:srgbClr val="7030A0"/>
                </a:solidFill>
              </a:rPr>
              <a:t>COMMUNICATIONS</a:t>
            </a:r>
          </a:p>
        </p:txBody>
      </p:sp>
    </p:spTree>
    <p:extLst>
      <p:ext uri="{BB962C8B-B14F-4D97-AF65-F5344CB8AC3E}">
        <p14:creationId xmlns:p14="http://schemas.microsoft.com/office/powerpoint/2010/main" val="4107369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664" y="1772816"/>
            <a:ext cx="6312508" cy="461665"/>
          </a:xfrm>
          <a:prstGeom prst="rect">
            <a:avLst/>
          </a:prstGeom>
          <a:noFill/>
        </p:spPr>
        <p:txBody>
          <a:bodyPr wrap="square" rtlCol="0">
            <a:spAutoFit/>
          </a:bodyPr>
          <a:lstStyle/>
          <a:p>
            <a:r>
              <a:rPr lang="en-IN" sz="2400" dirty="0">
                <a:solidFill>
                  <a:srgbClr val="0070C0"/>
                </a:solidFill>
              </a:rPr>
              <a:t>EXPERIMENT TO DETERMINE PARTICLE SIZE</a:t>
            </a:r>
          </a:p>
        </p:txBody>
      </p:sp>
    </p:spTree>
    <p:extLst>
      <p:ext uri="{BB962C8B-B14F-4D97-AF65-F5344CB8AC3E}">
        <p14:creationId xmlns:p14="http://schemas.microsoft.com/office/powerpoint/2010/main" val="3482002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0ABDAC-4EBF-8DE2-5A12-582D3F1CF5CE}"/>
              </a:ext>
            </a:extLst>
          </p:cNvPr>
          <p:cNvSpPr>
            <a:spLocks noChangeArrowheads="1"/>
          </p:cNvSpPr>
          <p:nvPr/>
        </p:nvSpPr>
        <p:spPr bwMode="auto">
          <a:xfrm>
            <a:off x="1252265" y="4831830"/>
            <a:ext cx="46298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E3E3E"/>
                </a:solidFill>
                <a:effectLst/>
                <a:latin typeface="Open Sans" panose="020B0606030504020204" pitchFamily="34" charset="0"/>
              </a:rPr>
              <a:t>The basic structure of a semiconductor laser is shown in Figure 1</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about-LD1">
            <a:extLst>
              <a:ext uri="{FF2B5EF4-FFF2-40B4-BE49-F238E27FC236}">
                <a16:creationId xmlns:a16="http://schemas.microsoft.com/office/drawing/2014/main" id="{20E0F0E9-3677-200A-89B8-C3E72624DB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717032"/>
            <a:ext cx="5112568" cy="28083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A90567B-49D5-53B0-D608-BD9FFC6D5080}"/>
              </a:ext>
            </a:extLst>
          </p:cNvPr>
          <p:cNvSpPr txBox="1"/>
          <p:nvPr/>
        </p:nvSpPr>
        <p:spPr>
          <a:xfrm>
            <a:off x="467544" y="615303"/>
            <a:ext cx="8424936" cy="3416320"/>
          </a:xfrm>
          <a:prstGeom prst="rect">
            <a:avLst/>
          </a:prstGeom>
          <a:noFill/>
        </p:spPr>
        <p:txBody>
          <a:bodyPr wrap="square">
            <a:spAutoFit/>
          </a:bodyPr>
          <a:lstStyle/>
          <a:p>
            <a:pPr algn="just"/>
            <a:r>
              <a:rPr lang="en-US" dirty="0"/>
              <a:t>The basic structure of a semiconductor laser is shown in the Figure . The active layer (light emission layer) sandwiched between the p- and n-type clad layers (double heterostructure) is formed on an n-type substrate, and voltage is applied across the p-n junction from the electrodes. Both edges of the active layer has mirror-like </a:t>
            </a:r>
            <a:r>
              <a:rPr lang="en-US" dirty="0" err="1"/>
              <a:t>surface.When</a:t>
            </a:r>
            <a:r>
              <a:rPr lang="en-US" dirty="0"/>
              <a:t> forward voltage is applied, electrons </a:t>
            </a:r>
            <a:r>
              <a:rPr lang="en-US" dirty="0" err="1"/>
              <a:t>conbine</a:t>
            </a:r>
            <a:r>
              <a:rPr lang="en-US" dirty="0"/>
              <a:t> with holes at the p-n junction, and </a:t>
            </a:r>
            <a:r>
              <a:rPr lang="en-US" dirty="0" err="1"/>
              <a:t>emitt</a:t>
            </a:r>
            <a:r>
              <a:rPr lang="en-US" dirty="0"/>
              <a:t> the light. This light is not a laser yet; it is confined within the active layer because the refractive index of the clad layers are lower than that of the active layer. In addition, both ends of the active layer act as a reflecting mirror where the light reciprocates in the active layer. Then, the light is amplified by the stimulated emission process and laser oscillation is generated.</a:t>
            </a:r>
          </a:p>
          <a:p>
            <a:pPr algn="just"/>
            <a:endParaRPr lang="en-US" dirty="0"/>
          </a:p>
          <a:p>
            <a:pPr algn="just"/>
            <a:endParaRPr lang="en-IN" dirty="0"/>
          </a:p>
        </p:txBody>
      </p:sp>
    </p:spTree>
    <p:extLst>
      <p:ext uri="{BB962C8B-B14F-4D97-AF65-F5344CB8AC3E}">
        <p14:creationId xmlns:p14="http://schemas.microsoft.com/office/powerpoint/2010/main" val="3254423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50E0E5-021A-48A9-BE4E-A194CE67AA07}"/>
              </a:ext>
            </a:extLst>
          </p:cNvPr>
          <p:cNvSpPr txBox="1"/>
          <p:nvPr/>
        </p:nvSpPr>
        <p:spPr>
          <a:xfrm>
            <a:off x="323528" y="892302"/>
            <a:ext cx="8820472" cy="2585323"/>
          </a:xfrm>
          <a:prstGeom prst="rect">
            <a:avLst/>
          </a:prstGeom>
          <a:noFill/>
        </p:spPr>
        <p:txBody>
          <a:bodyPr wrap="square">
            <a:spAutoFit/>
          </a:bodyPr>
          <a:lstStyle/>
          <a:p>
            <a:pPr algn="just"/>
            <a:r>
              <a:rPr lang="en-US" dirty="0"/>
              <a:t>Figure shows the basic construction of semiconductor laser. The active medium is a p-n junction diode made from the single crystal of gallium arsenide. This crystal is cut in the form of a platter having thickness of 0.5μmm. The platelet consists of two parts having an electron conductivity (n-type) and hole conductivity (p-type). The photon emission is stimulated in a very thin layer of PN junction (in order of few microns). The electrical voltage is applied to the crystal through the electrode fixed on the upper surface. The end faces of the junction diode are well polished and parallel to each other. They act as an optical resonator through which the emitted light comes out.</a:t>
            </a:r>
          </a:p>
          <a:p>
            <a:pPr algn="just"/>
            <a:endParaRPr lang="en-US" dirty="0"/>
          </a:p>
        </p:txBody>
      </p:sp>
    </p:spTree>
    <p:extLst>
      <p:ext uri="{BB962C8B-B14F-4D97-AF65-F5344CB8AC3E}">
        <p14:creationId xmlns:p14="http://schemas.microsoft.com/office/powerpoint/2010/main" val="3795969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7A077E-F108-C62A-9F8E-1D18CA95F42C}"/>
              </a:ext>
            </a:extLst>
          </p:cNvPr>
          <p:cNvPicPr>
            <a:picLocks noChangeAspect="1"/>
          </p:cNvPicPr>
          <p:nvPr/>
        </p:nvPicPr>
        <p:blipFill>
          <a:blip r:embed="rId2"/>
          <a:stretch>
            <a:fillRect/>
          </a:stretch>
        </p:blipFill>
        <p:spPr>
          <a:xfrm>
            <a:off x="971600" y="836712"/>
            <a:ext cx="7272808" cy="4149625"/>
          </a:xfrm>
          <a:prstGeom prst="rect">
            <a:avLst/>
          </a:prstGeom>
        </p:spPr>
      </p:pic>
    </p:spTree>
    <p:extLst>
      <p:ext uri="{BB962C8B-B14F-4D97-AF65-F5344CB8AC3E}">
        <p14:creationId xmlns:p14="http://schemas.microsoft.com/office/powerpoint/2010/main" val="38740059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FD1C07-7117-56F3-0A76-836549560E98}"/>
              </a:ext>
            </a:extLst>
          </p:cNvPr>
          <p:cNvSpPr txBox="1"/>
          <p:nvPr/>
        </p:nvSpPr>
        <p:spPr>
          <a:xfrm>
            <a:off x="611560" y="548680"/>
            <a:ext cx="7344816" cy="4247317"/>
          </a:xfrm>
          <a:prstGeom prst="rect">
            <a:avLst/>
          </a:prstGeom>
          <a:noFill/>
        </p:spPr>
        <p:txBody>
          <a:bodyPr wrap="square">
            <a:spAutoFit/>
          </a:bodyPr>
          <a:lstStyle/>
          <a:p>
            <a:pPr algn="just"/>
            <a:r>
              <a:rPr lang="en-US" dirty="0"/>
              <a:t>When the PN junction is forward biased with large applied voltage, the electrons and holes are injected into junction region in considerable concentration The region around the junction contains a large amount of electrons in the conduction band and a large amount of holes in the valence band. If the population density is high, a condition of population inversion is achieved. The electrons and holes recombine with each other and this recombination’s produce radiation in the form of light. When the forward – biased voltage is increased, more and more light photons are emitted and the light production instantly becomes stronger. These photons will trigger a chain of stimulated recombination resulting in the release of photons in phase. The photons moving at the plane of the junction travels back and forth by reflection between two sides placed parallel and opposite to each other and grow in strength. After gaining enough strength, it gives out the laser beam of wavelength 8400o A . The wavelength of laser light is given by Where </a:t>
            </a:r>
            <a:r>
              <a:rPr lang="en-US" dirty="0" err="1"/>
              <a:t>Eg</a:t>
            </a:r>
            <a:r>
              <a:rPr lang="en-US" dirty="0"/>
              <a:t> is the band gap energy in joule.</a:t>
            </a:r>
          </a:p>
        </p:txBody>
      </p:sp>
    </p:spTree>
    <p:extLst>
      <p:ext uri="{BB962C8B-B14F-4D97-AF65-F5344CB8AC3E}">
        <p14:creationId xmlns:p14="http://schemas.microsoft.com/office/powerpoint/2010/main" val="1912973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E2512F-28AF-5730-2FBC-A1EB56476A78}"/>
              </a:ext>
            </a:extLst>
          </p:cNvPr>
          <p:cNvSpPr txBox="1"/>
          <p:nvPr/>
        </p:nvSpPr>
        <p:spPr>
          <a:xfrm>
            <a:off x="3131840" y="116632"/>
            <a:ext cx="1043876" cy="369332"/>
          </a:xfrm>
          <a:prstGeom prst="rect">
            <a:avLst/>
          </a:prstGeom>
          <a:noFill/>
        </p:spPr>
        <p:txBody>
          <a:bodyPr wrap="none" rtlCol="0">
            <a:spAutoFit/>
          </a:bodyPr>
          <a:lstStyle/>
          <a:p>
            <a:r>
              <a:rPr lang="en-US" dirty="0" err="1"/>
              <a:t>Eg</a:t>
            </a:r>
            <a:r>
              <a:rPr lang="en-US" dirty="0"/>
              <a:t>= </a:t>
            </a:r>
            <a:r>
              <a:rPr lang="en-US" dirty="0" err="1"/>
              <a:t>hc</a:t>
            </a:r>
            <a:r>
              <a:rPr lang="en-US" dirty="0"/>
              <a:t>/</a:t>
            </a:r>
            <a:r>
              <a:rPr lang="el-GR" dirty="0"/>
              <a:t>λ</a:t>
            </a:r>
            <a:r>
              <a:rPr lang="en-US" dirty="0"/>
              <a:t> </a:t>
            </a:r>
            <a:endParaRPr lang="en-IN" dirty="0"/>
          </a:p>
        </p:txBody>
      </p:sp>
      <p:sp>
        <p:nvSpPr>
          <p:cNvPr id="4" name="TextBox 3">
            <a:extLst>
              <a:ext uri="{FF2B5EF4-FFF2-40B4-BE49-F238E27FC236}">
                <a16:creationId xmlns:a16="http://schemas.microsoft.com/office/drawing/2014/main" id="{E93949B2-09C5-CF67-992F-C3231132EF91}"/>
              </a:ext>
            </a:extLst>
          </p:cNvPr>
          <p:cNvSpPr txBox="1"/>
          <p:nvPr/>
        </p:nvSpPr>
        <p:spPr>
          <a:xfrm>
            <a:off x="179512" y="485964"/>
            <a:ext cx="9073008" cy="8402300"/>
          </a:xfrm>
          <a:prstGeom prst="rect">
            <a:avLst/>
          </a:prstGeom>
          <a:noFill/>
        </p:spPr>
        <p:txBody>
          <a:bodyPr wrap="square">
            <a:spAutoFit/>
          </a:bodyPr>
          <a:lstStyle/>
          <a:p>
            <a:r>
              <a:rPr lang="en-US" dirty="0"/>
              <a:t>Characteristics:</a:t>
            </a:r>
          </a:p>
          <a:p>
            <a:r>
              <a:rPr lang="en-US" dirty="0"/>
              <a:t>1. Type: It is a solid state semiconductor laser.</a:t>
            </a:r>
          </a:p>
          <a:p>
            <a:r>
              <a:rPr lang="en-US" dirty="0"/>
              <a:t>2. Active medium: A PN junction diode made from single crystal of</a:t>
            </a:r>
          </a:p>
          <a:p>
            <a:r>
              <a:rPr lang="en-US" dirty="0"/>
              <a:t>gallium arsenide is used as an active medium.</a:t>
            </a:r>
          </a:p>
          <a:p>
            <a:r>
              <a:rPr lang="en-US" dirty="0"/>
              <a:t>3. Pumping method: The direct conversion method is used for pumping</a:t>
            </a:r>
          </a:p>
          <a:p>
            <a:r>
              <a:rPr lang="en-US" dirty="0"/>
              <a:t>action</a:t>
            </a:r>
          </a:p>
          <a:p>
            <a:r>
              <a:rPr lang="en-US" dirty="0"/>
              <a:t>4. Power output: The power output from this laser is 1mW.</a:t>
            </a:r>
          </a:p>
          <a:p>
            <a:r>
              <a:rPr lang="en-US" dirty="0"/>
              <a:t>5. </a:t>
            </a:r>
            <a:r>
              <a:rPr lang="en-US" dirty="0" err="1"/>
              <a:t>Natu</a:t>
            </a:r>
            <a:r>
              <a:rPr lang="en-US" dirty="0"/>
              <a:t> re of output: The nature of output is continuous wave or pulsed</a:t>
            </a:r>
          </a:p>
          <a:p>
            <a:r>
              <a:rPr lang="en-US" dirty="0"/>
              <a:t>output.</a:t>
            </a:r>
          </a:p>
          <a:p>
            <a:r>
              <a:rPr lang="en-US" dirty="0"/>
              <a:t>6. Wavelength of Output: gallium arsenide laser gives infrared radiation</a:t>
            </a:r>
          </a:p>
          <a:p>
            <a:r>
              <a:rPr lang="en-US" dirty="0"/>
              <a:t>in the wavelength 8300 to 8500o A .</a:t>
            </a:r>
          </a:p>
          <a:p>
            <a:r>
              <a:rPr lang="en-US" dirty="0"/>
              <a:t>Advantages:</a:t>
            </a:r>
          </a:p>
          <a:p>
            <a:r>
              <a:rPr lang="en-US" dirty="0"/>
              <a:t>1. It is very small in dimension. The arrangement is simple and compact.</a:t>
            </a:r>
          </a:p>
          <a:p>
            <a:r>
              <a:rPr lang="en-US" dirty="0"/>
              <a:t>2. It exhibits high efficiency.</a:t>
            </a:r>
          </a:p>
          <a:p>
            <a:r>
              <a:rPr lang="en-US" dirty="0"/>
              <a:t>3. The laser output can be easily increased by controlling the junction current</a:t>
            </a:r>
          </a:p>
          <a:p>
            <a:r>
              <a:rPr lang="en-US" dirty="0"/>
              <a:t>4. It is operated with lesser power than ruby and CO2 laser.</a:t>
            </a:r>
          </a:p>
          <a:p>
            <a:r>
              <a:rPr lang="en-US" dirty="0"/>
              <a:t>5. It requires very little auxiliary equipment</a:t>
            </a:r>
          </a:p>
          <a:p>
            <a:r>
              <a:rPr lang="en-US" dirty="0"/>
              <a:t>6. It can have a continuous wave output or pulsed output.</a:t>
            </a:r>
          </a:p>
          <a:p>
            <a:r>
              <a:rPr lang="en-US" dirty="0"/>
              <a:t>Disadvantages:</a:t>
            </a:r>
          </a:p>
          <a:p>
            <a:r>
              <a:rPr lang="en-US" dirty="0"/>
              <a:t>1. It is difficult to control the mode pattern and mode structure of laser.</a:t>
            </a:r>
          </a:p>
          <a:p>
            <a:r>
              <a:rPr lang="en-US" dirty="0"/>
              <a:t>2. The output is usually from 5 degree to 15 degree i.e., laser beam has large</a:t>
            </a:r>
          </a:p>
          <a:p>
            <a:r>
              <a:rPr lang="en-US" dirty="0"/>
              <a:t>divergence.</a:t>
            </a:r>
          </a:p>
          <a:p>
            <a:r>
              <a:rPr lang="en-US" dirty="0"/>
              <a:t>3. The purity and </a:t>
            </a:r>
            <a:r>
              <a:rPr lang="en-US" dirty="0" err="1"/>
              <a:t>monochromacity</a:t>
            </a:r>
            <a:r>
              <a:rPr lang="en-US" dirty="0"/>
              <a:t> are power than other types of laser</a:t>
            </a:r>
          </a:p>
          <a:p>
            <a:r>
              <a:rPr lang="en-US" dirty="0"/>
              <a:t>4. Threshold current density is very large (400A/mm2).</a:t>
            </a:r>
          </a:p>
          <a:p>
            <a:r>
              <a:rPr lang="en-US" dirty="0"/>
              <a:t>5. It has poor coherence and poor stability.</a:t>
            </a:r>
          </a:p>
          <a:p>
            <a:r>
              <a:rPr lang="en-US" dirty="0"/>
              <a:t>Application:</a:t>
            </a:r>
          </a:p>
          <a:p>
            <a:r>
              <a:rPr lang="en-US" dirty="0"/>
              <a:t>1. It is widely used in fiber optic communication</a:t>
            </a:r>
          </a:p>
          <a:p>
            <a:r>
              <a:rPr lang="en-US" dirty="0"/>
              <a:t>2. It is used to heal the wounds by infrared radiation</a:t>
            </a:r>
          </a:p>
          <a:p>
            <a:r>
              <a:rPr lang="en-US" dirty="0"/>
              <a:t>3. It is also used as a pain killer</a:t>
            </a:r>
          </a:p>
          <a:p>
            <a:r>
              <a:rPr lang="en-US" dirty="0"/>
              <a:t>4. It is used in laser printers and CD writing and </a:t>
            </a:r>
            <a:r>
              <a:rPr lang="en-US" dirty="0" err="1"/>
              <a:t>readi</a:t>
            </a:r>
            <a:endParaRPr lang="en-IN" dirty="0"/>
          </a:p>
        </p:txBody>
      </p:sp>
    </p:spTree>
    <p:extLst>
      <p:ext uri="{BB962C8B-B14F-4D97-AF65-F5344CB8AC3E}">
        <p14:creationId xmlns:p14="http://schemas.microsoft.com/office/powerpoint/2010/main" val="31131560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592" y="980728"/>
            <a:ext cx="6948773" cy="3170099"/>
          </a:xfrm>
          <a:prstGeom prst="rect">
            <a:avLst/>
          </a:prstGeom>
          <a:noFill/>
        </p:spPr>
        <p:txBody>
          <a:bodyPr wrap="square" rtlCol="0">
            <a:spAutoFit/>
          </a:bodyPr>
          <a:lstStyle/>
          <a:p>
            <a:r>
              <a:rPr lang="en-IN" sz="2000" b="1" dirty="0"/>
              <a:t>Tutorial 1</a:t>
            </a:r>
          </a:p>
          <a:p>
            <a:endParaRPr lang="en-IN" dirty="0"/>
          </a:p>
          <a:p>
            <a:r>
              <a:rPr lang="en-IN" b="1" dirty="0"/>
              <a:t>Determine the Probabilities of finding a particle trapped in a box of length L in the region from 0.45L to 0.55L for the ground state.</a:t>
            </a:r>
          </a:p>
          <a:p>
            <a:endParaRPr lang="en-IN" b="1" dirty="0"/>
          </a:p>
          <a:p>
            <a:r>
              <a:rPr lang="en-IN" b="1" dirty="0"/>
              <a:t>Tutorial 2</a:t>
            </a:r>
          </a:p>
          <a:p>
            <a:endParaRPr lang="en-IN" b="1" dirty="0"/>
          </a:p>
          <a:p>
            <a:r>
              <a:rPr lang="en-IN" b="1" dirty="0"/>
              <a:t>1.Why two level Laser is not used for Laser Production?</a:t>
            </a:r>
          </a:p>
          <a:p>
            <a:endParaRPr lang="en-IN" b="1" dirty="0"/>
          </a:p>
          <a:p>
            <a:r>
              <a:rPr lang="en-IN" b="1" dirty="0"/>
              <a:t>2.A three level laser emit light at a wavelength of 550 nm .Calculate the energy  and momentum of a photon</a:t>
            </a:r>
          </a:p>
        </p:txBody>
      </p:sp>
    </p:spTree>
    <p:extLst>
      <p:ext uri="{BB962C8B-B14F-4D97-AF65-F5344CB8AC3E}">
        <p14:creationId xmlns:p14="http://schemas.microsoft.com/office/powerpoint/2010/main" val="1312631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076DA9B367A24C87B8B887C1C06E33" ma:contentTypeVersion="2" ma:contentTypeDescription="Create a new document." ma:contentTypeScope="" ma:versionID="ef77883fbe4d9a30a8e62999ca0b3591">
  <xsd:schema xmlns:xsd="http://www.w3.org/2001/XMLSchema" xmlns:xs="http://www.w3.org/2001/XMLSchema" xmlns:p="http://schemas.microsoft.com/office/2006/metadata/properties" xmlns:ns2="1a7ca9db-28b0-44b0-a8fe-a28938821919" targetNamespace="http://schemas.microsoft.com/office/2006/metadata/properties" ma:root="true" ma:fieldsID="7ada4c7eeb74da2c09bdf8a0c1ea6ffb" ns2:_="">
    <xsd:import namespace="1a7ca9db-28b0-44b0-a8fe-a2893882191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7ca9db-28b0-44b0-a8fe-a289388219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E37001-134F-4A26-82E5-FEE52005EA6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517800E-16C3-426B-8E3A-C91986887DB1}">
  <ds:schemaRefs>
    <ds:schemaRef ds:uri="http://schemas.microsoft.com/sharepoint/v3/contenttype/forms"/>
  </ds:schemaRefs>
</ds:datastoreItem>
</file>

<file path=customXml/itemProps3.xml><?xml version="1.0" encoding="utf-8"?>
<ds:datastoreItem xmlns:ds="http://schemas.openxmlformats.org/officeDocument/2006/customXml" ds:itemID="{9288E10F-CA04-4244-BAD3-4E6DFBBB13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7ca9db-28b0-44b0-a8fe-a2893882191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3845</TotalTime>
  <Words>2355</Words>
  <Application>Microsoft Office PowerPoint</Application>
  <PresentationFormat>On-screen Show (4:3)</PresentationFormat>
  <Paragraphs>228</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Helvetica Neue</vt:lpstr>
      <vt:lpstr>Montserrat</vt:lpstr>
      <vt:lpstr>Open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shweta mukherjee</cp:lastModifiedBy>
  <cp:revision>106</cp:revision>
  <dcterms:created xsi:type="dcterms:W3CDTF">2017-07-21T05:05:51Z</dcterms:created>
  <dcterms:modified xsi:type="dcterms:W3CDTF">2023-11-28T09:30:35Z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0x01010009076DA9B367A24C87B8B887C1C06E33</vt:lpwstr>
  </property>
</Properties>
</file>