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5"/>
  </p:notesMasterIdLst>
  <p:sldIdLst>
    <p:sldId id="256" r:id="rId5"/>
    <p:sldId id="268" r:id="rId6"/>
    <p:sldId id="279" r:id="rId7"/>
    <p:sldId id="257" r:id="rId8"/>
    <p:sldId id="289" r:id="rId9"/>
    <p:sldId id="332" r:id="rId10"/>
    <p:sldId id="276" r:id="rId11"/>
    <p:sldId id="290" r:id="rId12"/>
    <p:sldId id="339" r:id="rId13"/>
    <p:sldId id="277" r:id="rId14"/>
    <p:sldId id="333" r:id="rId15"/>
    <p:sldId id="280" r:id="rId16"/>
    <p:sldId id="281" r:id="rId17"/>
    <p:sldId id="269" r:id="rId18"/>
    <p:sldId id="258" r:id="rId19"/>
    <p:sldId id="291" r:id="rId20"/>
    <p:sldId id="274" r:id="rId21"/>
    <p:sldId id="282" r:id="rId22"/>
    <p:sldId id="270" r:id="rId23"/>
    <p:sldId id="259" r:id="rId24"/>
    <p:sldId id="292" r:id="rId25"/>
    <p:sldId id="293" r:id="rId26"/>
    <p:sldId id="294" r:id="rId27"/>
    <p:sldId id="275" r:id="rId28"/>
    <p:sldId id="334" r:id="rId29"/>
    <p:sldId id="283" r:id="rId30"/>
    <p:sldId id="271" r:id="rId31"/>
    <p:sldId id="260" r:id="rId32"/>
    <p:sldId id="297" r:id="rId33"/>
    <p:sldId id="298" r:id="rId34"/>
    <p:sldId id="299" r:id="rId35"/>
    <p:sldId id="335" r:id="rId36"/>
    <p:sldId id="295" r:id="rId37"/>
    <p:sldId id="303" r:id="rId38"/>
    <p:sldId id="302" r:id="rId39"/>
    <p:sldId id="300" r:id="rId40"/>
    <p:sldId id="301" r:id="rId41"/>
    <p:sldId id="284" r:id="rId42"/>
    <p:sldId id="272" r:id="rId43"/>
    <p:sldId id="327" r:id="rId44"/>
    <p:sldId id="328" r:id="rId45"/>
    <p:sldId id="329" r:id="rId46"/>
    <p:sldId id="330" r:id="rId47"/>
    <p:sldId id="331" r:id="rId48"/>
    <p:sldId id="285" r:id="rId49"/>
    <p:sldId id="263" r:id="rId50"/>
    <p:sldId id="308" r:id="rId51"/>
    <p:sldId id="336" r:id="rId52"/>
    <p:sldId id="337" r:id="rId53"/>
    <p:sldId id="338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2171" autoAdjust="0"/>
  </p:normalViewPr>
  <p:slideViewPr>
    <p:cSldViewPr>
      <p:cViewPr varScale="1">
        <p:scale>
          <a:sx n="76" d="100"/>
          <a:sy n="76" d="100"/>
        </p:scale>
        <p:origin x="160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8-08T12:22:33.068" idx="1">
    <p:pos x="10" y="10"/>
    <p:text>most fundamental theory. Theory based on physical events 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67A54-E7AD-440E-9577-D3FAA19A47E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3DD9E-1AC4-4380-AD41-FEFDC3AD3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12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http://www.askamathematician.com/2013/04/q-why-is-schrodingers-cat-both-dead-and-alive-is-this-not-a-paradox/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3DD9E-1AC4-4380-AD41-FEFDC3AD319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883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707ED4-E77C-4026-BDBD-AB61CC452FDB}" type="slidenum">
              <a:rPr lang="en-US"/>
              <a:pPr/>
              <a:t>3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© </a:t>
            </a:r>
            <a:r>
              <a:rPr lang="en-GB" dirty="0" err="1"/>
              <a:t>Shutterstock</a:t>
            </a:r>
            <a:r>
              <a:rPr lang="en-GB" dirty="0"/>
              <a:t> 2009, James Doss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3DD9E-1AC4-4380-AD41-FEFDC3AD319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98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</a:t>
            </a:r>
            <a:r>
              <a:rPr lang="en-IN" dirty="0" err="1"/>
              <a:t>courtsey</a:t>
            </a:r>
            <a:r>
              <a:rPr lang="en-IN" dirty="0"/>
              <a:t>: https://physics.stackexchange.com/questions/173409/relationship-between-temperature-and-wavelength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3DD9E-1AC4-4380-AD41-FEFDC3AD319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667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</a:t>
            </a:r>
            <a:r>
              <a:rPr lang="en-IN" dirty="0" err="1"/>
              <a:t>courtsey</a:t>
            </a:r>
            <a:r>
              <a:rPr lang="en-IN" dirty="0"/>
              <a:t> https://sites.google.com/a/whbschools.org/grodski-ap-chemistry/archives/2012-2013/2---quarter/week-4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3DD9E-1AC4-4380-AD41-FEFDC3AD319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65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010066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rgbClr val="010066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rgbClr val="010066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rgbClr val="010066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rgbClr val="01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9pPr>
          </a:lstStyle>
          <a:p>
            <a:pPr eaLnBrk="1" hangingPunct="1"/>
            <a:fld id="{0D110013-41ED-413E-95F8-CF2904411040}" type="slidenum">
              <a:rPr lang="en-GB" sz="1200">
                <a:solidFill>
                  <a:schemeClr val="tx1"/>
                </a:solidFill>
              </a:rPr>
              <a:pPr eaLnBrk="1" hangingPunct="1"/>
              <a:t>12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5059" name="Rectangle 10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010066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rgbClr val="010066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rgbClr val="010066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rgbClr val="010066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rgbClr val="01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9pPr>
          </a:lstStyle>
          <a:p>
            <a:r>
              <a:rPr lang="en-GB" sz="1200">
                <a:solidFill>
                  <a:schemeClr val="tx1"/>
                </a:solidFill>
              </a:rPr>
              <a:t>Boardworks AS Physics </a:t>
            </a:r>
          </a:p>
          <a:p>
            <a:r>
              <a:rPr lang="en-GB" sz="1200">
                <a:solidFill>
                  <a:schemeClr val="tx1"/>
                </a:solidFill>
              </a:rPr>
              <a:t>Quantum Physics</a:t>
            </a:r>
          </a:p>
        </p:txBody>
      </p:sp>
      <p:sp>
        <p:nvSpPr>
          <p:cNvPr id="450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b="1"/>
              <a:t>Photo credit:</a:t>
            </a:r>
            <a:r>
              <a:rPr lang="en-GB"/>
              <a:t> © Shutterstock 2009, ER_09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</a:t>
            </a:r>
            <a:r>
              <a:rPr lang="en-IN" dirty="0" err="1"/>
              <a:t>courtsey</a:t>
            </a:r>
            <a:r>
              <a:rPr lang="en-IN" dirty="0"/>
              <a:t>: https://physics.stackexchange.com/questions/15854/why-does-davisson-germer-experiment-confirm-electrons-wave-particle-duality</a:t>
            </a:r>
          </a:p>
          <a:p>
            <a:endParaRPr lang="en-IN" dirty="0"/>
          </a:p>
          <a:p>
            <a:r>
              <a:rPr lang="en-IN" dirty="0"/>
              <a:t>https://en.wikipedia.org/wiki/Double-slit_experiment#/media/File:Single_slit_and_double_slit2.jpg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3DD9E-1AC4-4380-AD41-FEFDC3AD3199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994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6461B-3703-4E2B-BD9D-43C54E7F5062}" type="datetime1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801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C5400-162A-4696-9B8D-6625C235D562}" type="datetime1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264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C5EA-06D6-4964-A2D0-0D944CFF930F}" type="datetime1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7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8D856-870F-4BE7-A371-5A27683F7FAC}" type="datetime1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5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3DCF-F512-4A92-A890-D6863D8B8708}" type="datetime1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47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9001-4ADB-4232-9718-72C1D7DECAE7}" type="datetime1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87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9E4CF-032E-4487-8C8E-2527928E66FE}" type="datetime1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25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AD8-E83E-497D-B2EB-7083C42F91AB}" type="datetime1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65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BDA6-82E1-44BA-A46F-572A95403221}" type="datetime1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08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35B8C-1D53-4856-9427-AEB829299F9F}" type="datetime1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980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7CF84-1DEA-4F51-AD73-C44780A4C1BD}" type="datetime1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55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431B1-46C7-44CF-8C6B-7E22BF9AA850}" type="datetime1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56AE9-1231-429B-8E30-2AF0D652A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9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hyperlink" Target="https://phet.colorado.edu/sims/blackbody-spectrum/blackbody-spectrum_en.html" TargetMode="External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png"/><Relationship Id="rId4" Type="http://schemas.openxmlformats.org/officeDocument/2006/relationships/image" Target="../media/image8.gif"/><Relationship Id="rId9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0.wmf"/><Relationship Id="rId1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6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18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wmf"/><Relationship Id="rId4" Type="http://schemas.openxmlformats.org/officeDocument/2006/relationships/oleObject" Target="../embeddings/oleObject22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24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27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gi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692696"/>
            <a:ext cx="7772400" cy="1470025"/>
          </a:xfrm>
        </p:spPr>
        <p:txBody>
          <a:bodyPr/>
          <a:lstStyle/>
          <a:p>
            <a:r>
              <a:rPr lang="en-IN" dirty="0"/>
              <a:t>Quantum Physics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619672" y="5013176"/>
            <a:ext cx="6400800" cy="108012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VIT University, Bhopal</a:t>
            </a:r>
          </a:p>
          <a:p>
            <a:r>
              <a:rPr lang="en-IN" dirty="0"/>
              <a:t>Course Name: PH</a:t>
            </a:r>
          </a:p>
        </p:txBody>
      </p:sp>
    </p:spTree>
    <p:extLst>
      <p:ext uri="{BB962C8B-B14F-4D97-AF65-F5344CB8AC3E}">
        <p14:creationId xmlns:p14="http://schemas.microsoft.com/office/powerpoint/2010/main" val="330296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36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890" name="AutoShape 2"/>
          <p:cNvCxnSpPr>
            <a:cxnSpLocks noChangeShapeType="1"/>
          </p:cNvCxnSpPr>
          <p:nvPr/>
        </p:nvCxnSpPr>
        <p:spPr bwMode="auto">
          <a:xfrm>
            <a:off x="152400" y="3886200"/>
            <a:ext cx="861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891" name="AutoShape 3"/>
          <p:cNvCxnSpPr>
            <a:cxnSpLocks noChangeShapeType="1"/>
          </p:cNvCxnSpPr>
          <p:nvPr/>
        </p:nvCxnSpPr>
        <p:spPr bwMode="auto">
          <a:xfrm>
            <a:off x="914400" y="3886200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892" name="AutoShape 4"/>
          <p:cNvCxnSpPr>
            <a:cxnSpLocks noChangeShapeType="1"/>
          </p:cNvCxnSpPr>
          <p:nvPr/>
        </p:nvCxnSpPr>
        <p:spPr bwMode="auto">
          <a:xfrm>
            <a:off x="3276600" y="38862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893" name="AutoShape 5"/>
          <p:cNvCxnSpPr>
            <a:cxnSpLocks noChangeShapeType="1"/>
          </p:cNvCxnSpPr>
          <p:nvPr/>
        </p:nvCxnSpPr>
        <p:spPr bwMode="auto">
          <a:xfrm flipV="1">
            <a:off x="2743200" y="3124200"/>
            <a:ext cx="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894" name="AutoShape 6"/>
          <p:cNvCxnSpPr>
            <a:cxnSpLocks noChangeShapeType="1"/>
            <a:endCxn id="37902" idx="2"/>
          </p:cNvCxnSpPr>
          <p:nvPr/>
        </p:nvCxnSpPr>
        <p:spPr bwMode="auto">
          <a:xfrm flipV="1">
            <a:off x="3657600" y="2826921"/>
            <a:ext cx="342900" cy="105928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152400" y="4648200"/>
            <a:ext cx="14478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1900: 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Max Planck </a:t>
            </a:r>
            <a:r>
              <a:rPr lang="en-US" sz="1200" b="1" dirty="0">
                <a:latin typeface="Century Gothic" pitchFamily="34" charset="0"/>
              </a:rPr>
              <a:t>black-body radiation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2057400" y="2057400"/>
            <a:ext cx="16002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1918: 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Max Planck </a:t>
            </a:r>
            <a:r>
              <a:rPr lang="en-US" sz="1200" b="1" dirty="0">
                <a:latin typeface="Century Gothic" pitchFamily="34" charset="0"/>
              </a:rPr>
              <a:t>won </a:t>
            </a:r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Nobel prize </a:t>
            </a:r>
            <a:r>
              <a:rPr lang="en-US" sz="1200" b="1" dirty="0">
                <a:latin typeface="Century Gothic" pitchFamily="34" charset="0"/>
              </a:rPr>
              <a:t>in physics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371600" y="4724400"/>
            <a:ext cx="13716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1913: 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 err="1">
                <a:latin typeface="Century Gothic" pitchFamily="34" charset="0"/>
              </a:rPr>
              <a:t>Neils</a:t>
            </a:r>
            <a:r>
              <a:rPr lang="en-US" sz="1200" b="1" i="1" u="sng" dirty="0">
                <a:latin typeface="Century Gothic" pitchFamily="34" charset="0"/>
              </a:rPr>
              <a:t> Bohr </a:t>
            </a:r>
            <a:r>
              <a:rPr lang="en-US" sz="1200" b="1" dirty="0">
                <a:latin typeface="Century Gothic" pitchFamily="34" charset="0"/>
              </a:rPr>
              <a:t>atomic structure</a:t>
            </a:r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2667000" y="4419600"/>
            <a:ext cx="137160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1921: 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dirty="0">
                <a:latin typeface="Century Gothic" pitchFamily="34" charset="0"/>
              </a:rPr>
              <a:t>Won the </a:t>
            </a:r>
            <a:r>
              <a:rPr lang="en-US" sz="1200" b="1" i="1" u="sng" dirty="0">
                <a:solidFill>
                  <a:srgbClr val="FF0000"/>
                </a:solidFill>
                <a:latin typeface="Century Gothic" pitchFamily="34" charset="0"/>
              </a:rPr>
              <a:t>Nobel Prize</a:t>
            </a:r>
            <a:r>
              <a:rPr lang="en-US" sz="1200" b="1" i="1" u="sng" dirty="0">
                <a:latin typeface="Century Gothic" pitchFamily="34" charset="0"/>
              </a:rPr>
              <a:t> in Physics </a:t>
            </a:r>
            <a:r>
              <a:rPr lang="en-US" sz="1200" b="1" dirty="0">
                <a:latin typeface="Century Gothic" pitchFamily="34" charset="0"/>
              </a:rPr>
              <a:t>photoelectric effect.</a:t>
            </a:r>
            <a:r>
              <a:rPr lang="en-US" sz="1200" dirty="0">
                <a:latin typeface="Century Gothic" pitchFamily="34" charset="0"/>
              </a:rPr>
              <a:t> </a:t>
            </a: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457200" y="2397204"/>
            <a:ext cx="18288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1905: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Albert </a:t>
            </a:r>
            <a:r>
              <a:rPr lang="en-US" sz="1200" b="1" dirty="0">
                <a:latin typeface="Century Gothic" pitchFamily="34" charset="0"/>
              </a:rPr>
              <a:t>proposed the idea photoelectric effect. </a:t>
            </a:r>
          </a:p>
        </p:txBody>
      </p:sp>
      <p:cxnSp>
        <p:nvCxnSpPr>
          <p:cNvPr id="37900" name="AutoShape 12"/>
          <p:cNvCxnSpPr>
            <a:cxnSpLocks noChangeShapeType="1"/>
          </p:cNvCxnSpPr>
          <p:nvPr/>
        </p:nvCxnSpPr>
        <p:spPr bwMode="auto">
          <a:xfrm>
            <a:off x="1981200" y="3886200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1" name="AutoShape 13"/>
          <p:cNvCxnSpPr>
            <a:cxnSpLocks noChangeShapeType="1"/>
          </p:cNvCxnSpPr>
          <p:nvPr/>
        </p:nvCxnSpPr>
        <p:spPr bwMode="auto">
          <a:xfrm flipV="1">
            <a:off x="1371600" y="35052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02" name="Rectangle 14"/>
          <p:cNvSpPr>
            <a:spLocks noChangeArrowheads="1"/>
          </p:cNvSpPr>
          <p:nvPr/>
        </p:nvSpPr>
        <p:spPr bwMode="auto">
          <a:xfrm>
            <a:off x="3429000" y="703263"/>
            <a:ext cx="11430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1922: 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 err="1">
                <a:latin typeface="Century Gothic" pitchFamily="34" charset="0"/>
              </a:rPr>
              <a:t>Neils</a:t>
            </a:r>
            <a:r>
              <a:rPr lang="en-US" sz="1200" b="1" i="1" u="sng" dirty="0">
                <a:latin typeface="Century Gothic" pitchFamily="34" charset="0"/>
              </a:rPr>
              <a:t> Bohr </a:t>
            </a:r>
            <a:r>
              <a:rPr lang="en-US" sz="1200" b="1" dirty="0">
                <a:latin typeface="Century Gothic" pitchFamily="34" charset="0"/>
              </a:rPr>
              <a:t>won </a:t>
            </a:r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Nobel Prize </a:t>
            </a:r>
            <a:r>
              <a:rPr lang="en-US" sz="1200" b="1" dirty="0">
                <a:latin typeface="Century Gothic" pitchFamily="34" charset="0"/>
              </a:rPr>
              <a:t>in physics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Stern-</a:t>
            </a:r>
            <a:r>
              <a:rPr lang="en-US" sz="1200" b="1" i="1" u="sng" dirty="0" err="1">
                <a:latin typeface="Century Gothic" pitchFamily="34" charset="0"/>
              </a:rPr>
              <a:t>Gerlach</a:t>
            </a:r>
            <a:r>
              <a:rPr lang="en-US" sz="1200" b="1" dirty="0">
                <a:latin typeface="Century Gothic" pitchFamily="34" charset="0"/>
              </a:rPr>
              <a:t> space quantization</a:t>
            </a:r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3886200" y="4191000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>
                <a:latin typeface="Century Gothic" pitchFamily="34" charset="0"/>
              </a:rPr>
              <a:t>1924:</a:t>
            </a:r>
            <a:r>
              <a:rPr lang="en-US" sz="1200" dirty="0">
                <a:latin typeface="Century Gothic" pitchFamily="34" charset="0"/>
              </a:rPr>
              <a:t> </a:t>
            </a:r>
          </a:p>
          <a:p>
            <a:pPr algn="ctr"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Louis De Broglie </a:t>
            </a:r>
            <a:r>
              <a:rPr lang="en-US" sz="1200" b="1" dirty="0">
                <a:latin typeface="Century Gothic" pitchFamily="34" charset="0"/>
              </a:rPr>
              <a:t>electron waves. </a:t>
            </a:r>
          </a:p>
        </p:txBody>
      </p:sp>
      <p:cxnSp>
        <p:nvCxnSpPr>
          <p:cNvPr id="37904" name="AutoShape 16"/>
          <p:cNvCxnSpPr>
            <a:cxnSpLocks noChangeShapeType="1"/>
          </p:cNvCxnSpPr>
          <p:nvPr/>
        </p:nvCxnSpPr>
        <p:spPr bwMode="auto">
          <a:xfrm>
            <a:off x="4343400" y="38862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5" name="AutoShape 17"/>
          <p:cNvCxnSpPr>
            <a:cxnSpLocks noChangeShapeType="1"/>
            <a:endCxn id="37912" idx="2"/>
          </p:cNvCxnSpPr>
          <p:nvPr/>
        </p:nvCxnSpPr>
        <p:spPr bwMode="auto">
          <a:xfrm flipV="1">
            <a:off x="4648200" y="2363926"/>
            <a:ext cx="457200" cy="1522274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5257800" y="4343400"/>
            <a:ext cx="1219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1929: </a:t>
            </a:r>
            <a:r>
              <a:rPr lang="en-US" sz="1200" b="1" i="1" u="sng" dirty="0">
                <a:latin typeface="Century Gothic" pitchFamily="34" charset="0"/>
              </a:rPr>
              <a:t>Louis De Broglie</a:t>
            </a:r>
            <a:r>
              <a:rPr lang="en-US" sz="1200" b="1" dirty="0">
                <a:latin typeface="Century Gothic" pitchFamily="34" charset="0"/>
              </a:rPr>
              <a:t> won the </a:t>
            </a:r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Nobel Prize</a:t>
            </a:r>
            <a:r>
              <a:rPr lang="en-US" sz="1200" b="1" dirty="0">
                <a:latin typeface="Century Gothic" pitchFamily="34" charset="0"/>
              </a:rPr>
              <a:t>. </a:t>
            </a:r>
          </a:p>
        </p:txBody>
      </p:sp>
      <p:cxnSp>
        <p:nvCxnSpPr>
          <p:cNvPr id="37907" name="AutoShape 19"/>
          <p:cNvCxnSpPr>
            <a:cxnSpLocks noChangeShapeType="1"/>
          </p:cNvCxnSpPr>
          <p:nvPr/>
        </p:nvCxnSpPr>
        <p:spPr bwMode="auto">
          <a:xfrm>
            <a:off x="5791200" y="38862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08" name="Rectangle 20"/>
          <p:cNvSpPr>
            <a:spLocks noChangeArrowheads="1"/>
          </p:cNvSpPr>
          <p:nvPr/>
        </p:nvSpPr>
        <p:spPr bwMode="auto">
          <a:xfrm>
            <a:off x="6248400" y="4343400"/>
            <a:ext cx="1295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>
                <a:latin typeface="Century Gothic" pitchFamily="34" charset="0"/>
              </a:rPr>
              <a:t>1933:</a:t>
            </a:r>
            <a:r>
              <a:rPr lang="en-US" sz="1200" dirty="0">
                <a:latin typeface="Century Gothic" pitchFamily="34" charset="0"/>
              </a:rPr>
              <a:t> </a:t>
            </a:r>
          </a:p>
          <a:p>
            <a:pPr algn="ctr"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Otto Stern </a:t>
            </a:r>
            <a:r>
              <a:rPr lang="en-US" sz="1200" b="1" dirty="0">
                <a:latin typeface="Century Gothic" pitchFamily="34" charset="0"/>
              </a:rPr>
              <a:t>measures the magnetic moment of the proton </a:t>
            </a:r>
          </a:p>
          <a:p>
            <a:pPr algn="ctr"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Schrodinger </a:t>
            </a:r>
            <a:r>
              <a:rPr lang="en-US" sz="1200" b="1" dirty="0" err="1">
                <a:latin typeface="Century Gothic" pitchFamily="34" charset="0"/>
              </a:rPr>
              <a:t>Schrodinger</a:t>
            </a:r>
            <a:r>
              <a:rPr lang="en-US" sz="1200" b="1" dirty="0">
                <a:latin typeface="Century Gothic" pitchFamily="34" charset="0"/>
              </a:rPr>
              <a:t> Equation</a:t>
            </a:r>
            <a:r>
              <a:rPr lang="en-US" sz="1200" dirty="0">
                <a:latin typeface="Century Gothic" pitchFamily="34" charset="0"/>
              </a:rPr>
              <a:t> </a:t>
            </a:r>
          </a:p>
        </p:txBody>
      </p:sp>
      <p:cxnSp>
        <p:nvCxnSpPr>
          <p:cNvPr id="37909" name="AutoShape 21"/>
          <p:cNvCxnSpPr>
            <a:cxnSpLocks noChangeShapeType="1"/>
          </p:cNvCxnSpPr>
          <p:nvPr/>
        </p:nvCxnSpPr>
        <p:spPr bwMode="auto">
          <a:xfrm flipV="1">
            <a:off x="6248400" y="3276600"/>
            <a:ext cx="1588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10" name="Rectangle 22"/>
          <p:cNvSpPr>
            <a:spLocks noChangeArrowheads="1"/>
          </p:cNvSpPr>
          <p:nvPr/>
        </p:nvSpPr>
        <p:spPr bwMode="auto">
          <a:xfrm>
            <a:off x="6515100" y="2435424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1936</a:t>
            </a:r>
            <a:r>
              <a:rPr lang="en-US" sz="2400" b="1" dirty="0">
                <a:latin typeface="Century Gothic" pitchFamily="34" charset="0"/>
              </a:rPr>
              <a:t>: </a:t>
            </a:r>
            <a:r>
              <a:rPr lang="en-US" sz="1200" b="1" i="1" u="sng" dirty="0">
                <a:latin typeface="Century Gothic" pitchFamily="34" charset="0"/>
              </a:rPr>
              <a:t>Schrödinger's </a:t>
            </a:r>
            <a:r>
              <a:rPr lang="en-US" sz="1200" b="1" dirty="0">
                <a:latin typeface="Century Gothic" pitchFamily="34" charset="0"/>
              </a:rPr>
              <a:t>Equation </a:t>
            </a:r>
          </a:p>
        </p:txBody>
      </p:sp>
      <p:cxnSp>
        <p:nvCxnSpPr>
          <p:cNvPr id="37911" name="AutoShape 23"/>
          <p:cNvCxnSpPr>
            <a:cxnSpLocks noChangeShapeType="1"/>
            <a:endCxn id="37908" idx="0"/>
          </p:cNvCxnSpPr>
          <p:nvPr/>
        </p:nvCxnSpPr>
        <p:spPr bwMode="auto">
          <a:xfrm>
            <a:off x="6477000" y="3886200"/>
            <a:ext cx="4191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12" name="Rectangle 24"/>
          <p:cNvSpPr>
            <a:spLocks noChangeArrowheads="1"/>
          </p:cNvSpPr>
          <p:nvPr/>
        </p:nvSpPr>
        <p:spPr bwMode="auto">
          <a:xfrm>
            <a:off x="4419600" y="609600"/>
            <a:ext cx="1371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1925:</a:t>
            </a:r>
            <a:r>
              <a:rPr lang="en-US" sz="1200" dirty="0">
                <a:latin typeface="Century Gothic" pitchFamily="34" charset="0"/>
              </a:rPr>
              <a:t> 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Heisenberg</a:t>
            </a:r>
            <a:r>
              <a:rPr lang="en-US" sz="1200" b="1" dirty="0">
                <a:latin typeface="Century Gothic" pitchFamily="34" charset="0"/>
              </a:rPr>
              <a:t> Uncertainty principle 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Wolfgang Pauli </a:t>
            </a:r>
            <a:r>
              <a:rPr lang="en-US" sz="1200" b="1" dirty="0">
                <a:latin typeface="Century Gothic" pitchFamily="34" charset="0"/>
              </a:rPr>
              <a:t>spin number </a:t>
            </a:r>
          </a:p>
        </p:txBody>
      </p:sp>
      <p:sp>
        <p:nvSpPr>
          <p:cNvPr id="37913" name="Rectangle 25"/>
          <p:cNvSpPr>
            <a:spLocks noChangeArrowheads="1"/>
          </p:cNvSpPr>
          <p:nvPr/>
        </p:nvSpPr>
        <p:spPr bwMode="auto">
          <a:xfrm>
            <a:off x="5638800" y="1828800"/>
            <a:ext cx="108108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>
                <a:latin typeface="Century Gothic" pitchFamily="34" charset="0"/>
              </a:rPr>
              <a:t>1932: </a:t>
            </a:r>
          </a:p>
          <a:p>
            <a:pPr algn="ctr">
              <a:buFontTx/>
              <a:buChar char="•"/>
            </a:pPr>
            <a:r>
              <a:rPr lang="en-US" sz="1200" b="1" dirty="0">
                <a:latin typeface="Century Gothic" pitchFamily="34" charset="0"/>
              </a:rPr>
              <a:t>Werner </a:t>
            </a:r>
            <a:r>
              <a:rPr lang="en-US" sz="1200" b="1" i="1" u="sng" dirty="0">
                <a:latin typeface="Century Gothic" pitchFamily="34" charset="0"/>
              </a:rPr>
              <a:t>Heisenberg</a:t>
            </a:r>
            <a:r>
              <a:rPr lang="en-US" sz="1200" b="1" dirty="0">
                <a:latin typeface="Century Gothic" pitchFamily="34" charset="0"/>
              </a:rPr>
              <a:t> won </a:t>
            </a:r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Nobel Prize </a:t>
            </a:r>
            <a:r>
              <a:rPr lang="en-US" sz="1200" b="1" dirty="0">
                <a:latin typeface="Century Gothic" pitchFamily="34" charset="0"/>
              </a:rPr>
              <a:t>in physics</a:t>
            </a:r>
          </a:p>
        </p:txBody>
      </p:sp>
      <p:cxnSp>
        <p:nvCxnSpPr>
          <p:cNvPr id="37914" name="AutoShape 26"/>
          <p:cNvCxnSpPr>
            <a:cxnSpLocks noChangeShapeType="1"/>
          </p:cNvCxnSpPr>
          <p:nvPr/>
        </p:nvCxnSpPr>
        <p:spPr bwMode="auto">
          <a:xfrm flipV="1">
            <a:off x="7086600" y="3276600"/>
            <a:ext cx="0" cy="5810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5" name="AutoShape 27"/>
          <p:cNvCxnSpPr>
            <a:cxnSpLocks noChangeShapeType="1"/>
          </p:cNvCxnSpPr>
          <p:nvPr/>
        </p:nvCxnSpPr>
        <p:spPr bwMode="auto">
          <a:xfrm>
            <a:off x="8153400" y="38862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16" name="Rectangle 28"/>
          <p:cNvSpPr>
            <a:spLocks noChangeArrowheads="1"/>
          </p:cNvSpPr>
          <p:nvPr/>
        </p:nvSpPr>
        <p:spPr bwMode="auto">
          <a:xfrm>
            <a:off x="7467600" y="4343400"/>
            <a:ext cx="1406525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1943: 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Otto Stern </a:t>
            </a:r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Nobel prize </a:t>
            </a:r>
            <a:r>
              <a:rPr lang="en-US" sz="1200" b="1" dirty="0">
                <a:latin typeface="Century Gothic" pitchFamily="34" charset="0"/>
              </a:rPr>
              <a:t>in Physics </a:t>
            </a:r>
          </a:p>
        </p:txBody>
      </p:sp>
      <p:cxnSp>
        <p:nvCxnSpPr>
          <p:cNvPr id="37917" name="AutoShape 29"/>
          <p:cNvCxnSpPr>
            <a:cxnSpLocks noChangeShapeType="1"/>
          </p:cNvCxnSpPr>
          <p:nvPr/>
        </p:nvCxnSpPr>
        <p:spPr bwMode="auto">
          <a:xfrm flipV="1">
            <a:off x="8305800" y="3276600"/>
            <a:ext cx="0" cy="5810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18" name="Rectangle 30"/>
          <p:cNvSpPr>
            <a:spLocks noChangeArrowheads="1"/>
          </p:cNvSpPr>
          <p:nvPr/>
        </p:nvSpPr>
        <p:spPr bwMode="auto">
          <a:xfrm>
            <a:off x="7696200" y="1981200"/>
            <a:ext cx="12192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1944: </a:t>
            </a:r>
          </a:p>
          <a:p>
            <a:pPr algn="ctr">
              <a:spcBef>
                <a:spcPct val="50000"/>
              </a:spcBef>
              <a:buFontTx/>
              <a:buChar char="•"/>
            </a:pPr>
            <a:r>
              <a:rPr lang="en-US" sz="1200" b="1" i="1" u="sng" dirty="0">
                <a:latin typeface="Century Gothic" pitchFamily="34" charset="0"/>
              </a:rPr>
              <a:t>Pauli </a:t>
            </a:r>
            <a:r>
              <a:rPr lang="en-US" sz="1200" b="1" dirty="0">
                <a:latin typeface="Century Gothic" pitchFamily="34" charset="0"/>
              </a:rPr>
              <a:t>won </a:t>
            </a:r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Nobel Prize </a:t>
            </a:r>
            <a:r>
              <a:rPr lang="en-US" sz="1200" b="1" dirty="0">
                <a:latin typeface="Century Gothic" pitchFamily="34" charset="0"/>
              </a:rPr>
              <a:t>in physics</a:t>
            </a:r>
          </a:p>
        </p:txBody>
      </p:sp>
      <p:sp>
        <p:nvSpPr>
          <p:cNvPr id="37920" name="Rectangle 32"/>
          <p:cNvSpPr>
            <a:spLocks noChangeArrowheads="1"/>
          </p:cNvSpPr>
          <p:nvPr/>
        </p:nvSpPr>
        <p:spPr bwMode="auto">
          <a:xfrm>
            <a:off x="7239000" y="762000"/>
            <a:ext cx="1219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entury Gothic" pitchFamily="34" charset="0"/>
              </a:rPr>
              <a:t>1940</a:t>
            </a:r>
            <a:r>
              <a:rPr lang="en-US" sz="2400" b="1" dirty="0">
                <a:latin typeface="Century Gothic" pitchFamily="34" charset="0"/>
              </a:rPr>
              <a:t>: </a:t>
            </a:r>
            <a:r>
              <a:rPr lang="en-US" sz="1200" b="1" i="1" u="sng" dirty="0">
                <a:latin typeface="Century Gothic" pitchFamily="34" charset="0"/>
              </a:rPr>
              <a:t>Pauli </a:t>
            </a:r>
            <a:r>
              <a:rPr lang="en-US" sz="1200" b="1" i="1" dirty="0">
                <a:latin typeface="Century Gothic" pitchFamily="34" charset="0"/>
              </a:rPr>
              <a:t>proves </a:t>
            </a:r>
            <a:r>
              <a:rPr lang="en-US" sz="1200" b="1" dirty="0">
                <a:latin typeface="Century Gothic" pitchFamily="34" charset="0"/>
              </a:rPr>
              <a:t>Spin-Statistic Theorem</a:t>
            </a:r>
          </a:p>
        </p:txBody>
      </p:sp>
      <p:cxnSp>
        <p:nvCxnSpPr>
          <p:cNvPr id="37921" name="AutoShape 33"/>
          <p:cNvCxnSpPr>
            <a:cxnSpLocks noChangeShapeType="1"/>
            <a:endCxn id="37920" idx="2"/>
          </p:cNvCxnSpPr>
          <p:nvPr/>
        </p:nvCxnSpPr>
        <p:spPr bwMode="auto">
          <a:xfrm flipV="1">
            <a:off x="7620000" y="1777663"/>
            <a:ext cx="228600" cy="2108537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22" name="Text Box 34"/>
          <p:cNvSpPr txBox="1">
            <a:spLocks noChangeArrowheads="1"/>
          </p:cNvSpPr>
          <p:nvPr/>
        </p:nvSpPr>
        <p:spPr bwMode="auto">
          <a:xfrm>
            <a:off x="1682374" y="198734"/>
            <a:ext cx="5694958" cy="46166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Evolution of Quantum mechanics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75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Limitations of Classical theory, Basic idea of quantization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1771260"/>
            <a:ext cx="1512168" cy="2079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7584" y="1916832"/>
            <a:ext cx="56742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sz="2800" dirty="0"/>
              <a:t>Newton's classical theory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800" dirty="0"/>
              <a:t>Maxwell’s Electromagnetism theory</a:t>
            </a:r>
          </a:p>
          <a:p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331640" y="3425483"/>
            <a:ext cx="5646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Mainly deal with macroscopic phenomenon</a:t>
            </a:r>
          </a:p>
        </p:txBody>
      </p:sp>
      <p:pic>
        <p:nvPicPr>
          <p:cNvPr id="1027" name="Picture 3" descr="D:\VIT Bhopal\Class PPT\Q mech\Image gif\Y9ixR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224769"/>
            <a:ext cx="1513478" cy="20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VIT Bhopal\Class PPT\Q mech\Image gif\giphy.gif"/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77" y="4285827"/>
            <a:ext cx="1997271" cy="1997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13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of Classical physics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Relativistic domain </a:t>
            </a:r>
          </a:p>
          <a:p>
            <a:r>
              <a:rPr lang="en-IN" dirty="0"/>
              <a:t>Microscopic domain  </a:t>
            </a:r>
          </a:p>
          <a:p>
            <a:r>
              <a:rPr lang="en-IN" b="1" dirty="0"/>
              <a:t>Classical physics fail to explain </a:t>
            </a:r>
          </a:p>
          <a:p>
            <a:pPr lvl="1"/>
            <a:r>
              <a:rPr lang="en-IN" b="1" dirty="0"/>
              <a:t>Black body radiation </a:t>
            </a:r>
          </a:p>
          <a:p>
            <a:pPr lvl="1"/>
            <a:r>
              <a:rPr lang="en-IN" b="1" dirty="0"/>
              <a:t>Photo electric effect</a:t>
            </a:r>
          </a:p>
          <a:p>
            <a:pPr lvl="1"/>
            <a:r>
              <a:rPr lang="en-IN" b="1" dirty="0"/>
              <a:t>Atomic stability</a:t>
            </a:r>
          </a:p>
          <a:p>
            <a:pPr lvl="1"/>
            <a:r>
              <a:rPr lang="en-IN" b="1" dirty="0"/>
              <a:t>Atomic spectra  </a:t>
            </a:r>
          </a:p>
          <a:p>
            <a:pPr lvl="1"/>
            <a:r>
              <a:rPr lang="en-IN" b="1" dirty="0"/>
              <a:t>The stability of atoms , spectral distribution of black body radiation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034770"/>
              </p:ext>
            </p:extLst>
          </p:nvPr>
        </p:nvGraphicFramePr>
        <p:xfrm>
          <a:off x="4211960" y="1484784"/>
          <a:ext cx="1728192" cy="674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203040" progId="Equation.DSMT4">
                  <p:embed/>
                </p:oleObj>
              </mc:Choice>
              <mc:Fallback>
                <p:oleObj name="Equation" r:id="rId2" imgW="520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11960" y="1484784"/>
                        <a:ext cx="1728192" cy="6744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124114"/>
              </p:ext>
            </p:extLst>
          </p:nvPr>
        </p:nvGraphicFramePr>
        <p:xfrm>
          <a:off x="4283968" y="1844824"/>
          <a:ext cx="3502476" cy="9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304560" progId="Equation.DSMT4">
                  <p:embed/>
                </p:oleObj>
              </mc:Choice>
              <mc:Fallback>
                <p:oleObj name="Equation" r:id="rId4" imgW="113004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83968" y="1844824"/>
                        <a:ext cx="3502476" cy="94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56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979712" y="1772816"/>
            <a:ext cx="5651740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Development of Quantum Mechanics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800" dirty="0"/>
              <a:t>Max Planck's Hypothesis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800" dirty="0"/>
              <a:t>  Heisenberg’s Uncertainty principle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800" dirty="0"/>
              <a:t>Schrodinger equation</a:t>
            </a:r>
          </a:p>
          <a:p>
            <a:pPr marL="285750" indent="-285750">
              <a:buFont typeface="Arial" pitchFamily="34" charset="0"/>
              <a:buChar char="•"/>
            </a:pPr>
            <a:endParaRPr lang="en-IN" sz="2800" dirty="0"/>
          </a:p>
          <a:p>
            <a:pPr marL="285750" indent="-285750">
              <a:buFont typeface="Arial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322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465" y="784224"/>
            <a:ext cx="2957089" cy="3210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55965" y="373062"/>
            <a:ext cx="85439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dirty="0">
                <a:solidFill>
                  <a:srgbClr val="010066"/>
                </a:solidFill>
              </a:rPr>
              <a:t>All objects with a temperature above </a:t>
            </a:r>
            <a:r>
              <a:rPr lang="en-GB" b="1" dirty="0">
                <a:solidFill>
                  <a:srgbClr val="B71562"/>
                </a:solidFill>
              </a:rPr>
              <a:t>absolute zero</a:t>
            </a:r>
            <a:r>
              <a:rPr lang="en-GB" dirty="0">
                <a:solidFill>
                  <a:srgbClr val="010066"/>
                </a:solidFill>
              </a:rPr>
              <a:t> emit </a:t>
            </a:r>
            <a:r>
              <a:rPr lang="en-GB" b="1" dirty="0">
                <a:solidFill>
                  <a:srgbClr val="B71562"/>
                </a:solidFill>
              </a:rPr>
              <a:t>thermal radiation</a:t>
            </a:r>
            <a:r>
              <a:rPr lang="en-GB" dirty="0">
                <a:solidFill>
                  <a:srgbClr val="010066"/>
                </a:solidFill>
              </a:rPr>
              <a:t>.</a:t>
            </a:r>
          </a:p>
        </p:txBody>
      </p:sp>
      <p:pic>
        <p:nvPicPr>
          <p:cNvPr id="2" name="Picture 2" descr="D:\VIT Bhopal\Class PPT\Q mech\Image gif\downloa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221088"/>
            <a:ext cx="3395096" cy="241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91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Black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3768" y="1259468"/>
            <a:ext cx="428386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Issue is how radiation interacts with matter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4625700" y="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hlinkClick r:id="rId3"/>
              </a:rPr>
              <a:t>https://phet.colorado.edu/sims/blackbody-spectrum/blackbody-spectrum_en.html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475906" y="1965680"/>
            <a:ext cx="6011454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Black body is a material which absorbs all energy falls upon it, </a:t>
            </a:r>
          </a:p>
          <a:p>
            <a:r>
              <a:rPr lang="en-IN" dirty="0"/>
              <a:t>and hence appears black with respect to reflection.</a:t>
            </a:r>
          </a:p>
        </p:txBody>
      </p:sp>
      <p:pic>
        <p:nvPicPr>
          <p:cNvPr id="5122" name="Picture 2" descr="D:\VIT Bhopal\Class PPT\Q mech\Image gif\1461572485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91" y="2876926"/>
            <a:ext cx="2482230" cy="248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D:\VIT Bhopal\Class PPT\Q mech\Image gif\black-body-radiation-curve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906439"/>
            <a:ext cx="2946396" cy="232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413202"/>
              </p:ext>
            </p:extLst>
          </p:nvPr>
        </p:nvGraphicFramePr>
        <p:xfrm>
          <a:off x="467544" y="5877272"/>
          <a:ext cx="3659665" cy="803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1120" imgH="228600" progId="Equation.DSMT4">
                  <p:embed/>
                </p:oleObj>
              </mc:Choice>
              <mc:Fallback>
                <p:oleObj name="Equation" r:id="rId6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7544" y="5877272"/>
                        <a:ext cx="3659665" cy="8033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7544" y="5332566"/>
            <a:ext cx="25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Wien’s displacement law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5979"/>
              </p:ext>
            </p:extLst>
          </p:nvPr>
        </p:nvGraphicFramePr>
        <p:xfrm>
          <a:off x="6084168" y="5949280"/>
          <a:ext cx="2061598" cy="749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03040" progId="Equation.DSMT4">
                  <p:embed/>
                </p:oleObj>
              </mc:Choice>
              <mc:Fallback>
                <p:oleObj name="Equation" r:id="rId8" imgW="558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84168" y="5949280"/>
                        <a:ext cx="2061598" cy="749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4168" y="5517232"/>
            <a:ext cx="129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Stefan’s law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88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E632E7-0ED8-1307-E21A-369A6AA7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B1AFEF-0395-4DF6-FCC3-AD55C47D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DF62A-2364-60AB-584F-A52032169ADC}"/>
              </a:ext>
            </a:extLst>
          </p:cNvPr>
          <p:cNvSpPr txBox="1"/>
          <p:nvPr/>
        </p:nvSpPr>
        <p:spPr>
          <a:xfrm>
            <a:off x="179512" y="1723352"/>
            <a:ext cx="66784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classical physics predicted</a:t>
            </a:r>
          </a:p>
          <a:p>
            <a:pPr>
              <a:buNone/>
            </a:pPr>
            <a:r>
              <a:rPr lang="en-US" dirty="0"/>
              <a:t>Using classical ideas (equipartition theorem + wave theory), physicists derived the </a:t>
            </a:r>
            <a:r>
              <a:rPr lang="en-US" b="1" dirty="0"/>
              <a:t>Rayleigh–Jeans law</a:t>
            </a:r>
            <a:r>
              <a:rPr lang="en-US" dirty="0"/>
              <a:t>, which said: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Energy emitted should </a:t>
            </a:r>
            <a:r>
              <a:rPr lang="en-US" b="1" dirty="0"/>
              <a:t>increase indefinitely</a:t>
            </a:r>
            <a:r>
              <a:rPr lang="en-US" dirty="0"/>
              <a:t> at short wavelengths (high frequency).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implied an infinite energy output — called the </a:t>
            </a:r>
            <a:r>
              <a:rPr lang="en-US" b="1" dirty="0"/>
              <a:t>ultraviolet catastrophe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👉 Experimentally, however: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Intensity rises, reaches a peak, then falls at high frequencies.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9187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014770"/>
              </p:ext>
            </p:extLst>
          </p:nvPr>
        </p:nvGraphicFramePr>
        <p:xfrm>
          <a:off x="1130300" y="1484313"/>
          <a:ext cx="4416425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600" imgH="647640" progId="Equation.DSMT4">
                  <p:embed/>
                </p:oleObj>
              </mc:Choice>
              <mc:Fallback>
                <p:oleObj name="Equation" r:id="rId3" imgW="208260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0300" y="1484313"/>
                        <a:ext cx="4416425" cy="1373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03648" y="1052736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Wien’s law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58776"/>
              </p:ext>
            </p:extLst>
          </p:nvPr>
        </p:nvGraphicFramePr>
        <p:xfrm>
          <a:off x="467544" y="4293096"/>
          <a:ext cx="3501926" cy="912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393480" progId="Equation.DSMT4">
                  <p:embed/>
                </p:oleObj>
              </mc:Choice>
              <mc:Fallback>
                <p:oleObj name="Equation" r:id="rId5" imgW="15112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44" y="4293096"/>
                        <a:ext cx="3501926" cy="9122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3312" y="3422144"/>
            <a:ext cx="196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Rayleigh Jeans Law</a:t>
            </a:r>
          </a:p>
        </p:txBody>
      </p:sp>
      <p:pic>
        <p:nvPicPr>
          <p:cNvPr id="6151" name="Picture 7" descr="D:\VIT Bhopal\Class PPT\Q mech\Image gif\94B-pic-blackbody-expt-theory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401714"/>
            <a:ext cx="3812289" cy="30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32240" y="2348880"/>
            <a:ext cx="167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UV catastrophe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0624" y="374287"/>
            <a:ext cx="3153299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Activity:</a:t>
            </a:r>
          </a:p>
          <a:p>
            <a:r>
              <a:rPr lang="en-IN" dirty="0"/>
              <a:t>1. Convert lambda to frequency</a:t>
            </a:r>
          </a:p>
          <a:p>
            <a:r>
              <a:rPr lang="en-IN" dirty="0"/>
              <a:t>2. Plot it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92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11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43608" y="1052736"/>
                <a:ext cx="7488833" cy="270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rgbClr val="FF0000"/>
                    </a:solidFill>
                  </a:rPr>
                  <a:t>Ultraviolet Catastrophe</a:t>
                </a:r>
              </a:p>
              <a:p>
                <a:endParaRPr lang="en-IN" dirty="0"/>
              </a:p>
              <a:p>
                <a:r>
                  <a:rPr lang="en-IN" dirty="0"/>
                  <a:t>It is clear from the fig that the experimental data does not agree with the theory .the agreement is good only for smaller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/>
                        <a:ea typeface="Cambria Math"/>
                      </a:rPr>
                      <m:t>𝜗</m:t>
                    </m:r>
                  </m:oMath>
                </a14:m>
                <a:r>
                  <a:rPr lang="en-IN" dirty="0"/>
                  <a:t>. The disagreement at high frequencies </a:t>
                </a:r>
                <a:r>
                  <a:rPr lang="en-IN" dirty="0" err="1"/>
                  <a:t>ie</a:t>
                </a:r>
                <a:r>
                  <a:rPr lang="en-IN" dirty="0"/>
                  <a:t> in UV region is called as ultraviolet  catastrophe. This was resolved by Planck that the radiation absorbed or emitted in bundles of size h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  <a:ea typeface="Cambria Math"/>
                      </a:rPr>
                      <m:t>𝜗</m:t>
                    </m:r>
                  </m:oMath>
                </a14:m>
                <a:r>
                  <a:rPr lang="en-IN" dirty="0"/>
                  <a:t>.These bundles are called as </a:t>
                </a:r>
                <a:r>
                  <a:rPr lang="en-IN" dirty="0" err="1"/>
                  <a:t>quantas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In order to explain this Planck used Maxwell- Boltzmann distribution law .</a:t>
                </a:r>
              </a:p>
              <a:p>
                <a:r>
                  <a:rPr lang="en-IN" dirty="0"/>
                  <a:t>                                                   </a:t>
                </a:r>
                <a:r>
                  <a:rPr lang="en-IN" dirty="0" err="1"/>
                  <a:t>N</a:t>
                </a:r>
                <a:r>
                  <a:rPr lang="en-IN" baseline="-25000" dirty="0" err="1"/>
                  <a:t>n</a:t>
                </a:r>
                <a:r>
                  <a:rPr lang="en-IN" dirty="0"/>
                  <a:t> = N</a:t>
                </a:r>
                <a:r>
                  <a:rPr lang="en-IN" baseline="-25000" dirty="0"/>
                  <a:t>0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IN" i="1">
                                <a:latin typeface="Cambria Math"/>
                                <a:ea typeface="Cambria Math"/>
                              </a:rPr>
                              <m:t>𝜗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/>
                                <a:ea typeface="Cambria Math"/>
                              </a:rPr>
                              <m:t>𝐾𝑇</m:t>
                            </m:r>
                          </m:den>
                        </m:f>
                      </m:sup>
                    </m:s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052736"/>
                <a:ext cx="7488833" cy="2703689"/>
              </a:xfrm>
              <a:prstGeom prst="rect">
                <a:avLst/>
              </a:prstGeom>
              <a:blipFill rotWithShape="1">
                <a:blip r:embed="rId2"/>
                <a:stretch>
                  <a:fillRect l="-651" t="-1129" b="-2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111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570" name="Picture 10" descr="light-bul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1340768"/>
            <a:ext cx="2381250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0565" name="Text Box 5"/>
          <p:cNvSpPr txBox="1">
            <a:spLocks noChangeArrowheads="1"/>
          </p:cNvSpPr>
          <p:nvPr/>
        </p:nvSpPr>
        <p:spPr bwMode="auto">
          <a:xfrm>
            <a:off x="2190750" y="4647421"/>
            <a:ext cx="56007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010066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rgbClr val="010066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rgbClr val="010066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rgbClr val="010066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rgbClr val="01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B71562"/>
              </a:buClr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current flows through the filament.</a:t>
            </a:r>
          </a:p>
          <a:p>
            <a:pPr eaLnBrk="1" hangingPunct="1">
              <a:buClr>
                <a:srgbClr val="B71562"/>
              </a:buClr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filament heats up.</a:t>
            </a:r>
          </a:p>
          <a:p>
            <a:pPr eaLnBrk="1" hangingPunct="1">
              <a:buClr>
                <a:srgbClr val="B71562"/>
              </a:buClr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thermal emission of the filament moves into the visible spectrum.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866259"/>
            <a:ext cx="102412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ACTIVITY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4463" y="32719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Light bulb experiment to explain black body spectra</a:t>
            </a:r>
            <a:br>
              <a:rPr lang="en-GB" dirty="0"/>
            </a:b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302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Documents and Settings\Home\My Documents\My Pictures\Paul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85800"/>
            <a:ext cx="3563938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4724400" y="838200"/>
            <a:ext cx="41592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600">
                <a:solidFill>
                  <a:srgbClr val="800080"/>
                </a:solidFill>
              </a:rPr>
              <a:t>Wolfgang Pauli</a:t>
            </a:r>
          </a:p>
          <a:p>
            <a:pPr eaLnBrk="1" hangingPunct="1"/>
            <a:r>
              <a:rPr lang="en-US" sz="3600">
                <a:solidFill>
                  <a:srgbClr val="800080"/>
                </a:solidFill>
              </a:rPr>
              <a:t>(1900-1958)</a:t>
            </a:r>
          </a:p>
          <a:p>
            <a:pPr eaLnBrk="1" hangingPunct="1"/>
            <a:r>
              <a:rPr lang="en-US" sz="3600">
                <a:solidFill>
                  <a:srgbClr val="800080"/>
                </a:solidFill>
              </a:rPr>
              <a:t>Austrian born - Swiss</a:t>
            </a:r>
          </a:p>
        </p:txBody>
      </p:sp>
      <p:sp>
        <p:nvSpPr>
          <p:cNvPr id="5124" name="Text Box 6"/>
          <p:cNvSpPr txBox="1">
            <a:spLocks noChangeArrowheads="1"/>
          </p:cNvSpPr>
          <p:nvPr/>
        </p:nvSpPr>
        <p:spPr bwMode="auto">
          <a:xfrm>
            <a:off x="4114800" y="2743200"/>
            <a:ext cx="4800600" cy="350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200"/>
              <a:t>"At the moment physics </a:t>
            </a:r>
          </a:p>
          <a:p>
            <a:pPr eaLnBrk="1" hangingPunct="1"/>
            <a:r>
              <a:rPr lang="en-US" sz="3200"/>
              <a:t>is again terribly confused.</a:t>
            </a:r>
          </a:p>
          <a:p>
            <a:pPr eaLnBrk="1" hangingPunct="1"/>
            <a:r>
              <a:rPr lang="en-US" sz="3200"/>
              <a:t> ...I wish I had been a movie </a:t>
            </a:r>
          </a:p>
          <a:p>
            <a:pPr eaLnBrk="1" hangingPunct="1"/>
            <a:r>
              <a:rPr lang="en-US" sz="3200"/>
              <a:t>comedian or something </a:t>
            </a:r>
          </a:p>
          <a:p>
            <a:pPr eaLnBrk="1" hangingPunct="1"/>
            <a:r>
              <a:rPr lang="en-US" sz="3200"/>
              <a:t>of the sort and had never</a:t>
            </a:r>
          </a:p>
          <a:p>
            <a:pPr eaLnBrk="1" hangingPunct="1"/>
            <a:r>
              <a:rPr lang="en-US" sz="3200"/>
              <a:t> heard of physics." </a:t>
            </a:r>
          </a:p>
          <a:p>
            <a:pPr eaLnBrk="1" hangingPunct="1"/>
            <a:endParaRPr lang="en-US" sz="320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351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560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Planck’s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592" y="1628800"/>
            <a:ext cx="6682535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Radiated energy interacts with the cavity walls in a quantized manner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82000"/>
              </p:ext>
            </p:extLst>
          </p:nvPr>
        </p:nvGraphicFramePr>
        <p:xfrm>
          <a:off x="467544" y="2204864"/>
          <a:ext cx="4848986" cy="9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320" imgH="393480" progId="Equation.DSMT4">
                  <p:embed/>
                </p:oleObj>
              </mc:Choice>
              <mc:Fallback>
                <p:oleObj name="Equation" r:id="rId2" imgW="19303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7544" y="2204864"/>
                        <a:ext cx="4848986" cy="9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7544" y="3645024"/>
            <a:ext cx="34325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One quanta of energy 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318765"/>
              </p:ext>
            </p:extLst>
          </p:nvPr>
        </p:nvGraphicFramePr>
        <p:xfrm>
          <a:off x="3877425" y="3515531"/>
          <a:ext cx="1059763" cy="782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0" imgH="393480" progId="Equation.DSMT4">
                  <p:embed/>
                </p:oleObj>
              </mc:Choice>
              <mc:Fallback>
                <p:oleObj name="Equation" r:id="rId4" imgW="533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77425" y="3515531"/>
                        <a:ext cx="1059763" cy="7822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/>
          <p:cNvCxnSpPr/>
          <p:nvPr/>
        </p:nvCxnSpPr>
        <p:spPr>
          <a:xfrm>
            <a:off x="4863268" y="5723641"/>
            <a:ext cx="2304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869443" y="5034919"/>
            <a:ext cx="2304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875618" y="4314839"/>
            <a:ext cx="2304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383499"/>
              </p:ext>
            </p:extLst>
          </p:nvPr>
        </p:nvGraphicFramePr>
        <p:xfrm>
          <a:off x="7179009" y="5560560"/>
          <a:ext cx="373063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177480" progId="Equation.DSMT4">
                  <p:embed/>
                </p:oleObj>
              </mc:Choice>
              <mc:Fallback>
                <p:oleObj name="Equation" r:id="rId6" imgW="2030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79009" y="5560560"/>
                        <a:ext cx="373063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654292"/>
              </p:ext>
            </p:extLst>
          </p:nvPr>
        </p:nvGraphicFramePr>
        <p:xfrm>
          <a:off x="7129797" y="4879523"/>
          <a:ext cx="48577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360" imgH="177480" progId="Equation.DSMT4">
                  <p:embed/>
                </p:oleObj>
              </mc:Choice>
              <mc:Fallback>
                <p:oleObj name="Equation" r:id="rId8" imgW="2793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29797" y="4879523"/>
                        <a:ext cx="485775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185358"/>
              </p:ext>
            </p:extLst>
          </p:nvPr>
        </p:nvGraphicFramePr>
        <p:xfrm>
          <a:off x="7036134" y="4138160"/>
          <a:ext cx="5524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360" imgH="177480" progId="Equation.DSMT4">
                  <p:embed/>
                </p:oleObj>
              </mc:Choice>
              <mc:Fallback>
                <p:oleObj name="Equation" r:id="rId10" imgW="2793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36134" y="4138160"/>
                        <a:ext cx="552450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Straight Connector 23"/>
          <p:cNvCxnSpPr/>
          <p:nvPr/>
        </p:nvCxnSpPr>
        <p:spPr>
          <a:xfrm>
            <a:off x="4992312" y="6354037"/>
            <a:ext cx="2304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414301"/>
              </p:ext>
            </p:extLst>
          </p:nvPr>
        </p:nvGraphicFramePr>
        <p:xfrm>
          <a:off x="6510368" y="6093563"/>
          <a:ext cx="1116316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0880" imgH="177480" progId="Equation.DSMT4">
                  <p:embed/>
                </p:oleObj>
              </mc:Choice>
              <mc:Fallback>
                <p:oleObj name="Equation" r:id="rId12" imgW="380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10368" y="6093563"/>
                        <a:ext cx="1116316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Picture 25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67" y="4509120"/>
            <a:ext cx="2088604" cy="208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786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Planks law of radiation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946280"/>
              </p:ext>
            </p:extLst>
          </p:nvPr>
        </p:nvGraphicFramePr>
        <p:xfrm>
          <a:off x="2123728" y="2060848"/>
          <a:ext cx="4960938" cy="141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520560" progId="Equation.DSMT4">
                  <p:embed/>
                </p:oleObj>
              </mc:Choice>
              <mc:Fallback>
                <p:oleObj name="Equation" r:id="rId2" imgW="1828800" imgH="5205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060848"/>
                        <a:ext cx="4960938" cy="1411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87824" y="3817925"/>
            <a:ext cx="3234925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Activity:</a:t>
            </a:r>
          </a:p>
          <a:p>
            <a:r>
              <a:rPr lang="en-IN" dirty="0"/>
              <a:t>Convert frequency to lambda</a:t>
            </a:r>
          </a:p>
          <a:p>
            <a:r>
              <a:rPr lang="en-IN" dirty="0"/>
              <a:t>Prove Wien’s law and RJ law as a</a:t>
            </a:r>
          </a:p>
          <a:p>
            <a:r>
              <a:rPr lang="en-IN" dirty="0"/>
              <a:t> limiting case of Planks Law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037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Expt. To determine Planck's </a:t>
            </a:r>
            <a:r>
              <a:rPr lang="en-IN" b="1" dirty="0" err="1"/>
              <a:t>const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290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3962400" y="1981200"/>
            <a:ext cx="4995863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"Those who are not </a:t>
            </a:r>
          </a:p>
          <a:p>
            <a:pPr eaLnBrk="1" hangingPunct="1"/>
            <a:r>
              <a:rPr lang="en-US"/>
              <a:t>shocked when they </a:t>
            </a:r>
          </a:p>
          <a:p>
            <a:pPr eaLnBrk="1" hangingPunct="1"/>
            <a:r>
              <a:rPr lang="en-US"/>
              <a:t>first come across </a:t>
            </a:r>
          </a:p>
          <a:p>
            <a:pPr eaLnBrk="1" hangingPunct="1"/>
            <a:r>
              <a:rPr lang="en-US"/>
              <a:t>quantum theory cannot </a:t>
            </a:r>
          </a:p>
          <a:p>
            <a:pPr eaLnBrk="1" hangingPunct="1"/>
            <a:r>
              <a:rPr lang="en-US"/>
              <a:t>possibly have </a:t>
            </a:r>
          </a:p>
          <a:p>
            <a:pPr eaLnBrk="1" hangingPunct="1"/>
            <a:r>
              <a:rPr lang="en-US"/>
              <a:t>understood it."</a:t>
            </a:r>
            <a:br>
              <a:rPr lang="en-US"/>
            </a:br>
            <a:endParaRPr lang="en-US"/>
          </a:p>
        </p:txBody>
      </p:sp>
      <p:pic>
        <p:nvPicPr>
          <p:cNvPr id="2051" name="Picture 3" descr="C:\Documents and Settings\Home\My Documents\My Pictures\scientists\boh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353377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962400" y="533400"/>
            <a:ext cx="49418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rgbClr val="006600"/>
                </a:solidFill>
              </a:rPr>
              <a:t>Niels Bohr(1885-1962)</a:t>
            </a:r>
          </a:p>
          <a:p>
            <a:pPr eaLnBrk="1" hangingPunct="1"/>
            <a:r>
              <a:rPr lang="en-US">
                <a:solidFill>
                  <a:srgbClr val="006600"/>
                </a:solidFill>
              </a:rPr>
              <a:t>Danish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529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Dual nature of electromagnetic radiation- de Broglie waves , </a:t>
            </a:r>
          </a:p>
        </p:txBody>
      </p:sp>
      <p:pic>
        <p:nvPicPr>
          <p:cNvPr id="9219" name="Picture 3" descr="D:\VIT Bhopal\Class PPT\Q mech\Image gif\Single_slit_and_double_slit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00808"/>
            <a:ext cx="3328247" cy="250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556792"/>
            <a:ext cx="4705078" cy="3179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104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VIT Bhopal\Class PPT\Q mech\Image gif\ccTp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869159"/>
            <a:ext cx="8569864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75" y="1124744"/>
            <a:ext cx="3977085" cy="2115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143" y="965702"/>
            <a:ext cx="4556265" cy="243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374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Matter 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Wave Particle Duality:</a:t>
            </a:r>
          </a:p>
          <a:p>
            <a:pPr lvl="1"/>
            <a:r>
              <a:rPr lang="en-IN" dirty="0"/>
              <a:t>matter can behave both like particles as well as waves.</a:t>
            </a:r>
            <a:br>
              <a:rPr lang="en-IN" dirty="0"/>
            </a:br>
            <a:r>
              <a:rPr lang="en-IN" dirty="0"/>
              <a:t>						Louis de Broglie </a:t>
            </a:r>
            <a:br>
              <a:rPr lang="en-IN" dirty="0"/>
            </a:br>
            <a:endParaRPr lang="en-IN" dirty="0"/>
          </a:p>
          <a:p>
            <a:pPr lvl="1">
              <a:buFont typeface="Arial" pitchFamily="34" charset="0"/>
              <a:buChar char="•"/>
            </a:pPr>
            <a:r>
              <a:rPr lang="en-IN" dirty="0"/>
              <a:t>If a particle of mass </a:t>
            </a:r>
            <a:r>
              <a:rPr lang="en-IN" i="1" dirty="0"/>
              <a:t>m </a:t>
            </a:r>
            <a:r>
              <a:rPr lang="en-IN" dirty="0"/>
              <a:t>moves with a velocity </a:t>
            </a:r>
            <a:r>
              <a:rPr lang="en-IN" i="1" dirty="0"/>
              <a:t>v</a:t>
            </a:r>
            <a:br>
              <a:rPr lang="en-IN" i="1" dirty="0"/>
            </a:br>
            <a:r>
              <a:rPr lang="en-IN" dirty="0"/>
              <a:t>then it behaves like a matter wave having a</a:t>
            </a:r>
            <a:br>
              <a:rPr lang="en-IN" dirty="0"/>
            </a:br>
            <a:r>
              <a:rPr lang="en-IN" dirty="0"/>
              <a:t>wavelength λ given by 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244489"/>
              </p:ext>
            </p:extLst>
          </p:nvPr>
        </p:nvGraphicFramePr>
        <p:xfrm>
          <a:off x="2868613" y="5013325"/>
          <a:ext cx="2538412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419040" progId="Equation.DSMT4">
                  <p:embed/>
                </p:oleObj>
              </mc:Choice>
              <mc:Fallback>
                <p:oleObj name="Equation" r:id="rId2" imgW="825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68613" y="5013325"/>
                        <a:ext cx="2538412" cy="1289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39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Why bullets different from electron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453" y="980728"/>
            <a:ext cx="8352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Bullets are far more massive than the electrons. One can observe them as long as one likes but it would not make any difference to them. </a:t>
            </a:r>
            <a:br>
              <a:rPr lang="en-IN" dirty="0"/>
            </a:b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78559" y="3180107"/>
            <a:ext cx="770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are interference wiggles in the case of bullets also. The are so crowded that it is physically impossible to resolve them, one sees an average behaviour </a:t>
            </a:r>
            <a:br>
              <a:rPr lang="en-IN" dirty="0"/>
            </a:b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491" y="1556792"/>
            <a:ext cx="3125887" cy="1623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62" y="3861048"/>
            <a:ext cx="3346498" cy="1505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874" y="5302868"/>
            <a:ext cx="522922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659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Expt. on de-</a:t>
            </a:r>
            <a:r>
              <a:rPr lang="en-IN" b="1" dirty="0" err="1"/>
              <a:t>broglie</a:t>
            </a:r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545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25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07504" y="404664"/>
            <a:ext cx="903649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1.A fast moving neutron is found to have an associated de-Broglie wavelength of 2x10</a:t>
            </a:r>
            <a:r>
              <a:rPr lang="en-IN" sz="2400" baseline="30000" dirty="0"/>
              <a:t>-12   </a:t>
            </a:r>
            <a:r>
              <a:rPr lang="en-IN" sz="2400" dirty="0"/>
              <a:t>m. Find the Kinetic energy, phase velocity and group </a:t>
            </a:r>
            <a:r>
              <a:rPr lang="en-IN" sz="2400" dirty="0" err="1"/>
              <a:t>velocityo</a:t>
            </a:r>
            <a:r>
              <a:rPr lang="en-IN" sz="2400" dirty="0"/>
              <a:t> f de-Broglie waves ignoring the relativistic change in mass.( 3.2x10</a:t>
            </a:r>
            <a:r>
              <a:rPr lang="en-IN" sz="2400" baseline="30000" dirty="0"/>
              <a:t>-17</a:t>
            </a:r>
            <a:r>
              <a:rPr lang="en-IN" sz="2400" dirty="0"/>
              <a:t> J,1.98X10</a:t>
            </a:r>
            <a:r>
              <a:rPr lang="en-IN" sz="2400" baseline="30000" dirty="0"/>
              <a:t>5</a:t>
            </a:r>
            <a:r>
              <a:rPr lang="en-IN" sz="2400" dirty="0"/>
              <a:t> m/s, 4.55x1011m/s)</a:t>
            </a:r>
          </a:p>
          <a:p>
            <a:endParaRPr lang="en-IN" sz="2400" dirty="0"/>
          </a:p>
          <a:p>
            <a:r>
              <a:rPr lang="en-IN" sz="2400" dirty="0"/>
              <a:t>2. Calculate the de- Broglie wavelength associated with a proton moving with a velocity equal to 1/20 </a:t>
            </a:r>
            <a:r>
              <a:rPr lang="en-IN" sz="2400" dirty="0" err="1"/>
              <a:t>th</a:t>
            </a:r>
            <a:r>
              <a:rPr lang="en-IN" sz="2400" dirty="0"/>
              <a:t> of the velocity of light .</a:t>
            </a:r>
          </a:p>
          <a:p>
            <a:endParaRPr lang="en-IN" sz="2400" dirty="0"/>
          </a:p>
          <a:p>
            <a:r>
              <a:rPr lang="en-IN" sz="2400" dirty="0"/>
              <a:t>3. Show that the de- Broglie wavelength for a material particle of rest mass m</a:t>
            </a:r>
            <a:r>
              <a:rPr lang="en-IN" sz="2400" baseline="-25000" dirty="0"/>
              <a:t>0</a:t>
            </a:r>
            <a:r>
              <a:rPr lang="en-IN" sz="2400" baseline="30000" dirty="0"/>
              <a:t> </a:t>
            </a:r>
            <a:r>
              <a:rPr lang="en-IN" sz="2400" dirty="0"/>
              <a:t>and charge q, accelerated from rest through a potential difference of V volts relativistic ally is given by  ?   </a:t>
            </a:r>
          </a:p>
          <a:p>
            <a:endParaRPr lang="en-IN" sz="2400" dirty="0"/>
          </a:p>
          <a:p>
            <a:r>
              <a:rPr lang="en-IN" sz="2400" dirty="0"/>
              <a:t>4. Calculate de-</a:t>
            </a:r>
            <a:r>
              <a:rPr lang="en-IN" sz="2400" dirty="0" err="1"/>
              <a:t>Broglei</a:t>
            </a:r>
            <a:r>
              <a:rPr lang="en-IN" sz="2400" dirty="0"/>
              <a:t> wavelength associated with nitrogen at 3.0 atmospheric </a:t>
            </a:r>
            <a:r>
              <a:rPr lang="en-IN" sz="2400" dirty="0" err="1"/>
              <a:t>pressureand</a:t>
            </a:r>
            <a:r>
              <a:rPr lang="en-IN" sz="2400" dirty="0"/>
              <a:t> 27</a:t>
            </a:r>
            <a:r>
              <a:rPr lang="en-IN" sz="2400" baseline="30000" dirty="0"/>
              <a:t>0</a:t>
            </a:r>
            <a:r>
              <a:rPr lang="en-IN" sz="2400" dirty="0"/>
              <a:t> c.   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3199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Home\My Documents\My Pictures\scientists\brogli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317658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3886200" y="609600"/>
            <a:ext cx="485616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rgbClr val="6600FF"/>
                </a:solidFill>
              </a:rPr>
              <a:t>de Broglie(1892-1987)</a:t>
            </a:r>
          </a:p>
          <a:p>
            <a:pPr eaLnBrk="1" hangingPunct="1"/>
            <a:r>
              <a:rPr lang="en-US">
                <a:solidFill>
                  <a:srgbClr val="6600FF"/>
                </a:solidFill>
              </a:rPr>
              <a:t>French</a:t>
            </a: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3505200" y="1905000"/>
            <a:ext cx="548640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600" dirty="0"/>
              <a:t>``Two seemingly incompatible conceptions </a:t>
            </a:r>
          </a:p>
          <a:p>
            <a:pPr eaLnBrk="1" hangingPunct="1"/>
            <a:r>
              <a:rPr lang="en-US" sz="3600" dirty="0"/>
              <a:t>can each represent an aspect of the truth … They may serve in turn to represent the facts without ever entering into direct conflict’’.</a:t>
            </a:r>
          </a:p>
          <a:p>
            <a:pPr eaLnBrk="1" hangingPunct="1"/>
            <a:endParaRPr lang="en-US" sz="3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964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27</a:t>
            </a:fld>
            <a:endParaRPr lang="en-IN"/>
          </a:p>
        </p:txBody>
      </p:sp>
      <p:pic>
        <p:nvPicPr>
          <p:cNvPr id="6" name="Picture 3" descr="D:\VIT Bhopal\Class PPT\Q mech\Image gif\images (1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834" y="4554362"/>
            <a:ext cx="362902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:\VIT Bhopal\Class PPT\Q mech\Image gif\ca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039" y="1844824"/>
            <a:ext cx="5544616" cy="27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516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Heisenberg uncertainty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32359"/>
            <a:ext cx="6015621" cy="861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IN" sz="3200" dirty="0"/>
              <a:t>Sets limit on what we can observe.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279777"/>
            <a:ext cx="8388424" cy="1257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719937"/>
            <a:ext cx="2215811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95536" y="5304113"/>
            <a:ext cx="8420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Asking about position and momentum, one can not</a:t>
            </a:r>
          </a:p>
          <a:p>
            <a:r>
              <a:rPr lang="en-IN" sz="2400" dirty="0"/>
              <a:t> get a definite answer; only a probabilistic answer is possible.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264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276872"/>
            <a:ext cx="8280920" cy="2232248"/>
          </a:xfrm>
        </p:spPr>
        <p:txBody>
          <a:bodyPr>
            <a:normAutofit fontScale="90000"/>
          </a:bodyPr>
          <a:lstStyle/>
          <a:p>
            <a:r>
              <a:rPr lang="en-IN" dirty="0"/>
              <a:t>Determine the uncertainty in the motion of a man (50Kg) moving with velocity 2 m/sec, and an electron.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545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Wave packet, group and phase velocity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84432" y="4623596"/>
            <a:ext cx="623178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itchFamily="34" charset="0"/>
              <a:buChar char="•"/>
            </a:pPr>
            <a:r>
              <a:rPr lang="en-US" dirty="0"/>
              <a:t>Phase velocity =The speed with which the </a:t>
            </a:r>
          </a:p>
          <a:p>
            <a:pPr eaLnBrk="1" hangingPunct="1"/>
            <a:r>
              <a:rPr lang="en-US" dirty="0"/>
              <a:t>                            constant phase moves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23" t="28488" r="29681" b="63689"/>
          <a:stretch>
            <a:fillRect/>
          </a:stretch>
        </p:blipFill>
        <p:spPr bwMode="auto">
          <a:xfrm>
            <a:off x="6363570" y="4640968"/>
            <a:ext cx="2387352" cy="801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-68914" y="3861048"/>
            <a:ext cx="638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400" dirty="0"/>
              <a:t>Group velocity= velocity of the group of waves.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8" t="75105" r="27570" b="17117"/>
          <a:stretch>
            <a:fillRect/>
          </a:stretch>
        </p:blipFill>
        <p:spPr bwMode="auto">
          <a:xfrm>
            <a:off x="6156176" y="3709767"/>
            <a:ext cx="2247528" cy="764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51467" y="1268760"/>
            <a:ext cx="8880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400" dirty="0"/>
              <a:t>Wave packet is consist of a group of waves, having slightly different</a:t>
            </a:r>
          </a:p>
          <a:p>
            <a:r>
              <a:rPr lang="en-IN" sz="2400" dirty="0"/>
              <a:t> wavelength,  with phase and amplitude so chosen that they </a:t>
            </a:r>
          </a:p>
          <a:p>
            <a:r>
              <a:rPr lang="en-IN" sz="2400" dirty="0"/>
              <a:t>constructively interfere at a small  region of space and destructively</a:t>
            </a:r>
          </a:p>
          <a:p>
            <a:r>
              <a:rPr lang="en-IN" sz="2400" dirty="0"/>
              <a:t> elsewhere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126" y="5658167"/>
            <a:ext cx="421005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994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60940"/>
            <a:ext cx="7162800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11760" y="1340768"/>
            <a:ext cx="1517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Phase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72200" y="836712"/>
            <a:ext cx="156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Group Velocity</a:t>
            </a:r>
          </a:p>
        </p:txBody>
      </p:sp>
      <p:cxnSp>
        <p:nvCxnSpPr>
          <p:cNvPr id="6" name="Straight Arrow Connector 5"/>
          <p:cNvCxnSpPr>
            <a:stCxn id="2" idx="2"/>
          </p:cNvCxnSpPr>
          <p:nvPr/>
        </p:nvCxnSpPr>
        <p:spPr>
          <a:xfrm flipH="1">
            <a:off x="2267744" y="1710100"/>
            <a:ext cx="902878" cy="6387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" idx="2"/>
          </p:cNvCxnSpPr>
          <p:nvPr/>
        </p:nvCxnSpPr>
        <p:spPr>
          <a:xfrm flipH="1">
            <a:off x="6660232" y="1206044"/>
            <a:ext cx="495613" cy="3193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741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32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683568" y="1028343"/>
            <a:ext cx="777686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1.The uncertainty in the location of a particle is equal to its de-</a:t>
            </a:r>
            <a:r>
              <a:rPr lang="en-IN" sz="2400" b="1" dirty="0" err="1"/>
              <a:t>Broglei</a:t>
            </a:r>
            <a:r>
              <a:rPr lang="en-IN" sz="2400" b="1" dirty="0"/>
              <a:t> wavelength. Calculate the uncertainty in its velocity</a:t>
            </a:r>
          </a:p>
          <a:p>
            <a:endParaRPr lang="en-IN" sz="2400" b="1" dirty="0"/>
          </a:p>
          <a:p>
            <a:r>
              <a:rPr lang="en-IN" sz="2400" b="1" dirty="0"/>
              <a:t>2.The position and momentum of a 1.0Kev electrons are simultaneously measured. If the position is located within 1A</a:t>
            </a:r>
            <a:r>
              <a:rPr lang="en-IN" sz="2400" b="1" baseline="30000" dirty="0"/>
              <a:t>0 </a:t>
            </a:r>
            <a:r>
              <a:rPr lang="en-IN" sz="2400" b="1" dirty="0"/>
              <a:t>.What is the percentage of </a:t>
            </a:r>
            <a:r>
              <a:rPr lang="en-IN" sz="2400" b="1" dirty="0" err="1"/>
              <a:t>uncertainity</a:t>
            </a:r>
            <a:r>
              <a:rPr lang="en-IN" sz="2400" b="1" dirty="0"/>
              <a:t> in momentum?   </a:t>
            </a:r>
            <a:endParaRPr lang="en-IN" sz="2400" dirty="0"/>
          </a:p>
          <a:p>
            <a:endParaRPr lang="en-IN" sz="2400" b="1" dirty="0"/>
          </a:p>
          <a:p>
            <a:r>
              <a:rPr lang="en-IN" sz="2400" b="1" dirty="0"/>
              <a:t>3.A hydrogen atom is 0.53A</a:t>
            </a:r>
            <a:r>
              <a:rPr lang="en-IN" sz="2400" b="1" baseline="30000" dirty="0"/>
              <a:t>0</a:t>
            </a:r>
            <a:r>
              <a:rPr lang="en-IN" sz="2400" b="1" dirty="0"/>
              <a:t>in radius. Use uncertainty principle to estimate the minimum energy an electron can have in this atom				        							</a:t>
            </a:r>
            <a:endParaRPr lang="en-IN" sz="2400" dirty="0"/>
          </a:p>
          <a:p>
            <a:r>
              <a:rPr lang="en-IN" sz="2400" b="1" dirty="0"/>
              <a:t>4A proton and a deuteron have the same kinetic energy. Which has a longer wavelength?                         									  </a:t>
            </a:r>
            <a:endParaRPr lang="en-IN" sz="2400" dirty="0"/>
          </a:p>
          <a:p>
            <a:r>
              <a:rPr lang="en-IN" sz="2400" b="1" dirty="0"/>
              <a:t>        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14246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Wave function and its properties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68" y="4077072"/>
            <a:ext cx="7736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dirty="0"/>
              <a:t>The wave function associated with the particle can represent its state and the</a:t>
            </a:r>
            <a:br>
              <a:rPr lang="en-IN" dirty="0"/>
            </a:br>
            <a:r>
              <a:rPr lang="en-IN" dirty="0"/>
              <a:t>dynamics would be given by Schrodinger equation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536" y="5013176"/>
            <a:ext cx="85689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dirty="0"/>
              <a:t>But what exactly is this "wave function", and what does it mean? After all, a particle,</a:t>
            </a:r>
            <a:br>
              <a:rPr lang="en-IN" dirty="0"/>
            </a:br>
            <a:r>
              <a:rPr lang="en-IN" dirty="0"/>
              <a:t>by its nature, is localized at a point, whereas the wave function is spread out in space</a:t>
            </a:r>
            <a:br>
              <a:rPr lang="en-IN" dirty="0"/>
            </a:br>
            <a:r>
              <a:rPr lang="en-IN" dirty="0"/>
              <a:t>(it's a function of x, for any given time t). How can such an object be said to describe</a:t>
            </a:r>
            <a:br>
              <a:rPr lang="en-IN" dirty="0"/>
            </a:br>
            <a:r>
              <a:rPr lang="en-IN" dirty="0"/>
              <a:t>the state of a particle? </a:t>
            </a:r>
            <a:br>
              <a:rPr lang="en-IN" dirty="0"/>
            </a:br>
            <a:endParaRPr lang="en-IN" dirty="0"/>
          </a:p>
        </p:txBody>
      </p:sp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340768"/>
            <a:ext cx="5077197" cy="121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15346" y="2552744"/>
            <a:ext cx="8329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Classically we can measure the actual position {x(t)} of the car by applying Newton’s law</a:t>
            </a:r>
          </a:p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718135" y="3284984"/>
            <a:ext cx="819461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But in Quantum mechanics we look for the wave function (known as “state function”)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214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5427" y="115193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dirty="0" err="1"/>
              <a:t>Born's</a:t>
            </a:r>
            <a:r>
              <a:rPr lang="en-IN" dirty="0"/>
              <a:t> statistical interpretation of :  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108880"/>
              </p:ext>
            </p:extLst>
          </p:nvPr>
        </p:nvGraphicFramePr>
        <p:xfrm>
          <a:off x="4716196" y="1164399"/>
          <a:ext cx="1076957" cy="492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240" imgH="203040" progId="Equation.DSMT4">
                  <p:embed/>
                </p:oleObj>
              </mc:Choice>
              <mc:Fallback>
                <p:oleObj name="Equation" r:id="rId2" imgW="444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16196" y="1164399"/>
                        <a:ext cx="1076957" cy="492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511647" y="1771865"/>
            <a:ext cx="74888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gives the probability of finding the particle between x and +dx, at time t or,</a:t>
            </a:r>
            <a:br>
              <a:rPr lang="en-IN" dirty="0"/>
            </a:br>
            <a:r>
              <a:rPr lang="en-IN" dirty="0"/>
              <a:t>more precisely 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865961"/>
              </p:ext>
            </p:extLst>
          </p:nvPr>
        </p:nvGraphicFramePr>
        <p:xfrm>
          <a:off x="401048" y="1717355"/>
          <a:ext cx="1112475" cy="569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279360" progId="Equation.DSMT4">
                  <p:embed/>
                </p:oleObj>
              </mc:Choice>
              <mc:Fallback>
                <p:oleObj name="Equation" r:id="rId4" imgW="5457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1048" y="1717355"/>
                        <a:ext cx="1112475" cy="569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21" y="2504562"/>
            <a:ext cx="5560916" cy="249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8943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59082" y="908720"/>
            <a:ext cx="82565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4800" dirty="0">
                <a:solidFill>
                  <a:srgbClr val="0000FF"/>
                </a:solidFill>
              </a:rPr>
              <a:t>Classical physics is deterministic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23110" y="2060848"/>
            <a:ext cx="81915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4800" dirty="0">
                <a:solidFill>
                  <a:srgbClr val="FF3300"/>
                </a:solidFill>
              </a:rPr>
              <a:t>Quantum physics is probabilistic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448082" y="3573016"/>
            <a:ext cx="64785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4800" dirty="0"/>
              <a:t>``God does not play dice”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5685120" y="5013176"/>
            <a:ext cx="2241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6600"/>
                </a:solidFill>
              </a:rPr>
              <a:t>A. Einstein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438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Wave function contain the information of all the measurable quantity</a:t>
            </a:r>
          </a:p>
          <a:p>
            <a:r>
              <a:rPr lang="en-IN" dirty="0"/>
              <a:t>Wave function is normalised</a:t>
            </a:r>
          </a:p>
          <a:p>
            <a:r>
              <a:rPr lang="en-IN" dirty="0"/>
              <a:t>It is continuous</a:t>
            </a:r>
          </a:p>
          <a:p>
            <a:r>
              <a:rPr lang="en-IN" dirty="0"/>
              <a:t>We can calculate energy by using this function</a:t>
            </a:r>
          </a:p>
          <a:p>
            <a:r>
              <a:rPr lang="en-IN" dirty="0"/>
              <a:t>Expectation value can be calculated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426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528" y="182959"/>
            <a:ext cx="9324528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5080" y="1412776"/>
            <a:ext cx="9233631" cy="60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7725" y="2348880"/>
            <a:ext cx="91440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82" y="3861048"/>
            <a:ext cx="828675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91880" y="3284984"/>
            <a:ext cx="156607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Tricky Problem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6963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026" descr="C:\Documents and Settings\Home\My Documents\My Pictures\heisenber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3400"/>
            <a:ext cx="3779838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1027"/>
          <p:cNvSpPr txBox="1">
            <a:spLocks noChangeArrowheads="1"/>
          </p:cNvSpPr>
          <p:nvPr/>
        </p:nvSpPr>
        <p:spPr bwMode="auto">
          <a:xfrm>
            <a:off x="4648200" y="457200"/>
            <a:ext cx="40576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600">
                <a:solidFill>
                  <a:srgbClr val="FF0000"/>
                </a:solidFill>
              </a:rPr>
              <a:t>Werner Heisenberg</a:t>
            </a:r>
          </a:p>
          <a:p>
            <a:pPr eaLnBrk="1" hangingPunct="1"/>
            <a:r>
              <a:rPr lang="en-US" sz="3600">
                <a:solidFill>
                  <a:srgbClr val="FF0000"/>
                </a:solidFill>
              </a:rPr>
              <a:t>(1901-1976),German</a:t>
            </a:r>
          </a:p>
        </p:txBody>
      </p:sp>
      <p:sp>
        <p:nvSpPr>
          <p:cNvPr id="6148" name="Text Box 1028"/>
          <p:cNvSpPr txBox="1">
            <a:spLocks noChangeArrowheads="1"/>
          </p:cNvSpPr>
          <p:nvPr/>
        </p:nvSpPr>
        <p:spPr bwMode="auto">
          <a:xfrm>
            <a:off x="4191000" y="1905000"/>
            <a:ext cx="4724400" cy="447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200"/>
              <a:t>‘‘The atom of modern</a:t>
            </a:r>
          </a:p>
          <a:p>
            <a:pPr eaLnBrk="1" hangingPunct="1"/>
            <a:r>
              <a:rPr lang="en-US" sz="3200"/>
              <a:t> physics can be symbolised</a:t>
            </a:r>
          </a:p>
          <a:p>
            <a:pPr eaLnBrk="1" hangingPunct="1"/>
            <a:r>
              <a:rPr lang="en-US" sz="3200"/>
              <a:t> only through a partial </a:t>
            </a:r>
          </a:p>
          <a:p>
            <a:pPr eaLnBrk="1" hangingPunct="1"/>
            <a:r>
              <a:rPr lang="en-US" sz="3200"/>
              <a:t>differential equation in</a:t>
            </a:r>
          </a:p>
          <a:p>
            <a:pPr eaLnBrk="1" hangingPunct="1"/>
            <a:r>
              <a:rPr lang="en-US" sz="3200"/>
              <a:t>an abstract space of many </a:t>
            </a:r>
          </a:p>
          <a:p>
            <a:pPr eaLnBrk="1" hangingPunct="1"/>
            <a:r>
              <a:rPr lang="en-US" sz="3200"/>
              <a:t>dimensions. All its qualities</a:t>
            </a:r>
          </a:p>
          <a:p>
            <a:pPr eaLnBrk="1" hangingPunct="1"/>
            <a:r>
              <a:rPr lang="en-US" sz="3200"/>
              <a:t> are inferential; no material</a:t>
            </a:r>
          </a:p>
          <a:p>
            <a:pPr eaLnBrk="1" hangingPunct="1"/>
            <a:r>
              <a:rPr lang="en-US" sz="3200"/>
              <a:t> properties can be directly</a:t>
            </a:r>
          </a:p>
          <a:p>
            <a:pPr eaLnBrk="1" hangingPunct="1"/>
            <a:r>
              <a:rPr lang="en-US" sz="3200"/>
              <a:t> attributed to it.” 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22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Schrodinger’s Time dependent and Time Independent Equation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248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40</a:t>
            </a:fld>
            <a:endParaRPr lang="en-IN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973338"/>
              </p:ext>
            </p:extLst>
          </p:nvPr>
        </p:nvGraphicFramePr>
        <p:xfrm>
          <a:off x="2843808" y="548680"/>
          <a:ext cx="2440105" cy="1073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419040" progId="Equation.DSMT4">
                  <p:embed/>
                </p:oleObj>
              </mc:Choice>
              <mc:Fallback>
                <p:oleObj name="Equation" r:id="rId2" imgW="952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43808" y="548680"/>
                        <a:ext cx="2440105" cy="10736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579990"/>
              </p:ext>
            </p:extLst>
          </p:nvPr>
        </p:nvGraphicFramePr>
        <p:xfrm>
          <a:off x="2195736" y="1916832"/>
          <a:ext cx="3910013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457200" progId="Equation.DSMT4">
                  <p:embed/>
                </p:oleObj>
              </mc:Choice>
              <mc:Fallback>
                <p:oleObj name="Equation" r:id="rId4" imgW="1295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95736" y="1916832"/>
                        <a:ext cx="3910013" cy="138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056612"/>
              </p:ext>
            </p:extLst>
          </p:nvPr>
        </p:nvGraphicFramePr>
        <p:xfrm>
          <a:off x="2195736" y="3717032"/>
          <a:ext cx="3449838" cy="223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838080" progId="Equation.DSMT4">
                  <p:embed/>
                </p:oleObj>
              </mc:Choice>
              <mc:Fallback>
                <p:oleObj name="Equation" r:id="rId6" imgW="12952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95736" y="3717032"/>
                        <a:ext cx="3449838" cy="2232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448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41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568471"/>
              </p:ext>
            </p:extLst>
          </p:nvPr>
        </p:nvGraphicFramePr>
        <p:xfrm>
          <a:off x="2339752" y="1268760"/>
          <a:ext cx="3416300" cy="435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1701720" progId="Equation.DSMT4">
                  <p:embed/>
                </p:oleObj>
              </mc:Choice>
              <mc:Fallback>
                <p:oleObj name="Equation" r:id="rId2" imgW="1333440" imgH="1701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268760"/>
                        <a:ext cx="3416300" cy="435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13123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42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065419"/>
              </p:ext>
            </p:extLst>
          </p:nvPr>
        </p:nvGraphicFramePr>
        <p:xfrm>
          <a:off x="3131840" y="620688"/>
          <a:ext cx="2396426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634680" progId="Equation.DSMT4">
                  <p:embed/>
                </p:oleObj>
              </mc:Choice>
              <mc:Fallback>
                <p:oleObj name="Equation" r:id="rId2" imgW="13204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31840" y="620688"/>
                        <a:ext cx="2396426" cy="115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045711"/>
              </p:ext>
            </p:extLst>
          </p:nvPr>
        </p:nvGraphicFramePr>
        <p:xfrm>
          <a:off x="2627784" y="2852936"/>
          <a:ext cx="270351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240" imgH="838080" progId="Equation.DSMT4">
                  <p:embed/>
                </p:oleObj>
              </mc:Choice>
              <mc:Fallback>
                <p:oleObj name="Equation" r:id="rId4" imgW="158724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27784" y="2852936"/>
                        <a:ext cx="2703512" cy="142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2339752" y="3501008"/>
            <a:ext cx="3312368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359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43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922198"/>
              </p:ext>
            </p:extLst>
          </p:nvPr>
        </p:nvGraphicFramePr>
        <p:xfrm>
          <a:off x="3155949" y="1344612"/>
          <a:ext cx="2367923" cy="1796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838080" progId="Equation.DSMT4">
                  <p:embed/>
                </p:oleObj>
              </mc:Choice>
              <mc:Fallback>
                <p:oleObj name="Equation" r:id="rId2" imgW="110484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55949" y="1344612"/>
                        <a:ext cx="2367923" cy="1796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625866"/>
              </p:ext>
            </p:extLst>
          </p:nvPr>
        </p:nvGraphicFramePr>
        <p:xfrm>
          <a:off x="3203848" y="3429000"/>
          <a:ext cx="2082375" cy="237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1054080" progId="Equation.DSMT4">
                  <p:embed/>
                </p:oleObj>
              </mc:Choice>
              <mc:Fallback>
                <p:oleObj name="Equation" r:id="rId4" imgW="927000" imgH="1054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03848" y="3429000"/>
                        <a:ext cx="2082375" cy="2370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65073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44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371693"/>
              </p:ext>
            </p:extLst>
          </p:nvPr>
        </p:nvGraphicFramePr>
        <p:xfrm>
          <a:off x="2411760" y="764704"/>
          <a:ext cx="4255853" cy="209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863280" progId="Equation.DSMT4">
                  <p:embed/>
                </p:oleObj>
              </mc:Choice>
              <mc:Fallback>
                <p:oleObj name="Equation" r:id="rId2" imgW="17524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11760" y="764704"/>
                        <a:ext cx="4255853" cy="2097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2267744" y="1844824"/>
            <a:ext cx="4680520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419872" y="3284984"/>
            <a:ext cx="3393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Schrodinger’s Time dependent Eq.</a:t>
            </a:r>
          </a:p>
        </p:txBody>
      </p:sp>
    </p:spTree>
    <p:extLst>
      <p:ext uri="{BB962C8B-B14F-4D97-AF65-F5344CB8AC3E}">
        <p14:creationId xmlns:p14="http://schemas.microsoft.com/office/powerpoint/2010/main" val="42664305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Documents and Settings\Home\My Documents\My Pictures\0_Erwin%20Schroeding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36258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4648200" y="533400"/>
            <a:ext cx="41592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600">
                <a:solidFill>
                  <a:srgbClr val="006600"/>
                </a:solidFill>
              </a:rPr>
              <a:t>Erwin Schroedinger</a:t>
            </a:r>
          </a:p>
          <a:p>
            <a:pPr eaLnBrk="1" hangingPunct="1"/>
            <a:r>
              <a:rPr lang="en-US" sz="3600">
                <a:solidFill>
                  <a:srgbClr val="006600"/>
                </a:solidFill>
              </a:rPr>
              <a:t>(1887-1961) Austrian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191000" y="1828800"/>
            <a:ext cx="4672013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‘‘..the task is, not so</a:t>
            </a:r>
          </a:p>
          <a:p>
            <a:pPr eaLnBrk="1" hangingPunct="1"/>
            <a:r>
              <a:rPr lang="en-US"/>
              <a:t>much to see what no </a:t>
            </a:r>
          </a:p>
          <a:p>
            <a:pPr eaLnBrk="1" hangingPunct="1"/>
            <a:r>
              <a:rPr lang="en-US"/>
              <a:t>one has yet seen; but</a:t>
            </a:r>
          </a:p>
          <a:p>
            <a:pPr eaLnBrk="1" hangingPunct="1"/>
            <a:r>
              <a:rPr lang="en-US"/>
              <a:t>to think what nobody</a:t>
            </a:r>
          </a:p>
          <a:p>
            <a:pPr eaLnBrk="1" hangingPunct="1"/>
            <a:r>
              <a:rPr lang="en-US"/>
              <a:t>has yet thought, about</a:t>
            </a:r>
          </a:p>
          <a:p>
            <a:pPr eaLnBrk="1" hangingPunct="1"/>
            <a:r>
              <a:rPr lang="en-US"/>
              <a:t>that which everybody</a:t>
            </a:r>
          </a:p>
          <a:p>
            <a:pPr eaLnBrk="1" hangingPunct="1"/>
            <a:r>
              <a:rPr lang="en-US"/>
              <a:t>sees. ’’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4677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8474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91910"/>
              </p:ext>
            </p:extLst>
          </p:nvPr>
        </p:nvGraphicFramePr>
        <p:xfrm>
          <a:off x="1475656" y="836712"/>
          <a:ext cx="5436050" cy="10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419040" progId="Equation.DSMT4">
                  <p:embed/>
                </p:oleObj>
              </mc:Choice>
              <mc:Fallback>
                <p:oleObj name="Equation" r:id="rId2" imgW="2184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75656" y="836712"/>
                        <a:ext cx="5436050" cy="1042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803043"/>
              </p:ext>
            </p:extLst>
          </p:nvPr>
        </p:nvGraphicFramePr>
        <p:xfrm>
          <a:off x="2932005" y="2132856"/>
          <a:ext cx="2468826" cy="583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164880" progId="Equation.DSMT4">
                  <p:embed/>
                </p:oleObj>
              </mc:Choice>
              <mc:Fallback>
                <p:oleObj name="Equation" r:id="rId4" imgW="6984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32005" y="2132856"/>
                        <a:ext cx="2468826" cy="583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339690"/>
              </p:ext>
            </p:extLst>
          </p:nvPr>
        </p:nvGraphicFramePr>
        <p:xfrm>
          <a:off x="3059832" y="3573016"/>
          <a:ext cx="1971733" cy="81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79360" progId="Equation.DSMT4">
                  <p:embed/>
                </p:oleObj>
              </mc:Choice>
              <mc:Fallback>
                <p:oleObj name="Equation" r:id="rId6" imgW="672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59832" y="3573016"/>
                        <a:ext cx="1971733" cy="818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91680" y="4581128"/>
            <a:ext cx="10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7864" y="4765794"/>
            <a:ext cx="1532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Eigen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112" y="4437112"/>
            <a:ext cx="124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Eigen value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726450" y="4293096"/>
            <a:ext cx="477398" cy="3286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3779912" y="4293096"/>
            <a:ext cx="144016" cy="5133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1"/>
          </p:cNvCxnSpPr>
          <p:nvPr/>
        </p:nvCxnSpPr>
        <p:spPr>
          <a:xfrm flipH="1" flipV="1">
            <a:off x="4644008" y="4437112"/>
            <a:ext cx="936104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843808" y="3645024"/>
            <a:ext cx="2268252" cy="8844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Down Arrow 16"/>
          <p:cNvSpPr/>
          <p:nvPr/>
        </p:nvSpPr>
        <p:spPr>
          <a:xfrm>
            <a:off x="3851920" y="2780928"/>
            <a:ext cx="262179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47</a:t>
            </a:fld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179512" y="5517232"/>
            <a:ext cx="8856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When Schrodinger equation is solved for different values of energy it is called as </a:t>
            </a:r>
            <a:r>
              <a:rPr lang="en-IN" dirty="0" err="1"/>
              <a:t>eigen</a:t>
            </a:r>
            <a:r>
              <a:rPr lang="en-IN" dirty="0"/>
              <a:t>  values and the corresponding function is called as </a:t>
            </a:r>
            <a:r>
              <a:rPr lang="en-IN" dirty="0" err="1"/>
              <a:t>eigen</a:t>
            </a:r>
            <a:r>
              <a:rPr lang="en-IN" dirty="0"/>
              <a:t> functions.</a:t>
            </a:r>
          </a:p>
        </p:txBody>
      </p:sp>
    </p:spTree>
    <p:extLst>
      <p:ext uri="{BB962C8B-B14F-4D97-AF65-F5344CB8AC3E}">
        <p14:creationId xmlns:p14="http://schemas.microsoft.com/office/powerpoint/2010/main" val="34008489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48</a:t>
            </a:fld>
            <a:endParaRPr lang="en-IN"/>
          </a:p>
        </p:txBody>
      </p:sp>
      <p:pic>
        <p:nvPicPr>
          <p:cNvPr id="45058" name="Picture 2" descr="http://abyss.uoregon.edu/~js/images/quantum_tunnelin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-721411"/>
            <a:ext cx="5981700" cy="722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8623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49</a:t>
            </a:fld>
            <a:endParaRPr lang="en-IN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9701"/>
            <a:ext cx="19859625" cy="654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746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VIT Bhopal University (SAS: Physics division)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6AE9-1231-429B-8E30-2AF0D652AD1E}" type="slidenum">
              <a:rPr lang="en-IN" smtClean="0"/>
              <a:t>50</a:t>
            </a:fld>
            <a:endParaRPr lang="en-IN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700808"/>
            <a:ext cx="4536504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2753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076DA9B367A24C87B8B887C1C06E33" ma:contentTypeVersion="2" ma:contentTypeDescription="Create a new document." ma:contentTypeScope="" ma:versionID="ef77883fbe4d9a30a8e62999ca0b3591">
  <xsd:schema xmlns:xsd="http://www.w3.org/2001/XMLSchema" xmlns:xs="http://www.w3.org/2001/XMLSchema" xmlns:p="http://schemas.microsoft.com/office/2006/metadata/properties" xmlns:ns2="1a7ca9db-28b0-44b0-a8fe-a28938821919" targetNamespace="http://schemas.microsoft.com/office/2006/metadata/properties" ma:root="true" ma:fieldsID="7ada4c7eeb74da2c09bdf8a0c1ea6ffb" ns2:_="">
    <xsd:import namespace="1a7ca9db-28b0-44b0-a8fe-a289388219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7ca9db-28b0-44b0-a8fe-a289388219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8712FB-DC7C-4C60-BBEA-EF4810125D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7ca9db-28b0-44b0-a8fe-a289388219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40636F-E565-4387-AF49-432136AE40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4675CF-C1D1-4096-A5B5-96D350827CF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5770</TotalTime>
  <Words>2110</Words>
  <Application>Microsoft Office PowerPoint</Application>
  <PresentationFormat>On-screen Show (4:3)</PresentationFormat>
  <Paragraphs>315</Paragraphs>
  <Slides>50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Cambria Math</vt:lpstr>
      <vt:lpstr>Century Gothic</vt:lpstr>
      <vt:lpstr>Office Theme</vt:lpstr>
      <vt:lpstr>Equation</vt:lpstr>
      <vt:lpstr>Quantum Physics</vt:lpstr>
      <vt:lpstr>Lecture 1</vt:lpstr>
      <vt:lpstr>PowerPoint Presentation</vt:lpstr>
      <vt:lpstr>Limitations of Classical theory, Basic idea of quantization </vt:lpstr>
      <vt:lpstr>Failure of Classical physics</vt:lpstr>
      <vt:lpstr>PowerPoint Presentation</vt:lpstr>
      <vt:lpstr>PowerPoint Presentation</vt:lpstr>
      <vt:lpstr>Black Body</vt:lpstr>
      <vt:lpstr>PowerPoint Presentation</vt:lpstr>
      <vt:lpstr>PowerPoint Presentation</vt:lpstr>
      <vt:lpstr>PowerPoint Presentation</vt:lpstr>
      <vt:lpstr>Light bulb experiment to explain black body spectra </vt:lpstr>
      <vt:lpstr>PowerPoint Presentation</vt:lpstr>
      <vt:lpstr>Lecture 2</vt:lpstr>
      <vt:lpstr>Planck’s law</vt:lpstr>
      <vt:lpstr>Planks law of radiation</vt:lpstr>
      <vt:lpstr>Expt. To determine Planck's const</vt:lpstr>
      <vt:lpstr>PowerPoint Presentation</vt:lpstr>
      <vt:lpstr>Lecture 3</vt:lpstr>
      <vt:lpstr>Dual nature of electromagnetic radiation- de Broglie waves , </vt:lpstr>
      <vt:lpstr>PowerPoint Presentation</vt:lpstr>
      <vt:lpstr>Matter Wave</vt:lpstr>
      <vt:lpstr>Why bullets different from electron</vt:lpstr>
      <vt:lpstr>Expt. on de-broglie </vt:lpstr>
      <vt:lpstr>PowerPoint Presentation</vt:lpstr>
      <vt:lpstr>PowerPoint Presentation</vt:lpstr>
      <vt:lpstr>Lecture 4</vt:lpstr>
      <vt:lpstr>Heisenberg uncertainty principle</vt:lpstr>
      <vt:lpstr>Determine the uncertainty in the motion of a man (50Kg) moving with velocity 2 m/sec, and an electron.</vt:lpstr>
      <vt:lpstr>Wave packet, group and phase velocity </vt:lpstr>
      <vt:lpstr>PowerPoint Presentation</vt:lpstr>
      <vt:lpstr>PowerPoint Presentation</vt:lpstr>
      <vt:lpstr>Wave function and its properties </vt:lpstr>
      <vt:lpstr>PowerPoint Presentation</vt:lpstr>
      <vt:lpstr>PowerPoint Presentation</vt:lpstr>
      <vt:lpstr>property</vt:lpstr>
      <vt:lpstr>PowerPoint Presentation</vt:lpstr>
      <vt:lpstr>PowerPoint Presentation</vt:lpstr>
      <vt:lpstr>Lecture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Lecture 6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Physics</dc:title>
  <dc:creator>Windows User</dc:creator>
  <cp:lastModifiedBy>shweta mukherjee</cp:lastModifiedBy>
  <cp:revision>124</cp:revision>
  <dcterms:created xsi:type="dcterms:W3CDTF">2017-08-01T04:49:28Z</dcterms:created>
  <dcterms:modified xsi:type="dcterms:W3CDTF">2026-02-13T04:40:44Z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0x01010009076DA9B367A24C87B8B887C1C06E33</vt:lpwstr>
  </property>
</Properties>
</file>